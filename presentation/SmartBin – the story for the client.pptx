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tells the SmartBin story from start to finish, for someone who has not seen the details. Bossard's SmartBin Cloud puts a battery-powered scale under every bin of small parts at a customer's site. A vibration sensor wakes the scale up when the bin is touched; the scale weighs and reports the stock level, and Bossard's ordering system ARIMS reorders automatically. The client's question: how should the sensitivity of that vibration sensor be set, so that the scales do not weigh for nothing, but also do not miss real picks? Our headline answer: there is no single right number. The right setting depends on where and how a bin is used, and that is not in the master data. So every scale should learn its own level from its own weekly results, with a simple rule that is reviewed every two weeks. In our simulation this cuts the weighings of normal scales by 55 to 61 percent, while the sensor still catches almost nine out of ten changes at once and the 24-hour check finds most of the rest within one to two days. A separate finding: in the data, 274 scales caught in a trigger loop – 1.5% of the scales – produced 27% of all automatic weighings, most of them during a four-week trial of level 3 in April 2022. That is a defect to repair, not a setting to tune. Every slide answers the question raised by the slide before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the client? Bossard supplies fasteners and other small C-parts to industrial customers. SmartBin Cloud is its weight-based e-Kanban: every bin stands on a scale, the scale reports the stock level, and when it falls below the reorder level, ARIMS – Bossard's replenishment system – orders automatically. About 110,000 scales were installed by March 2025; our data cover 18,455 of them. The scales run on batteries that should last at least five years. A weighing consumes about 3,000 times the power of sleep mode, and every weighing also travels over the radio network and loads the IoT cloud and ARIMS. That is why the scale sleeps and only wakes up when its vibration sensor reports a touch. The sensitivity setting, from 1 to 10 with a factory default of 8, decides how strong that vibration must be. Two more settings exist – the minimum wait time and the measurement delay – but the case declared them out of scope. In the language of sensor networks this is event-driven duty cycling: a node saves energy by sleeping and waking only on events (Anastasi et al., 2009). The price of sleeping is that an event can be missed – and that is exactly the trade-off of this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weighing in the data ends in one of four outcomes, and the whole project is built on them. If the sensor wakes the scale up, we have an automatic weighing: either the weight has changed – a real pick was caught, labelled OK – or it has not – an empty wake-up, labelled TOO_MANY. If the sensor sleeps through a change, the change is only found later by a manual weighing: either a person triggers it, or – in 85% of the cases – a check that runs when a scale has been idle for about 24 hours. If that weighing finds a change, it is labelled TOO_FEW: the sensor missed it. In the data, after removing duplicates and impossible weights: 1.7 million caught picks, 5.4 million empty wake-ups – 76% of all automatic weighings – 0.4 million manual weighings without a change and 0.1 million missed changes. Bossard measures two KPIs per scale: the share of empty wake-ups among all automatic weighings (target at most 0.5, alarm above 0.8) and the number of missed changes per week (target at most 2). This is the classic trade-off of any detector: a lower threshold produces more false alarms, a higher one more misses (Green &amp; Swets, 1966). The sensitivity setting moves that threshold. Keep one thing in mind for later: TOO_FEW can only come from a manual weighing, so it is a lower bound of the misses.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turned the client's task into three questions, and the deck follows them. Questions one and two: which parameters hardly influence the outcome and which do? We compared groups of scales on the same setting, measured how strongly sites differ, analysed the timing of every empty wake-up – and used a natural experiment in the data: in April Bossard moved 7,846 scales away from level 8, so we can measure what the setting itself does to the same scale. Question three: how should the sensitivity be set? We simulated nine policies on the real history of every scale, from one fixed level for everybody to rules that adapt each scale. The process follows CRISP-DM (Chapman et al., 2000): understand the business and the data, prepare the data with an explicit rule book, observe it in Power BI, analyse it – always separately for 6 kg and 20 kg scales – simulate, and recommend. The short answers: box type and item weight hardly matter on 20 kg scales and matter less than site and usage on 6 kg scales; site, usage and the setting matter; and the setting should not be one number, but learned by every scale, after a small group of defective scales has been repaired.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files: the measurements – 7,596,224 weighings of 18,455 scales from 1 March to 20 June 2022 –, the scale metadata (scale type, box type, site, item weight) and D ONE's preprocessing flags. We cleaned with an explicit rule book in two stages. Stage A deletes only what cannot be used anywhere: 5,733 duplicate copies (same scale, same millisecond) and 5 physically impossible weights – exactly the rows D ONE had marked as invalid. Stage B flags rows that are unsuitable for the KPIs but keeps them, because they are still real weighings: we need them to compute the weight change of the next weighing and as neighbouring picks in the timing analysis. The largest flag is level 3 with 1,327,327 rows – we come back to it on slide 14. Four checks shaped the rules: 1,300 duplicate groups carry different labels, so their outcome is unknown; D ONE's 'relevant section' rule – at least 20 weighings over at least 5 days – holds for 100% of the sections; rows with an empty wait-time setting behave like standard rows and are kept; and 985 scales have no type or site. In the end 5.26 million rows (69%) enter the KPI analysis, and every excluded row is exported with its reason. The unit of analysis is one scale on one sensitivity level. We summarise with the median scale, the 'typical scale', so that every scale counts once – pooling all rows would let the noisiest scales dominate.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show the 20 kg view first, then switch the slicer to 6 kg.] This is our observation dashboard in Power BI. It is built on an export of our pipeline in which one row is one scale on one sensitivity level, so every ratio is computed per scale before it is summarised – otherwise the busiest scales would dominate. What it shows: lowering the setting improves the median TOO_MANY fraction, but much less than one would expect – on 20 kg scales from 0.92 on level 8 to 0.70 on level 1, on 6 kg scales from 0.74 to 0.50. TOO_FEW per week stays far below Bossard's limit of 2 on every level – even on level 1, where the same scales miss half of their changes (slide 13): a weekly count of misses hides how many changes are missed. And within every level the scales spread over the whole range from 0 to 1. One caution: this view compares different scales on different levels and periods. It describes; it does not prove cause. The causal effect of the setting follows on slide 13.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factory default, level 8, 99% of the 20 kg and 98% of the 6 kg scales meet the TOO_FEW target – but only 6% and 20% meet the TOO_MANY target, and 71% of the 20 kg scales are even above the alarm level of 0.8. The typical 20 kg scale wakes up empty 13.5 times a week and catches 1.5 real picks; the typical 6 kg scale 8.5 and 3.0. So this is not a case of two equally violated targets. The question is how far the sensitivity can be lowered before real changes are missed. One warning that will matter later: the TOO_FEW target is so loose that it is met even by scales that miss half of their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TOO_MANY fraction divides two numbers: empty wake-ups by all automatic weighings. A bin that is rarely used has few real weighings in that denominator, so every empty wake-up counts heavily. On level 8, the least-used fifth of the 20 kg bins has a median fraction of 1.00, the most-used fifth 0.63; the rank correlation between real picks per week and the fraction is −0.82 on 20 kg and −0.67 on 6 kg scales. The typical 20 kg bin is picked only half as often as a 6 kg bin. If a typical 6 kg bin were picked as rarely, its fraction would be about 0.85 instead of 0.74 – roughly 60% of the gap between the two scale types. Second, the setting moves both numbers. When the same 20 kg scales go from level 8 to level 1, their empty wake-ups fall by 97%, but their caught picks fall by 90% as well, and the fraction improves by only 0.23. A scale on level 1 has a 'good' fraction mainly because its sensor is practically switched off. This is Goodhart's law in action – when a measure becomes a target, it ceases to be a good measure (Strathern, 1997). We therefore propose KPI 2.0: empty wake-ups per week, at most 7, because battery, radio and cloud pay per weighing, not per ratio; the share of real changes missed, at most 10%, because that is the service the customer receives; and Bossard's own floor of at most 2 TOO_FEW per week.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observation of the project. For every empty wake-up we looked for a real pick at another scale of the same site within a short time window – an event coincidence analysis (Donges et al., 2016). If both were unrelated, the picks would be spread evenly over time. Instead they pile up sharply at the moment of the empty wake-up: from about 1.1 to about 8.6 per minute on 20 kg scales. The peak is about ±14 seconds wide. On level 8, 60% of the empty wake-ups of 20 kg scales have a pick at another scale of the site within ±14 seconds; in a control window one minute later only 22% do – that is the chance level of a busy site. Beyond chance, 48% (20 kg) and 42% (6 kg) of the empty wake-ups are linked to picking at the same site – 45% across both scale types; the scale's own echo after its own pick explains only 1–3%. A second test points the same way: empty wake-ups follow the working day like real picks – the hourly profiles correlate at r = 0.99 – and only about 2.5% of them happen at weekends, so switching the sensor off at night or at weekends would not help (appendix). What the data cannot show: the same peak appears around real picks, because people pick several bins in a row, and machines working in shifts would show the same daily rhythm. So we cannot separate vibration travelling through the rack from a worker touching the bin or from a pick too small to count. A short on-site test with an accelerometer or a damping pad would settle it. The other half of the empty wake-ups cannot be attributed to picking at the same site and remains unexplained.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cloud labels a weighing as 'changed' only if the weight changed by more than a significance threshold. The threshold is not documented, so we estimated it from the data as the lower end of the changes reported as missed (the 5th percentile of the TOO_FEW pick sizes): about 23 g on 20 kg scales and 5 g on 6 kg scales. Below it a pick is largely invisible: it is labelled TOO_MANY when the sensor wakes up and is never reported when it does not. Above it, detection depends on the pick size and the setting. The chart shows the share of picks the sensor caught at once, by pick size. On level 8, picks from 20 g upwards are caught in at least 95% of cases on both scale types; levels 1 to 5 do not reach 95% for any pick size. This matters for the recommendation: 53% of the 6 kg scales have a typical pick below 25 g – their median pick is 22 g, against 127 g on 20 kg scales. They work right at the edge of what a scale can see, so their sensitivity cannot go as low as that of a 20 kg scale. And parts that are picked in amounts below about 25 g belong on 6 kg scales.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show the Power BI page 2 – median TOO_MANY fraction per site, one small chart per level.] The site shows the largest differences in the data. Among 20 kg scales on level 8, the middle 80% of the sites range from a median fraction of 0.61 to 0.97 (6 kg: 0.48 to 0.92). The differences are real and stable: 42% (20 kg) and 40% (6 kg) of the variation between scales lies between sites – the intraclass correlation (Shrout &amp; Fleiss, 1979); a permutation test with 999 shuffles of the site labels gives p ≤ 0.001; two random halves of the scales of each site agree closely (split-half r = 0.76 and 0.85); and the effect remains when we account for how busy the bins are. The coupling of slide 9 is concentrated as well: ten sites hold 47% (20 kg) and 41% (6 kg) of all coupled empty wake-ups. Possible reasons are the construction of the racks, machines nearby and the way people work. Bossard knows the site of every scale, but how a site behaves only shows in its data – and the data contain the site, not the rack.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questions one and two. We compared the parameters by a simple measure: how far apart are the best and the worst group? To keep the setting out of the comparison, all parameters except the sensitivity are compared on level 8 only; for sites we use the 10th and 90th percentile of the site medians, so that a few tiny sites do not dominate. On 20 kg scales the site moves the fraction most (0.34), followed by the sensitivity level (0.25) and the fill level of the box (0.16); box type (0.11) and item weight (0.08) come last. On 6 kg scales the site also leads (0.41), followed by the fill level (0.27), box type (0.26) and the sensitivity (0.24). Usage – the least- vs. the most-used fifth of the bins on slide 8 – spreads about as much as the site. Two numbers need care. The fill-level difference almost disappears when the same scale changes its fill level: −0.045 on 20 kg and −0.027 on 6 kg scales, over all scales that changed their weight bin – nearly empty boxes are mostly rarely used boxes. (D ONE's subset 'relevant for weight analysis' shows larger values, but it was selected on scales where something changes, that is, on the outcome.) And on 6 kg scales only two box types are common, and they sit at different sites; item weight also differs more there. Verdict: on 20 kg scales box type and item weight hardly matter; on 6 kg scales they matter less than site and usage. The site, the usage and the setting matter most. Of these, the setting is the only lever Bossard can change remotely – how strong it is, we measure on the next slide. A Shapley decomposition of the explained variance in the appendix ranks the site first as well; it gives the setting a small share, partly because almost all data come from level 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different scales on different levels cannot show what the setting itself does, because the levels were not assigned at random. But in April Bossard moved 7,846 scales away from the default. We compared each of them with itself before the switch, and subtracted the change of a stable group of scales that stayed on level 8 over the same weeks – a difference-in-differences design (Angrist &amp; Pischke, 2009). Counts per week come from a fixed-effects Poisson model; the intervals are 95% bootstrap intervals over scales. The result: the setting is powerful. One step, from 8 to 7, removes about 59% (20 kg) and 68% (6 kg) of the empty wake-ups and costs only 1 and 3 percentage points of missed changes. Below level 6 the price rises steeply: from 8 to 5 the scales miss 9 (20 kg) and 20 (6 kg) points more; on level 1 half or more of all changes are missed. The 20 kg estimates are less precise – for 8 → 6 the interval runs from about −24% to −67%. And Bossard seems to have switched some busy scales first: their empty wake-ups rose in the weeks before the switch (appendix), so part of the drop may be a return to normal. A careful reading of the first steps is therefore 'roughly half to two thirds fewer empty wake-ups'. The 6 kg scales react more strongly in both directions: the same step from 8 to 6 removes 56% of the empty wake-ups on 20 kg scales but 79% on 6 kg scales. Whether a level means the same vibration threshold on both hardware versions is not documented – we treat them as two different instruments and set them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description advises ignoring level 3. The data show why – and that the problem is not only level 3. Level 3 was used only during a four-week trial in April 2022: 907 scales ran on it, and together they woke up about 146 (20 kg) and 162 (6 kg) times per scale and day – the same scales on level 8 woke up about 11 to 12 times a day. Most of these wake-ups come in a loop: the scale wakes up, weighs and wakes up again about 90 seconds later – exactly the minimum wait time of 60 seconds plus the measurement delay of 30 seconds – day and night. We wrote a simple detector: a scale counts as looping on a level if more than half of its wake-ups follow the previous one within 2 minutes and it wakes up more than 20 times a day, judged over at least 5 days. It finds 274 scales: 219 on level 3 – about a quarter of the 833 level-3 scales it could judge – and 59 on other levels, mostly on level 8 (a few loop on both). Together they produced 27% of all automatic weighings in the data, although they are only 1.5% of the scales; the loops outside level 3 alone produced 10%. The typical looping level-3 scale wakes up 670 times a day. With the case's assumption that a weighing costs about 3,000 times the sleep power for about two seconds, such a scale would empty a battery designed for five years in about 6 weeks; the slower loops on other levels in about 14 weeks. A different sensitivity is not the fix for a loop: it is a defect. Level 3 should stay off the setting menu until the firmware is fixed, and the detector should run every day to send looping scales to service. The looping scales are left out of the policy savings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question three, and it follows from everything before. First: what Bossard knows about a bin before installing it – the box type, the item weight – hardly matters on 20 kg scales and matters less than site and usage on 6 kg scales. Second: what does matter – how often the bin is used, what happens on the rack next to it, how small the typical pick is, and how its site behaves – only shows once the scale is running. Bossard knows the site, but not how it will behave. That is why a lookup table is the wrong tool: in our simulation, a table by pick-size class chose the same setting as one level for everybody for 95 to 99% of the scales. Third, and this is the good news: every scale already reports exactly what is needed, every week – how often it woke up for nothing, and how many of its changes were only found by a later check. So instead of guessing the setting from the master data, we let each scale find its level from its own results, with a simple rule that anybody can audit. We deliberately chose a transparent rule over a machine-learning model: it is easy to explain, to check and to trust, and it needs no inputs that Bossard does not already have.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 has three parts. FLAG – repair what no setting can fix. The loop detector runs every day; looping scales go to service, and level 3 stays off the setting menu until the firmware is fixed. In the data the loops caused 27% of all automatic weighings – most of them during the level-3 trial in April, but 59 scales also looped on other levels. Repairing a loop involves no trade-off with missed changes. TUNE – let every scale learn its level. Every scale starts on level 7 instead of 8: on the same scales, this one step removed 59 to 68% of the empty wake-ups for 1 to 3 points more misses. Then each scale is checked every two weeks: if it woke up empty more than 7 times a week and missed at most 5% of its changes, it goes one step less sensitive; if it missed more than 10% of its changes or had more than 2 TOO_FEW a week, it goes one step more sensitive. 6 kg and 20 kg scales run the same rule but are monitored separately, because they are different instruments. WATCH – keep the service level visible. KPI 2.0 is reported per scale in a dashboard; the existing 24-hour idle check stays as the safety net – it finds 91% of all detected misses (TOO_FEW), usually one to two days after the last weighing; and a watch list covers the few scales where misses concentrate: 10% of the scales produce 55% (20 kg) and 36% (6 kg) of all TOO_FEW. They get a 12-hour check or a higher level. We do not recommend a nightly check for every scale: it would cost up to 7 weighings per scale and week – about a third of the savings. The miss limit of 10% is a management decision: a lower limit for critical parts keeps more scales sensitive and saves less. At the customer site, two actions help: parts that are picked in amounts below about 25 grams go on 6 kg scales, and damping pads are tested at the ten sites that hold almost half of the coupled empty wake-ups.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it add up to? We simulated each policy on every scale's own history: the scale keeps its behaviour on level 8, and the causal effects of slide 13 translate it to the other levels; every rule was run five times. For scales without a loop, the recommended rule cuts the weighings by 61% (20 kg) and 55% (6 kg) – about 19 weighings per scale and week; if the 110,000 installed scales behaved like the ones in our data, that would be roughly 2.1 million per week – an illustration, not a forecast. The price: the typical scale misses 11 to 12% of its changes at first, instead of 3 to 5% in the simulated status quo – just above the 10% limit of KPI 2.0, because the rule keeps testing the next lower level. A stricter step-down threshold would miss less and save less; the pilot should tune it. Missed changes are not lost – the 24-hour check finds most of them, usually within one to two days. The share of scales that meet KPI 2.0 rises from 4% to 26% (20 kg) and from 7% to 18% (6 kg), and a scale changes its setting about once a month. The battery life of a typical scale grows by only 5 to 8%, because sleep dominates its energy budget – the big gains are on the radio network, the cloud and ARIMS, and on the looping scales. Why not the alternatives? The best single level for Bossard's KPIs still leaves most scales outside Bossard's targets and misses 38 to 46% of the changes. One level tuned for KPI 2.0 saves less on 20 kg scales and misses 19% on 6 kg scales. A rule that steers by the fraction pushes 45% of the 20 kg scales to level 1 and misses 46 to 47% of the changes. And no policy brings the typical scale to Bossard's fraction target of 0.5. Caution: the simulation is a model. It is stricter than the observed status quo and somewhat optimistic in a back-test on the real switchers, so its numbers compare policies; they are not forecasts – hence the pilot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analysis has limits, and naming them makes the work more credible, not less. One: the data are observational. The before/after design removes everything that is constant per scale and the calendar effects, but it cannot rule out an event that happened only to the switched scales around their switch – and some of them were busier than usual just before it. Two: TOO_FEW is a lower bound of the misses, because only a manual weighing can produce it; a missed pick that is followed by an automatic weighing is labelled OK. True miss rates are therefore somewhat higher – probably for every policy, though not necessarily to the same degree. Three: the coupling analysis links about half of the empty wake-ups to picking nearby, but it cannot separate vibration through the rack from touching the bin or from picks below the threshold, and the other half remains unexplained. Four: the data know only the site; groups of neighbouring scales were inferred from timing and must be confirmed on site. Five: the policy simulation is stricter than the observed status quo and somewhat optimistic in a back-test on the real switchers – the correlation between predicted and observed fraction per scale is only 0.31 to 0.68; it ranks policies, it does not forecast. Six: the battery model, the rule of the 24-hour check and the significance threshold were inferred from the case material and the data and should be confirmed by Bossard; and the data cover one season, March to June 2022.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next? For Bossard, four steps. First, repair the looping scales and take level 3 off the menu – this is quick, cheap and safe. Second, pilot the rule: five to ten sites for eight weeks, each matched with a similar control site that stays on the current setting, so that the effect can be measured cleanly – the same before/after logic we used on the data. Third, an on-site damping test at one of the sites with the most coupled empty wake-ups, to find out whether the coupling travels through the racks. Fourth, three facts to confirm with the firmware team: what a sensitivity level physically means on each scale type, the exact significance threshold, and the rule of the 24-hour check. For our project, until the final submission on 27 November: work in the feedback from today; add the sites page and a KPI 2.0 watch-list page to the Power BI report; deepen the literature on IoT-based replenishment and on detector trade-offs; and complete the speaker notes, the code and the written report in the repository. The work is split as follows: Erenalp leads the SmartBin case – data pipeline, analysis, Power BI and this deck – and Nikolaos leads the inventory case; both decks are reviewed jointly before submission. Expected results: a rule Bossard can switch on centrally, without new hardware; about 55 to 61% fewer weighings on normal scales with roughly one in nine changes found late, to be confirmed in the pilot; and a daily loop detector – in the data, 59 scales looped outside level 3 and produced 10% of all automatic weighings.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the cleaning funnel as a Power BI page (cleaning_funnel.csv in the Power BI pack).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questions. We tested several alternatives to the recommended rule. One level for everybody either misses too many changes (Bossard's KPIs) or saves less (KPI 2.0). A table by pick-size class ended up with the same level as one level for all for 95 to 99% of the scales. Steering by the fraction drives scales to level 1. A nightly check for every scale costs a third to 40% of the savings. Quiet hours: for every site we learned the hours of the week that held at most 1% of its real picks in March and April – a median of about 109 hours a week – and tested them on May and June: they would have avoided only 6% (20 kg) and 6% (6 kg) of the empty wake-ups while 4% and 5% of the real picks would have fallen into them. Empty wake-ups simply follow the working day. A longer minimum wait time cannot be evaluated: the scales with 60 minutes sit mostly at two sites and often on level 1, and no scale was observed with both wait times on the same level. Merging bursts – weighing once at the end of a ten-minute window instead of after every wake-up – would save 13 to 14% on its own and about 4 to 5% on top of level 7, without missing a change; about 38% of the picks would be reported about five minutes later. It needs a firmware change, so it is an optional backlog item.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exact rule and the distribution of levels after 16 simulated weeks. Many 6 kg scales return to level 8 – they handle small picks and cannot afford a lower setting.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table with all simulated policies. P4 uses hindsight and is not implementable; it shows what even a perfect fixed level per scale would achieve under Bossard's KPIs.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24-hour idle check is the safety net that makes a lower sensitivity acceptable. A TOO_FEW is therefore a delay, not a loss – and it is a lower bound of the misses.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methods behind each slide. All code is in the project repository; every number on the slides is computed from aggregated tables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event study supporting the difference-in-differences estimates. The bump before the switch is small compared with the drop, so it cannot explain most of it; a careful reading of the first step is 'roughly half fewer empty wake-ups'.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variance explained is not the strength of a lever. That is why the main slides use the spread between groups and the causal effect instead.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the question 'did you check nights and weekends?'.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for the final documentation: lessons learned, surprises and what we would do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cited on the slides. Case data are confidential and used under the module 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8"/>
        </a:solidFill>
        <a:effectLst/>
      </p:bgPr>
    </p:bg>
    <p:spTree>
      <p:nvGrpSpPr>
        <p:cNvPr id="1" name=""/>
        <p:cNvGrpSpPr/>
        <p:nvPr/>
      </p:nvGrpSpPr>
      <p:grpSpPr/>
      <p:sp>
        <p:nvSpPr>
          <p:cNvPr id="2" name="TextBox 1"/>
          <p:cNvSpPr txBox="1"/>
          <p:nvPr/>
        </p:nvSpPr>
        <p:spPr>
          <a:xfrm>
            <a:off x="813816" y="1828800"/>
            <a:ext cx="10881360" cy="274320"/>
          </a:xfrm>
          <a:prstGeom prst="rect">
            <a:avLst/>
          </a:prstGeom>
          <a:noFill/>
        </p:spPr>
        <p:txBody>
          <a:bodyPr wrap="square" lIns="0" rIns="0" tIns="0" bIns="0" anchor="t">
            <a:spAutoFit/>
          </a:bodyPr>
          <a:lstStyle/>
          <a:p>
            <a:pPr algn="l">
              <a:lnSpc>
                <a:spcPct val="112000"/>
              </a:lnSpc>
            </a:pPr>
            <a:r>
              <a:rPr sz="1200" b="1" i="0" spc="150">
                <a:solidFill>
                  <a:srgbClr val="E8A06A"/>
                </a:solidFill>
                <a:latin typeface="Inter"/>
              </a:rPr>
              <a:t>CASE STUDY · SMART LOGISTICS SERVICE OPTIMISATION · HSLU</a:t>
            </a:r>
          </a:p>
        </p:txBody>
      </p:sp>
      <p:sp>
        <p:nvSpPr>
          <p:cNvPr id="3" name="TextBox 2"/>
          <p:cNvSpPr txBox="1"/>
          <p:nvPr/>
        </p:nvSpPr>
        <p:spPr>
          <a:xfrm>
            <a:off x="813816" y="2240280"/>
            <a:ext cx="10241280" cy="2011680"/>
          </a:xfrm>
          <a:prstGeom prst="rect">
            <a:avLst/>
          </a:prstGeom>
          <a:noFill/>
        </p:spPr>
        <p:txBody>
          <a:bodyPr wrap="square" lIns="0" rIns="0" tIns="0" bIns="0" anchor="t">
            <a:spAutoFit/>
          </a:bodyPr>
          <a:lstStyle/>
          <a:p>
            <a:pPr algn="l">
              <a:lnSpc>
                <a:spcPct val="100000"/>
              </a:lnSpc>
            </a:pPr>
            <a:r>
              <a:rPr sz="4400" b="1" i="0">
                <a:solidFill>
                  <a:srgbClr val="F4F1EA"/>
                </a:solidFill>
                <a:latin typeface="Source Serif 4"/>
              </a:rPr>
              <a:t>How to stop smart bins from weighing themselves for nothing – without missing a pick</a:t>
            </a:r>
          </a:p>
        </p:txBody>
      </p:sp>
      <p:sp>
        <p:nvSpPr>
          <p:cNvPr id="4" name="TextBox 3"/>
          <p:cNvSpPr txBox="1"/>
          <p:nvPr/>
        </p:nvSpPr>
        <p:spPr>
          <a:xfrm>
            <a:off x="813816" y="4526280"/>
            <a:ext cx="10058400" cy="365760"/>
          </a:xfrm>
          <a:prstGeom prst="rect">
            <a:avLst/>
          </a:prstGeom>
          <a:noFill/>
        </p:spPr>
        <p:txBody>
          <a:bodyPr wrap="square" lIns="0" rIns="0" tIns="0" bIns="0" anchor="t">
            <a:spAutoFit/>
          </a:bodyPr>
          <a:lstStyle/>
          <a:p>
            <a:pPr algn="l">
              <a:lnSpc>
                <a:spcPct val="112000"/>
              </a:lnSpc>
            </a:pPr>
            <a:r>
              <a:rPr sz="1600" b="0" i="0">
                <a:solidFill>
                  <a:srgbClr val="DDE1E7"/>
                </a:solidFill>
                <a:latin typeface="Inter"/>
              </a:rPr>
              <a:t>Bossard SmartBin Cloud · interim findings · the project explained step by step</a:t>
            </a:r>
          </a:p>
        </p:txBody>
      </p:sp>
      <p:sp>
        <p:nvSpPr>
          <p:cNvPr id="5" name="TextBox 4"/>
          <p:cNvSpPr txBox="1"/>
          <p:nvPr/>
        </p:nvSpPr>
        <p:spPr>
          <a:xfrm>
            <a:off x="813816" y="4983480"/>
            <a:ext cx="10058400" cy="365760"/>
          </a:xfrm>
          <a:prstGeom prst="rect">
            <a:avLst/>
          </a:prstGeom>
          <a:noFill/>
        </p:spPr>
        <p:txBody>
          <a:bodyPr wrap="square" lIns="0" rIns="0" tIns="0" bIns="0" anchor="t">
            <a:spAutoFit/>
          </a:bodyPr>
          <a:lstStyle/>
          <a:p>
            <a:pPr algn="l">
              <a:lnSpc>
                <a:spcPct val="112000"/>
              </a:lnSpc>
            </a:pPr>
            <a:r>
              <a:rPr sz="1300" b="0" i="0">
                <a:solidFill>
                  <a:srgbClr val="8C97A6"/>
                </a:solidFill>
                <a:latin typeface="Inter"/>
              </a:rPr>
              <a:t>Erenalp Çakıroğlu · MSc Applied Information and Data Science · 23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THE CLIENT</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Bossard SmartBin Cloud: a scale under every bin</a:t>
            </a:r>
          </a:p>
        </p:txBody>
      </p:sp>
      <p:sp>
        <p:nvSpPr>
          <p:cNvPr id="5" name="Rounded Rectangle 4"/>
          <p:cNvSpPr/>
          <p:nvPr/>
        </p:nvSpPr>
        <p:spPr>
          <a:xfrm>
            <a:off x="813816" y="1764792"/>
            <a:ext cx="2523744" cy="2057400"/>
          </a:xfrm>
          <a:prstGeom prst="roundRect">
            <a:avLst>
              <a:gd name="adj" fmla="val 3555"/>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14984" y="1965960"/>
            <a:ext cx="2121408" cy="274320"/>
          </a:xfrm>
          <a:prstGeom prst="rect">
            <a:avLst/>
          </a:prstGeom>
          <a:noFill/>
        </p:spPr>
        <p:txBody>
          <a:bodyPr wrap="square" lIns="0" rIns="0" tIns="0" bIns="0" anchor="t">
            <a:spAutoFit/>
          </a:bodyPr>
          <a:lstStyle/>
          <a:p>
            <a:pPr algn="l">
              <a:lnSpc>
                <a:spcPct val="100000"/>
              </a:lnSpc>
            </a:pPr>
            <a:r>
              <a:rPr sz="1600" b="1" i="0">
                <a:solidFill>
                  <a:srgbClr val="1E2A38"/>
                </a:solidFill>
                <a:latin typeface="Inter"/>
              </a:rPr>
              <a:t>≈ 110,000 scales</a:t>
            </a:r>
          </a:p>
        </p:txBody>
      </p:sp>
      <p:sp>
        <p:nvSpPr>
          <p:cNvPr id="7" name="TextBox 6"/>
          <p:cNvSpPr txBox="1"/>
          <p:nvPr/>
        </p:nvSpPr>
        <p:spPr>
          <a:xfrm>
            <a:off x="1014984" y="2530856"/>
            <a:ext cx="2121408" cy="129133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installed at customer sites by March 2025; each reports the stock level of its bin. Our data: 18,455 of them.</a:t>
            </a:r>
          </a:p>
        </p:txBody>
      </p:sp>
      <p:sp>
        <p:nvSpPr>
          <p:cNvPr id="8" name="Rounded Rectangle 7"/>
          <p:cNvSpPr/>
          <p:nvPr/>
        </p:nvSpPr>
        <p:spPr>
          <a:xfrm>
            <a:off x="3493008" y="1764792"/>
            <a:ext cx="2523744" cy="2057400"/>
          </a:xfrm>
          <a:prstGeom prst="roundRect">
            <a:avLst>
              <a:gd name="adj" fmla="val 3555"/>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3694176" y="1965960"/>
            <a:ext cx="2121408" cy="274320"/>
          </a:xfrm>
          <a:prstGeom prst="rect">
            <a:avLst/>
          </a:prstGeom>
          <a:noFill/>
        </p:spPr>
        <p:txBody>
          <a:bodyPr wrap="square" lIns="0" rIns="0" tIns="0" bIns="0" anchor="t">
            <a:spAutoFit/>
          </a:bodyPr>
          <a:lstStyle/>
          <a:p>
            <a:pPr algn="l">
              <a:lnSpc>
                <a:spcPct val="100000"/>
              </a:lnSpc>
            </a:pPr>
            <a:r>
              <a:rPr sz="1600" b="1" i="0">
                <a:solidFill>
                  <a:srgbClr val="1E2A38"/>
                </a:solidFill>
                <a:latin typeface="Inter"/>
              </a:rPr>
              <a:t>Automatic reordering</a:t>
            </a:r>
          </a:p>
        </p:txBody>
      </p:sp>
      <p:sp>
        <p:nvSpPr>
          <p:cNvPr id="10" name="TextBox 9"/>
          <p:cNvSpPr txBox="1"/>
          <p:nvPr/>
        </p:nvSpPr>
        <p:spPr>
          <a:xfrm>
            <a:off x="3694176" y="2530856"/>
            <a:ext cx="2121408" cy="129133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the stock level flows into Bossard's ARIMS system, which orders new parts before a bin runs empty.</a:t>
            </a:r>
          </a:p>
        </p:txBody>
      </p:sp>
      <p:sp>
        <p:nvSpPr>
          <p:cNvPr id="11" name="Rounded Rectangle 10"/>
          <p:cNvSpPr/>
          <p:nvPr/>
        </p:nvSpPr>
        <p:spPr>
          <a:xfrm>
            <a:off x="6172200" y="1764792"/>
            <a:ext cx="2523744" cy="2057400"/>
          </a:xfrm>
          <a:prstGeom prst="roundRect">
            <a:avLst>
              <a:gd name="adj" fmla="val 3555"/>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6373368" y="1965960"/>
            <a:ext cx="2121408" cy="274320"/>
          </a:xfrm>
          <a:prstGeom prst="rect">
            <a:avLst/>
          </a:prstGeom>
          <a:noFill/>
        </p:spPr>
        <p:txBody>
          <a:bodyPr wrap="square" lIns="0" rIns="0" tIns="0" bIns="0" anchor="t">
            <a:spAutoFit/>
          </a:bodyPr>
          <a:lstStyle/>
          <a:p>
            <a:pPr algn="l">
              <a:lnSpc>
                <a:spcPct val="100000"/>
              </a:lnSpc>
            </a:pPr>
            <a:r>
              <a:rPr sz="1600" b="1" i="0">
                <a:solidFill>
                  <a:srgbClr val="1E2A38"/>
                </a:solidFill>
                <a:latin typeface="Inter"/>
              </a:rPr>
              <a:t>A battery for ≥ 5 years</a:t>
            </a:r>
          </a:p>
        </p:txBody>
      </p:sp>
      <p:sp>
        <p:nvSpPr>
          <p:cNvPr id="13" name="TextBox 12"/>
          <p:cNvSpPr txBox="1"/>
          <p:nvPr/>
        </p:nvSpPr>
        <p:spPr>
          <a:xfrm>
            <a:off x="6373368" y="2530856"/>
            <a:ext cx="2121408" cy="129133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a weighing draws about 3,000 times the power of sleep mode and loads the radio network, the IoT cloud and ARIMS.</a:t>
            </a:r>
          </a:p>
        </p:txBody>
      </p:sp>
      <p:sp>
        <p:nvSpPr>
          <p:cNvPr id="14" name="Rounded Rectangle 13"/>
          <p:cNvSpPr/>
          <p:nvPr/>
        </p:nvSpPr>
        <p:spPr>
          <a:xfrm>
            <a:off x="8851392" y="1764792"/>
            <a:ext cx="2523744" cy="2057400"/>
          </a:xfrm>
          <a:prstGeom prst="roundRect">
            <a:avLst>
              <a:gd name="adj" fmla="val 3555"/>
            </a:avLst>
          </a:prstGeom>
          <a:solidFill>
            <a:srgbClr val="FFFDF9"/>
          </a:solidFill>
          <a:ln w="6350">
            <a:solidFill>
              <a:srgbClr val="E2DDD2"/>
            </a:solidFill>
          </a:ln>
        </p:spPr>
        <p:txBody>
          <a:bodyPr rtlCol="0" anchor="ctr"/>
          <a:lstStyle/>
          <a:p>
            <a:pPr algn="ctr"/>
          </a:p>
        </p:txBody>
      </p:sp>
      <p:sp>
        <p:nvSpPr>
          <p:cNvPr id="15" name="TextBox 14"/>
          <p:cNvSpPr txBox="1"/>
          <p:nvPr/>
        </p:nvSpPr>
        <p:spPr>
          <a:xfrm>
            <a:off x="9052560" y="1965960"/>
            <a:ext cx="2121408" cy="274320"/>
          </a:xfrm>
          <a:prstGeom prst="rect">
            <a:avLst/>
          </a:prstGeom>
          <a:noFill/>
        </p:spPr>
        <p:txBody>
          <a:bodyPr wrap="square" lIns="0" rIns="0" tIns="0" bIns="0" anchor="t">
            <a:spAutoFit/>
          </a:bodyPr>
          <a:lstStyle/>
          <a:p>
            <a:pPr algn="l">
              <a:lnSpc>
                <a:spcPct val="100000"/>
              </a:lnSpc>
            </a:pPr>
            <a:r>
              <a:rPr sz="1600" b="1" i="0">
                <a:solidFill>
                  <a:srgbClr val="1E2A38"/>
                </a:solidFill>
                <a:latin typeface="Inter"/>
              </a:rPr>
              <a:t>A sensor decides</a:t>
            </a:r>
          </a:p>
        </p:txBody>
      </p:sp>
      <p:sp>
        <p:nvSpPr>
          <p:cNvPr id="16" name="TextBox 15"/>
          <p:cNvSpPr txBox="1"/>
          <p:nvPr/>
        </p:nvSpPr>
        <p:spPr>
          <a:xfrm>
            <a:off x="9052560" y="2530856"/>
            <a:ext cx="2121408" cy="129133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the scale sleeps until its vibration sensor reports a touch. The sensitivity (1–10, default 8) sets how strong it must be.</a:t>
            </a:r>
          </a:p>
        </p:txBody>
      </p:sp>
      <p:sp>
        <p:nvSpPr>
          <p:cNvPr id="17" name="TextBox 16"/>
          <p:cNvSpPr txBox="1"/>
          <p:nvPr/>
        </p:nvSpPr>
        <p:spPr>
          <a:xfrm>
            <a:off x="813816" y="4096512"/>
            <a:ext cx="10570464" cy="274320"/>
          </a:xfrm>
          <a:prstGeom prst="rect">
            <a:avLst/>
          </a:prstGeom>
          <a:noFill/>
        </p:spPr>
        <p:txBody>
          <a:bodyPr wrap="square" lIns="0" rIns="0" tIns="0" bIns="0" anchor="t">
            <a:spAutoFit/>
          </a:bodyPr>
          <a:lstStyle/>
          <a:p>
            <a:pPr algn="l">
              <a:lnSpc>
                <a:spcPct val="112000"/>
              </a:lnSpc>
            </a:pPr>
            <a:r>
              <a:rPr sz="1100" b="1" i="0" spc="120">
                <a:solidFill>
                  <a:srgbClr val="B5541A"/>
                </a:solidFill>
                <a:latin typeface="Inter"/>
              </a:rPr>
              <a:t>HOW A PICK BECOMES AN ORDER</a:t>
            </a:r>
          </a:p>
        </p:txBody>
      </p:sp>
      <p:sp>
        <p:nvSpPr>
          <p:cNvPr id="18" name="Rounded Rectangle 17"/>
          <p:cNvSpPr/>
          <p:nvPr/>
        </p:nvSpPr>
        <p:spPr>
          <a:xfrm>
            <a:off x="813816" y="4443984"/>
            <a:ext cx="1554480" cy="475488"/>
          </a:xfrm>
          <a:prstGeom prst="roundRect">
            <a:avLst>
              <a:gd name="adj" fmla="val 30000"/>
            </a:avLst>
          </a:prstGeom>
          <a:solidFill>
            <a:srgbClr val="E5E3DE"/>
          </a:solidFill>
          <a:ln>
            <a:noFill/>
          </a:ln>
        </p:spPr>
        <p:txBody>
          <a:bodyPr rtlCol="0" anchor="ctr"/>
          <a:lstStyle/>
          <a:p>
            <a:pPr algn="ctr"/>
          </a:p>
        </p:txBody>
      </p:sp>
      <p:sp>
        <p:nvSpPr>
          <p:cNvPr id="19" name="TextBox 18"/>
          <p:cNvSpPr txBox="1"/>
          <p:nvPr/>
        </p:nvSpPr>
        <p:spPr>
          <a:xfrm>
            <a:off x="868680" y="4443984"/>
            <a:ext cx="1444752" cy="475488"/>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Someone takes parts</a:t>
            </a:r>
          </a:p>
        </p:txBody>
      </p:sp>
      <p:cxnSp>
        <p:nvCxnSpPr>
          <p:cNvPr id="20" name="Connector 19"/>
          <p:cNvCxnSpPr/>
          <p:nvPr/>
        </p:nvCxnSpPr>
        <p:spPr>
          <a:xfrm>
            <a:off x="2386584" y="4681728"/>
            <a:ext cx="192024"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596896" y="4443984"/>
            <a:ext cx="1554480" cy="475488"/>
          </a:xfrm>
          <a:prstGeom prst="roundRect">
            <a:avLst>
              <a:gd name="adj" fmla="val 30000"/>
            </a:avLst>
          </a:prstGeom>
          <a:solidFill>
            <a:srgbClr val="E5E3DE"/>
          </a:solidFill>
          <a:ln>
            <a:noFill/>
          </a:ln>
        </p:spPr>
        <p:txBody>
          <a:bodyPr rtlCol="0" anchor="ctr"/>
          <a:lstStyle/>
          <a:p>
            <a:pPr algn="ctr"/>
          </a:p>
        </p:txBody>
      </p:sp>
      <p:sp>
        <p:nvSpPr>
          <p:cNvPr id="22" name="TextBox 21"/>
          <p:cNvSpPr txBox="1"/>
          <p:nvPr/>
        </p:nvSpPr>
        <p:spPr>
          <a:xfrm>
            <a:off x="2651760" y="4443984"/>
            <a:ext cx="1444752" cy="475488"/>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Sensor wakes the scale</a:t>
            </a:r>
          </a:p>
        </p:txBody>
      </p:sp>
      <p:cxnSp>
        <p:nvCxnSpPr>
          <p:cNvPr id="23" name="Connector 22"/>
          <p:cNvCxnSpPr/>
          <p:nvPr/>
        </p:nvCxnSpPr>
        <p:spPr>
          <a:xfrm>
            <a:off x="4169663" y="4681728"/>
            <a:ext cx="192025"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79976" y="4443984"/>
            <a:ext cx="1554480" cy="475488"/>
          </a:xfrm>
          <a:prstGeom prst="roundRect">
            <a:avLst>
              <a:gd name="adj" fmla="val 30000"/>
            </a:avLst>
          </a:prstGeom>
          <a:solidFill>
            <a:srgbClr val="E5E3DE"/>
          </a:solidFill>
          <a:ln>
            <a:noFill/>
          </a:ln>
        </p:spPr>
        <p:txBody>
          <a:bodyPr rtlCol="0" anchor="ctr"/>
          <a:lstStyle/>
          <a:p>
            <a:pPr algn="ctr"/>
          </a:p>
        </p:txBody>
      </p:sp>
      <p:sp>
        <p:nvSpPr>
          <p:cNvPr id="25" name="TextBox 24"/>
          <p:cNvSpPr txBox="1"/>
          <p:nvPr/>
        </p:nvSpPr>
        <p:spPr>
          <a:xfrm>
            <a:off x="4434840" y="4443984"/>
            <a:ext cx="1444752" cy="475488"/>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Scale weighs</a:t>
            </a:r>
          </a:p>
        </p:txBody>
      </p:sp>
      <p:cxnSp>
        <p:nvCxnSpPr>
          <p:cNvPr id="26" name="Connector 25"/>
          <p:cNvCxnSpPr/>
          <p:nvPr/>
        </p:nvCxnSpPr>
        <p:spPr>
          <a:xfrm>
            <a:off x="5952744" y="4681728"/>
            <a:ext cx="192024"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63055" y="4443984"/>
            <a:ext cx="1554480" cy="475488"/>
          </a:xfrm>
          <a:prstGeom prst="roundRect">
            <a:avLst>
              <a:gd name="adj" fmla="val 30000"/>
            </a:avLst>
          </a:prstGeom>
          <a:solidFill>
            <a:srgbClr val="E5E3DE"/>
          </a:solidFill>
          <a:ln>
            <a:noFill/>
          </a:ln>
        </p:spPr>
        <p:txBody>
          <a:bodyPr rtlCol="0" anchor="ctr"/>
          <a:lstStyle/>
          <a:p>
            <a:pPr algn="ctr"/>
          </a:p>
        </p:txBody>
      </p:sp>
      <p:sp>
        <p:nvSpPr>
          <p:cNvPr id="28" name="TextBox 27"/>
          <p:cNvSpPr txBox="1"/>
          <p:nvPr/>
        </p:nvSpPr>
        <p:spPr>
          <a:xfrm>
            <a:off x="6217919" y="4443984"/>
            <a:ext cx="1444752" cy="475488"/>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Radio network</a:t>
            </a:r>
          </a:p>
        </p:txBody>
      </p:sp>
      <p:cxnSp>
        <p:nvCxnSpPr>
          <p:cNvPr id="29" name="Connector 28"/>
          <p:cNvCxnSpPr/>
          <p:nvPr/>
        </p:nvCxnSpPr>
        <p:spPr>
          <a:xfrm>
            <a:off x="7735823" y="4681728"/>
            <a:ext cx="192025"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946136" y="4443984"/>
            <a:ext cx="1554480" cy="475488"/>
          </a:xfrm>
          <a:prstGeom prst="roundRect">
            <a:avLst>
              <a:gd name="adj" fmla="val 30000"/>
            </a:avLst>
          </a:prstGeom>
          <a:solidFill>
            <a:srgbClr val="E5E3DE"/>
          </a:solidFill>
          <a:ln>
            <a:noFill/>
          </a:ln>
        </p:spPr>
        <p:txBody>
          <a:bodyPr rtlCol="0" anchor="ctr"/>
          <a:lstStyle/>
          <a:p>
            <a:pPr algn="ctr"/>
          </a:p>
        </p:txBody>
      </p:sp>
      <p:sp>
        <p:nvSpPr>
          <p:cNvPr id="31" name="TextBox 30"/>
          <p:cNvSpPr txBox="1"/>
          <p:nvPr/>
        </p:nvSpPr>
        <p:spPr>
          <a:xfrm>
            <a:off x="8001000" y="4443984"/>
            <a:ext cx="1444752" cy="475488"/>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IoT cloud</a:t>
            </a:r>
          </a:p>
        </p:txBody>
      </p:sp>
      <p:cxnSp>
        <p:nvCxnSpPr>
          <p:cNvPr id="32" name="Connector 31"/>
          <p:cNvCxnSpPr/>
          <p:nvPr/>
        </p:nvCxnSpPr>
        <p:spPr>
          <a:xfrm>
            <a:off x="9518904" y="4681728"/>
            <a:ext cx="192024"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729216" y="4443984"/>
            <a:ext cx="1554480" cy="475488"/>
          </a:xfrm>
          <a:prstGeom prst="roundRect">
            <a:avLst>
              <a:gd name="adj" fmla="val 30000"/>
            </a:avLst>
          </a:prstGeom>
          <a:solidFill>
            <a:srgbClr val="1E2A38"/>
          </a:solidFill>
          <a:ln>
            <a:noFill/>
          </a:ln>
        </p:spPr>
        <p:txBody>
          <a:bodyPr rtlCol="0" anchor="ctr"/>
          <a:lstStyle/>
          <a:p>
            <a:pPr algn="ctr"/>
          </a:p>
        </p:txBody>
      </p:sp>
      <p:sp>
        <p:nvSpPr>
          <p:cNvPr id="34" name="TextBox 33"/>
          <p:cNvSpPr txBox="1"/>
          <p:nvPr/>
        </p:nvSpPr>
        <p:spPr>
          <a:xfrm>
            <a:off x="9784080" y="4443984"/>
            <a:ext cx="1444752" cy="475488"/>
          </a:xfrm>
          <a:prstGeom prst="rect">
            <a:avLst/>
          </a:prstGeom>
          <a:noFill/>
        </p:spPr>
        <p:txBody>
          <a:bodyPr wrap="square" lIns="0" rIns="0" tIns="0" bIns="0" anchor="ctr">
            <a:spAutoFit/>
          </a:bodyPr>
          <a:lstStyle/>
          <a:p>
            <a:pPr algn="ctr">
              <a:lnSpc>
                <a:spcPct val="100000"/>
              </a:lnSpc>
            </a:pPr>
            <a:r>
              <a:rPr sz="1150" b="1" i="0">
                <a:solidFill>
                  <a:srgbClr val="F4F1EA"/>
                </a:solidFill>
                <a:latin typeface="Inter"/>
              </a:rPr>
              <a:t>ARIMS reorders</a:t>
            </a:r>
          </a:p>
        </p:txBody>
      </p:sp>
      <p:sp>
        <p:nvSpPr>
          <p:cNvPr id="35" name="Rounded Rectangle 34"/>
          <p:cNvSpPr/>
          <p:nvPr/>
        </p:nvSpPr>
        <p:spPr>
          <a:xfrm>
            <a:off x="813816" y="5239512"/>
            <a:ext cx="10570464" cy="713232"/>
          </a:xfrm>
          <a:prstGeom prst="roundRect">
            <a:avLst>
              <a:gd name="adj" fmla="val 10256"/>
            </a:avLst>
          </a:prstGeom>
          <a:solidFill>
            <a:srgbClr val="ECE8DF"/>
          </a:solidFill>
          <a:ln>
            <a:noFill/>
          </a:ln>
        </p:spPr>
        <p:txBody>
          <a:bodyPr rtlCol="0" anchor="ctr"/>
          <a:lstStyle/>
          <a:p>
            <a:pPr algn="ctr"/>
          </a:p>
        </p:txBody>
      </p:sp>
      <p:sp>
        <p:nvSpPr>
          <p:cNvPr id="36" name="TextBox 35"/>
          <p:cNvSpPr txBox="1"/>
          <p:nvPr/>
        </p:nvSpPr>
        <p:spPr>
          <a:xfrm>
            <a:off x="1042416" y="5239512"/>
            <a:ext cx="10158984" cy="713232"/>
          </a:xfrm>
          <a:prstGeom prst="rect">
            <a:avLst/>
          </a:prstGeom>
          <a:noFill/>
        </p:spPr>
        <p:txBody>
          <a:bodyPr wrap="square" lIns="0" rIns="0" tIns="0" bIns="0" anchor="ctr">
            <a:spAutoFit/>
          </a:bodyPr>
          <a:lstStyle/>
          <a:p>
            <a:pPr algn="l">
              <a:lnSpc>
                <a:spcPct val="112000"/>
              </a:lnSpc>
            </a:pPr>
            <a:r>
              <a:rPr sz="1450" b="1" i="0">
                <a:solidFill>
                  <a:srgbClr val="1E2A38"/>
                </a:solidFill>
                <a:latin typeface="Inter"/>
              </a:rPr>
              <a:t>So:</a:t>
            </a:r>
            <a:r>
              <a:rPr sz="1450" b="0" i="0">
                <a:solidFill>
                  <a:srgbClr val="1E2A38"/>
                </a:solidFill>
                <a:latin typeface="Inter"/>
              </a:rPr>
              <a:t> every unnecessary wake-up costs battery, radio and cloud capacity – and every change the sensor sleeps through leaves a wrong stock level in ARIMS.</a:t>
            </a:r>
          </a:p>
        </p:txBody>
      </p:sp>
      <p:sp>
        <p:nvSpPr>
          <p:cNvPr id="37" name="TextBox 3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Bossard AG &amp; D ONE (2026), case material; Bossard AG (n.d.); Anastasi et al. (2009)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3</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THE PROBLEM</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Every weighing ends in one of four outcomes</a:t>
            </a:r>
          </a:p>
        </p:txBody>
      </p:sp>
      <p:sp>
        <p:nvSpPr>
          <p:cNvPr id="5" name="Rounded Rectangle 4"/>
          <p:cNvSpPr/>
          <p:nvPr/>
        </p:nvSpPr>
        <p:spPr>
          <a:xfrm>
            <a:off x="813816" y="2743200"/>
            <a:ext cx="1600200" cy="822960"/>
          </a:xfrm>
          <a:prstGeom prst="roundRect">
            <a:avLst>
              <a:gd name="adj" fmla="val 8888"/>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923544" y="2743200"/>
            <a:ext cx="1380744" cy="822960"/>
          </a:xfrm>
          <a:prstGeom prst="rect">
            <a:avLst/>
          </a:prstGeom>
          <a:noFill/>
        </p:spPr>
        <p:txBody>
          <a:bodyPr wrap="square" lIns="0" rIns="0" tIns="0" bIns="0" anchor="ctr">
            <a:spAutoFit/>
          </a:bodyPr>
          <a:lstStyle/>
          <a:p>
            <a:pPr algn="ctr">
              <a:lnSpc>
                <a:spcPct val="108000"/>
              </a:lnSpc>
            </a:pPr>
            <a:r>
              <a:rPr sz="1250" b="0" i="0">
                <a:solidFill>
                  <a:srgbClr val="1E2A38"/>
                </a:solidFill>
                <a:latin typeface="Inter"/>
              </a:rPr>
              <a:t>Someone touches the bin</a:t>
            </a:r>
          </a:p>
        </p:txBody>
      </p:sp>
      <p:sp>
        <p:nvSpPr>
          <p:cNvPr id="7" name="Rounded Rectangle 6"/>
          <p:cNvSpPr/>
          <p:nvPr/>
        </p:nvSpPr>
        <p:spPr>
          <a:xfrm>
            <a:off x="2697480" y="2606040"/>
            <a:ext cx="2103120" cy="1097280"/>
          </a:xfrm>
          <a:prstGeom prst="roundRect">
            <a:avLst>
              <a:gd name="adj" fmla="val 6666"/>
            </a:avLst>
          </a:prstGeom>
          <a:solidFill>
            <a:srgbClr val="E5E3DE"/>
          </a:solidFill>
          <a:ln w="6350">
            <a:solidFill>
              <a:srgbClr val="E2DDD2"/>
            </a:solidFill>
          </a:ln>
        </p:spPr>
        <p:txBody>
          <a:bodyPr rtlCol="0" anchor="ctr"/>
          <a:lstStyle/>
          <a:p>
            <a:pPr algn="ctr"/>
          </a:p>
        </p:txBody>
      </p:sp>
      <p:sp>
        <p:nvSpPr>
          <p:cNvPr id="8" name="TextBox 7"/>
          <p:cNvSpPr txBox="1"/>
          <p:nvPr/>
        </p:nvSpPr>
        <p:spPr>
          <a:xfrm>
            <a:off x="2807208" y="2606040"/>
            <a:ext cx="1883663" cy="1097280"/>
          </a:xfrm>
          <a:prstGeom prst="rect">
            <a:avLst/>
          </a:prstGeom>
          <a:noFill/>
        </p:spPr>
        <p:txBody>
          <a:bodyPr wrap="square" lIns="0" rIns="0" tIns="0" bIns="0" anchor="ctr">
            <a:spAutoFit/>
          </a:bodyPr>
          <a:lstStyle/>
          <a:p>
            <a:pPr algn="ctr">
              <a:lnSpc>
                <a:spcPct val="108000"/>
              </a:lnSpc>
            </a:pPr>
            <a:r>
              <a:rPr sz="1250" b="0" i="0">
                <a:solidFill>
                  <a:srgbClr val="1E2A38"/>
                </a:solidFill>
                <a:latin typeface="Inter"/>
              </a:rPr>
              <a:t>Is the vibration above the </a:t>
            </a:r>
            <a:r>
              <a:rPr sz="1250" b="1" i="0">
                <a:solidFill>
                  <a:srgbClr val="1E2A38"/>
                </a:solidFill>
                <a:latin typeface="Inter"/>
              </a:rPr>
              <a:t>sensitivity</a:t>
            </a:r>
            <a:r>
              <a:rPr sz="1250" b="0" i="0">
                <a:solidFill>
                  <a:srgbClr val="1E2A38"/>
                </a:solidFill>
                <a:latin typeface="Inter"/>
              </a:rPr>
              <a:t> threshold?</a:t>
            </a:r>
          </a:p>
        </p:txBody>
      </p:sp>
      <p:sp>
        <p:nvSpPr>
          <p:cNvPr id="9" name="Rounded Rectangle 8"/>
          <p:cNvSpPr/>
          <p:nvPr/>
        </p:nvSpPr>
        <p:spPr>
          <a:xfrm>
            <a:off x="5120640" y="1965960"/>
            <a:ext cx="2148840" cy="822960"/>
          </a:xfrm>
          <a:prstGeom prst="roundRect">
            <a:avLst>
              <a:gd name="adj" fmla="val 8888"/>
            </a:avLst>
          </a:prstGeom>
          <a:solidFill>
            <a:srgbClr val="FFFDF9"/>
          </a:solidFill>
          <a:ln w="6350">
            <a:solidFill>
              <a:srgbClr val="E2DDD2"/>
            </a:solidFill>
          </a:ln>
        </p:spPr>
        <p:txBody>
          <a:bodyPr rtlCol="0" anchor="ctr"/>
          <a:lstStyle/>
          <a:p>
            <a:pPr algn="ctr"/>
          </a:p>
        </p:txBody>
      </p:sp>
      <p:sp>
        <p:nvSpPr>
          <p:cNvPr id="10" name="TextBox 9"/>
          <p:cNvSpPr txBox="1"/>
          <p:nvPr/>
        </p:nvSpPr>
        <p:spPr>
          <a:xfrm>
            <a:off x="5230368" y="1965960"/>
            <a:ext cx="1929384" cy="822960"/>
          </a:xfrm>
          <a:prstGeom prst="rect">
            <a:avLst/>
          </a:prstGeom>
          <a:noFill/>
        </p:spPr>
        <p:txBody>
          <a:bodyPr wrap="square" lIns="0" rIns="0" tIns="0" bIns="0" anchor="ctr">
            <a:spAutoFit/>
          </a:bodyPr>
          <a:lstStyle/>
          <a:p>
            <a:pPr algn="ctr">
              <a:lnSpc>
                <a:spcPct val="108000"/>
              </a:lnSpc>
            </a:pPr>
            <a:r>
              <a:rPr sz="1250" b="1" i="0">
                <a:solidFill>
                  <a:srgbClr val="1E2A38"/>
                </a:solidFill>
                <a:latin typeface="Inter"/>
              </a:rPr>
              <a:t>yes:</a:t>
            </a:r>
            <a:r>
              <a:rPr sz="1250" b="0" i="0">
                <a:solidFill>
                  <a:srgbClr val="1E2A38"/>
                </a:solidFill>
                <a:latin typeface="Inter"/>
              </a:rPr>
              <a:t> the scale weighs at once (automatic)</a:t>
            </a:r>
          </a:p>
        </p:txBody>
      </p:sp>
      <p:sp>
        <p:nvSpPr>
          <p:cNvPr id="11" name="Rounded Rectangle 10"/>
          <p:cNvSpPr/>
          <p:nvPr/>
        </p:nvSpPr>
        <p:spPr>
          <a:xfrm>
            <a:off x="5120640" y="3474720"/>
            <a:ext cx="2148840" cy="914400"/>
          </a:xfrm>
          <a:prstGeom prst="roundRect">
            <a:avLst>
              <a:gd name="adj" fmla="val 8000"/>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5230368" y="3474720"/>
            <a:ext cx="1929384" cy="914400"/>
          </a:xfrm>
          <a:prstGeom prst="rect">
            <a:avLst/>
          </a:prstGeom>
          <a:noFill/>
        </p:spPr>
        <p:txBody>
          <a:bodyPr wrap="square" lIns="0" rIns="0" tIns="0" bIns="0" anchor="ctr">
            <a:spAutoFit/>
          </a:bodyPr>
          <a:lstStyle/>
          <a:p>
            <a:pPr algn="ctr">
              <a:lnSpc>
                <a:spcPct val="108000"/>
              </a:lnSpc>
            </a:pPr>
            <a:r>
              <a:rPr sz="1250" b="1" i="0">
                <a:solidFill>
                  <a:srgbClr val="1E2A38"/>
                </a:solidFill>
                <a:latin typeface="Inter"/>
              </a:rPr>
              <a:t>no:</a:t>
            </a:r>
            <a:r>
              <a:rPr sz="1250" b="0" i="0">
                <a:solidFill>
                  <a:srgbClr val="1E2A38"/>
                </a:solidFill>
                <a:latin typeface="Inter"/>
              </a:rPr>
              <a:t> it sleeps on; a 24 h check or a person weighs later (manual)</a:t>
            </a:r>
          </a:p>
        </p:txBody>
      </p:sp>
      <p:cxnSp>
        <p:nvCxnSpPr>
          <p:cNvPr id="13" name="Connector 12"/>
          <p:cNvCxnSpPr/>
          <p:nvPr/>
        </p:nvCxnSpPr>
        <p:spPr>
          <a:xfrm>
            <a:off x="2414016" y="3154680"/>
            <a:ext cx="283464" cy="0"/>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800600" y="2377440"/>
            <a:ext cx="320040" cy="548640"/>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800600" y="3383280"/>
            <a:ext cx="320040" cy="548640"/>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89520" y="1783080"/>
            <a:ext cx="3794760" cy="548640"/>
          </a:xfrm>
          <a:prstGeom prst="roundRect">
            <a:avLst>
              <a:gd name="adj" fmla="val 13333"/>
            </a:avLst>
          </a:prstGeom>
          <a:solidFill>
            <a:srgbClr val="FFFDF9"/>
          </a:solidFill>
          <a:ln w="6350">
            <a:solidFill>
              <a:srgbClr val="E2DDD2"/>
            </a:solidFill>
          </a:ln>
        </p:spPr>
        <p:txBody>
          <a:bodyPr rtlCol="0" anchor="ctr"/>
          <a:lstStyle/>
          <a:p>
            <a:pPr algn="ctr"/>
          </a:p>
        </p:txBody>
      </p:sp>
      <p:sp>
        <p:nvSpPr>
          <p:cNvPr id="17" name="Rectangle 16"/>
          <p:cNvSpPr/>
          <p:nvPr/>
        </p:nvSpPr>
        <p:spPr>
          <a:xfrm>
            <a:off x="7589520" y="1837943"/>
            <a:ext cx="73152" cy="438912"/>
          </a:xfrm>
          <a:prstGeom prst="rect">
            <a:avLst/>
          </a:prstGeom>
          <a:solidFill>
            <a:srgbClr val="4E8F4E"/>
          </a:solidFill>
          <a:ln>
            <a:noFill/>
          </a:ln>
        </p:spPr>
        <p:txBody>
          <a:bodyPr rtlCol="0" anchor="ctr"/>
          <a:lstStyle/>
          <a:p>
            <a:pPr algn="ctr"/>
          </a:p>
        </p:txBody>
      </p:sp>
      <p:sp>
        <p:nvSpPr>
          <p:cNvPr id="18" name="TextBox 17"/>
          <p:cNvSpPr txBox="1"/>
          <p:nvPr/>
        </p:nvSpPr>
        <p:spPr>
          <a:xfrm>
            <a:off x="7790688" y="1783080"/>
            <a:ext cx="2697480" cy="548640"/>
          </a:xfrm>
          <a:prstGeom prst="rect">
            <a:avLst/>
          </a:prstGeom>
          <a:noFill/>
        </p:spPr>
        <p:txBody>
          <a:bodyPr wrap="square" lIns="0" rIns="0" tIns="0" bIns="0" anchor="ctr">
            <a:spAutoFit/>
          </a:bodyPr>
          <a:lstStyle/>
          <a:p>
            <a:pPr algn="l">
              <a:lnSpc>
                <a:spcPct val="112000"/>
              </a:lnSpc>
            </a:pPr>
            <a:r>
              <a:rPr sz="1250" b="1" i="0">
                <a:solidFill>
                  <a:srgbClr val="1E2A38"/>
                </a:solidFill>
                <a:latin typeface="Inter"/>
              </a:rPr>
              <a:t>OK</a:t>
            </a:r>
            <a:r>
              <a:rPr sz="1250" b="0" i="0">
                <a:solidFill>
                  <a:srgbClr val="1E2A38"/>
                </a:solidFill>
                <a:latin typeface="Inter"/>
              </a:rPr>
              <a:t> · weight changed: real pick caught</a:t>
            </a:r>
          </a:p>
        </p:txBody>
      </p:sp>
      <p:sp>
        <p:nvSpPr>
          <p:cNvPr id="19" name="TextBox 18"/>
          <p:cNvSpPr txBox="1"/>
          <p:nvPr/>
        </p:nvSpPr>
        <p:spPr>
          <a:xfrm>
            <a:off x="10332720" y="1783080"/>
            <a:ext cx="960120" cy="548640"/>
          </a:xfrm>
          <a:prstGeom prst="rect">
            <a:avLst/>
          </a:prstGeom>
          <a:noFill/>
        </p:spPr>
        <p:txBody>
          <a:bodyPr wrap="square" lIns="0" rIns="0" tIns="0" bIns="0" anchor="ctr">
            <a:spAutoFit/>
          </a:bodyPr>
          <a:lstStyle/>
          <a:p>
            <a:pPr algn="r">
              <a:lnSpc>
                <a:spcPct val="112000"/>
              </a:lnSpc>
            </a:pPr>
            <a:r>
              <a:rPr sz="1250" b="0" i="0">
                <a:solidFill>
                  <a:srgbClr val="4A5360"/>
                </a:solidFill>
                <a:latin typeface="Inter"/>
              </a:rPr>
              <a:t>1.7 M</a:t>
            </a:r>
          </a:p>
        </p:txBody>
      </p:sp>
      <p:cxnSp>
        <p:nvCxnSpPr>
          <p:cNvPr id="20" name="Connector 19"/>
          <p:cNvCxnSpPr/>
          <p:nvPr/>
        </p:nvCxnSpPr>
        <p:spPr>
          <a:xfrm flipV="1">
            <a:off x="7269480" y="2057400"/>
            <a:ext cx="320040" cy="320040"/>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589520" y="2423160"/>
            <a:ext cx="3794760" cy="548640"/>
          </a:xfrm>
          <a:prstGeom prst="roundRect">
            <a:avLst>
              <a:gd name="adj" fmla="val 13333"/>
            </a:avLst>
          </a:prstGeom>
          <a:solidFill>
            <a:srgbClr val="FFFDF9"/>
          </a:solidFill>
          <a:ln w="6350">
            <a:solidFill>
              <a:srgbClr val="E2DDD2"/>
            </a:solidFill>
          </a:ln>
        </p:spPr>
        <p:txBody>
          <a:bodyPr rtlCol="0" anchor="ctr"/>
          <a:lstStyle/>
          <a:p>
            <a:pPr algn="ctr"/>
          </a:p>
        </p:txBody>
      </p:sp>
      <p:sp>
        <p:nvSpPr>
          <p:cNvPr id="22" name="Rectangle 21"/>
          <p:cNvSpPr/>
          <p:nvPr/>
        </p:nvSpPr>
        <p:spPr>
          <a:xfrm>
            <a:off x="7589520" y="2478024"/>
            <a:ext cx="73152" cy="438912"/>
          </a:xfrm>
          <a:prstGeom prst="rect">
            <a:avLst/>
          </a:prstGeom>
          <a:solidFill>
            <a:srgbClr val="D46A1F"/>
          </a:solidFill>
          <a:ln>
            <a:noFill/>
          </a:ln>
        </p:spPr>
        <p:txBody>
          <a:bodyPr rtlCol="0" anchor="ctr"/>
          <a:lstStyle/>
          <a:p>
            <a:pPr algn="ctr"/>
          </a:p>
        </p:txBody>
      </p:sp>
      <p:sp>
        <p:nvSpPr>
          <p:cNvPr id="23" name="TextBox 22"/>
          <p:cNvSpPr txBox="1"/>
          <p:nvPr/>
        </p:nvSpPr>
        <p:spPr>
          <a:xfrm>
            <a:off x="7790688" y="2423160"/>
            <a:ext cx="2697480" cy="548640"/>
          </a:xfrm>
          <a:prstGeom prst="rect">
            <a:avLst/>
          </a:prstGeom>
          <a:noFill/>
        </p:spPr>
        <p:txBody>
          <a:bodyPr wrap="square" lIns="0" rIns="0" tIns="0" bIns="0" anchor="ctr">
            <a:spAutoFit/>
          </a:bodyPr>
          <a:lstStyle/>
          <a:p>
            <a:pPr algn="l">
              <a:lnSpc>
                <a:spcPct val="112000"/>
              </a:lnSpc>
            </a:pPr>
            <a:r>
              <a:rPr sz="1250" b="1" i="0">
                <a:solidFill>
                  <a:srgbClr val="1E2A38"/>
                </a:solidFill>
                <a:latin typeface="Inter"/>
              </a:rPr>
              <a:t>TOO_MANY</a:t>
            </a:r>
            <a:r>
              <a:rPr sz="1250" b="0" i="0">
                <a:solidFill>
                  <a:srgbClr val="1E2A38"/>
                </a:solidFill>
                <a:latin typeface="Inter"/>
              </a:rPr>
              <a:t> · no change: empty wake-up</a:t>
            </a:r>
          </a:p>
        </p:txBody>
      </p:sp>
      <p:sp>
        <p:nvSpPr>
          <p:cNvPr id="24" name="TextBox 23"/>
          <p:cNvSpPr txBox="1"/>
          <p:nvPr/>
        </p:nvSpPr>
        <p:spPr>
          <a:xfrm>
            <a:off x="10332720" y="2423160"/>
            <a:ext cx="960120" cy="548640"/>
          </a:xfrm>
          <a:prstGeom prst="rect">
            <a:avLst/>
          </a:prstGeom>
          <a:noFill/>
        </p:spPr>
        <p:txBody>
          <a:bodyPr wrap="square" lIns="0" rIns="0" tIns="0" bIns="0" anchor="ctr">
            <a:spAutoFit/>
          </a:bodyPr>
          <a:lstStyle/>
          <a:p>
            <a:pPr algn="r">
              <a:lnSpc>
                <a:spcPct val="112000"/>
              </a:lnSpc>
            </a:pPr>
            <a:r>
              <a:rPr sz="1250" b="0" i="0">
                <a:solidFill>
                  <a:srgbClr val="4A5360"/>
                </a:solidFill>
                <a:latin typeface="Inter"/>
              </a:rPr>
              <a:t>5.4 M</a:t>
            </a:r>
          </a:p>
        </p:txBody>
      </p:sp>
      <p:cxnSp>
        <p:nvCxnSpPr>
          <p:cNvPr id="25" name="Connector 24"/>
          <p:cNvCxnSpPr/>
          <p:nvPr/>
        </p:nvCxnSpPr>
        <p:spPr>
          <a:xfrm>
            <a:off x="7269480" y="2377440"/>
            <a:ext cx="320040" cy="320039"/>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589520" y="3337560"/>
            <a:ext cx="3794760" cy="548640"/>
          </a:xfrm>
          <a:prstGeom prst="roundRect">
            <a:avLst>
              <a:gd name="adj" fmla="val 13333"/>
            </a:avLst>
          </a:prstGeom>
          <a:solidFill>
            <a:srgbClr val="FFFDF9"/>
          </a:solidFill>
          <a:ln w="6350">
            <a:solidFill>
              <a:srgbClr val="E2DDD2"/>
            </a:solidFill>
          </a:ln>
        </p:spPr>
        <p:txBody>
          <a:bodyPr rtlCol="0" anchor="ctr"/>
          <a:lstStyle/>
          <a:p>
            <a:pPr algn="ctr"/>
          </a:p>
        </p:txBody>
      </p:sp>
      <p:sp>
        <p:nvSpPr>
          <p:cNvPr id="27" name="Rectangle 26"/>
          <p:cNvSpPr/>
          <p:nvPr/>
        </p:nvSpPr>
        <p:spPr>
          <a:xfrm>
            <a:off x="7589520" y="3392424"/>
            <a:ext cx="73152" cy="438912"/>
          </a:xfrm>
          <a:prstGeom prst="rect">
            <a:avLst/>
          </a:prstGeom>
          <a:solidFill>
            <a:srgbClr val="C0504D"/>
          </a:solidFill>
          <a:ln>
            <a:noFill/>
          </a:ln>
        </p:spPr>
        <p:txBody>
          <a:bodyPr rtlCol="0" anchor="ctr"/>
          <a:lstStyle/>
          <a:p>
            <a:pPr algn="ctr"/>
          </a:p>
        </p:txBody>
      </p:sp>
      <p:sp>
        <p:nvSpPr>
          <p:cNvPr id="28" name="TextBox 27"/>
          <p:cNvSpPr txBox="1"/>
          <p:nvPr/>
        </p:nvSpPr>
        <p:spPr>
          <a:xfrm>
            <a:off x="7790688" y="3337560"/>
            <a:ext cx="2697480" cy="548640"/>
          </a:xfrm>
          <a:prstGeom prst="rect">
            <a:avLst/>
          </a:prstGeom>
          <a:noFill/>
        </p:spPr>
        <p:txBody>
          <a:bodyPr wrap="square" lIns="0" rIns="0" tIns="0" bIns="0" anchor="ctr">
            <a:spAutoFit/>
          </a:bodyPr>
          <a:lstStyle/>
          <a:p>
            <a:pPr algn="l">
              <a:lnSpc>
                <a:spcPct val="112000"/>
              </a:lnSpc>
            </a:pPr>
            <a:r>
              <a:rPr sz="1250" b="1" i="0">
                <a:solidFill>
                  <a:srgbClr val="1E2A38"/>
                </a:solidFill>
                <a:latin typeface="Inter"/>
              </a:rPr>
              <a:t>TOO_FEW</a:t>
            </a:r>
            <a:r>
              <a:rPr sz="1250" b="0" i="0">
                <a:solidFill>
                  <a:srgbClr val="1E2A38"/>
                </a:solidFill>
                <a:latin typeface="Inter"/>
              </a:rPr>
              <a:t> · change found later: missed</a:t>
            </a:r>
          </a:p>
        </p:txBody>
      </p:sp>
      <p:sp>
        <p:nvSpPr>
          <p:cNvPr id="29" name="TextBox 28"/>
          <p:cNvSpPr txBox="1"/>
          <p:nvPr/>
        </p:nvSpPr>
        <p:spPr>
          <a:xfrm>
            <a:off x="10332720" y="3337560"/>
            <a:ext cx="960120" cy="548640"/>
          </a:xfrm>
          <a:prstGeom prst="rect">
            <a:avLst/>
          </a:prstGeom>
          <a:noFill/>
        </p:spPr>
        <p:txBody>
          <a:bodyPr wrap="square" lIns="0" rIns="0" tIns="0" bIns="0" anchor="ctr">
            <a:spAutoFit/>
          </a:bodyPr>
          <a:lstStyle/>
          <a:p>
            <a:pPr algn="r">
              <a:lnSpc>
                <a:spcPct val="112000"/>
              </a:lnSpc>
            </a:pPr>
            <a:r>
              <a:rPr sz="1250" b="0" i="0">
                <a:solidFill>
                  <a:srgbClr val="4A5360"/>
                </a:solidFill>
                <a:latin typeface="Inter"/>
              </a:rPr>
              <a:t>0.1 M</a:t>
            </a:r>
          </a:p>
        </p:txBody>
      </p:sp>
      <p:cxnSp>
        <p:nvCxnSpPr>
          <p:cNvPr id="30" name="Connector 29"/>
          <p:cNvCxnSpPr/>
          <p:nvPr/>
        </p:nvCxnSpPr>
        <p:spPr>
          <a:xfrm flipV="1">
            <a:off x="7269480" y="3611879"/>
            <a:ext cx="320040" cy="320041"/>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589520" y="3977639"/>
            <a:ext cx="3794760" cy="548640"/>
          </a:xfrm>
          <a:prstGeom prst="roundRect">
            <a:avLst>
              <a:gd name="adj" fmla="val 13333"/>
            </a:avLst>
          </a:prstGeom>
          <a:solidFill>
            <a:srgbClr val="FFFDF9"/>
          </a:solidFill>
          <a:ln w="6350">
            <a:solidFill>
              <a:srgbClr val="E2DDD2"/>
            </a:solidFill>
          </a:ln>
        </p:spPr>
        <p:txBody>
          <a:bodyPr rtlCol="0" anchor="ctr"/>
          <a:lstStyle/>
          <a:p>
            <a:pPr algn="ctr"/>
          </a:p>
        </p:txBody>
      </p:sp>
      <p:sp>
        <p:nvSpPr>
          <p:cNvPr id="32" name="Rectangle 31"/>
          <p:cNvSpPr/>
          <p:nvPr/>
        </p:nvSpPr>
        <p:spPr>
          <a:xfrm>
            <a:off x="7589520" y="4032503"/>
            <a:ext cx="73152" cy="438912"/>
          </a:xfrm>
          <a:prstGeom prst="rect">
            <a:avLst/>
          </a:prstGeom>
          <a:solidFill>
            <a:srgbClr val="B7B5B1"/>
          </a:solidFill>
          <a:ln>
            <a:noFill/>
          </a:ln>
        </p:spPr>
        <p:txBody>
          <a:bodyPr rtlCol="0" anchor="ctr"/>
          <a:lstStyle/>
          <a:p>
            <a:pPr algn="ctr"/>
          </a:p>
        </p:txBody>
      </p:sp>
      <p:sp>
        <p:nvSpPr>
          <p:cNvPr id="33" name="TextBox 32"/>
          <p:cNvSpPr txBox="1"/>
          <p:nvPr/>
        </p:nvSpPr>
        <p:spPr>
          <a:xfrm>
            <a:off x="7790688" y="3977639"/>
            <a:ext cx="2697480" cy="548640"/>
          </a:xfrm>
          <a:prstGeom prst="rect">
            <a:avLst/>
          </a:prstGeom>
          <a:noFill/>
        </p:spPr>
        <p:txBody>
          <a:bodyPr wrap="square" lIns="0" rIns="0" tIns="0" bIns="0" anchor="ctr">
            <a:spAutoFit/>
          </a:bodyPr>
          <a:lstStyle/>
          <a:p>
            <a:pPr algn="l">
              <a:lnSpc>
                <a:spcPct val="112000"/>
              </a:lnSpc>
            </a:pPr>
            <a:r>
              <a:rPr sz="1250" b="1" i="0">
                <a:solidFill>
                  <a:srgbClr val="1E2A38"/>
                </a:solidFill>
                <a:latin typeface="Inter"/>
              </a:rPr>
              <a:t>OK</a:t>
            </a:r>
            <a:r>
              <a:rPr sz="1250" b="0" i="0">
                <a:solidFill>
                  <a:srgbClr val="1E2A38"/>
                </a:solidFill>
                <a:latin typeface="Inter"/>
              </a:rPr>
              <a:t> · no change: nothing missed</a:t>
            </a:r>
          </a:p>
        </p:txBody>
      </p:sp>
      <p:sp>
        <p:nvSpPr>
          <p:cNvPr id="34" name="TextBox 33"/>
          <p:cNvSpPr txBox="1"/>
          <p:nvPr/>
        </p:nvSpPr>
        <p:spPr>
          <a:xfrm>
            <a:off x="10332720" y="3977639"/>
            <a:ext cx="960120" cy="548640"/>
          </a:xfrm>
          <a:prstGeom prst="rect">
            <a:avLst/>
          </a:prstGeom>
          <a:noFill/>
        </p:spPr>
        <p:txBody>
          <a:bodyPr wrap="square" lIns="0" rIns="0" tIns="0" bIns="0" anchor="ctr">
            <a:spAutoFit/>
          </a:bodyPr>
          <a:lstStyle/>
          <a:p>
            <a:pPr algn="r">
              <a:lnSpc>
                <a:spcPct val="112000"/>
              </a:lnSpc>
            </a:pPr>
            <a:r>
              <a:rPr sz="1250" b="0" i="0">
                <a:solidFill>
                  <a:srgbClr val="4A5360"/>
                </a:solidFill>
                <a:latin typeface="Inter"/>
              </a:rPr>
              <a:t>0.4 M</a:t>
            </a:r>
          </a:p>
        </p:txBody>
      </p:sp>
      <p:cxnSp>
        <p:nvCxnSpPr>
          <p:cNvPr id="35" name="Connector 34"/>
          <p:cNvCxnSpPr/>
          <p:nvPr/>
        </p:nvCxnSpPr>
        <p:spPr>
          <a:xfrm>
            <a:off x="7269480" y="3931920"/>
            <a:ext cx="320040" cy="320039"/>
          </a:xfrm>
          <a:prstGeom prst="line">
            <a:avLst/>
          </a:prstGeom>
          <a:ln w="15875">
            <a:solidFill>
              <a:srgbClr val="4A53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3816" y="4800600"/>
            <a:ext cx="5120640" cy="1325880"/>
          </a:xfrm>
          <a:prstGeom prst="roundRect">
            <a:avLst>
              <a:gd name="adj" fmla="val 5517"/>
            </a:avLst>
          </a:prstGeom>
          <a:solidFill>
            <a:srgbClr val="FFFDF9"/>
          </a:solidFill>
          <a:ln w="6350">
            <a:solidFill>
              <a:srgbClr val="E2DDD2"/>
            </a:solidFill>
          </a:ln>
        </p:spPr>
        <p:txBody>
          <a:bodyPr rtlCol="0" anchor="ctr"/>
          <a:lstStyle/>
          <a:p>
            <a:pPr algn="ctr"/>
          </a:p>
        </p:txBody>
      </p:sp>
      <p:sp>
        <p:nvSpPr>
          <p:cNvPr id="37" name="TextBox 36"/>
          <p:cNvSpPr txBox="1"/>
          <p:nvPr/>
        </p:nvSpPr>
        <p:spPr>
          <a:xfrm>
            <a:off x="978408" y="4965192"/>
            <a:ext cx="4791455" cy="274320"/>
          </a:xfrm>
          <a:prstGeom prst="rect">
            <a:avLst/>
          </a:prstGeom>
          <a:noFill/>
        </p:spPr>
        <p:txBody>
          <a:bodyPr wrap="square" lIns="0" rIns="0" tIns="0" bIns="0" anchor="t">
            <a:spAutoFit/>
          </a:bodyPr>
          <a:lstStyle/>
          <a:p>
            <a:pPr algn="l">
              <a:lnSpc>
                <a:spcPct val="100000"/>
              </a:lnSpc>
            </a:pPr>
            <a:r>
              <a:rPr sz="1400" b="1" i="0">
                <a:solidFill>
                  <a:srgbClr val="1E2A38"/>
                </a:solidFill>
                <a:latin typeface="Inter"/>
              </a:rPr>
              <a:t>Bossard's KPIs per scale</a:t>
            </a:r>
          </a:p>
        </p:txBody>
      </p:sp>
      <p:sp>
        <p:nvSpPr>
          <p:cNvPr id="38" name="TextBox 37"/>
          <p:cNvSpPr txBox="1"/>
          <p:nvPr/>
        </p:nvSpPr>
        <p:spPr>
          <a:xfrm>
            <a:off x="978408" y="5253482"/>
            <a:ext cx="4791455" cy="872998"/>
          </a:xfrm>
          <a:prstGeom prst="rect">
            <a:avLst/>
          </a:prstGeom>
          <a:noFill/>
        </p:spPr>
        <p:txBody>
          <a:bodyPr wrap="square" lIns="0" rIns="0" tIns="0" bIns="0" anchor="t">
            <a:spAutoFit/>
          </a:bodyPr>
          <a:lstStyle/>
          <a:p>
            <a:pPr algn="l">
              <a:lnSpc>
                <a:spcPct val="115000"/>
              </a:lnSpc>
              <a:spcAft>
                <a:spcPts val="300"/>
              </a:spcAft>
            </a:pPr>
            <a:r>
              <a:rPr sz="1250" b="1" i="0">
                <a:solidFill>
                  <a:srgbClr val="4A5360"/>
                </a:solidFill>
                <a:latin typeface="Inter"/>
              </a:rPr>
              <a:t>TOO_MANY fraction</a:t>
            </a:r>
            <a:r>
              <a:rPr sz="1250" b="0" i="0">
                <a:solidFill>
                  <a:srgbClr val="4A5360"/>
                </a:solidFill>
                <a:latin typeface="Inter"/>
              </a:rPr>
              <a:t> = TOO_MANY / all automatic weighings · target ≤ 0.5 · alarm &gt; 0.8</a:t>
            </a:r>
          </a:p>
          <a:p>
            <a:pPr algn="l">
              <a:lnSpc>
                <a:spcPct val="115000"/>
              </a:lnSpc>
              <a:spcAft>
                <a:spcPts val="300"/>
              </a:spcAft>
            </a:pPr>
            <a:r>
              <a:rPr sz="1250" b="1" i="0">
                <a:solidFill>
                  <a:srgbClr val="4A5360"/>
                </a:solidFill>
                <a:latin typeface="Inter"/>
              </a:rPr>
              <a:t>TOO_FEW per week</a:t>
            </a:r>
            <a:r>
              <a:rPr sz="1250" b="0" i="0">
                <a:solidFill>
                  <a:srgbClr val="4A5360"/>
                </a:solidFill>
                <a:latin typeface="Inter"/>
              </a:rPr>
              <a:t> · target ≤ 2</a:t>
            </a:r>
          </a:p>
        </p:txBody>
      </p:sp>
      <p:sp>
        <p:nvSpPr>
          <p:cNvPr id="39" name="Rounded Rectangle 38"/>
          <p:cNvSpPr/>
          <p:nvPr/>
        </p:nvSpPr>
        <p:spPr>
          <a:xfrm>
            <a:off x="6172200" y="4800600"/>
            <a:ext cx="5212080" cy="1325880"/>
          </a:xfrm>
          <a:prstGeom prst="roundRect">
            <a:avLst>
              <a:gd name="adj" fmla="val 5517"/>
            </a:avLst>
          </a:prstGeom>
          <a:solidFill>
            <a:srgbClr val="ECE8DF"/>
          </a:solidFill>
          <a:ln>
            <a:noFill/>
          </a:ln>
        </p:spPr>
        <p:txBody>
          <a:bodyPr rtlCol="0" anchor="ctr"/>
          <a:lstStyle/>
          <a:p>
            <a:pPr algn="ctr"/>
          </a:p>
        </p:txBody>
      </p:sp>
      <p:sp>
        <p:nvSpPr>
          <p:cNvPr id="40" name="TextBox 39"/>
          <p:cNvSpPr txBox="1"/>
          <p:nvPr/>
        </p:nvSpPr>
        <p:spPr>
          <a:xfrm>
            <a:off x="6400800" y="4800600"/>
            <a:ext cx="4800600" cy="1325880"/>
          </a:xfrm>
          <a:prstGeom prst="rect">
            <a:avLst/>
          </a:prstGeom>
          <a:noFill/>
        </p:spPr>
        <p:txBody>
          <a:bodyPr wrap="square" lIns="0" rIns="0" tIns="0" bIns="0" anchor="ctr">
            <a:spAutoFit/>
          </a:bodyPr>
          <a:lstStyle/>
          <a:p>
            <a:pPr algn="l">
              <a:lnSpc>
                <a:spcPct val="112000"/>
              </a:lnSpc>
            </a:pPr>
            <a:r>
              <a:rPr sz="1400" b="1" i="0">
                <a:solidFill>
                  <a:srgbClr val="1E2A38"/>
                </a:solidFill>
                <a:latin typeface="Inter"/>
              </a:rPr>
              <a:t>So:</a:t>
            </a:r>
            <a:r>
              <a:rPr sz="1400" b="0" i="0">
                <a:solidFill>
                  <a:srgbClr val="1E2A38"/>
                </a:solidFill>
                <a:latin typeface="Inter"/>
              </a:rPr>
              <a:t> the setting moves one threshold. Too low wastes energy on empty wake-ups, too high misses changes – the classic false-alarm vs. miss trade-off of every detector.</a:t>
            </a:r>
          </a:p>
        </p:txBody>
      </p:sp>
      <p:sp>
        <p:nvSpPr>
          <p:cNvPr id="41" name="TextBox 40"/>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Bossard AG &amp; D ONE (2026); Green &amp; Swets (1966). Counts after removing duplicates and impossible weights (M = million).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4</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OUR APPROACH</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The client's three questions</a:t>
            </a:r>
          </a:p>
        </p:txBody>
      </p:sp>
      <p:sp>
        <p:nvSpPr>
          <p:cNvPr id="5" name="Rounded Rectangle 4"/>
          <p:cNvSpPr/>
          <p:nvPr/>
        </p:nvSpPr>
        <p:spPr>
          <a:xfrm>
            <a:off x="813816" y="1764792"/>
            <a:ext cx="3383280" cy="2971800"/>
          </a:xfrm>
          <a:prstGeom prst="roundRect">
            <a:avLst>
              <a:gd name="adj" fmla="val 2461"/>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51560" y="1947672"/>
            <a:ext cx="2926080" cy="457200"/>
          </a:xfrm>
          <a:prstGeom prst="rect">
            <a:avLst/>
          </a:prstGeom>
          <a:noFill/>
        </p:spPr>
        <p:txBody>
          <a:bodyPr wrap="square" lIns="0" rIns="0" tIns="0" bIns="0" anchor="t">
            <a:spAutoFit/>
          </a:bodyPr>
          <a:lstStyle/>
          <a:p>
            <a:pPr algn="l">
              <a:lnSpc>
                <a:spcPct val="112000"/>
              </a:lnSpc>
            </a:pPr>
            <a:r>
              <a:rPr sz="2600" b="1" i="0">
                <a:solidFill>
                  <a:srgbClr val="D46A1F"/>
                </a:solidFill>
                <a:latin typeface="Source Serif 4"/>
              </a:rPr>
              <a:t>1</a:t>
            </a:r>
          </a:p>
        </p:txBody>
      </p:sp>
      <p:sp>
        <p:nvSpPr>
          <p:cNvPr id="7" name="TextBox 6"/>
          <p:cNvSpPr txBox="1"/>
          <p:nvPr/>
        </p:nvSpPr>
        <p:spPr>
          <a:xfrm>
            <a:off x="1051560" y="2450592"/>
            <a:ext cx="2926080" cy="548640"/>
          </a:xfrm>
          <a:prstGeom prst="rect">
            <a:avLst/>
          </a:prstGeom>
          <a:noFill/>
        </p:spPr>
        <p:txBody>
          <a:bodyPr wrap="square" lIns="0" rIns="0" tIns="0" bIns="0" anchor="t">
            <a:spAutoFit/>
          </a:bodyPr>
          <a:lstStyle/>
          <a:p>
            <a:pPr algn="l">
              <a:lnSpc>
                <a:spcPct val="105000"/>
              </a:lnSpc>
            </a:pPr>
            <a:r>
              <a:rPr sz="1600" b="1" i="0">
                <a:solidFill>
                  <a:srgbClr val="1E2A38"/>
                </a:solidFill>
                <a:latin typeface="Inter"/>
              </a:rPr>
              <a:t>Which parameters hardly matter?</a:t>
            </a:r>
          </a:p>
        </p:txBody>
      </p:sp>
      <p:sp>
        <p:nvSpPr>
          <p:cNvPr id="8" name="TextBox 7"/>
          <p:cNvSpPr txBox="1"/>
          <p:nvPr/>
        </p:nvSpPr>
        <p:spPr>
          <a:xfrm>
            <a:off x="1051560" y="3076651"/>
            <a:ext cx="2926080" cy="731520"/>
          </a:xfrm>
          <a:prstGeom prst="rect">
            <a:avLst/>
          </a:prstGeom>
          <a:noFill/>
        </p:spPr>
        <p:txBody>
          <a:bodyPr wrap="square" lIns="0" rIns="0" tIns="0" bIns="0" anchor="t">
            <a:spAutoFit/>
          </a:bodyPr>
          <a:lstStyle/>
          <a:p>
            <a:pPr algn="l">
              <a:lnSpc>
                <a:spcPct val="112000"/>
              </a:lnSpc>
            </a:pPr>
            <a:r>
              <a:rPr sz="1250" b="1" i="0">
                <a:solidFill>
                  <a:srgbClr val="4A5360"/>
                </a:solidFill>
                <a:latin typeface="Inter"/>
              </a:rPr>
              <a:t>What we did:</a:t>
            </a:r>
            <a:r>
              <a:rPr sz="1250" b="0" i="0">
                <a:solidFill>
                  <a:srgbClr val="4A5360"/>
                </a:solidFill>
                <a:latin typeface="Inter"/>
              </a:rPr>
              <a:t> compared groups of scales on the same setting (level 8).</a:t>
            </a:r>
          </a:p>
        </p:txBody>
      </p:sp>
      <p:sp>
        <p:nvSpPr>
          <p:cNvPr id="9" name="TextBox 8"/>
          <p:cNvSpPr txBox="1"/>
          <p:nvPr/>
        </p:nvSpPr>
        <p:spPr>
          <a:xfrm>
            <a:off x="1051560" y="3634943"/>
            <a:ext cx="2926080" cy="685800"/>
          </a:xfrm>
          <a:prstGeom prst="rect">
            <a:avLst/>
          </a:prstGeom>
          <a:noFill/>
        </p:spPr>
        <p:txBody>
          <a:bodyPr wrap="square" lIns="0" rIns="0" tIns="0" bIns="0" anchor="t">
            <a:spAutoFit/>
          </a:bodyPr>
          <a:lstStyle/>
          <a:p>
            <a:pPr algn="l">
              <a:lnSpc>
                <a:spcPct val="112000"/>
              </a:lnSpc>
            </a:pPr>
            <a:r>
              <a:rPr sz="1250" b="1" i="0">
                <a:solidFill>
                  <a:srgbClr val="1E2A38"/>
                </a:solidFill>
                <a:latin typeface="Inter"/>
              </a:rPr>
              <a:t>Short answer:</a:t>
            </a:r>
            <a:r>
              <a:rPr sz="1250" b="0" i="0">
                <a:solidFill>
                  <a:srgbClr val="1E2A38"/>
                </a:solidFill>
                <a:latin typeface="Inter"/>
              </a:rPr>
              <a:t> box type and item weight – clearly on 20 kg, less so on 6 kg scales.</a:t>
            </a:r>
          </a:p>
        </p:txBody>
      </p:sp>
      <p:sp>
        <p:nvSpPr>
          <p:cNvPr id="10" name="Rounded Rectangle 9"/>
          <p:cNvSpPr/>
          <p:nvPr/>
        </p:nvSpPr>
        <p:spPr>
          <a:xfrm>
            <a:off x="4407408" y="1764792"/>
            <a:ext cx="3383280" cy="2971800"/>
          </a:xfrm>
          <a:prstGeom prst="roundRect">
            <a:avLst>
              <a:gd name="adj" fmla="val 2461"/>
            </a:avLst>
          </a:prstGeom>
          <a:solidFill>
            <a:srgbClr val="FFFDF9"/>
          </a:solidFill>
          <a:ln w="6350">
            <a:solidFill>
              <a:srgbClr val="E2DDD2"/>
            </a:solidFill>
          </a:ln>
        </p:spPr>
        <p:txBody>
          <a:bodyPr rtlCol="0" anchor="ctr"/>
          <a:lstStyle/>
          <a:p>
            <a:pPr algn="ctr"/>
          </a:p>
        </p:txBody>
      </p:sp>
      <p:sp>
        <p:nvSpPr>
          <p:cNvPr id="11" name="TextBox 10"/>
          <p:cNvSpPr txBox="1"/>
          <p:nvPr/>
        </p:nvSpPr>
        <p:spPr>
          <a:xfrm>
            <a:off x="4645152" y="1947672"/>
            <a:ext cx="2926080" cy="457200"/>
          </a:xfrm>
          <a:prstGeom prst="rect">
            <a:avLst/>
          </a:prstGeom>
          <a:noFill/>
        </p:spPr>
        <p:txBody>
          <a:bodyPr wrap="square" lIns="0" rIns="0" tIns="0" bIns="0" anchor="t">
            <a:spAutoFit/>
          </a:bodyPr>
          <a:lstStyle/>
          <a:p>
            <a:pPr algn="l">
              <a:lnSpc>
                <a:spcPct val="112000"/>
              </a:lnSpc>
            </a:pPr>
            <a:r>
              <a:rPr sz="2600" b="1" i="0">
                <a:solidFill>
                  <a:srgbClr val="D46A1F"/>
                </a:solidFill>
                <a:latin typeface="Source Serif 4"/>
              </a:rPr>
              <a:t>2</a:t>
            </a:r>
          </a:p>
        </p:txBody>
      </p:sp>
      <p:sp>
        <p:nvSpPr>
          <p:cNvPr id="12" name="TextBox 11"/>
          <p:cNvSpPr txBox="1"/>
          <p:nvPr/>
        </p:nvSpPr>
        <p:spPr>
          <a:xfrm>
            <a:off x="4645152" y="2450592"/>
            <a:ext cx="2926080" cy="548640"/>
          </a:xfrm>
          <a:prstGeom prst="rect">
            <a:avLst/>
          </a:prstGeom>
          <a:noFill/>
        </p:spPr>
        <p:txBody>
          <a:bodyPr wrap="square" lIns="0" rIns="0" tIns="0" bIns="0" anchor="t">
            <a:spAutoFit/>
          </a:bodyPr>
          <a:lstStyle/>
          <a:p>
            <a:pPr algn="l">
              <a:lnSpc>
                <a:spcPct val="105000"/>
              </a:lnSpc>
            </a:pPr>
            <a:r>
              <a:rPr sz="1600" b="1" i="0">
                <a:solidFill>
                  <a:srgbClr val="1E2A38"/>
                </a:solidFill>
                <a:latin typeface="Inter"/>
              </a:rPr>
              <a:t>Which parameters matter?</a:t>
            </a:r>
          </a:p>
        </p:txBody>
      </p:sp>
      <p:sp>
        <p:nvSpPr>
          <p:cNvPr id="13" name="TextBox 12"/>
          <p:cNvSpPr txBox="1"/>
          <p:nvPr/>
        </p:nvSpPr>
        <p:spPr>
          <a:xfrm>
            <a:off x="4645152" y="2818485"/>
            <a:ext cx="2926080" cy="731520"/>
          </a:xfrm>
          <a:prstGeom prst="rect">
            <a:avLst/>
          </a:prstGeom>
          <a:noFill/>
        </p:spPr>
        <p:txBody>
          <a:bodyPr wrap="square" lIns="0" rIns="0" tIns="0" bIns="0" anchor="t">
            <a:spAutoFit/>
          </a:bodyPr>
          <a:lstStyle/>
          <a:p>
            <a:pPr algn="l">
              <a:lnSpc>
                <a:spcPct val="112000"/>
              </a:lnSpc>
            </a:pPr>
            <a:r>
              <a:rPr sz="1250" b="1" i="0">
                <a:solidFill>
                  <a:srgbClr val="4A5360"/>
                </a:solidFill>
                <a:latin typeface="Inter"/>
              </a:rPr>
              <a:t>What we did:</a:t>
            </a:r>
            <a:r>
              <a:rPr sz="1250" b="0" i="0">
                <a:solidFill>
                  <a:srgbClr val="4A5360"/>
                </a:solidFill>
                <a:latin typeface="Inter"/>
              </a:rPr>
              <a:t> measured sites, usage and timing – and the setting itself on the 7,846 scales Bossard switched in April.</a:t>
            </a:r>
          </a:p>
        </p:txBody>
      </p:sp>
      <p:sp>
        <p:nvSpPr>
          <p:cNvPr id="14" name="TextBox 13"/>
          <p:cNvSpPr txBox="1"/>
          <p:nvPr/>
        </p:nvSpPr>
        <p:spPr>
          <a:xfrm>
            <a:off x="4645152" y="3807053"/>
            <a:ext cx="2926080" cy="685800"/>
          </a:xfrm>
          <a:prstGeom prst="rect">
            <a:avLst/>
          </a:prstGeom>
          <a:noFill/>
        </p:spPr>
        <p:txBody>
          <a:bodyPr wrap="square" lIns="0" rIns="0" tIns="0" bIns="0" anchor="t">
            <a:spAutoFit/>
          </a:bodyPr>
          <a:lstStyle/>
          <a:p>
            <a:pPr algn="l">
              <a:lnSpc>
                <a:spcPct val="112000"/>
              </a:lnSpc>
            </a:pPr>
            <a:r>
              <a:rPr sz="1250" b="1" i="0">
                <a:solidFill>
                  <a:srgbClr val="1E2A38"/>
                </a:solidFill>
                <a:latin typeface="Inter"/>
              </a:rPr>
              <a:t>Short answer:</a:t>
            </a:r>
            <a:r>
              <a:rPr sz="1250" b="0" i="0">
                <a:solidFill>
                  <a:srgbClr val="1E2A38"/>
                </a:solidFill>
                <a:latin typeface="Inter"/>
              </a:rPr>
              <a:t> site and usage – and the setting, the only lever Bossard controls remotely.</a:t>
            </a:r>
          </a:p>
        </p:txBody>
      </p:sp>
      <p:sp>
        <p:nvSpPr>
          <p:cNvPr id="15" name="Rounded Rectangle 14"/>
          <p:cNvSpPr/>
          <p:nvPr/>
        </p:nvSpPr>
        <p:spPr>
          <a:xfrm>
            <a:off x="8001000" y="1764792"/>
            <a:ext cx="3383280" cy="2971800"/>
          </a:xfrm>
          <a:prstGeom prst="roundRect">
            <a:avLst>
              <a:gd name="adj" fmla="val 2461"/>
            </a:avLst>
          </a:prstGeom>
          <a:solidFill>
            <a:srgbClr val="FFFDF9"/>
          </a:solidFill>
          <a:ln w="6350">
            <a:solidFill>
              <a:srgbClr val="E2DDD2"/>
            </a:solidFill>
          </a:ln>
        </p:spPr>
        <p:txBody>
          <a:bodyPr rtlCol="0" anchor="ctr"/>
          <a:lstStyle/>
          <a:p>
            <a:pPr algn="ctr"/>
          </a:p>
        </p:txBody>
      </p:sp>
      <p:sp>
        <p:nvSpPr>
          <p:cNvPr id="16" name="TextBox 15"/>
          <p:cNvSpPr txBox="1"/>
          <p:nvPr/>
        </p:nvSpPr>
        <p:spPr>
          <a:xfrm>
            <a:off x="8238744" y="1947672"/>
            <a:ext cx="2926080" cy="457200"/>
          </a:xfrm>
          <a:prstGeom prst="rect">
            <a:avLst/>
          </a:prstGeom>
          <a:noFill/>
        </p:spPr>
        <p:txBody>
          <a:bodyPr wrap="square" lIns="0" rIns="0" tIns="0" bIns="0" anchor="t">
            <a:spAutoFit/>
          </a:bodyPr>
          <a:lstStyle/>
          <a:p>
            <a:pPr algn="l">
              <a:lnSpc>
                <a:spcPct val="112000"/>
              </a:lnSpc>
            </a:pPr>
            <a:r>
              <a:rPr sz="2600" b="1" i="0">
                <a:solidFill>
                  <a:srgbClr val="D46A1F"/>
                </a:solidFill>
                <a:latin typeface="Source Serif 4"/>
              </a:rPr>
              <a:t>3</a:t>
            </a:r>
          </a:p>
        </p:txBody>
      </p:sp>
      <p:sp>
        <p:nvSpPr>
          <p:cNvPr id="17" name="TextBox 16"/>
          <p:cNvSpPr txBox="1"/>
          <p:nvPr/>
        </p:nvSpPr>
        <p:spPr>
          <a:xfrm>
            <a:off x="8238744" y="2450592"/>
            <a:ext cx="2926080" cy="548640"/>
          </a:xfrm>
          <a:prstGeom prst="rect">
            <a:avLst/>
          </a:prstGeom>
          <a:noFill/>
        </p:spPr>
        <p:txBody>
          <a:bodyPr wrap="square" lIns="0" rIns="0" tIns="0" bIns="0" anchor="t">
            <a:spAutoFit/>
          </a:bodyPr>
          <a:lstStyle/>
          <a:p>
            <a:pPr algn="l">
              <a:lnSpc>
                <a:spcPct val="105000"/>
              </a:lnSpc>
            </a:pPr>
            <a:r>
              <a:rPr sz="1600" b="1" i="0">
                <a:solidFill>
                  <a:srgbClr val="1E2A38"/>
                </a:solidFill>
                <a:latin typeface="Inter"/>
              </a:rPr>
              <a:t>How should the sensitivity be set?</a:t>
            </a:r>
          </a:p>
        </p:txBody>
      </p:sp>
      <p:sp>
        <p:nvSpPr>
          <p:cNvPr id="18" name="TextBox 17"/>
          <p:cNvSpPr txBox="1"/>
          <p:nvPr/>
        </p:nvSpPr>
        <p:spPr>
          <a:xfrm>
            <a:off x="8238744" y="3076651"/>
            <a:ext cx="2926080" cy="731520"/>
          </a:xfrm>
          <a:prstGeom prst="rect">
            <a:avLst/>
          </a:prstGeom>
          <a:noFill/>
        </p:spPr>
        <p:txBody>
          <a:bodyPr wrap="square" lIns="0" rIns="0" tIns="0" bIns="0" anchor="t">
            <a:spAutoFit/>
          </a:bodyPr>
          <a:lstStyle/>
          <a:p>
            <a:pPr algn="l">
              <a:lnSpc>
                <a:spcPct val="112000"/>
              </a:lnSpc>
            </a:pPr>
            <a:r>
              <a:rPr sz="1250" b="1" i="0">
                <a:solidFill>
                  <a:srgbClr val="4A5360"/>
                </a:solidFill>
                <a:latin typeface="Inter"/>
              </a:rPr>
              <a:t>What we did:</a:t>
            </a:r>
            <a:r>
              <a:rPr sz="1250" b="0" i="0">
                <a:solidFill>
                  <a:srgbClr val="4A5360"/>
                </a:solidFill>
                <a:latin typeface="Inter"/>
              </a:rPr>
              <a:t> simulated nine policies on the real history of every scale.</a:t>
            </a:r>
          </a:p>
        </p:txBody>
      </p:sp>
      <p:sp>
        <p:nvSpPr>
          <p:cNvPr id="19" name="TextBox 18"/>
          <p:cNvSpPr txBox="1"/>
          <p:nvPr/>
        </p:nvSpPr>
        <p:spPr>
          <a:xfrm>
            <a:off x="8238744" y="3634943"/>
            <a:ext cx="2926080" cy="685800"/>
          </a:xfrm>
          <a:prstGeom prst="rect">
            <a:avLst/>
          </a:prstGeom>
          <a:noFill/>
        </p:spPr>
        <p:txBody>
          <a:bodyPr wrap="square" lIns="0" rIns="0" tIns="0" bIns="0" anchor="t">
            <a:spAutoFit/>
          </a:bodyPr>
          <a:lstStyle/>
          <a:p>
            <a:pPr algn="l">
              <a:lnSpc>
                <a:spcPct val="112000"/>
              </a:lnSpc>
            </a:pPr>
            <a:r>
              <a:rPr sz="1250" b="1" i="0">
                <a:solidFill>
                  <a:srgbClr val="1E2A38"/>
                </a:solidFill>
                <a:latin typeface="Inter"/>
              </a:rPr>
              <a:t>Short answer:</a:t>
            </a:r>
            <a:r>
              <a:rPr sz="1250" b="0" i="0">
                <a:solidFill>
                  <a:srgbClr val="1E2A38"/>
                </a:solidFill>
                <a:latin typeface="Inter"/>
              </a:rPr>
              <a:t> not one number – each scale learns its level, after defects are repaired.</a:t>
            </a:r>
          </a:p>
        </p:txBody>
      </p:sp>
      <p:sp>
        <p:nvSpPr>
          <p:cNvPr id="20" name="Rounded Rectangle 19"/>
          <p:cNvSpPr/>
          <p:nvPr/>
        </p:nvSpPr>
        <p:spPr>
          <a:xfrm>
            <a:off x="813816" y="5056632"/>
            <a:ext cx="1572768" cy="512064"/>
          </a:xfrm>
          <a:prstGeom prst="roundRect">
            <a:avLst>
              <a:gd name="adj" fmla="val 30000"/>
            </a:avLst>
          </a:prstGeom>
          <a:solidFill>
            <a:srgbClr val="E5E3DE"/>
          </a:solidFill>
          <a:ln>
            <a:noFill/>
          </a:ln>
        </p:spPr>
        <p:txBody>
          <a:bodyPr rtlCol="0" anchor="ctr"/>
          <a:lstStyle/>
          <a:p>
            <a:pPr algn="ctr"/>
          </a:p>
        </p:txBody>
      </p:sp>
      <p:sp>
        <p:nvSpPr>
          <p:cNvPr id="21" name="TextBox 20"/>
          <p:cNvSpPr txBox="1"/>
          <p:nvPr/>
        </p:nvSpPr>
        <p:spPr>
          <a:xfrm>
            <a:off x="868680" y="5056632"/>
            <a:ext cx="1463040" cy="512064"/>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Data: 3 files</a:t>
            </a:r>
          </a:p>
        </p:txBody>
      </p:sp>
      <p:cxnSp>
        <p:nvCxnSpPr>
          <p:cNvPr id="22" name="Connector 21"/>
          <p:cNvCxnSpPr/>
          <p:nvPr/>
        </p:nvCxnSpPr>
        <p:spPr>
          <a:xfrm>
            <a:off x="2404872" y="5312664"/>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596896" y="5056632"/>
            <a:ext cx="1572768" cy="512064"/>
          </a:xfrm>
          <a:prstGeom prst="roundRect">
            <a:avLst>
              <a:gd name="adj" fmla="val 30000"/>
            </a:avLst>
          </a:prstGeom>
          <a:solidFill>
            <a:srgbClr val="E5E3DE"/>
          </a:solidFill>
          <a:ln>
            <a:noFill/>
          </a:ln>
        </p:spPr>
        <p:txBody>
          <a:bodyPr rtlCol="0" anchor="ctr"/>
          <a:lstStyle/>
          <a:p>
            <a:pPr algn="ctr"/>
          </a:p>
        </p:txBody>
      </p:sp>
      <p:sp>
        <p:nvSpPr>
          <p:cNvPr id="24" name="TextBox 23"/>
          <p:cNvSpPr txBox="1"/>
          <p:nvPr/>
        </p:nvSpPr>
        <p:spPr>
          <a:xfrm>
            <a:off x="2651760" y="5056632"/>
            <a:ext cx="1463040" cy="512064"/>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Clean: rule book</a:t>
            </a:r>
          </a:p>
        </p:txBody>
      </p:sp>
      <p:cxnSp>
        <p:nvCxnSpPr>
          <p:cNvPr id="25" name="Connector 24"/>
          <p:cNvCxnSpPr/>
          <p:nvPr/>
        </p:nvCxnSpPr>
        <p:spPr>
          <a:xfrm>
            <a:off x="4187952" y="5312664"/>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79976" y="5056632"/>
            <a:ext cx="1572768" cy="512064"/>
          </a:xfrm>
          <a:prstGeom prst="roundRect">
            <a:avLst>
              <a:gd name="adj" fmla="val 30000"/>
            </a:avLst>
          </a:prstGeom>
          <a:solidFill>
            <a:srgbClr val="E5E3DE"/>
          </a:solidFill>
          <a:ln>
            <a:noFill/>
          </a:ln>
        </p:spPr>
        <p:txBody>
          <a:bodyPr rtlCol="0" anchor="ctr"/>
          <a:lstStyle/>
          <a:p>
            <a:pPr algn="ctr"/>
          </a:p>
        </p:txBody>
      </p:sp>
      <p:sp>
        <p:nvSpPr>
          <p:cNvPr id="27" name="TextBox 26"/>
          <p:cNvSpPr txBox="1"/>
          <p:nvPr/>
        </p:nvSpPr>
        <p:spPr>
          <a:xfrm>
            <a:off x="4434840" y="5056632"/>
            <a:ext cx="1463040" cy="512064"/>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Observe: Power BI</a:t>
            </a:r>
          </a:p>
        </p:txBody>
      </p:sp>
      <p:cxnSp>
        <p:nvCxnSpPr>
          <p:cNvPr id="28" name="Connector 27"/>
          <p:cNvCxnSpPr/>
          <p:nvPr/>
        </p:nvCxnSpPr>
        <p:spPr>
          <a:xfrm>
            <a:off x="5971032" y="5312664"/>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5056632"/>
            <a:ext cx="1572768" cy="512064"/>
          </a:xfrm>
          <a:prstGeom prst="roundRect">
            <a:avLst>
              <a:gd name="adj" fmla="val 30000"/>
            </a:avLst>
          </a:prstGeom>
          <a:solidFill>
            <a:srgbClr val="E5E3DE"/>
          </a:solidFill>
          <a:ln>
            <a:noFill/>
          </a:ln>
        </p:spPr>
        <p:txBody>
          <a:bodyPr rtlCol="0" anchor="ctr"/>
          <a:lstStyle/>
          <a:p>
            <a:pPr algn="ctr"/>
          </a:p>
        </p:txBody>
      </p:sp>
      <p:sp>
        <p:nvSpPr>
          <p:cNvPr id="30" name="TextBox 29"/>
          <p:cNvSpPr txBox="1"/>
          <p:nvPr/>
        </p:nvSpPr>
        <p:spPr>
          <a:xfrm>
            <a:off x="6217919" y="5056632"/>
            <a:ext cx="1463040" cy="512064"/>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Analyse: 6 / 20 kg apart</a:t>
            </a:r>
          </a:p>
        </p:txBody>
      </p:sp>
      <p:cxnSp>
        <p:nvCxnSpPr>
          <p:cNvPr id="31" name="Connector 30"/>
          <p:cNvCxnSpPr/>
          <p:nvPr/>
        </p:nvCxnSpPr>
        <p:spPr>
          <a:xfrm>
            <a:off x="7754111" y="5312664"/>
            <a:ext cx="173737"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946136" y="5056632"/>
            <a:ext cx="1572768" cy="512064"/>
          </a:xfrm>
          <a:prstGeom prst="roundRect">
            <a:avLst>
              <a:gd name="adj" fmla="val 30000"/>
            </a:avLst>
          </a:prstGeom>
          <a:solidFill>
            <a:srgbClr val="E5E3DE"/>
          </a:solidFill>
          <a:ln>
            <a:noFill/>
          </a:ln>
        </p:spPr>
        <p:txBody>
          <a:bodyPr rtlCol="0" anchor="ctr"/>
          <a:lstStyle/>
          <a:p>
            <a:pPr algn="ctr"/>
          </a:p>
        </p:txBody>
      </p:sp>
      <p:sp>
        <p:nvSpPr>
          <p:cNvPr id="33" name="TextBox 32"/>
          <p:cNvSpPr txBox="1"/>
          <p:nvPr/>
        </p:nvSpPr>
        <p:spPr>
          <a:xfrm>
            <a:off x="8001000" y="5056632"/>
            <a:ext cx="1463040" cy="512064"/>
          </a:xfrm>
          <a:prstGeom prst="rect">
            <a:avLst/>
          </a:prstGeom>
          <a:noFill/>
        </p:spPr>
        <p:txBody>
          <a:bodyPr wrap="square" lIns="0" rIns="0" tIns="0" bIns="0" anchor="ctr">
            <a:spAutoFit/>
          </a:bodyPr>
          <a:lstStyle/>
          <a:p>
            <a:pPr algn="ctr">
              <a:lnSpc>
                <a:spcPct val="100000"/>
              </a:lnSpc>
            </a:pPr>
            <a:r>
              <a:rPr sz="1150" b="0" i="0">
                <a:solidFill>
                  <a:srgbClr val="1E2A38"/>
                </a:solidFill>
                <a:latin typeface="Inter"/>
              </a:rPr>
              <a:t>Simulate: 9 policies</a:t>
            </a:r>
          </a:p>
        </p:txBody>
      </p:sp>
      <p:cxnSp>
        <p:nvCxnSpPr>
          <p:cNvPr id="34" name="Connector 33"/>
          <p:cNvCxnSpPr/>
          <p:nvPr/>
        </p:nvCxnSpPr>
        <p:spPr>
          <a:xfrm>
            <a:off x="9537192" y="5312664"/>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729216" y="5056632"/>
            <a:ext cx="1572768" cy="512064"/>
          </a:xfrm>
          <a:prstGeom prst="roundRect">
            <a:avLst>
              <a:gd name="adj" fmla="val 30000"/>
            </a:avLst>
          </a:prstGeom>
          <a:solidFill>
            <a:srgbClr val="B5541A"/>
          </a:solidFill>
          <a:ln>
            <a:noFill/>
          </a:ln>
        </p:spPr>
        <p:txBody>
          <a:bodyPr rtlCol="0" anchor="ctr"/>
          <a:lstStyle/>
          <a:p>
            <a:pPr algn="ctr"/>
          </a:p>
        </p:txBody>
      </p:sp>
      <p:sp>
        <p:nvSpPr>
          <p:cNvPr id="36" name="TextBox 35"/>
          <p:cNvSpPr txBox="1"/>
          <p:nvPr/>
        </p:nvSpPr>
        <p:spPr>
          <a:xfrm>
            <a:off x="9784080" y="5056632"/>
            <a:ext cx="1463040" cy="512064"/>
          </a:xfrm>
          <a:prstGeom prst="rect">
            <a:avLst/>
          </a:prstGeom>
          <a:noFill/>
        </p:spPr>
        <p:txBody>
          <a:bodyPr wrap="square" lIns="0" rIns="0" tIns="0" bIns="0" anchor="ctr">
            <a:spAutoFit/>
          </a:bodyPr>
          <a:lstStyle/>
          <a:p>
            <a:pPr algn="ctr">
              <a:lnSpc>
                <a:spcPct val="100000"/>
              </a:lnSpc>
            </a:pPr>
            <a:r>
              <a:rPr sz="1150" b="1" i="0">
                <a:solidFill>
                  <a:srgbClr val="F4F1EA"/>
                </a:solidFill>
                <a:latin typeface="Inter"/>
              </a:rPr>
              <a:t>Recommend</a:t>
            </a:r>
          </a:p>
        </p:txBody>
      </p:sp>
      <p:sp>
        <p:nvSpPr>
          <p:cNvPr id="37" name="TextBox 3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Process model: CRISP-DM (Chapman et al., 2000)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5</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STEP 1 · DATA</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What we worked with – and how we cleaned it</a:t>
            </a:r>
          </a:p>
        </p:txBody>
      </p:sp>
      <p:sp>
        <p:nvSpPr>
          <p:cNvPr id="5" name="Rounded Rectangle 4"/>
          <p:cNvSpPr/>
          <p:nvPr/>
        </p:nvSpPr>
        <p:spPr>
          <a:xfrm>
            <a:off x="813816" y="1764792"/>
            <a:ext cx="2057400" cy="1325880"/>
          </a:xfrm>
          <a:prstGeom prst="roundRect">
            <a:avLst>
              <a:gd name="adj" fmla="val 5517"/>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996696" y="1911096"/>
            <a:ext cx="1783080" cy="502920"/>
          </a:xfrm>
          <a:prstGeom prst="rect">
            <a:avLst/>
          </a:prstGeom>
          <a:noFill/>
        </p:spPr>
        <p:txBody>
          <a:bodyPr wrap="square" lIns="0" rIns="0" tIns="0" bIns="0" anchor="t">
            <a:spAutoFit/>
          </a:bodyPr>
          <a:lstStyle/>
          <a:p>
            <a:pPr algn="l">
              <a:lnSpc>
                <a:spcPct val="112000"/>
              </a:lnSpc>
            </a:pPr>
            <a:r>
              <a:rPr sz="2800" b="1" i="0">
                <a:solidFill>
                  <a:srgbClr val="2F5D8C"/>
                </a:solidFill>
                <a:latin typeface="Source Serif 4"/>
              </a:rPr>
              <a:t>7.6 M</a:t>
            </a:r>
          </a:p>
        </p:txBody>
      </p:sp>
      <p:sp>
        <p:nvSpPr>
          <p:cNvPr id="7" name="TextBox 6"/>
          <p:cNvSpPr txBox="1"/>
          <p:nvPr/>
        </p:nvSpPr>
        <p:spPr>
          <a:xfrm>
            <a:off x="996696" y="2478024"/>
            <a:ext cx="1737360" cy="548640"/>
          </a:xfrm>
          <a:prstGeom prst="rect">
            <a:avLst/>
          </a:prstGeom>
          <a:noFill/>
        </p:spPr>
        <p:txBody>
          <a:bodyPr wrap="square" lIns="0" rIns="0" tIns="0" bIns="0" anchor="t">
            <a:spAutoFit/>
          </a:bodyPr>
          <a:lstStyle/>
          <a:p>
            <a:pPr algn="l">
              <a:lnSpc>
                <a:spcPct val="110000"/>
              </a:lnSpc>
            </a:pPr>
            <a:r>
              <a:rPr sz="1200" b="0" i="0">
                <a:solidFill>
                  <a:srgbClr val="4A5360"/>
                </a:solidFill>
                <a:latin typeface="Inter"/>
              </a:rPr>
              <a:t>weighings in measurements.csv</a:t>
            </a:r>
          </a:p>
        </p:txBody>
      </p:sp>
      <p:sp>
        <p:nvSpPr>
          <p:cNvPr id="8" name="Rounded Rectangle 7"/>
          <p:cNvSpPr/>
          <p:nvPr/>
        </p:nvSpPr>
        <p:spPr>
          <a:xfrm>
            <a:off x="3026664" y="1764792"/>
            <a:ext cx="2057400" cy="1325880"/>
          </a:xfrm>
          <a:prstGeom prst="roundRect">
            <a:avLst>
              <a:gd name="adj" fmla="val 5517"/>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3209544" y="1911096"/>
            <a:ext cx="1783080" cy="502920"/>
          </a:xfrm>
          <a:prstGeom prst="rect">
            <a:avLst/>
          </a:prstGeom>
          <a:noFill/>
        </p:spPr>
        <p:txBody>
          <a:bodyPr wrap="square" lIns="0" rIns="0" tIns="0" bIns="0" anchor="t">
            <a:spAutoFit/>
          </a:bodyPr>
          <a:lstStyle/>
          <a:p>
            <a:pPr algn="l">
              <a:lnSpc>
                <a:spcPct val="112000"/>
              </a:lnSpc>
            </a:pPr>
            <a:r>
              <a:rPr sz="2800" b="1" i="0">
                <a:solidFill>
                  <a:srgbClr val="2F5D8C"/>
                </a:solidFill>
                <a:latin typeface="Source Serif 4"/>
              </a:rPr>
              <a:t>18,455</a:t>
            </a:r>
          </a:p>
        </p:txBody>
      </p:sp>
      <p:sp>
        <p:nvSpPr>
          <p:cNvPr id="10" name="TextBox 9"/>
          <p:cNvSpPr txBox="1"/>
          <p:nvPr/>
        </p:nvSpPr>
        <p:spPr>
          <a:xfrm>
            <a:off x="3209544" y="2478024"/>
            <a:ext cx="1737360" cy="548640"/>
          </a:xfrm>
          <a:prstGeom prst="rect">
            <a:avLst/>
          </a:prstGeom>
          <a:noFill/>
        </p:spPr>
        <p:txBody>
          <a:bodyPr wrap="square" lIns="0" rIns="0" tIns="0" bIns="0" anchor="t">
            <a:spAutoFit/>
          </a:bodyPr>
          <a:lstStyle/>
          <a:p>
            <a:pPr algn="l">
              <a:lnSpc>
                <a:spcPct val="110000"/>
              </a:lnSpc>
            </a:pPr>
            <a:r>
              <a:rPr sz="1200" b="0" i="0">
                <a:solidFill>
                  <a:srgbClr val="4A5360"/>
                </a:solidFill>
                <a:latin typeface="Inter"/>
              </a:rPr>
              <a:t>scales – type, box, site and item weight for most of them</a:t>
            </a:r>
          </a:p>
        </p:txBody>
      </p:sp>
      <p:sp>
        <p:nvSpPr>
          <p:cNvPr id="11" name="Rounded Rectangle 10"/>
          <p:cNvSpPr/>
          <p:nvPr/>
        </p:nvSpPr>
        <p:spPr>
          <a:xfrm>
            <a:off x="813816" y="3246120"/>
            <a:ext cx="2057400" cy="1325880"/>
          </a:xfrm>
          <a:prstGeom prst="roundRect">
            <a:avLst>
              <a:gd name="adj" fmla="val 5517"/>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996696" y="3392424"/>
            <a:ext cx="1783080" cy="502920"/>
          </a:xfrm>
          <a:prstGeom prst="rect">
            <a:avLst/>
          </a:prstGeom>
          <a:noFill/>
        </p:spPr>
        <p:txBody>
          <a:bodyPr wrap="square" lIns="0" rIns="0" tIns="0" bIns="0" anchor="t">
            <a:spAutoFit/>
          </a:bodyPr>
          <a:lstStyle/>
          <a:p>
            <a:pPr algn="l">
              <a:lnSpc>
                <a:spcPct val="112000"/>
              </a:lnSpc>
            </a:pPr>
            <a:r>
              <a:rPr sz="2800" b="1" i="0">
                <a:solidFill>
                  <a:srgbClr val="2F5D8C"/>
                </a:solidFill>
                <a:latin typeface="Source Serif 4"/>
              </a:rPr>
              <a:t>16 weeks</a:t>
            </a:r>
          </a:p>
        </p:txBody>
      </p:sp>
      <p:sp>
        <p:nvSpPr>
          <p:cNvPr id="13" name="TextBox 12"/>
          <p:cNvSpPr txBox="1"/>
          <p:nvPr/>
        </p:nvSpPr>
        <p:spPr>
          <a:xfrm>
            <a:off x="996696" y="3959352"/>
            <a:ext cx="1737360" cy="548640"/>
          </a:xfrm>
          <a:prstGeom prst="rect">
            <a:avLst/>
          </a:prstGeom>
          <a:noFill/>
        </p:spPr>
        <p:txBody>
          <a:bodyPr wrap="square" lIns="0" rIns="0" tIns="0" bIns="0" anchor="t">
            <a:spAutoFit/>
          </a:bodyPr>
          <a:lstStyle/>
          <a:p>
            <a:pPr algn="l">
              <a:lnSpc>
                <a:spcPct val="110000"/>
              </a:lnSpc>
            </a:pPr>
            <a:r>
              <a:rPr sz="1200" b="0" i="0">
                <a:solidFill>
                  <a:srgbClr val="4A5360"/>
                </a:solidFill>
                <a:latin typeface="Inter"/>
              </a:rPr>
              <a:t>1 March – 20 June 2022</a:t>
            </a:r>
          </a:p>
        </p:txBody>
      </p:sp>
      <p:sp>
        <p:nvSpPr>
          <p:cNvPr id="14" name="Rounded Rectangle 13"/>
          <p:cNvSpPr/>
          <p:nvPr/>
        </p:nvSpPr>
        <p:spPr>
          <a:xfrm>
            <a:off x="3026664" y="3246120"/>
            <a:ext cx="2057400" cy="1325880"/>
          </a:xfrm>
          <a:prstGeom prst="roundRect">
            <a:avLst>
              <a:gd name="adj" fmla="val 5517"/>
            </a:avLst>
          </a:prstGeom>
          <a:solidFill>
            <a:srgbClr val="FFFDF9"/>
          </a:solidFill>
          <a:ln w="6350">
            <a:solidFill>
              <a:srgbClr val="E2DDD2"/>
            </a:solidFill>
          </a:ln>
        </p:spPr>
        <p:txBody>
          <a:bodyPr rtlCol="0" anchor="ctr"/>
          <a:lstStyle/>
          <a:p>
            <a:pPr algn="ctr"/>
          </a:p>
        </p:txBody>
      </p:sp>
      <p:sp>
        <p:nvSpPr>
          <p:cNvPr id="15" name="TextBox 14"/>
          <p:cNvSpPr txBox="1"/>
          <p:nvPr/>
        </p:nvSpPr>
        <p:spPr>
          <a:xfrm>
            <a:off x="3209544" y="3392424"/>
            <a:ext cx="1783080" cy="502920"/>
          </a:xfrm>
          <a:prstGeom prst="rect">
            <a:avLst/>
          </a:prstGeom>
          <a:noFill/>
        </p:spPr>
        <p:txBody>
          <a:bodyPr wrap="square" lIns="0" rIns="0" tIns="0" bIns="0" anchor="t">
            <a:spAutoFit/>
          </a:bodyPr>
          <a:lstStyle/>
          <a:p>
            <a:pPr algn="l">
              <a:lnSpc>
                <a:spcPct val="112000"/>
              </a:lnSpc>
            </a:pPr>
            <a:r>
              <a:rPr sz="2800" b="1" i="0">
                <a:solidFill>
                  <a:srgbClr val="D46A1F"/>
                </a:solidFill>
                <a:latin typeface="Source Serif 4"/>
              </a:rPr>
              <a:t>69%</a:t>
            </a:r>
          </a:p>
        </p:txBody>
      </p:sp>
      <p:sp>
        <p:nvSpPr>
          <p:cNvPr id="16" name="TextBox 15"/>
          <p:cNvSpPr txBox="1"/>
          <p:nvPr/>
        </p:nvSpPr>
        <p:spPr>
          <a:xfrm>
            <a:off x="3209544" y="3959352"/>
            <a:ext cx="1737360" cy="548640"/>
          </a:xfrm>
          <a:prstGeom prst="rect">
            <a:avLst/>
          </a:prstGeom>
          <a:noFill/>
        </p:spPr>
        <p:txBody>
          <a:bodyPr wrap="square" lIns="0" rIns="0" tIns="0" bIns="0" anchor="t">
            <a:spAutoFit/>
          </a:bodyPr>
          <a:lstStyle/>
          <a:p>
            <a:pPr algn="l">
              <a:lnSpc>
                <a:spcPct val="110000"/>
              </a:lnSpc>
            </a:pPr>
            <a:r>
              <a:rPr sz="1200" b="0" i="0">
                <a:solidFill>
                  <a:srgbClr val="4A5360"/>
                </a:solidFill>
                <a:latin typeface="Inter"/>
              </a:rPr>
              <a:t>of the rows enter the KPI analysis</a:t>
            </a:r>
          </a:p>
        </p:txBody>
      </p:sp>
      <p:pic>
        <p:nvPicPr>
          <p:cNvPr id="17" name="Picture 16" descr="c01_cleaning.png"/>
          <p:cNvPicPr>
            <a:picLocks noChangeAspect="1"/>
          </p:cNvPicPr>
          <p:nvPr/>
        </p:nvPicPr>
        <p:blipFill>
          <a:blip r:embed="rId2"/>
          <a:stretch>
            <a:fillRect/>
          </a:stretch>
        </p:blipFill>
        <p:spPr>
          <a:xfrm>
            <a:off x="5257800" y="1655064"/>
            <a:ext cx="6217920" cy="3520440"/>
          </a:xfrm>
          <a:prstGeom prst="rect">
            <a:avLst/>
          </a:prstGeom>
        </p:spPr>
      </p:pic>
      <p:sp>
        <p:nvSpPr>
          <p:cNvPr id="18" name="Rounded Rectangle 17"/>
          <p:cNvSpPr/>
          <p:nvPr/>
        </p:nvSpPr>
        <p:spPr>
          <a:xfrm>
            <a:off x="813816" y="5349240"/>
            <a:ext cx="10570464" cy="731520"/>
          </a:xfrm>
          <a:prstGeom prst="roundRect">
            <a:avLst>
              <a:gd name="adj" fmla="val 10000"/>
            </a:avLst>
          </a:prstGeom>
          <a:solidFill>
            <a:srgbClr val="ECE8DF"/>
          </a:solidFill>
          <a:ln>
            <a:noFill/>
          </a:ln>
        </p:spPr>
        <p:txBody>
          <a:bodyPr rtlCol="0" anchor="ctr"/>
          <a:lstStyle/>
          <a:p>
            <a:pPr algn="ctr"/>
          </a:p>
        </p:txBody>
      </p:sp>
      <p:sp>
        <p:nvSpPr>
          <p:cNvPr id="19" name="TextBox 18"/>
          <p:cNvSpPr txBox="1"/>
          <p:nvPr/>
        </p:nvSpPr>
        <p:spPr>
          <a:xfrm>
            <a:off x="1042416" y="5349240"/>
            <a:ext cx="10158984" cy="731520"/>
          </a:xfrm>
          <a:prstGeom prst="rect">
            <a:avLst/>
          </a:prstGeom>
          <a:noFill/>
        </p:spPr>
        <p:txBody>
          <a:bodyPr wrap="square" lIns="0" rIns="0" tIns="0" bIns="0" anchor="ctr">
            <a:spAutoFit/>
          </a:bodyPr>
          <a:lstStyle/>
          <a:p>
            <a:pPr algn="l">
              <a:lnSpc>
                <a:spcPct val="112000"/>
              </a:lnSpc>
            </a:pPr>
            <a:r>
              <a:rPr sz="1400" b="1" i="0">
                <a:solidFill>
                  <a:srgbClr val="1E2A38"/>
                </a:solidFill>
                <a:latin typeface="Inter"/>
              </a:rPr>
              <a:t>So:</a:t>
            </a:r>
            <a:r>
              <a:rPr sz="1400" b="0" i="0">
                <a:solidFill>
                  <a:srgbClr val="1E2A38"/>
                </a:solidFill>
                <a:latin typeface="Inter"/>
              </a:rPr>
              <a:t> delete only what is broken (5,738 rows). Flag the rest and keep it: a flagged row still counts for the weight change of the next weighing and as a neighbouring pick – it just does not enter the KPIs.</a:t>
            </a:r>
          </a:p>
        </p:txBody>
      </p:sp>
      <p:sp>
        <p:nvSpPr>
          <p:cNvPr id="20" name="TextBox 19"/>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(measurements, scale metadata, D ONE preprocessing flags)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6</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STEP 2 · OBSERVE · POWER BI</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First look: what each sensitivity level does</a:t>
            </a:r>
          </a:p>
        </p:txBody>
      </p:sp>
      <p:sp>
        <p:nvSpPr>
          <p:cNvPr id="5" name="Rounded Rectangle 4"/>
          <p:cNvSpPr/>
          <p:nvPr/>
        </p:nvSpPr>
        <p:spPr>
          <a:xfrm>
            <a:off x="813816" y="1764792"/>
            <a:ext cx="6995160" cy="4206240"/>
          </a:xfrm>
          <a:prstGeom prst="roundRect">
            <a:avLst>
              <a:gd name="adj" fmla="val 1739"/>
            </a:avLst>
          </a:prstGeom>
          <a:solidFill>
            <a:srgbClr val="FFFDF9"/>
          </a:solidFill>
          <a:ln w="19050">
            <a:solidFill>
              <a:srgbClr val="B5541A"/>
            </a:solidFill>
            <a:prstDash val="dash"/>
          </a:ln>
        </p:spPr>
        <p:txBody>
          <a:bodyPr rtlCol="0" anchor="ctr"/>
          <a:lstStyle/>
          <a:p>
            <a:pPr algn="ctr"/>
          </a:p>
        </p:txBody>
      </p:sp>
      <p:sp>
        <p:nvSpPr>
          <p:cNvPr id="6" name="TextBox 5"/>
          <p:cNvSpPr txBox="1"/>
          <p:nvPr/>
        </p:nvSpPr>
        <p:spPr>
          <a:xfrm>
            <a:off x="813816" y="3026664"/>
            <a:ext cx="6995160" cy="457200"/>
          </a:xfrm>
          <a:prstGeom prst="rect">
            <a:avLst/>
          </a:prstGeom>
          <a:noFill/>
        </p:spPr>
        <p:txBody>
          <a:bodyPr wrap="square" lIns="0" rIns="0" tIns="0" bIns="0" anchor="t">
            <a:spAutoFit/>
          </a:bodyPr>
          <a:lstStyle/>
          <a:p>
            <a:pPr algn="ctr">
              <a:lnSpc>
                <a:spcPct val="112000"/>
              </a:lnSpc>
            </a:pPr>
            <a:r>
              <a:rPr sz="2400" b="1" i="0" spc="100">
                <a:solidFill>
                  <a:srgbClr val="B5541A"/>
                </a:solidFill>
                <a:latin typeface="Inter"/>
              </a:rPr>
              <a:t>POWER BI DASHBOARD A</a:t>
            </a:r>
          </a:p>
        </p:txBody>
      </p:sp>
      <p:sp>
        <p:nvSpPr>
          <p:cNvPr id="7" name="TextBox 6"/>
          <p:cNvSpPr txBox="1"/>
          <p:nvPr/>
        </p:nvSpPr>
        <p:spPr>
          <a:xfrm>
            <a:off x="1271016" y="3593592"/>
            <a:ext cx="6080760" cy="822960"/>
          </a:xfrm>
          <a:prstGeom prst="rect">
            <a:avLst/>
          </a:prstGeom>
          <a:noFill/>
        </p:spPr>
        <p:txBody>
          <a:bodyPr wrap="square" lIns="0" rIns="0" tIns="0" bIns="0" anchor="t">
            <a:spAutoFit/>
          </a:bodyPr>
          <a:lstStyle/>
          <a:p>
            <a:pPr algn="ctr">
              <a:lnSpc>
                <a:spcPct val="115000"/>
              </a:lnSpc>
            </a:pPr>
            <a:r>
              <a:rPr sz="1400" b="0" i="0">
                <a:solidFill>
                  <a:srgbClr val="1E2A38"/>
                </a:solidFill>
                <a:latin typeface="Inter"/>
              </a:rPr>
              <a:t>KPIs by sensitivity level (page 1): median TOO_MANY fraction, TOO_FEW per week and share of scales per fraction class, for each level – slicer 6 kg / 20 kg</a:t>
            </a:r>
          </a:p>
        </p:txBody>
      </p:sp>
      <p:sp>
        <p:nvSpPr>
          <p:cNvPr id="8" name="TextBox 7"/>
          <p:cNvSpPr txBox="1"/>
          <p:nvPr/>
        </p:nvSpPr>
        <p:spPr>
          <a:xfrm>
            <a:off x="1271016" y="5285231"/>
            <a:ext cx="6080760" cy="457200"/>
          </a:xfrm>
          <a:prstGeom prst="rect">
            <a:avLst/>
          </a:prstGeom>
          <a:noFill/>
        </p:spPr>
        <p:txBody>
          <a:bodyPr wrap="square" lIns="0" rIns="0" tIns="0" bIns="0" anchor="t">
            <a:spAutoFit/>
          </a:bodyPr>
          <a:lstStyle/>
          <a:p>
            <a:pPr algn="ctr">
              <a:lnSpc>
                <a:spcPct val="110000"/>
              </a:lnSpc>
            </a:pPr>
            <a:r>
              <a:rPr sz="1100" b="0" i="0">
                <a:solidFill>
                  <a:srgbClr val="8A8F98"/>
                </a:solidFill>
                <a:latin typeface="Inter"/>
              </a:rPr>
              <a:t>Insert a screenshot of the Power BI page here and delete this box.</a:t>
            </a:r>
          </a:p>
        </p:txBody>
      </p:sp>
      <p:sp>
        <p:nvSpPr>
          <p:cNvPr id="9" name="TextBox 8"/>
          <p:cNvSpPr txBox="1"/>
          <p:nvPr/>
        </p:nvSpPr>
        <p:spPr>
          <a:xfrm>
            <a:off x="8092440" y="1764792"/>
            <a:ext cx="3337560" cy="274320"/>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WHAT WE SAW</a:t>
            </a:r>
          </a:p>
        </p:txBody>
      </p:sp>
      <p:sp>
        <p:nvSpPr>
          <p:cNvPr id="10" name="TextBox 9"/>
          <p:cNvSpPr txBox="1"/>
          <p:nvPr/>
        </p:nvSpPr>
        <p:spPr>
          <a:xfrm>
            <a:off x="8092440" y="2148840"/>
            <a:ext cx="3337560" cy="3749039"/>
          </a:xfrm>
          <a:prstGeom prst="rect">
            <a:avLst/>
          </a:prstGeom>
          <a:noFill/>
        </p:spPr>
        <p:txBody>
          <a:bodyPr wrap="square" lIns="0" rIns="0" tIns="0" bIns="0" anchor="t">
            <a:spAutoFit/>
          </a:bodyPr>
          <a:lstStyle/>
          <a:p>
            <a:pPr algn="l" marL="182880" indent="-182880">
              <a:lnSpc>
                <a:spcPct val="112000"/>
              </a:lnSpc>
              <a:spcAft>
                <a:spcPts val="900"/>
              </a:spcAft>
              <a:buFont typeface="Arial"/>
              <a:buChar char="•"/>
            </a:pPr>
            <a:r>
              <a:rPr sz="1350" b="1" i="0">
                <a:solidFill>
                  <a:srgbClr val="1E2A38"/>
                </a:solidFill>
                <a:latin typeface="Inter"/>
              </a:rPr>
              <a:t>Lower levels help – less than expected.</a:t>
            </a:r>
            <a:r>
              <a:rPr sz="1350" b="0" i="0">
                <a:solidFill>
                  <a:srgbClr val="1E2A38"/>
                </a:solidFill>
                <a:latin typeface="Inter"/>
              </a:rPr>
              <a:t> Median fraction of 20 kg scales: 0.92 on level 8, 0.70 on level 1 (6 kg: 0.74 → 0.50).</a:t>
            </a:r>
          </a:p>
          <a:p>
            <a:pPr algn="l" marL="182880" indent="-182880">
              <a:lnSpc>
                <a:spcPct val="112000"/>
              </a:lnSpc>
              <a:spcAft>
                <a:spcPts val="900"/>
              </a:spcAft>
              <a:buFont typeface="Arial"/>
              <a:buChar char="•"/>
            </a:pPr>
            <a:r>
              <a:rPr sz="1350" b="1" i="0">
                <a:solidFill>
                  <a:srgbClr val="1E2A38"/>
                </a:solidFill>
                <a:latin typeface="Inter"/>
              </a:rPr>
              <a:t>TOO_FEW per week stays low</a:t>
            </a:r>
            <a:r>
              <a:rPr sz="1350" b="0" i="0">
                <a:solidFill>
                  <a:srgbClr val="1E2A38"/>
                </a:solidFill>
                <a:latin typeface="Inter"/>
              </a:rPr>
              <a:t> on every level (at most 0.8 for the typical scale) – even on level 1, where half of the changes are missed (slide 13).</a:t>
            </a:r>
          </a:p>
          <a:p>
            <a:pPr algn="l" marL="182880" indent="-182880">
              <a:lnSpc>
                <a:spcPct val="112000"/>
              </a:lnSpc>
              <a:spcAft>
                <a:spcPts val="900"/>
              </a:spcAft>
              <a:buFont typeface="Arial"/>
              <a:buChar char="•"/>
            </a:pPr>
            <a:r>
              <a:rPr sz="1350" b="1" i="0">
                <a:solidFill>
                  <a:srgbClr val="1E2A38"/>
                </a:solidFill>
                <a:latin typeface="Inter"/>
              </a:rPr>
              <a:t>Huge spread within every level</a:t>
            </a:r>
            <a:r>
              <a:rPr sz="1350" b="0" i="0">
                <a:solidFill>
                  <a:srgbClr val="1E2A38"/>
                </a:solidFill>
                <a:latin typeface="Inter"/>
              </a:rPr>
              <a:t> – something other than the setting drives the result.</a:t>
            </a:r>
          </a:p>
          <a:p>
            <a:pPr algn="l" marL="182880" indent="-182880">
              <a:lnSpc>
                <a:spcPct val="112000"/>
              </a:lnSpc>
              <a:spcAft>
                <a:spcPts val="900"/>
              </a:spcAft>
              <a:buFont typeface="Arial"/>
              <a:buChar char="•"/>
            </a:pPr>
            <a:r>
              <a:rPr sz="1350" b="1" i="0">
                <a:solidFill>
                  <a:srgbClr val="1E2A38"/>
                </a:solidFill>
                <a:latin typeface="Inter"/>
              </a:rPr>
              <a:t>Careful:</a:t>
            </a:r>
            <a:r>
              <a:rPr sz="1350" b="0" i="0">
                <a:solidFill>
                  <a:srgbClr val="1E2A38"/>
                </a:solidFill>
                <a:latin typeface="Inter"/>
              </a:rPr>
              <a:t> different scales on different levels – a description, not yet a cause.</a:t>
            </a:r>
          </a:p>
        </p:txBody>
      </p:sp>
      <p:sp>
        <p:nvSpPr>
          <p:cNvPr id="11" name="TextBox 10"/>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Power BI report on the pipeline's export (one row = one scale on one level)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7</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STEP 3 · ANALYSE · FINDING 1</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The problem is one-sided</a:t>
            </a:r>
          </a:p>
        </p:txBody>
      </p:sp>
      <p:pic>
        <p:nvPicPr>
          <p:cNvPr id="5" name="Picture 4" descr="c02_one_sided.png"/>
          <p:cNvPicPr>
            <a:picLocks noChangeAspect="1"/>
          </p:cNvPicPr>
          <p:nvPr/>
        </p:nvPicPr>
        <p:blipFill>
          <a:blip r:embed="rId2"/>
          <a:stretch>
            <a:fillRect/>
          </a:stretch>
        </p:blipFill>
        <p:spPr>
          <a:xfrm>
            <a:off x="722376" y="1810512"/>
            <a:ext cx="6583680" cy="3017520"/>
          </a:xfrm>
          <a:prstGeom prst="rect">
            <a:avLst/>
          </a:prstGeom>
        </p:spPr>
      </p:pic>
      <p:sp>
        <p:nvSpPr>
          <p:cNvPr id="6" name="TextBox 5"/>
          <p:cNvSpPr txBox="1"/>
          <p:nvPr/>
        </p:nvSpPr>
        <p:spPr>
          <a:xfrm>
            <a:off x="7863840" y="1719072"/>
            <a:ext cx="3520440" cy="548640"/>
          </a:xfrm>
          <a:prstGeom prst="rect">
            <a:avLst/>
          </a:prstGeom>
          <a:noFill/>
        </p:spPr>
        <p:txBody>
          <a:bodyPr wrap="square" lIns="0" rIns="0" tIns="0" bIns="0" anchor="t">
            <a:spAutoFit/>
          </a:bodyPr>
          <a:lstStyle/>
          <a:p>
            <a:pPr algn="l">
              <a:lnSpc>
                <a:spcPct val="95000"/>
              </a:lnSpc>
            </a:pPr>
            <a:r>
              <a:rPr sz="4000" b="1" i="0">
                <a:solidFill>
                  <a:srgbClr val="D46A1F"/>
                </a:solidFill>
                <a:latin typeface="Source Serif 4"/>
              </a:rPr>
              <a:t>13.5 vs 1.5</a:t>
            </a:r>
          </a:p>
        </p:txBody>
      </p:sp>
      <p:sp>
        <p:nvSpPr>
          <p:cNvPr id="7" name="TextBox 6"/>
          <p:cNvSpPr txBox="1"/>
          <p:nvPr/>
        </p:nvSpPr>
        <p:spPr>
          <a:xfrm>
            <a:off x="7863840" y="2304288"/>
            <a:ext cx="352044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empty wake-ups vs. real picks caught per week – typical 20 kg scale on level 8</a:t>
            </a:r>
          </a:p>
        </p:txBody>
      </p:sp>
      <p:sp>
        <p:nvSpPr>
          <p:cNvPr id="8" name="TextBox 7"/>
          <p:cNvSpPr txBox="1"/>
          <p:nvPr/>
        </p:nvSpPr>
        <p:spPr>
          <a:xfrm>
            <a:off x="7863840" y="3060517"/>
            <a:ext cx="3520440" cy="548640"/>
          </a:xfrm>
          <a:prstGeom prst="rect">
            <a:avLst/>
          </a:prstGeom>
          <a:noFill/>
        </p:spPr>
        <p:txBody>
          <a:bodyPr wrap="square" lIns="0" rIns="0" tIns="0" bIns="0" anchor="t">
            <a:spAutoFit/>
          </a:bodyPr>
          <a:lstStyle/>
          <a:p>
            <a:pPr algn="l">
              <a:lnSpc>
                <a:spcPct val="95000"/>
              </a:lnSpc>
            </a:pPr>
            <a:r>
              <a:rPr sz="4000" b="1" i="0">
                <a:solidFill>
                  <a:srgbClr val="2F5D8C"/>
                </a:solidFill>
                <a:latin typeface="Source Serif 4"/>
              </a:rPr>
              <a:t>8.5 vs 3.0</a:t>
            </a:r>
          </a:p>
        </p:txBody>
      </p:sp>
      <p:sp>
        <p:nvSpPr>
          <p:cNvPr id="9" name="TextBox 8"/>
          <p:cNvSpPr txBox="1"/>
          <p:nvPr/>
        </p:nvSpPr>
        <p:spPr>
          <a:xfrm>
            <a:off x="7863840" y="3645733"/>
            <a:ext cx="352044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the same for the typical 6 kg scale</a:t>
            </a:r>
          </a:p>
        </p:txBody>
      </p:sp>
      <p:sp>
        <p:nvSpPr>
          <p:cNvPr id="10" name="Rounded Rectangle 9"/>
          <p:cNvSpPr/>
          <p:nvPr/>
        </p:nvSpPr>
        <p:spPr>
          <a:xfrm>
            <a:off x="813816" y="5257800"/>
            <a:ext cx="10570464" cy="749808"/>
          </a:xfrm>
          <a:prstGeom prst="roundRect">
            <a:avLst>
              <a:gd name="adj" fmla="val 9756"/>
            </a:avLst>
          </a:prstGeom>
          <a:solidFill>
            <a:srgbClr val="ECE8DF"/>
          </a:solidFill>
          <a:ln>
            <a:noFill/>
          </a:ln>
        </p:spPr>
        <p:txBody>
          <a:bodyPr rtlCol="0" anchor="ctr"/>
          <a:lstStyle/>
          <a:p>
            <a:pPr algn="ctr"/>
          </a:p>
        </p:txBody>
      </p:sp>
      <p:sp>
        <p:nvSpPr>
          <p:cNvPr id="11" name="TextBox 10"/>
          <p:cNvSpPr txBox="1"/>
          <p:nvPr/>
        </p:nvSpPr>
        <p:spPr>
          <a:xfrm>
            <a:off x="1042416" y="5257800"/>
            <a:ext cx="10158984" cy="749808"/>
          </a:xfrm>
          <a:prstGeom prst="rect">
            <a:avLst/>
          </a:prstGeom>
          <a:noFill/>
        </p:spPr>
        <p:txBody>
          <a:bodyPr wrap="square" lIns="0" rIns="0" tIns="0" bIns="0" anchor="ctr">
            <a:spAutoFit/>
          </a:bodyPr>
          <a:lstStyle/>
          <a:p>
            <a:pPr algn="l">
              <a:lnSpc>
                <a:spcPct val="112000"/>
              </a:lnSpc>
            </a:pPr>
            <a:r>
              <a:rPr sz="1500" b="1" i="0">
                <a:solidFill>
                  <a:srgbClr val="1E2A38"/>
                </a:solidFill>
                <a:latin typeface="Inter"/>
              </a:rPr>
              <a:t>So:</a:t>
            </a:r>
            <a:r>
              <a:rPr sz="1500" b="0" i="0">
                <a:solidFill>
                  <a:srgbClr val="1E2A38"/>
                </a:solidFill>
                <a:latin typeface="Inter"/>
              </a:rPr>
              <a:t> the question is not how to balance two targets – it is how far the sensitivity can go down before real changes are missed.</a:t>
            </a:r>
          </a:p>
        </p:txBody>
      </p:sp>
      <p:sp>
        <p:nvSpPr>
          <p:cNvPr id="12" name="TextBox 11"/>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level 8 (factory default), typical scale = median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8</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FINDING 2</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The TOO_MANY fraction is the wrong compass</a:t>
            </a:r>
          </a:p>
        </p:txBody>
      </p:sp>
      <p:pic>
        <p:nvPicPr>
          <p:cNvPr id="5" name="Picture 4" descr="c03_usage.png"/>
          <p:cNvPicPr>
            <a:picLocks noChangeAspect="1"/>
          </p:cNvPicPr>
          <p:nvPr/>
        </p:nvPicPr>
        <p:blipFill>
          <a:blip r:embed="rId2"/>
          <a:stretch>
            <a:fillRect/>
          </a:stretch>
        </p:blipFill>
        <p:spPr>
          <a:xfrm>
            <a:off x="676656" y="1719072"/>
            <a:ext cx="6126480" cy="3520440"/>
          </a:xfrm>
          <a:prstGeom prst="rect">
            <a:avLst/>
          </a:prstGeom>
        </p:spPr>
      </p:pic>
      <p:sp>
        <p:nvSpPr>
          <p:cNvPr id="6" name="TextBox 5"/>
          <p:cNvSpPr txBox="1"/>
          <p:nvPr/>
        </p:nvSpPr>
        <p:spPr>
          <a:xfrm>
            <a:off x="7178040" y="1719072"/>
            <a:ext cx="4206240" cy="548640"/>
          </a:xfrm>
          <a:prstGeom prst="rect">
            <a:avLst/>
          </a:prstGeom>
          <a:noFill/>
        </p:spPr>
        <p:txBody>
          <a:bodyPr wrap="square" lIns="0" rIns="0" tIns="0" bIns="0" anchor="t">
            <a:spAutoFit/>
          </a:bodyPr>
          <a:lstStyle/>
          <a:p>
            <a:pPr algn="l">
              <a:lnSpc>
                <a:spcPct val="95000"/>
              </a:lnSpc>
            </a:pPr>
            <a:r>
              <a:rPr sz="4000" b="1" i="0">
                <a:solidFill>
                  <a:srgbClr val="D46A1F"/>
                </a:solidFill>
                <a:latin typeface="Source Serif 4"/>
              </a:rPr>
              <a:t>1.00 vs 0.63</a:t>
            </a:r>
          </a:p>
        </p:txBody>
      </p:sp>
      <p:sp>
        <p:nvSpPr>
          <p:cNvPr id="7" name="TextBox 6"/>
          <p:cNvSpPr txBox="1"/>
          <p:nvPr/>
        </p:nvSpPr>
        <p:spPr>
          <a:xfrm>
            <a:off x="7178040" y="2304288"/>
            <a:ext cx="420624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median fraction of the least- vs. the most-used fifth of the 20 kg bins – same setting</a:t>
            </a:r>
          </a:p>
        </p:txBody>
      </p:sp>
      <p:sp>
        <p:nvSpPr>
          <p:cNvPr id="8" name="TextBox 7"/>
          <p:cNvSpPr txBox="1"/>
          <p:nvPr/>
        </p:nvSpPr>
        <p:spPr>
          <a:xfrm>
            <a:off x="7178040" y="3014797"/>
            <a:ext cx="4206240" cy="548640"/>
          </a:xfrm>
          <a:prstGeom prst="rect">
            <a:avLst/>
          </a:prstGeom>
          <a:noFill/>
        </p:spPr>
        <p:txBody>
          <a:bodyPr wrap="square" lIns="0" rIns="0" tIns="0" bIns="0" anchor="t">
            <a:spAutoFit/>
          </a:bodyPr>
          <a:lstStyle/>
          <a:p>
            <a:pPr algn="l">
              <a:lnSpc>
                <a:spcPct val="95000"/>
              </a:lnSpc>
            </a:pPr>
            <a:r>
              <a:rPr sz="4000" b="1" i="0">
                <a:solidFill>
                  <a:srgbClr val="2F5D8C"/>
                </a:solidFill>
                <a:latin typeface="Source Serif 4"/>
              </a:rPr>
              <a:t>−97%  /  −90%</a:t>
            </a:r>
          </a:p>
        </p:txBody>
      </p:sp>
      <p:sp>
        <p:nvSpPr>
          <p:cNvPr id="9" name="TextBox 8"/>
          <p:cNvSpPr txBox="1"/>
          <p:nvPr/>
        </p:nvSpPr>
        <p:spPr>
          <a:xfrm>
            <a:off x="7178040" y="3600013"/>
            <a:ext cx="420624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empty wake-ups / caught picks when the same 20 kg scales go from level 8 to 1 – the fraction falls by only 0.23</a:t>
            </a:r>
          </a:p>
        </p:txBody>
      </p:sp>
      <p:sp>
        <p:nvSpPr>
          <p:cNvPr id="10" name="Rounded Rectangle 9"/>
          <p:cNvSpPr/>
          <p:nvPr/>
        </p:nvSpPr>
        <p:spPr>
          <a:xfrm>
            <a:off x="813816" y="5257800"/>
            <a:ext cx="10570464" cy="749808"/>
          </a:xfrm>
          <a:prstGeom prst="roundRect">
            <a:avLst>
              <a:gd name="adj" fmla="val 9756"/>
            </a:avLst>
          </a:prstGeom>
          <a:solidFill>
            <a:srgbClr val="ECE8DF"/>
          </a:solidFill>
          <a:ln>
            <a:noFill/>
          </a:ln>
        </p:spPr>
        <p:txBody>
          <a:bodyPr rtlCol="0" anchor="ctr"/>
          <a:lstStyle/>
          <a:p>
            <a:pPr algn="ctr"/>
          </a:p>
        </p:txBody>
      </p:sp>
      <p:sp>
        <p:nvSpPr>
          <p:cNvPr id="11" name="TextBox 10"/>
          <p:cNvSpPr txBox="1"/>
          <p:nvPr/>
        </p:nvSpPr>
        <p:spPr>
          <a:xfrm>
            <a:off x="1042416" y="5257800"/>
            <a:ext cx="10158984" cy="749808"/>
          </a:xfrm>
          <a:prstGeom prst="rect">
            <a:avLst/>
          </a:prstGeom>
          <a:noFill/>
        </p:spPr>
        <p:txBody>
          <a:bodyPr wrap="square" lIns="0" rIns="0" tIns="0" bIns="0" anchor="ctr">
            <a:spAutoFit/>
          </a:bodyPr>
          <a:lstStyle/>
          <a:p>
            <a:pPr algn="l">
              <a:lnSpc>
                <a:spcPct val="112000"/>
              </a:lnSpc>
            </a:pPr>
            <a:r>
              <a:rPr sz="1400" b="1" i="0">
                <a:solidFill>
                  <a:srgbClr val="1E2A38"/>
                </a:solidFill>
                <a:latin typeface="Inter"/>
              </a:rPr>
              <a:t>So:</a:t>
            </a:r>
            <a:r>
              <a:rPr sz="1400" b="0" i="0">
                <a:solidFill>
                  <a:srgbClr val="1E2A38"/>
                </a:solidFill>
                <a:latin typeface="Inter"/>
              </a:rPr>
              <a:t> judge a scale by its empty wake-ups per week and the share of changes it misses – </a:t>
            </a:r>
            <a:r>
              <a:rPr sz="1400" b="1" i="0">
                <a:solidFill>
                  <a:srgbClr val="1E2A38"/>
                </a:solidFill>
                <a:latin typeface="Inter"/>
              </a:rPr>
              <a:t>KPI 2.0:</a:t>
            </a:r>
            <a:r>
              <a:rPr sz="1400" b="0" i="0">
                <a:solidFill>
                  <a:srgbClr val="1E2A38"/>
                </a:solidFill>
                <a:latin typeface="Inter"/>
              </a:rPr>
              <a:t> ≤ 7 empty wake-ups a week · ≤ 10% of changes missed · ≤ 2 TOO_FEW a week.</a:t>
            </a:r>
          </a:p>
        </p:txBody>
      </p:sp>
      <p:sp>
        <p:nvSpPr>
          <p:cNvPr id="12" name="TextBox 11"/>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'when a measure becomes a target, it ceases to be a good measure' (Strathern, 1997)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A38"/>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C97A6"/>
                </a:solidFill>
                <a:latin typeface="Inter"/>
              </a:rPr>
              <a:t>9</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E8A06A"/>
                </a:solidFill>
                <a:latin typeface="Inter"/>
              </a:rPr>
              <a:t>THE KEY INSIGHT</a:t>
            </a:r>
          </a:p>
        </p:txBody>
      </p:sp>
      <p:sp>
        <p:nvSpPr>
          <p:cNvPr id="4" name="TextBox 3"/>
          <p:cNvSpPr txBox="1"/>
          <p:nvPr/>
        </p:nvSpPr>
        <p:spPr>
          <a:xfrm>
            <a:off x="813816" y="987552"/>
            <a:ext cx="10844784" cy="1068705"/>
          </a:xfrm>
          <a:prstGeom prst="rect">
            <a:avLst/>
          </a:prstGeom>
          <a:noFill/>
        </p:spPr>
        <p:txBody>
          <a:bodyPr wrap="square" lIns="0" rIns="0" tIns="0" bIns="0" anchor="t">
            <a:spAutoFit/>
          </a:bodyPr>
          <a:lstStyle/>
          <a:p>
            <a:pPr algn="l">
              <a:lnSpc>
                <a:spcPct val="100000"/>
              </a:lnSpc>
            </a:pPr>
            <a:r>
              <a:rPr sz="3400" b="1" i="0">
                <a:solidFill>
                  <a:srgbClr val="F4F1EA"/>
                </a:solidFill>
                <a:latin typeface="Source Serif 4"/>
              </a:rPr>
              <a:t>Almost half of the empty wake-ups coincide with a pick at the same site</a:t>
            </a:r>
          </a:p>
        </p:txBody>
      </p:sp>
      <p:sp>
        <p:nvSpPr>
          <p:cNvPr id="5" name="TextBox 4"/>
          <p:cNvSpPr txBox="1"/>
          <p:nvPr/>
        </p:nvSpPr>
        <p:spPr>
          <a:xfrm>
            <a:off x="813816" y="2377440"/>
            <a:ext cx="2286000" cy="740664"/>
          </a:xfrm>
          <a:prstGeom prst="rect">
            <a:avLst/>
          </a:prstGeom>
          <a:noFill/>
        </p:spPr>
        <p:txBody>
          <a:bodyPr wrap="square" lIns="0" rIns="0" tIns="0" bIns="0" anchor="t">
            <a:spAutoFit/>
          </a:bodyPr>
          <a:lstStyle/>
          <a:p>
            <a:pPr algn="l">
              <a:lnSpc>
                <a:spcPct val="95000"/>
              </a:lnSpc>
            </a:pPr>
            <a:r>
              <a:rPr sz="5400" b="1" i="0">
                <a:solidFill>
                  <a:srgbClr val="E8A06A"/>
                </a:solidFill>
                <a:latin typeface="Source Serif 4"/>
              </a:rPr>
              <a:t>48%</a:t>
            </a:r>
          </a:p>
        </p:txBody>
      </p:sp>
      <p:sp>
        <p:nvSpPr>
          <p:cNvPr id="6" name="TextBox 5"/>
          <p:cNvSpPr txBox="1"/>
          <p:nvPr/>
        </p:nvSpPr>
        <p:spPr>
          <a:xfrm>
            <a:off x="813816" y="3154680"/>
            <a:ext cx="2286000" cy="274320"/>
          </a:xfrm>
          <a:prstGeom prst="rect">
            <a:avLst/>
          </a:prstGeom>
          <a:noFill/>
        </p:spPr>
        <p:txBody>
          <a:bodyPr wrap="square" lIns="0" rIns="0" tIns="0" bIns="0" anchor="t">
            <a:spAutoFit/>
          </a:bodyPr>
          <a:lstStyle/>
          <a:p>
            <a:pPr algn="l">
              <a:lnSpc>
                <a:spcPct val="112000"/>
              </a:lnSpc>
            </a:pPr>
            <a:r>
              <a:rPr sz="1400" b="0" i="0">
                <a:solidFill>
                  <a:srgbClr val="DDE1E7"/>
                </a:solidFill>
                <a:latin typeface="Inter"/>
              </a:rPr>
              <a:t>20 kg scales</a:t>
            </a:r>
          </a:p>
        </p:txBody>
      </p:sp>
      <p:sp>
        <p:nvSpPr>
          <p:cNvPr id="7" name="TextBox 6"/>
          <p:cNvSpPr txBox="1"/>
          <p:nvPr/>
        </p:nvSpPr>
        <p:spPr>
          <a:xfrm>
            <a:off x="3328416" y="2377440"/>
            <a:ext cx="2286000" cy="740664"/>
          </a:xfrm>
          <a:prstGeom prst="rect">
            <a:avLst/>
          </a:prstGeom>
          <a:noFill/>
        </p:spPr>
        <p:txBody>
          <a:bodyPr wrap="square" lIns="0" rIns="0" tIns="0" bIns="0" anchor="t">
            <a:spAutoFit/>
          </a:bodyPr>
          <a:lstStyle/>
          <a:p>
            <a:pPr algn="l">
              <a:lnSpc>
                <a:spcPct val="95000"/>
              </a:lnSpc>
            </a:pPr>
            <a:r>
              <a:rPr sz="5400" b="1" i="0">
                <a:solidFill>
                  <a:srgbClr val="8DB3DD"/>
                </a:solidFill>
                <a:latin typeface="Source Serif 4"/>
              </a:rPr>
              <a:t>42%</a:t>
            </a:r>
          </a:p>
        </p:txBody>
      </p:sp>
      <p:sp>
        <p:nvSpPr>
          <p:cNvPr id="8" name="TextBox 7"/>
          <p:cNvSpPr txBox="1"/>
          <p:nvPr/>
        </p:nvSpPr>
        <p:spPr>
          <a:xfrm>
            <a:off x="3328416" y="3154680"/>
            <a:ext cx="2286000" cy="274320"/>
          </a:xfrm>
          <a:prstGeom prst="rect">
            <a:avLst/>
          </a:prstGeom>
          <a:noFill/>
        </p:spPr>
        <p:txBody>
          <a:bodyPr wrap="square" lIns="0" rIns="0" tIns="0" bIns="0" anchor="t">
            <a:spAutoFit/>
          </a:bodyPr>
          <a:lstStyle/>
          <a:p>
            <a:pPr algn="l">
              <a:lnSpc>
                <a:spcPct val="112000"/>
              </a:lnSpc>
            </a:pPr>
            <a:r>
              <a:rPr sz="1400" b="0" i="0">
                <a:solidFill>
                  <a:srgbClr val="DDE1E7"/>
                </a:solidFill>
                <a:latin typeface="Inter"/>
              </a:rPr>
              <a:t>6 kg scales</a:t>
            </a:r>
          </a:p>
        </p:txBody>
      </p:sp>
      <p:sp>
        <p:nvSpPr>
          <p:cNvPr id="9" name="TextBox 8"/>
          <p:cNvSpPr txBox="1"/>
          <p:nvPr/>
        </p:nvSpPr>
        <p:spPr>
          <a:xfrm>
            <a:off x="813816" y="3596802"/>
            <a:ext cx="4937760" cy="1463040"/>
          </a:xfrm>
          <a:prstGeom prst="rect">
            <a:avLst/>
          </a:prstGeom>
          <a:noFill/>
        </p:spPr>
        <p:txBody>
          <a:bodyPr wrap="square" lIns="0" rIns="0" tIns="0" bIns="0" anchor="t">
            <a:spAutoFit/>
          </a:bodyPr>
          <a:lstStyle/>
          <a:p>
            <a:pPr algn="l">
              <a:lnSpc>
                <a:spcPct val="115000"/>
              </a:lnSpc>
            </a:pPr>
            <a:r>
              <a:rPr sz="1500" b="0" i="0">
                <a:solidFill>
                  <a:srgbClr val="F4F1EA"/>
                </a:solidFill>
                <a:latin typeface="Inter"/>
              </a:rPr>
              <a:t>of the empty wake-ups come within ±14 seconds of a real pick at another scale of the same site – beyond what chance explains. At that moment, picks nearby jump from about 1 to about 9 per minute.</a:t>
            </a:r>
          </a:p>
        </p:txBody>
      </p:sp>
      <p:pic>
        <p:nvPicPr>
          <p:cNvPr id="10" name="Picture 9" descr="c04_coupling.png"/>
          <p:cNvPicPr>
            <a:picLocks noChangeAspect="1"/>
          </p:cNvPicPr>
          <p:nvPr/>
        </p:nvPicPr>
        <p:blipFill>
          <a:blip r:embed="rId2"/>
          <a:stretch>
            <a:fillRect/>
          </a:stretch>
        </p:blipFill>
        <p:spPr>
          <a:xfrm>
            <a:off x="6172200" y="2286000"/>
            <a:ext cx="5486400" cy="2788920"/>
          </a:xfrm>
          <a:prstGeom prst="rect">
            <a:avLst/>
          </a:prstGeom>
        </p:spPr>
      </p:pic>
      <p:sp>
        <p:nvSpPr>
          <p:cNvPr id="11" name="TextBox 10"/>
          <p:cNvSpPr txBox="1"/>
          <p:nvPr/>
        </p:nvSpPr>
        <p:spPr>
          <a:xfrm>
            <a:off x="813816" y="5257800"/>
            <a:ext cx="10570464" cy="822960"/>
          </a:xfrm>
          <a:prstGeom prst="rect">
            <a:avLst/>
          </a:prstGeom>
          <a:noFill/>
        </p:spPr>
        <p:txBody>
          <a:bodyPr wrap="square" lIns="0" rIns="0" tIns="0" bIns="0" anchor="t">
            <a:spAutoFit/>
          </a:bodyPr>
          <a:lstStyle/>
          <a:p>
            <a:pPr algn="l">
              <a:lnSpc>
                <a:spcPct val="115000"/>
              </a:lnSpc>
            </a:pPr>
            <a:r>
              <a:rPr sz="1500" b="0" i="0">
                <a:solidFill>
                  <a:srgbClr val="F4F1EA"/>
                </a:solidFill>
                <a:latin typeface="Inter"/>
              </a:rPr>
              <a:t>Empty wake-ups also follow the working day like real picks (hourly profiles: r = 0.99) – only about 2.5% happen at weekends. They go with activity on the site, not with idle hours.</a:t>
            </a:r>
          </a:p>
        </p:txBody>
      </p:sp>
      <p:sp>
        <p:nvSpPr>
          <p:cNvPr id="12" name="TextBox 11"/>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C97A6"/>
                </a:solidFill>
                <a:latin typeface="Inter"/>
              </a:rPr>
              <a:t>Method: event coincidence analysis (Donges et al., 2016), control window 60–88 s after the wake-up. Source: own analysis of the Bossard SmartBin data, 1 Mar – 20 Jun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10</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FINDING 3</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Every scale has a blind zone</a:t>
            </a:r>
          </a:p>
        </p:txBody>
      </p:sp>
      <p:pic>
        <p:nvPicPr>
          <p:cNvPr id="5" name="Picture 4" descr="c05_blind_zone.png"/>
          <p:cNvPicPr>
            <a:picLocks noChangeAspect="1"/>
          </p:cNvPicPr>
          <p:nvPr/>
        </p:nvPicPr>
        <p:blipFill>
          <a:blip r:embed="rId2"/>
          <a:stretch>
            <a:fillRect/>
          </a:stretch>
        </p:blipFill>
        <p:spPr>
          <a:xfrm>
            <a:off x="676656" y="1719072"/>
            <a:ext cx="7040880" cy="3429000"/>
          </a:xfrm>
          <a:prstGeom prst="rect">
            <a:avLst/>
          </a:prstGeom>
        </p:spPr>
      </p:pic>
      <p:sp>
        <p:nvSpPr>
          <p:cNvPr id="6" name="TextBox 5"/>
          <p:cNvSpPr txBox="1"/>
          <p:nvPr/>
        </p:nvSpPr>
        <p:spPr>
          <a:xfrm>
            <a:off x="8092440" y="1810512"/>
            <a:ext cx="3291840" cy="3291840"/>
          </a:xfrm>
          <a:prstGeom prst="rect">
            <a:avLst/>
          </a:prstGeom>
          <a:noFill/>
        </p:spPr>
        <p:txBody>
          <a:bodyPr wrap="square" lIns="0" rIns="0" tIns="0" bIns="0" anchor="t">
            <a:spAutoFit/>
          </a:bodyPr>
          <a:lstStyle/>
          <a:p>
            <a:pPr algn="l" marL="182880" indent="-182880">
              <a:lnSpc>
                <a:spcPct val="112000"/>
              </a:lnSpc>
              <a:spcAft>
                <a:spcPts val="1000"/>
              </a:spcAft>
              <a:buFont typeface="Arial"/>
              <a:buChar char="•"/>
            </a:pPr>
            <a:r>
              <a:rPr sz="1350" b="1" i="0">
                <a:solidFill>
                  <a:srgbClr val="1E2A38"/>
                </a:solidFill>
                <a:latin typeface="Inter"/>
              </a:rPr>
              <a:t>Below ≈ 23 g (20 kg) and ≈ 5 g (6 kg)</a:t>
            </a:r>
            <a:r>
              <a:rPr sz="1350" b="0" i="0">
                <a:solidFill>
                  <a:srgbClr val="1E2A38"/>
                </a:solidFill>
                <a:latin typeface="Inter"/>
              </a:rPr>
              <a:t> a pick is mostly invisible to the scale.</a:t>
            </a:r>
          </a:p>
          <a:p>
            <a:pPr algn="l" marL="182880" indent="-182880">
              <a:lnSpc>
                <a:spcPct val="112000"/>
              </a:lnSpc>
              <a:spcAft>
                <a:spcPts val="1000"/>
              </a:spcAft>
              <a:buFont typeface="Arial"/>
              <a:buChar char="•"/>
            </a:pPr>
            <a:r>
              <a:rPr sz="1350" b="1" i="0">
                <a:solidFill>
                  <a:srgbClr val="1E2A38"/>
                </a:solidFill>
                <a:latin typeface="Inter"/>
              </a:rPr>
              <a:t>Level 8 catches ≥ 95%</a:t>
            </a:r>
            <a:r>
              <a:rPr sz="1350" b="0" i="0">
                <a:solidFill>
                  <a:srgbClr val="1E2A38"/>
                </a:solidFill>
                <a:latin typeface="Inter"/>
              </a:rPr>
              <a:t> of the picks from 20 g up. Levels 1–5 never reach 95% for any pick size.</a:t>
            </a:r>
          </a:p>
          <a:p>
            <a:pPr algn="l" marL="182880" indent="-182880">
              <a:lnSpc>
                <a:spcPct val="112000"/>
              </a:lnSpc>
              <a:spcAft>
                <a:spcPts val="1000"/>
              </a:spcAft>
              <a:buFont typeface="Arial"/>
              <a:buChar char="•"/>
            </a:pPr>
            <a:r>
              <a:rPr sz="1350" b="1" i="0">
                <a:solidFill>
                  <a:srgbClr val="1E2A38"/>
                </a:solidFill>
                <a:latin typeface="Inter"/>
              </a:rPr>
              <a:t>53% of the 6 kg scales</a:t>
            </a:r>
            <a:r>
              <a:rPr sz="1350" b="0" i="0">
                <a:solidFill>
                  <a:srgbClr val="1E2A38"/>
                </a:solidFill>
                <a:latin typeface="Inter"/>
              </a:rPr>
              <a:t> have a typical pick below 25 g – only 2% of the 20 kg scales do.</a:t>
            </a:r>
          </a:p>
        </p:txBody>
      </p:sp>
      <p:sp>
        <p:nvSpPr>
          <p:cNvPr id="7" name="Rounded Rectangle 6"/>
          <p:cNvSpPr/>
          <p:nvPr/>
        </p:nvSpPr>
        <p:spPr>
          <a:xfrm>
            <a:off x="813816" y="5257800"/>
            <a:ext cx="10570464" cy="749808"/>
          </a:xfrm>
          <a:prstGeom prst="roundRect">
            <a:avLst>
              <a:gd name="adj" fmla="val 9756"/>
            </a:avLst>
          </a:prstGeom>
          <a:solidFill>
            <a:srgbClr val="ECE8DF"/>
          </a:solidFill>
          <a:ln>
            <a:noFill/>
          </a:ln>
        </p:spPr>
        <p:txBody>
          <a:bodyPr rtlCol="0" anchor="ctr"/>
          <a:lstStyle/>
          <a:p>
            <a:pPr algn="ctr"/>
          </a:p>
        </p:txBody>
      </p:sp>
      <p:sp>
        <p:nvSpPr>
          <p:cNvPr id="8" name="TextBox 7"/>
          <p:cNvSpPr txBox="1"/>
          <p:nvPr/>
        </p:nvSpPr>
        <p:spPr>
          <a:xfrm>
            <a:off x="1042416" y="5257800"/>
            <a:ext cx="10158984" cy="749808"/>
          </a:xfrm>
          <a:prstGeom prst="rect">
            <a:avLst/>
          </a:prstGeom>
          <a:noFill/>
        </p:spPr>
        <p:txBody>
          <a:bodyPr wrap="square" lIns="0" rIns="0" tIns="0" bIns="0" anchor="ctr">
            <a:spAutoFit/>
          </a:bodyPr>
          <a:lstStyle/>
          <a:p>
            <a:pPr algn="l">
              <a:lnSpc>
                <a:spcPct val="112000"/>
              </a:lnSpc>
            </a:pPr>
            <a:r>
              <a:rPr sz="1500" b="1" i="0">
                <a:solidFill>
                  <a:srgbClr val="1E2A38"/>
                </a:solidFill>
                <a:latin typeface="Inter"/>
              </a:rPr>
              <a:t>So:</a:t>
            </a:r>
            <a:r>
              <a:rPr sz="1500" b="0" i="0">
                <a:solidFill>
                  <a:srgbClr val="1E2A38"/>
                </a:solidFill>
                <a:latin typeface="Inter"/>
              </a:rPr>
              <a:t> small parts belong on 6 kg scales – and a 6 kg scale cannot go as low as a 20 kg scale.</a:t>
            </a:r>
          </a:p>
        </p:txBody>
      </p:sp>
      <p:sp>
        <p:nvSpPr>
          <p:cNvPr id="9" name="TextBox 8"/>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pick size = weight drop since the previous weighing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11</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FINDING 4 · POWER BI</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Where a bin stands matters more than what is in it</a:t>
            </a:r>
          </a:p>
        </p:txBody>
      </p:sp>
      <p:sp>
        <p:nvSpPr>
          <p:cNvPr id="5" name="Rounded Rectangle 4"/>
          <p:cNvSpPr/>
          <p:nvPr/>
        </p:nvSpPr>
        <p:spPr>
          <a:xfrm>
            <a:off x="813816" y="1764792"/>
            <a:ext cx="6995160" cy="4206240"/>
          </a:xfrm>
          <a:prstGeom prst="roundRect">
            <a:avLst>
              <a:gd name="adj" fmla="val 1739"/>
            </a:avLst>
          </a:prstGeom>
          <a:solidFill>
            <a:srgbClr val="FFFDF9"/>
          </a:solidFill>
          <a:ln w="19050">
            <a:solidFill>
              <a:srgbClr val="B5541A"/>
            </a:solidFill>
            <a:prstDash val="dash"/>
          </a:ln>
        </p:spPr>
        <p:txBody>
          <a:bodyPr rtlCol="0" anchor="ctr"/>
          <a:lstStyle/>
          <a:p>
            <a:pPr algn="ctr"/>
          </a:p>
        </p:txBody>
      </p:sp>
      <p:sp>
        <p:nvSpPr>
          <p:cNvPr id="6" name="TextBox 5"/>
          <p:cNvSpPr txBox="1"/>
          <p:nvPr/>
        </p:nvSpPr>
        <p:spPr>
          <a:xfrm>
            <a:off x="813816" y="3026664"/>
            <a:ext cx="6995160" cy="457200"/>
          </a:xfrm>
          <a:prstGeom prst="rect">
            <a:avLst/>
          </a:prstGeom>
          <a:noFill/>
        </p:spPr>
        <p:txBody>
          <a:bodyPr wrap="square" lIns="0" rIns="0" tIns="0" bIns="0" anchor="t">
            <a:spAutoFit/>
          </a:bodyPr>
          <a:lstStyle/>
          <a:p>
            <a:pPr algn="ctr">
              <a:lnSpc>
                <a:spcPct val="112000"/>
              </a:lnSpc>
            </a:pPr>
            <a:r>
              <a:rPr sz="2400" b="1" i="0" spc="100">
                <a:solidFill>
                  <a:srgbClr val="B5541A"/>
                </a:solidFill>
                <a:latin typeface="Inter"/>
              </a:rPr>
              <a:t>POWER BI DASHBOARD B</a:t>
            </a:r>
          </a:p>
        </p:txBody>
      </p:sp>
      <p:sp>
        <p:nvSpPr>
          <p:cNvPr id="7" name="TextBox 6"/>
          <p:cNvSpPr txBox="1"/>
          <p:nvPr/>
        </p:nvSpPr>
        <p:spPr>
          <a:xfrm>
            <a:off x="1271016" y="3593592"/>
            <a:ext cx="6080760" cy="822960"/>
          </a:xfrm>
          <a:prstGeom prst="rect">
            <a:avLst/>
          </a:prstGeom>
          <a:noFill/>
        </p:spPr>
        <p:txBody>
          <a:bodyPr wrap="square" lIns="0" rIns="0" tIns="0" bIns="0" anchor="t">
            <a:spAutoFit/>
          </a:bodyPr>
          <a:lstStyle/>
          <a:p>
            <a:pPr algn="ctr">
              <a:lnSpc>
                <a:spcPct val="115000"/>
              </a:lnSpc>
            </a:pPr>
            <a:r>
              <a:rPr sz="1400" b="0" i="0">
                <a:solidFill>
                  <a:srgbClr val="1E2A38"/>
                </a:solidFill>
                <a:latin typeface="Inter"/>
              </a:rPr>
              <a:t>Sites × sensitivity (page 2): median TOO_MANY fraction per site on level 8 and how the sites react on the other levels – one small chart per level, no dual axis</a:t>
            </a:r>
          </a:p>
        </p:txBody>
      </p:sp>
      <p:sp>
        <p:nvSpPr>
          <p:cNvPr id="8" name="TextBox 7"/>
          <p:cNvSpPr txBox="1"/>
          <p:nvPr/>
        </p:nvSpPr>
        <p:spPr>
          <a:xfrm>
            <a:off x="1271016" y="5285231"/>
            <a:ext cx="6080760" cy="457200"/>
          </a:xfrm>
          <a:prstGeom prst="rect">
            <a:avLst/>
          </a:prstGeom>
          <a:noFill/>
        </p:spPr>
        <p:txBody>
          <a:bodyPr wrap="square" lIns="0" rIns="0" tIns="0" bIns="0" anchor="t">
            <a:spAutoFit/>
          </a:bodyPr>
          <a:lstStyle/>
          <a:p>
            <a:pPr algn="ctr">
              <a:lnSpc>
                <a:spcPct val="110000"/>
              </a:lnSpc>
            </a:pPr>
            <a:r>
              <a:rPr sz="1100" b="0" i="0">
                <a:solidFill>
                  <a:srgbClr val="8A8F98"/>
                </a:solidFill>
                <a:latin typeface="Inter"/>
              </a:rPr>
              <a:t>Insert a screenshot of the Power BI page here and delete this box.</a:t>
            </a:r>
          </a:p>
        </p:txBody>
      </p:sp>
      <p:sp>
        <p:nvSpPr>
          <p:cNvPr id="9" name="TextBox 8"/>
          <p:cNvSpPr txBox="1"/>
          <p:nvPr/>
        </p:nvSpPr>
        <p:spPr>
          <a:xfrm>
            <a:off x="8092440" y="1719072"/>
            <a:ext cx="3291840" cy="493776"/>
          </a:xfrm>
          <a:prstGeom prst="rect">
            <a:avLst/>
          </a:prstGeom>
          <a:noFill/>
        </p:spPr>
        <p:txBody>
          <a:bodyPr wrap="square" lIns="0" rIns="0" tIns="0" bIns="0" anchor="t">
            <a:spAutoFit/>
          </a:bodyPr>
          <a:lstStyle/>
          <a:p>
            <a:pPr algn="l">
              <a:lnSpc>
                <a:spcPct val="95000"/>
              </a:lnSpc>
            </a:pPr>
            <a:r>
              <a:rPr sz="3600" b="1" i="0">
                <a:solidFill>
                  <a:srgbClr val="D46A1F"/>
                </a:solidFill>
                <a:latin typeface="Source Serif 4"/>
              </a:rPr>
              <a:t>0.61–0.97</a:t>
            </a:r>
          </a:p>
        </p:txBody>
      </p:sp>
      <p:sp>
        <p:nvSpPr>
          <p:cNvPr id="10" name="TextBox 9"/>
          <p:cNvSpPr txBox="1"/>
          <p:nvPr/>
        </p:nvSpPr>
        <p:spPr>
          <a:xfrm>
            <a:off x="8092440" y="2249424"/>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median fraction of the middle 80% of the 20 kg sites (6 kg: 0.48–0.92)</a:t>
            </a:r>
          </a:p>
        </p:txBody>
      </p:sp>
      <p:sp>
        <p:nvSpPr>
          <p:cNvPr id="11" name="TextBox 10"/>
          <p:cNvSpPr txBox="1"/>
          <p:nvPr/>
        </p:nvSpPr>
        <p:spPr>
          <a:xfrm>
            <a:off x="8092440" y="2879791"/>
            <a:ext cx="3291840" cy="493776"/>
          </a:xfrm>
          <a:prstGeom prst="rect">
            <a:avLst/>
          </a:prstGeom>
          <a:noFill/>
        </p:spPr>
        <p:txBody>
          <a:bodyPr wrap="square" lIns="0" rIns="0" tIns="0" bIns="0" anchor="t">
            <a:spAutoFit/>
          </a:bodyPr>
          <a:lstStyle/>
          <a:p>
            <a:pPr algn="l">
              <a:lnSpc>
                <a:spcPct val="95000"/>
              </a:lnSpc>
            </a:pPr>
            <a:r>
              <a:rPr sz="3600" b="1" i="0">
                <a:solidFill>
                  <a:srgbClr val="2F5D8C"/>
                </a:solidFill>
                <a:latin typeface="Source Serif 4"/>
              </a:rPr>
              <a:t>42% / 40%</a:t>
            </a:r>
          </a:p>
        </p:txBody>
      </p:sp>
      <p:sp>
        <p:nvSpPr>
          <p:cNvPr id="12" name="TextBox 11"/>
          <p:cNvSpPr txBox="1"/>
          <p:nvPr/>
        </p:nvSpPr>
        <p:spPr>
          <a:xfrm>
            <a:off x="8092440" y="3410143"/>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of the differences between scales lie between sites – stable in two random halves (r = 0.76 / 0.85)</a:t>
            </a:r>
          </a:p>
        </p:txBody>
      </p:sp>
      <p:sp>
        <p:nvSpPr>
          <p:cNvPr id="13" name="TextBox 12"/>
          <p:cNvSpPr txBox="1"/>
          <p:nvPr/>
        </p:nvSpPr>
        <p:spPr>
          <a:xfrm>
            <a:off x="8092440" y="4264253"/>
            <a:ext cx="3291840" cy="493776"/>
          </a:xfrm>
          <a:prstGeom prst="rect">
            <a:avLst/>
          </a:prstGeom>
          <a:noFill/>
        </p:spPr>
        <p:txBody>
          <a:bodyPr wrap="square" lIns="0" rIns="0" tIns="0" bIns="0" anchor="t">
            <a:spAutoFit/>
          </a:bodyPr>
          <a:lstStyle/>
          <a:p>
            <a:pPr algn="l">
              <a:lnSpc>
                <a:spcPct val="95000"/>
              </a:lnSpc>
            </a:pPr>
            <a:r>
              <a:rPr sz="3600" b="1" i="0">
                <a:solidFill>
                  <a:srgbClr val="D46A1F"/>
                </a:solidFill>
                <a:latin typeface="Source Serif 4"/>
              </a:rPr>
              <a:t>10 sites</a:t>
            </a:r>
          </a:p>
        </p:txBody>
      </p:sp>
      <p:sp>
        <p:nvSpPr>
          <p:cNvPr id="14" name="TextBox 13"/>
          <p:cNvSpPr txBox="1"/>
          <p:nvPr/>
        </p:nvSpPr>
        <p:spPr>
          <a:xfrm>
            <a:off x="8092440" y="4794605"/>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hold 47% / 41% of all coupled empty wake-ups</a:t>
            </a:r>
          </a:p>
        </p:txBody>
      </p:sp>
      <p:sp>
        <p:nvSpPr>
          <p:cNvPr id="15" name="TextBox 14"/>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intraclass correlation (Shrout &amp; Fleiss, 1979), permutation test p ≤ 0.001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12</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ANSWER TO QUESTIONS 1 AND 2</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What matters – and what hardly does</a:t>
            </a:r>
          </a:p>
        </p:txBody>
      </p:sp>
      <p:pic>
        <p:nvPicPr>
          <p:cNvPr id="5" name="Picture 4" descr="c06_parameters.png"/>
          <p:cNvPicPr>
            <a:picLocks noChangeAspect="1"/>
          </p:cNvPicPr>
          <p:nvPr/>
        </p:nvPicPr>
        <p:blipFill>
          <a:blip r:embed="rId2"/>
          <a:stretch>
            <a:fillRect/>
          </a:stretch>
        </p:blipFill>
        <p:spPr>
          <a:xfrm>
            <a:off x="676656" y="1719072"/>
            <a:ext cx="6309360" cy="3429000"/>
          </a:xfrm>
          <a:prstGeom prst="rect">
            <a:avLst/>
          </a:prstGeom>
        </p:spPr>
      </p:pic>
      <p:sp>
        <p:nvSpPr>
          <p:cNvPr id="6" name="Rounded Rectangle 5"/>
          <p:cNvSpPr/>
          <p:nvPr/>
        </p:nvSpPr>
        <p:spPr>
          <a:xfrm>
            <a:off x="7269480" y="1764792"/>
            <a:ext cx="4114800" cy="1645920"/>
          </a:xfrm>
          <a:prstGeom prst="roundRect">
            <a:avLst>
              <a:gd name="adj" fmla="val 4444"/>
            </a:avLst>
          </a:prstGeom>
          <a:solidFill>
            <a:srgbClr val="FFFDF9"/>
          </a:solidFill>
          <a:ln w="6350">
            <a:solidFill>
              <a:srgbClr val="E2DDD2"/>
            </a:solidFill>
          </a:ln>
        </p:spPr>
        <p:txBody>
          <a:bodyPr rtlCol="0" anchor="ctr"/>
          <a:lstStyle/>
          <a:p>
            <a:pPr algn="ctr"/>
          </a:p>
        </p:txBody>
      </p:sp>
      <p:sp>
        <p:nvSpPr>
          <p:cNvPr id="7" name="TextBox 6"/>
          <p:cNvSpPr txBox="1"/>
          <p:nvPr/>
        </p:nvSpPr>
        <p:spPr>
          <a:xfrm>
            <a:off x="7470648" y="1965960"/>
            <a:ext cx="3712463" cy="274320"/>
          </a:xfrm>
          <a:prstGeom prst="rect">
            <a:avLst/>
          </a:prstGeom>
          <a:noFill/>
        </p:spPr>
        <p:txBody>
          <a:bodyPr wrap="square" lIns="0" rIns="0" tIns="0" bIns="0" anchor="t">
            <a:spAutoFit/>
          </a:bodyPr>
          <a:lstStyle/>
          <a:p>
            <a:pPr algn="l">
              <a:lnSpc>
                <a:spcPct val="100000"/>
              </a:lnSpc>
            </a:pPr>
            <a:r>
              <a:rPr sz="1600" b="1" i="0">
                <a:solidFill>
                  <a:srgbClr val="4E8F4E"/>
                </a:solidFill>
                <a:latin typeface="Inter"/>
              </a:rPr>
              <a:t>Hardly matters</a:t>
            </a:r>
          </a:p>
        </p:txBody>
      </p:sp>
      <p:sp>
        <p:nvSpPr>
          <p:cNvPr id="8" name="TextBox 7"/>
          <p:cNvSpPr txBox="1"/>
          <p:nvPr/>
        </p:nvSpPr>
        <p:spPr>
          <a:xfrm>
            <a:off x="7470648" y="2284984"/>
            <a:ext cx="3712463" cy="1125728"/>
          </a:xfrm>
          <a:prstGeom prst="rect">
            <a:avLst/>
          </a:prstGeom>
          <a:noFill/>
        </p:spPr>
        <p:txBody>
          <a:bodyPr wrap="square" lIns="0" rIns="0" tIns="0" bIns="0" anchor="t">
            <a:spAutoFit/>
          </a:bodyPr>
          <a:lstStyle/>
          <a:p>
            <a:pPr algn="l">
              <a:lnSpc>
                <a:spcPct val="115000"/>
              </a:lnSpc>
              <a:spcAft>
                <a:spcPts val="300"/>
              </a:spcAft>
            </a:pPr>
            <a:r>
              <a:rPr sz="1300" b="1" i="0">
                <a:solidFill>
                  <a:srgbClr val="4A5360"/>
                </a:solidFill>
                <a:latin typeface="Inter"/>
              </a:rPr>
              <a:t>20 kg:</a:t>
            </a:r>
            <a:r>
              <a:rPr sz="1300" b="0" i="0">
                <a:solidFill>
                  <a:srgbClr val="4A5360"/>
                </a:solidFill>
                <a:latin typeface="Inter"/>
              </a:rPr>
              <a:t> box type (0.11) and item weight (0.08). </a:t>
            </a:r>
            <a:r>
              <a:rPr sz="1300" b="1" i="0">
                <a:solidFill>
                  <a:srgbClr val="4A5360"/>
                </a:solidFill>
                <a:latin typeface="Inter"/>
              </a:rPr>
              <a:t>Both types:</a:t>
            </a:r>
            <a:r>
              <a:rPr sz="1300" b="0" i="0">
                <a:solidFill>
                  <a:srgbClr val="4A5360"/>
                </a:solidFill>
                <a:latin typeface="Inter"/>
              </a:rPr>
              <a:t> a fuller box on the same scale (−0.045 / −0.027).</a:t>
            </a:r>
          </a:p>
        </p:txBody>
      </p:sp>
      <p:sp>
        <p:nvSpPr>
          <p:cNvPr id="9" name="Rounded Rectangle 8"/>
          <p:cNvSpPr/>
          <p:nvPr/>
        </p:nvSpPr>
        <p:spPr>
          <a:xfrm>
            <a:off x="7269480" y="3593592"/>
            <a:ext cx="4114800" cy="1645920"/>
          </a:xfrm>
          <a:prstGeom prst="roundRect">
            <a:avLst>
              <a:gd name="adj" fmla="val 4444"/>
            </a:avLst>
          </a:prstGeom>
          <a:solidFill>
            <a:srgbClr val="FFFDF9"/>
          </a:solidFill>
          <a:ln w="6350">
            <a:solidFill>
              <a:srgbClr val="E2DDD2"/>
            </a:solidFill>
          </a:ln>
        </p:spPr>
        <p:txBody>
          <a:bodyPr rtlCol="0" anchor="ctr"/>
          <a:lstStyle/>
          <a:p>
            <a:pPr algn="ctr"/>
          </a:p>
        </p:txBody>
      </p:sp>
      <p:sp>
        <p:nvSpPr>
          <p:cNvPr id="10" name="TextBox 9"/>
          <p:cNvSpPr txBox="1"/>
          <p:nvPr/>
        </p:nvSpPr>
        <p:spPr>
          <a:xfrm>
            <a:off x="7470648" y="3794760"/>
            <a:ext cx="3712463" cy="274320"/>
          </a:xfrm>
          <a:prstGeom prst="rect">
            <a:avLst/>
          </a:prstGeom>
          <a:noFill/>
        </p:spPr>
        <p:txBody>
          <a:bodyPr wrap="square" lIns="0" rIns="0" tIns="0" bIns="0" anchor="t">
            <a:spAutoFit/>
          </a:bodyPr>
          <a:lstStyle/>
          <a:p>
            <a:pPr algn="l">
              <a:lnSpc>
                <a:spcPct val="100000"/>
              </a:lnSpc>
            </a:pPr>
            <a:r>
              <a:rPr sz="1600" b="1" i="0">
                <a:solidFill>
                  <a:srgbClr val="C0504D"/>
                </a:solidFill>
                <a:latin typeface="Inter"/>
              </a:rPr>
              <a:t>Matters</a:t>
            </a:r>
          </a:p>
        </p:txBody>
      </p:sp>
      <p:sp>
        <p:nvSpPr>
          <p:cNvPr id="11" name="TextBox 10"/>
          <p:cNvSpPr txBox="1"/>
          <p:nvPr/>
        </p:nvSpPr>
        <p:spPr>
          <a:xfrm>
            <a:off x="7470648" y="4113784"/>
            <a:ext cx="3712463" cy="1125727"/>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Site and usage (0.34–0.43) and the setting – the only lever Bossard controls remotely. On 6 kg scales box type (0.26) and item weight (0.17) differ too.</a:t>
            </a:r>
          </a:p>
        </p:txBody>
      </p:sp>
      <p:sp>
        <p:nvSpPr>
          <p:cNvPr id="12" name="TextBox 11"/>
          <p:cNvSpPr txBox="1"/>
          <p:nvPr/>
        </p:nvSpPr>
        <p:spPr>
          <a:xfrm>
            <a:off x="813816" y="5394960"/>
            <a:ext cx="10570464" cy="640080"/>
          </a:xfrm>
          <a:prstGeom prst="rect">
            <a:avLst/>
          </a:prstGeom>
          <a:noFill/>
        </p:spPr>
        <p:txBody>
          <a:bodyPr wrap="square" lIns="0" rIns="0" tIns="0" bIns="0" anchor="t">
            <a:spAutoFit/>
          </a:bodyPr>
          <a:lstStyle/>
          <a:p>
            <a:pPr algn="l">
              <a:lnSpc>
                <a:spcPct val="112000"/>
              </a:lnSpc>
            </a:pPr>
            <a:r>
              <a:rPr sz="1200" b="0" i="0">
                <a:solidFill>
                  <a:srgbClr val="4A5360"/>
                </a:solidFill>
                <a:latin typeface="Inter"/>
              </a:rPr>
              <a:t>How to read it: median TOO_MANY fraction of the best vs. the worst group of each parameter, all on level 8 except the setting (scales with ≥ 5 automatic weighings); sites with ≥ 20 scales: 10th vs. 90th percentile; usage: least- vs. most-used fifth (slide 8).</a:t>
            </a:r>
          </a:p>
        </p:txBody>
      </p:sp>
      <p:sp>
        <p:nvSpPr>
          <p:cNvPr id="13" name="TextBox 12"/>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Shapley decomposition in the appendix (Grömping, 2006)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13</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THE SETTING · BEFORE AND AFTER</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Same scale, before and after: the first steps are cheap</a:t>
            </a:r>
          </a:p>
        </p:txBody>
      </p:sp>
      <p:sp>
        <p:nvSpPr>
          <p:cNvPr id="5" name="TextBox 4"/>
          <p:cNvSpPr txBox="1"/>
          <p:nvPr/>
        </p:nvSpPr>
        <p:spPr>
          <a:xfrm>
            <a:off x="813816" y="1655064"/>
            <a:ext cx="7223760" cy="566928"/>
          </a:xfrm>
          <a:prstGeom prst="rect">
            <a:avLst/>
          </a:prstGeom>
          <a:noFill/>
        </p:spPr>
        <p:txBody>
          <a:bodyPr wrap="square" lIns="0" rIns="0" tIns="0" bIns="0" anchor="t">
            <a:spAutoFit/>
          </a:bodyPr>
          <a:lstStyle/>
          <a:p>
            <a:pPr algn="l">
              <a:lnSpc>
                <a:spcPct val="112000"/>
              </a:lnSpc>
            </a:pPr>
            <a:r>
              <a:rPr sz="1350" b="0" i="0">
                <a:solidFill>
                  <a:srgbClr val="4A5360"/>
                </a:solidFill>
                <a:latin typeface="Inter"/>
              </a:rPr>
              <a:t>In April Bossard moved </a:t>
            </a:r>
            <a:r>
              <a:rPr sz="1350" b="1" i="0">
                <a:solidFill>
                  <a:srgbClr val="4A5360"/>
                </a:solidFill>
                <a:latin typeface="Inter"/>
              </a:rPr>
              <a:t>7,846 scales</a:t>
            </a:r>
            <a:r>
              <a:rPr sz="1350" b="0" i="0">
                <a:solidFill>
                  <a:srgbClr val="4A5360"/>
                </a:solidFill>
                <a:latin typeface="Inter"/>
              </a:rPr>
              <a:t> away from level 8 – a natural experiment. Each scale is compared with itself before the switch and with scales that stayed on 8.</a:t>
            </a:r>
          </a:p>
        </p:txBody>
      </p:sp>
      <p:pic>
        <p:nvPicPr>
          <p:cNvPr id="6" name="Picture 5" descr="c07_knob.png"/>
          <p:cNvPicPr>
            <a:picLocks noChangeAspect="1"/>
          </p:cNvPicPr>
          <p:nvPr/>
        </p:nvPicPr>
        <p:blipFill>
          <a:blip r:embed="rId2"/>
          <a:stretch>
            <a:fillRect/>
          </a:stretch>
        </p:blipFill>
        <p:spPr>
          <a:xfrm>
            <a:off x="704088" y="2313432"/>
            <a:ext cx="7406640" cy="3017520"/>
          </a:xfrm>
          <a:prstGeom prst="rect">
            <a:avLst/>
          </a:prstGeom>
        </p:spPr>
      </p:pic>
      <p:sp>
        <p:nvSpPr>
          <p:cNvPr id="7" name="TextBox 6"/>
          <p:cNvSpPr txBox="1"/>
          <p:nvPr/>
        </p:nvSpPr>
        <p:spPr>
          <a:xfrm>
            <a:off x="8549640" y="1673352"/>
            <a:ext cx="2834640" cy="493776"/>
          </a:xfrm>
          <a:prstGeom prst="rect">
            <a:avLst/>
          </a:prstGeom>
          <a:noFill/>
        </p:spPr>
        <p:txBody>
          <a:bodyPr wrap="square" lIns="0" rIns="0" tIns="0" bIns="0" anchor="t">
            <a:spAutoFit/>
          </a:bodyPr>
          <a:lstStyle/>
          <a:p>
            <a:pPr algn="l">
              <a:lnSpc>
                <a:spcPct val="95000"/>
              </a:lnSpc>
            </a:pPr>
            <a:r>
              <a:rPr sz="3600" b="1" i="0">
                <a:solidFill>
                  <a:srgbClr val="D46A1F"/>
                </a:solidFill>
                <a:latin typeface="Source Serif 4"/>
              </a:rPr>
              <a:t>−59% / −68%</a:t>
            </a:r>
          </a:p>
        </p:txBody>
      </p:sp>
      <p:sp>
        <p:nvSpPr>
          <p:cNvPr id="8" name="TextBox 7"/>
          <p:cNvSpPr txBox="1"/>
          <p:nvPr/>
        </p:nvSpPr>
        <p:spPr>
          <a:xfrm>
            <a:off x="8549640" y="2203704"/>
            <a:ext cx="28346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empty wake-ups for one step, 8 → 7 (20 kg / 6 kg) …</a:t>
            </a:r>
          </a:p>
        </p:txBody>
      </p:sp>
      <p:sp>
        <p:nvSpPr>
          <p:cNvPr id="9" name="TextBox 8"/>
          <p:cNvSpPr txBox="1"/>
          <p:nvPr/>
        </p:nvSpPr>
        <p:spPr>
          <a:xfrm>
            <a:off x="8549640" y="2834071"/>
            <a:ext cx="2834640" cy="493776"/>
          </a:xfrm>
          <a:prstGeom prst="rect">
            <a:avLst/>
          </a:prstGeom>
          <a:noFill/>
        </p:spPr>
        <p:txBody>
          <a:bodyPr wrap="square" lIns="0" rIns="0" tIns="0" bIns="0" anchor="t">
            <a:spAutoFit/>
          </a:bodyPr>
          <a:lstStyle/>
          <a:p>
            <a:pPr algn="l">
              <a:lnSpc>
                <a:spcPct val="95000"/>
              </a:lnSpc>
            </a:pPr>
            <a:r>
              <a:rPr sz="3600" b="1" i="0">
                <a:solidFill>
                  <a:srgbClr val="2F5D8C"/>
                </a:solidFill>
                <a:latin typeface="Source Serif 4"/>
              </a:rPr>
              <a:t>+1 / +3 pts</a:t>
            </a:r>
          </a:p>
        </p:txBody>
      </p:sp>
      <p:sp>
        <p:nvSpPr>
          <p:cNvPr id="10" name="TextBox 9"/>
          <p:cNvSpPr txBox="1"/>
          <p:nvPr/>
        </p:nvSpPr>
        <p:spPr>
          <a:xfrm>
            <a:off x="8549640" y="3364423"/>
            <a:ext cx="28346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 for this many more changes missed</a:t>
            </a:r>
          </a:p>
        </p:txBody>
      </p:sp>
      <p:sp>
        <p:nvSpPr>
          <p:cNvPr id="11" name="TextBox 10"/>
          <p:cNvSpPr txBox="1"/>
          <p:nvPr/>
        </p:nvSpPr>
        <p:spPr>
          <a:xfrm>
            <a:off x="8549640" y="4040510"/>
            <a:ext cx="2834640" cy="109728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Below level 6 the misses climb steeply. 6 kg scales react more strongly – they behave like a different instrument.</a:t>
            </a:r>
          </a:p>
        </p:txBody>
      </p:sp>
      <p:sp>
        <p:nvSpPr>
          <p:cNvPr id="12" name="Rounded Rectangle 11"/>
          <p:cNvSpPr/>
          <p:nvPr/>
        </p:nvSpPr>
        <p:spPr>
          <a:xfrm>
            <a:off x="813816" y="5440680"/>
            <a:ext cx="10570464" cy="640080"/>
          </a:xfrm>
          <a:prstGeom prst="roundRect">
            <a:avLst>
              <a:gd name="adj" fmla="val 11428"/>
            </a:avLst>
          </a:prstGeom>
          <a:solidFill>
            <a:srgbClr val="ECE8DF"/>
          </a:solidFill>
          <a:ln>
            <a:noFill/>
          </a:ln>
        </p:spPr>
        <p:txBody>
          <a:bodyPr rtlCol="0" anchor="ctr"/>
          <a:lstStyle/>
          <a:p>
            <a:pPr algn="ctr"/>
          </a:p>
        </p:txBody>
      </p:sp>
      <p:sp>
        <p:nvSpPr>
          <p:cNvPr id="13" name="TextBox 12"/>
          <p:cNvSpPr txBox="1"/>
          <p:nvPr/>
        </p:nvSpPr>
        <p:spPr>
          <a:xfrm>
            <a:off x="1042416" y="5440680"/>
            <a:ext cx="10158984" cy="640080"/>
          </a:xfrm>
          <a:prstGeom prst="rect">
            <a:avLst/>
          </a:prstGeom>
          <a:noFill/>
        </p:spPr>
        <p:txBody>
          <a:bodyPr wrap="square" lIns="0" rIns="0" tIns="0" bIns="0" anchor="ctr">
            <a:spAutoFit/>
          </a:bodyPr>
          <a:lstStyle/>
          <a:p>
            <a:pPr algn="l">
              <a:lnSpc>
                <a:spcPct val="112000"/>
              </a:lnSpc>
            </a:pPr>
            <a:r>
              <a:rPr sz="1450" b="1" i="0">
                <a:solidFill>
                  <a:srgbClr val="1E2A38"/>
                </a:solidFill>
                <a:latin typeface="Inter"/>
              </a:rPr>
              <a:t>So:</a:t>
            </a:r>
            <a:r>
              <a:rPr sz="1450" b="0" i="0">
                <a:solidFill>
                  <a:srgbClr val="1E2A38"/>
                </a:solidFill>
                <a:latin typeface="Inter"/>
              </a:rPr>
              <a:t> the setting works and the first step is cheap – how far a scale can go depends on the scale.</a:t>
            </a:r>
          </a:p>
        </p:txBody>
      </p:sp>
      <p:sp>
        <p:nvSpPr>
          <p:cNvPr id="14" name="TextBox 13"/>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Method: difference-in-differences (Angrist &amp; Pischke, 2009), fixed-effects Poisson, bootstrap intervals. Source: own analysis of the Bossard SmartBin data, 1 Mar – 20 Jun 2022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14</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 DEFECT, NOT A SETTING</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1.5% of the scales caused 27% of the automatic weighings</a:t>
            </a:r>
          </a:p>
        </p:txBody>
      </p:sp>
      <p:pic>
        <p:nvPicPr>
          <p:cNvPr id="5" name="Picture 4" descr="c08_loops.png"/>
          <p:cNvPicPr>
            <a:picLocks noChangeAspect="1"/>
          </p:cNvPicPr>
          <p:nvPr/>
        </p:nvPicPr>
        <p:blipFill>
          <a:blip r:embed="rId2"/>
          <a:stretch>
            <a:fillRect/>
          </a:stretch>
        </p:blipFill>
        <p:spPr>
          <a:xfrm>
            <a:off x="704088" y="1691640"/>
            <a:ext cx="7498079" cy="1874520"/>
          </a:xfrm>
          <a:prstGeom prst="rect">
            <a:avLst/>
          </a:prstGeom>
        </p:spPr>
      </p:pic>
      <p:sp>
        <p:nvSpPr>
          <p:cNvPr id="6" name="TextBox 5"/>
          <p:cNvSpPr txBox="1"/>
          <p:nvPr/>
        </p:nvSpPr>
        <p:spPr>
          <a:xfrm>
            <a:off x="8549640" y="1719072"/>
            <a:ext cx="2834640" cy="1920240"/>
          </a:xfrm>
          <a:prstGeom prst="rect">
            <a:avLst/>
          </a:prstGeom>
          <a:noFill/>
        </p:spPr>
        <p:txBody>
          <a:bodyPr wrap="square" lIns="0" rIns="0" tIns="0" bIns="0" anchor="t">
            <a:spAutoFit/>
          </a:bodyPr>
          <a:lstStyle/>
          <a:p>
            <a:pPr algn="l">
              <a:lnSpc>
                <a:spcPct val="115000"/>
              </a:lnSpc>
            </a:pPr>
            <a:r>
              <a:rPr sz="1350" b="1" i="0">
                <a:solidFill>
                  <a:srgbClr val="1E2A38"/>
                </a:solidFill>
                <a:latin typeface="Inter"/>
              </a:rPr>
              <a:t>274 scales</a:t>
            </a:r>
            <a:r>
              <a:rPr sz="1350" b="0" i="0">
                <a:solidFill>
                  <a:srgbClr val="1E2A38"/>
                </a:solidFill>
                <a:latin typeface="Inter"/>
              </a:rPr>
              <a:t> were caught in a trigger loop: 219 on level 3 – a quarter of the scales in its April trial – and 59 on other levels (4 on both).</a:t>
            </a:r>
          </a:p>
        </p:txBody>
      </p:sp>
      <p:sp>
        <p:nvSpPr>
          <p:cNvPr id="7" name="Rounded Rectangle 6"/>
          <p:cNvSpPr/>
          <p:nvPr/>
        </p:nvSpPr>
        <p:spPr>
          <a:xfrm>
            <a:off x="813816" y="3730752"/>
            <a:ext cx="3383280" cy="1572768"/>
          </a:xfrm>
          <a:prstGeom prst="roundRect">
            <a:avLst>
              <a:gd name="adj" fmla="val 4651"/>
            </a:avLst>
          </a:prstGeom>
          <a:solidFill>
            <a:srgbClr val="FFFDF9"/>
          </a:solidFill>
          <a:ln w="6350">
            <a:solidFill>
              <a:srgbClr val="E2DDD2"/>
            </a:solidFill>
          </a:ln>
        </p:spPr>
        <p:txBody>
          <a:bodyPr rtlCol="0" anchor="ctr"/>
          <a:lstStyle/>
          <a:p>
            <a:pPr algn="ctr"/>
          </a:p>
        </p:txBody>
      </p:sp>
      <p:sp>
        <p:nvSpPr>
          <p:cNvPr id="8" name="TextBox 7"/>
          <p:cNvSpPr txBox="1"/>
          <p:nvPr/>
        </p:nvSpPr>
        <p:spPr>
          <a:xfrm>
            <a:off x="1014984" y="393192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The signature</a:t>
            </a:r>
          </a:p>
        </p:txBody>
      </p:sp>
      <p:sp>
        <p:nvSpPr>
          <p:cNvPr id="9" name="TextBox 8"/>
          <p:cNvSpPr txBox="1"/>
          <p:nvPr/>
        </p:nvSpPr>
        <p:spPr>
          <a:xfrm>
            <a:off x="1014984" y="4235577"/>
            <a:ext cx="2980944" cy="1067943"/>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A wake-up every ~90 s – the wait time (60 s) plus the delay (30 s) – day and night: 670 a day for the typical looping level-3 scale.</a:t>
            </a:r>
          </a:p>
        </p:txBody>
      </p:sp>
      <p:sp>
        <p:nvSpPr>
          <p:cNvPr id="10" name="Rounded Rectangle 9"/>
          <p:cNvSpPr/>
          <p:nvPr/>
        </p:nvSpPr>
        <p:spPr>
          <a:xfrm>
            <a:off x="4407408" y="3730752"/>
            <a:ext cx="3383280" cy="1572768"/>
          </a:xfrm>
          <a:prstGeom prst="roundRect">
            <a:avLst>
              <a:gd name="adj" fmla="val 4651"/>
            </a:avLst>
          </a:prstGeom>
          <a:solidFill>
            <a:srgbClr val="FFFDF9"/>
          </a:solidFill>
          <a:ln w="6350">
            <a:solidFill>
              <a:srgbClr val="E2DDD2"/>
            </a:solidFill>
          </a:ln>
        </p:spPr>
        <p:txBody>
          <a:bodyPr rtlCol="0" anchor="ctr"/>
          <a:lstStyle/>
          <a:p>
            <a:pPr algn="ctr"/>
          </a:p>
        </p:txBody>
      </p:sp>
      <p:sp>
        <p:nvSpPr>
          <p:cNvPr id="11" name="TextBox 10"/>
          <p:cNvSpPr txBox="1"/>
          <p:nvPr/>
        </p:nvSpPr>
        <p:spPr>
          <a:xfrm>
            <a:off x="4608576" y="393192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The detector</a:t>
            </a:r>
          </a:p>
        </p:txBody>
      </p:sp>
      <p:sp>
        <p:nvSpPr>
          <p:cNvPr id="12" name="TextBox 11"/>
          <p:cNvSpPr txBox="1"/>
          <p:nvPr/>
        </p:nvSpPr>
        <p:spPr>
          <a:xfrm>
            <a:off x="4608576" y="4235577"/>
            <a:ext cx="2980944" cy="1067943"/>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More than half of the wake-ups within 2 min of the previous one and more than 20 a day, judged over ≥ 5 days. Runs every day.</a:t>
            </a:r>
          </a:p>
        </p:txBody>
      </p:sp>
      <p:sp>
        <p:nvSpPr>
          <p:cNvPr id="13" name="Rounded Rectangle 12"/>
          <p:cNvSpPr/>
          <p:nvPr/>
        </p:nvSpPr>
        <p:spPr>
          <a:xfrm>
            <a:off x="8001000" y="3730752"/>
            <a:ext cx="3383280" cy="1572768"/>
          </a:xfrm>
          <a:prstGeom prst="roundRect">
            <a:avLst>
              <a:gd name="adj" fmla="val 4651"/>
            </a:avLst>
          </a:prstGeom>
          <a:solidFill>
            <a:srgbClr val="FFFDF9"/>
          </a:solidFill>
          <a:ln w="6350">
            <a:solidFill>
              <a:srgbClr val="E2DDD2"/>
            </a:solidFill>
          </a:ln>
        </p:spPr>
        <p:txBody>
          <a:bodyPr rtlCol="0" anchor="ctr"/>
          <a:lstStyle/>
          <a:p>
            <a:pPr algn="ctr"/>
          </a:p>
        </p:txBody>
      </p:sp>
      <p:sp>
        <p:nvSpPr>
          <p:cNvPr id="14" name="TextBox 13"/>
          <p:cNvSpPr txBox="1"/>
          <p:nvPr/>
        </p:nvSpPr>
        <p:spPr>
          <a:xfrm>
            <a:off x="8202168" y="393192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The cost</a:t>
            </a:r>
          </a:p>
        </p:txBody>
      </p:sp>
      <p:sp>
        <p:nvSpPr>
          <p:cNvPr id="15" name="TextBox 14"/>
          <p:cNvSpPr txBox="1"/>
          <p:nvPr/>
        </p:nvSpPr>
        <p:spPr>
          <a:xfrm>
            <a:off x="8202168" y="4235577"/>
            <a:ext cx="2980944" cy="1067943"/>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With the case's battery assumption, a level-3 loop empties a five-year battery in about 6 weeks (about 14 weeks for the slower loops on other levels).</a:t>
            </a:r>
          </a:p>
        </p:txBody>
      </p:sp>
      <p:sp>
        <p:nvSpPr>
          <p:cNvPr id="16" name="Rounded Rectangle 15"/>
          <p:cNvSpPr/>
          <p:nvPr/>
        </p:nvSpPr>
        <p:spPr>
          <a:xfrm>
            <a:off x="813816" y="5532120"/>
            <a:ext cx="10570464" cy="603504"/>
          </a:xfrm>
          <a:prstGeom prst="roundRect">
            <a:avLst>
              <a:gd name="adj" fmla="val 12121"/>
            </a:avLst>
          </a:prstGeom>
          <a:solidFill>
            <a:srgbClr val="ECE8DF"/>
          </a:solidFill>
          <a:ln>
            <a:noFill/>
          </a:ln>
        </p:spPr>
        <p:txBody>
          <a:bodyPr rtlCol="0" anchor="ctr"/>
          <a:lstStyle/>
          <a:p>
            <a:pPr algn="ctr"/>
          </a:p>
        </p:txBody>
      </p:sp>
      <p:sp>
        <p:nvSpPr>
          <p:cNvPr id="17" name="TextBox 16"/>
          <p:cNvSpPr txBox="1"/>
          <p:nvPr/>
        </p:nvSpPr>
        <p:spPr>
          <a:xfrm>
            <a:off x="1042416" y="5532120"/>
            <a:ext cx="10158984" cy="603504"/>
          </a:xfrm>
          <a:prstGeom prst="rect">
            <a:avLst/>
          </a:prstGeom>
          <a:noFill/>
        </p:spPr>
        <p:txBody>
          <a:bodyPr wrap="square" lIns="0" rIns="0" tIns="0" bIns="0" anchor="ctr">
            <a:spAutoFit/>
          </a:bodyPr>
          <a:lstStyle/>
          <a:p>
            <a:pPr algn="l">
              <a:lnSpc>
                <a:spcPct val="112000"/>
              </a:lnSpc>
            </a:pPr>
            <a:r>
              <a:rPr sz="1450" b="1" i="0">
                <a:solidFill>
                  <a:srgbClr val="1E2A38"/>
                </a:solidFill>
                <a:latin typeface="Inter"/>
              </a:rPr>
              <a:t>So:</a:t>
            </a:r>
            <a:r>
              <a:rPr sz="1450" b="0" i="0">
                <a:solidFill>
                  <a:srgbClr val="1E2A38"/>
                </a:solidFill>
                <a:latin typeface="Inter"/>
              </a:rPr>
              <a:t> repair it, don't tune it – keep level 3 off the menu and send looping scales to service.</a:t>
            </a:r>
          </a:p>
        </p:txBody>
      </p:sp>
      <p:sp>
        <p:nvSpPr>
          <p:cNvPr id="18" name="TextBox 17"/>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battery model of the case: a weighing ≈ 2 s at ≈ 3,000 × sleep power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2A38"/>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C97A6"/>
                </a:solidFill>
                <a:latin typeface="Inter"/>
              </a:rPr>
              <a:t>15</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E8A06A"/>
                </a:solidFill>
                <a:latin typeface="Inter"/>
              </a:rPr>
              <a:t>ANSWER TO QUESTION 3</a:t>
            </a:r>
          </a:p>
        </p:txBody>
      </p:sp>
      <p:sp>
        <p:nvSpPr>
          <p:cNvPr id="4" name="TextBox 3"/>
          <p:cNvSpPr txBox="1"/>
          <p:nvPr/>
        </p:nvSpPr>
        <p:spPr>
          <a:xfrm>
            <a:off x="813816" y="987552"/>
            <a:ext cx="10844784" cy="1068705"/>
          </a:xfrm>
          <a:prstGeom prst="rect">
            <a:avLst/>
          </a:prstGeom>
          <a:noFill/>
        </p:spPr>
        <p:txBody>
          <a:bodyPr wrap="square" lIns="0" rIns="0" tIns="0" bIns="0" anchor="t">
            <a:spAutoFit/>
          </a:bodyPr>
          <a:lstStyle/>
          <a:p>
            <a:pPr algn="l">
              <a:lnSpc>
                <a:spcPct val="100000"/>
              </a:lnSpc>
            </a:pPr>
            <a:r>
              <a:rPr sz="3400" b="1" i="0">
                <a:solidFill>
                  <a:srgbClr val="F4F1EA"/>
                </a:solidFill>
                <a:latin typeface="Source Serif 4"/>
              </a:rPr>
              <a:t>The right setting is not in the master data – each scale has to learn it</a:t>
            </a:r>
          </a:p>
        </p:txBody>
      </p:sp>
      <p:sp>
        <p:nvSpPr>
          <p:cNvPr id="5" name="TextBox 4"/>
          <p:cNvSpPr txBox="1"/>
          <p:nvPr/>
        </p:nvSpPr>
        <p:spPr>
          <a:xfrm>
            <a:off x="813816" y="2514600"/>
            <a:ext cx="3291840" cy="731520"/>
          </a:xfrm>
          <a:prstGeom prst="rect">
            <a:avLst/>
          </a:prstGeom>
          <a:noFill/>
        </p:spPr>
        <p:txBody>
          <a:bodyPr wrap="square" lIns="0" rIns="0" tIns="0" bIns="0" anchor="t">
            <a:spAutoFit/>
          </a:bodyPr>
          <a:lstStyle/>
          <a:p>
            <a:pPr algn="l">
              <a:lnSpc>
                <a:spcPct val="112000"/>
              </a:lnSpc>
            </a:pPr>
            <a:r>
              <a:rPr sz="4800" b="1" i="0">
                <a:solidFill>
                  <a:srgbClr val="E8A06A"/>
                </a:solidFill>
                <a:latin typeface="Source Serif 4"/>
              </a:rPr>
              <a:t>1</a:t>
            </a:r>
          </a:p>
        </p:txBody>
      </p:sp>
      <p:sp>
        <p:nvSpPr>
          <p:cNvPr id="6" name="TextBox 5"/>
          <p:cNvSpPr txBox="1"/>
          <p:nvPr/>
        </p:nvSpPr>
        <p:spPr>
          <a:xfrm>
            <a:off x="813816" y="3337560"/>
            <a:ext cx="3246120" cy="1463040"/>
          </a:xfrm>
          <a:prstGeom prst="rect">
            <a:avLst/>
          </a:prstGeom>
          <a:noFill/>
        </p:spPr>
        <p:txBody>
          <a:bodyPr wrap="square" lIns="0" rIns="0" tIns="0" bIns="0" anchor="t">
            <a:spAutoFit/>
          </a:bodyPr>
          <a:lstStyle/>
          <a:p>
            <a:pPr algn="l">
              <a:lnSpc>
                <a:spcPct val="115000"/>
              </a:lnSpc>
            </a:pPr>
            <a:r>
              <a:rPr sz="1600" b="0" i="0">
                <a:solidFill>
                  <a:srgbClr val="F4F1EA"/>
                </a:solidFill>
                <a:latin typeface="Inter"/>
              </a:rPr>
              <a:t>What Bossard knows in advance – box type, item weight – matters little next to site and usage.</a:t>
            </a:r>
          </a:p>
        </p:txBody>
      </p:sp>
      <p:sp>
        <p:nvSpPr>
          <p:cNvPr id="7" name="TextBox 6"/>
          <p:cNvSpPr txBox="1"/>
          <p:nvPr/>
        </p:nvSpPr>
        <p:spPr>
          <a:xfrm>
            <a:off x="4407408" y="2514600"/>
            <a:ext cx="3291840" cy="731520"/>
          </a:xfrm>
          <a:prstGeom prst="rect">
            <a:avLst/>
          </a:prstGeom>
          <a:noFill/>
        </p:spPr>
        <p:txBody>
          <a:bodyPr wrap="square" lIns="0" rIns="0" tIns="0" bIns="0" anchor="t">
            <a:spAutoFit/>
          </a:bodyPr>
          <a:lstStyle/>
          <a:p>
            <a:pPr algn="l">
              <a:lnSpc>
                <a:spcPct val="112000"/>
              </a:lnSpc>
            </a:pPr>
            <a:r>
              <a:rPr sz="4800" b="1" i="0">
                <a:solidFill>
                  <a:srgbClr val="E8A06A"/>
                </a:solidFill>
                <a:latin typeface="Source Serif 4"/>
              </a:rPr>
              <a:t>2</a:t>
            </a:r>
          </a:p>
        </p:txBody>
      </p:sp>
      <p:sp>
        <p:nvSpPr>
          <p:cNvPr id="8" name="TextBox 7"/>
          <p:cNvSpPr txBox="1"/>
          <p:nvPr/>
        </p:nvSpPr>
        <p:spPr>
          <a:xfrm>
            <a:off x="4407408" y="3337560"/>
            <a:ext cx="3246120" cy="1463040"/>
          </a:xfrm>
          <a:prstGeom prst="rect">
            <a:avLst/>
          </a:prstGeom>
          <a:noFill/>
        </p:spPr>
        <p:txBody>
          <a:bodyPr wrap="square" lIns="0" rIns="0" tIns="0" bIns="0" anchor="t">
            <a:spAutoFit/>
          </a:bodyPr>
          <a:lstStyle/>
          <a:p>
            <a:pPr algn="l">
              <a:lnSpc>
                <a:spcPct val="115000"/>
              </a:lnSpc>
            </a:pPr>
            <a:r>
              <a:rPr sz="1600" b="0" i="0">
                <a:solidFill>
                  <a:srgbClr val="F4F1EA"/>
                </a:solidFill>
                <a:latin typeface="Inter"/>
              </a:rPr>
              <a:t>What matters – how busy a bin is, its neighbours, its pick size, how its site behaves – only shows once the scale runs.</a:t>
            </a:r>
          </a:p>
        </p:txBody>
      </p:sp>
      <p:sp>
        <p:nvSpPr>
          <p:cNvPr id="9" name="TextBox 8"/>
          <p:cNvSpPr txBox="1"/>
          <p:nvPr/>
        </p:nvSpPr>
        <p:spPr>
          <a:xfrm>
            <a:off x="8001000" y="2514600"/>
            <a:ext cx="3291840" cy="731520"/>
          </a:xfrm>
          <a:prstGeom prst="rect">
            <a:avLst/>
          </a:prstGeom>
          <a:noFill/>
        </p:spPr>
        <p:txBody>
          <a:bodyPr wrap="square" lIns="0" rIns="0" tIns="0" bIns="0" anchor="t">
            <a:spAutoFit/>
          </a:bodyPr>
          <a:lstStyle/>
          <a:p>
            <a:pPr algn="l">
              <a:lnSpc>
                <a:spcPct val="112000"/>
              </a:lnSpc>
            </a:pPr>
            <a:r>
              <a:rPr sz="4800" b="1" i="0">
                <a:solidFill>
                  <a:srgbClr val="E8A06A"/>
                </a:solidFill>
                <a:latin typeface="Source Serif 4"/>
              </a:rPr>
              <a:t>3</a:t>
            </a:r>
          </a:p>
        </p:txBody>
      </p:sp>
      <p:sp>
        <p:nvSpPr>
          <p:cNvPr id="10" name="TextBox 9"/>
          <p:cNvSpPr txBox="1"/>
          <p:nvPr/>
        </p:nvSpPr>
        <p:spPr>
          <a:xfrm>
            <a:off x="8001000" y="3337560"/>
            <a:ext cx="3246120" cy="1463040"/>
          </a:xfrm>
          <a:prstGeom prst="rect">
            <a:avLst/>
          </a:prstGeom>
          <a:noFill/>
        </p:spPr>
        <p:txBody>
          <a:bodyPr wrap="square" lIns="0" rIns="0" tIns="0" bIns="0" anchor="t">
            <a:spAutoFit/>
          </a:bodyPr>
          <a:lstStyle/>
          <a:p>
            <a:pPr algn="l">
              <a:lnSpc>
                <a:spcPct val="115000"/>
              </a:lnSpc>
            </a:pPr>
            <a:r>
              <a:rPr sz="1600" b="0" i="0">
                <a:solidFill>
                  <a:srgbClr val="F4F1EA"/>
                </a:solidFill>
                <a:latin typeface="Inter"/>
              </a:rPr>
              <a:t>But every scale reports what we need, every week: how often it woke up for nothing, and how many of its changes were missed.</a:t>
            </a:r>
          </a:p>
        </p:txBody>
      </p:sp>
      <p:cxnSp>
        <p:nvCxnSpPr>
          <p:cNvPr id="11" name="Connector 10"/>
          <p:cNvCxnSpPr/>
          <p:nvPr/>
        </p:nvCxnSpPr>
        <p:spPr>
          <a:xfrm>
            <a:off x="813816" y="4983480"/>
            <a:ext cx="10570464" cy="0"/>
          </a:xfrm>
          <a:prstGeom prst="line">
            <a:avLst/>
          </a:prstGeom>
          <a:ln w="12700">
            <a:solidFill>
              <a:srgbClr val="3A4A5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3816" y="5166360"/>
            <a:ext cx="10570464" cy="731520"/>
          </a:xfrm>
          <a:prstGeom prst="rect">
            <a:avLst/>
          </a:prstGeom>
          <a:noFill/>
        </p:spPr>
        <p:txBody>
          <a:bodyPr wrap="square" lIns="0" rIns="0" tIns="0" bIns="0" anchor="t">
            <a:spAutoFit/>
          </a:bodyPr>
          <a:lstStyle/>
          <a:p>
            <a:pPr algn="l">
              <a:lnSpc>
                <a:spcPct val="110000"/>
              </a:lnSpc>
            </a:pPr>
            <a:r>
              <a:rPr sz="2000" b="1" i="0">
                <a:solidFill>
                  <a:srgbClr val="F4F1EA"/>
                </a:solidFill>
                <a:latin typeface="Source Serif 4"/>
              </a:rPr>
              <a:t>So each scale finds its own level from its own results – with a simple rule that anyone can audit.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16</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RECOMMENDATION</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Flag, tune, watch</a:t>
            </a:r>
          </a:p>
        </p:txBody>
      </p:sp>
      <p:sp>
        <p:nvSpPr>
          <p:cNvPr id="5" name="Rounded Rectangle 4"/>
          <p:cNvSpPr/>
          <p:nvPr/>
        </p:nvSpPr>
        <p:spPr>
          <a:xfrm>
            <a:off x="813816" y="1764792"/>
            <a:ext cx="3383280" cy="457200"/>
          </a:xfrm>
          <a:prstGeom prst="roundRect">
            <a:avLst>
              <a:gd name="adj" fmla="val 25000"/>
            </a:avLst>
          </a:prstGeom>
          <a:solidFill>
            <a:srgbClr val="1E2A38"/>
          </a:solidFill>
          <a:ln>
            <a:noFill/>
          </a:ln>
        </p:spPr>
        <p:txBody>
          <a:bodyPr rtlCol="0" anchor="ctr"/>
          <a:lstStyle/>
          <a:p>
            <a:pPr algn="ctr"/>
          </a:p>
        </p:txBody>
      </p:sp>
      <p:sp>
        <p:nvSpPr>
          <p:cNvPr id="6" name="TextBox 5"/>
          <p:cNvSpPr txBox="1"/>
          <p:nvPr/>
        </p:nvSpPr>
        <p:spPr>
          <a:xfrm>
            <a:off x="813816" y="1764792"/>
            <a:ext cx="3383280" cy="457200"/>
          </a:xfrm>
          <a:prstGeom prst="rect">
            <a:avLst/>
          </a:prstGeom>
          <a:noFill/>
        </p:spPr>
        <p:txBody>
          <a:bodyPr wrap="square" lIns="0" rIns="0" tIns="0" bIns="0" anchor="ctr">
            <a:spAutoFit/>
          </a:bodyPr>
          <a:lstStyle/>
          <a:p>
            <a:pPr algn="ctr">
              <a:lnSpc>
                <a:spcPct val="112000"/>
              </a:lnSpc>
            </a:pPr>
            <a:r>
              <a:rPr sz="1500" b="1" i="0" spc="200">
                <a:solidFill>
                  <a:srgbClr val="F4F1EA"/>
                </a:solidFill>
                <a:latin typeface="Inter"/>
              </a:rPr>
              <a:t>FLAG</a:t>
            </a:r>
          </a:p>
        </p:txBody>
      </p:sp>
      <p:cxnSp>
        <p:nvCxnSpPr>
          <p:cNvPr id="7" name="Connector 6"/>
          <p:cNvCxnSpPr/>
          <p:nvPr/>
        </p:nvCxnSpPr>
        <p:spPr>
          <a:xfrm>
            <a:off x="4215384" y="1993392"/>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13816" y="2331720"/>
            <a:ext cx="3383280" cy="3017520"/>
          </a:xfrm>
          <a:prstGeom prst="roundRect">
            <a:avLst>
              <a:gd name="adj" fmla="val 2424"/>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1014984" y="2478024"/>
            <a:ext cx="3017520" cy="274320"/>
          </a:xfrm>
          <a:prstGeom prst="rect">
            <a:avLst/>
          </a:prstGeom>
          <a:noFill/>
        </p:spPr>
        <p:txBody>
          <a:bodyPr wrap="square" lIns="0" rIns="0" tIns="0" bIns="0" anchor="t">
            <a:spAutoFit/>
          </a:bodyPr>
          <a:lstStyle/>
          <a:p>
            <a:pPr algn="l">
              <a:lnSpc>
                <a:spcPct val="112000"/>
              </a:lnSpc>
            </a:pPr>
            <a:r>
              <a:rPr sz="1450" b="1" i="0">
                <a:solidFill>
                  <a:srgbClr val="1E2A38"/>
                </a:solidFill>
                <a:latin typeface="Inter"/>
              </a:rPr>
              <a:t>Repair what no setting can fix</a:t>
            </a:r>
          </a:p>
        </p:txBody>
      </p:sp>
      <p:sp>
        <p:nvSpPr>
          <p:cNvPr id="10" name="TextBox 9"/>
          <p:cNvSpPr txBox="1"/>
          <p:nvPr/>
        </p:nvSpPr>
        <p:spPr>
          <a:xfrm>
            <a:off x="1014984" y="2862072"/>
            <a:ext cx="3017520" cy="1874519"/>
          </a:xfrm>
          <a:prstGeom prst="rect">
            <a:avLst/>
          </a:prstGeom>
          <a:noFill/>
        </p:spPr>
        <p:txBody>
          <a:bodyPr wrap="square" lIns="0" rIns="0" tIns="0" bIns="0" anchor="t">
            <a:spAutoFit/>
          </a:bodyPr>
          <a:lstStyle/>
          <a:p>
            <a:pPr algn="l" marL="146304" indent="-146304">
              <a:lnSpc>
                <a:spcPct val="110000"/>
              </a:lnSpc>
              <a:spcAft>
                <a:spcPts val="400"/>
              </a:spcAft>
              <a:buFont typeface="Arial"/>
              <a:buChar char="•"/>
            </a:pPr>
            <a:r>
              <a:rPr sz="1200" b="0" i="0">
                <a:solidFill>
                  <a:srgbClr val="4A5360"/>
                </a:solidFill>
                <a:latin typeface="Inter"/>
              </a:rPr>
              <a:t>Run the loop detector every day; send looping scales to service.</a:t>
            </a:r>
          </a:p>
          <a:p>
            <a:pPr algn="l" marL="146304" indent="-146304">
              <a:lnSpc>
                <a:spcPct val="110000"/>
              </a:lnSpc>
              <a:spcAft>
                <a:spcPts val="400"/>
              </a:spcAft>
              <a:buFont typeface="Arial"/>
              <a:buChar char="•"/>
            </a:pPr>
            <a:r>
              <a:rPr sz="1200" b="0" i="0">
                <a:solidFill>
                  <a:srgbClr val="4A5360"/>
                </a:solidFill>
                <a:latin typeface="Inter"/>
              </a:rPr>
              <a:t>Take level 3 off the menu until the firmware is fixed.</a:t>
            </a:r>
          </a:p>
        </p:txBody>
      </p:sp>
      <p:sp>
        <p:nvSpPr>
          <p:cNvPr id="11" name="Rectangle 10"/>
          <p:cNvSpPr/>
          <p:nvPr/>
        </p:nvSpPr>
        <p:spPr>
          <a:xfrm>
            <a:off x="1014984" y="4617720"/>
            <a:ext cx="2980944" cy="10972"/>
          </a:xfrm>
          <a:prstGeom prst="rect">
            <a:avLst/>
          </a:prstGeom>
          <a:solidFill>
            <a:srgbClr val="E2DDD2"/>
          </a:solidFill>
          <a:ln>
            <a:noFill/>
          </a:ln>
        </p:spPr>
        <p:txBody>
          <a:bodyPr rtlCol="0" anchor="ctr"/>
          <a:lstStyle/>
          <a:p>
            <a:pPr algn="ctr"/>
          </a:p>
        </p:txBody>
      </p:sp>
      <p:sp>
        <p:nvSpPr>
          <p:cNvPr id="12" name="TextBox 11"/>
          <p:cNvSpPr txBox="1"/>
          <p:nvPr/>
        </p:nvSpPr>
        <p:spPr>
          <a:xfrm>
            <a:off x="1014984" y="4690872"/>
            <a:ext cx="3017520" cy="603504"/>
          </a:xfrm>
          <a:prstGeom prst="rect">
            <a:avLst/>
          </a:prstGeom>
          <a:noFill/>
        </p:spPr>
        <p:txBody>
          <a:bodyPr wrap="square" lIns="0" rIns="0" tIns="0" bIns="0" anchor="t">
            <a:spAutoFit/>
          </a:bodyPr>
          <a:lstStyle/>
          <a:p>
            <a:pPr algn="l">
              <a:lnSpc>
                <a:spcPct val="110000"/>
              </a:lnSpc>
            </a:pPr>
            <a:r>
              <a:rPr sz="1200" b="1" i="0">
                <a:solidFill>
                  <a:srgbClr val="1E2A38"/>
                </a:solidFill>
                <a:latin typeface="Inter"/>
              </a:rPr>
              <a:t>loops caused 27% of all automatic weighings – no trade-off involved</a:t>
            </a:r>
          </a:p>
        </p:txBody>
      </p:sp>
      <p:sp>
        <p:nvSpPr>
          <p:cNvPr id="13" name="Rounded Rectangle 12"/>
          <p:cNvSpPr/>
          <p:nvPr/>
        </p:nvSpPr>
        <p:spPr>
          <a:xfrm>
            <a:off x="4407408" y="1764792"/>
            <a:ext cx="3383280" cy="457200"/>
          </a:xfrm>
          <a:prstGeom prst="roundRect">
            <a:avLst>
              <a:gd name="adj" fmla="val 25000"/>
            </a:avLst>
          </a:prstGeom>
          <a:solidFill>
            <a:srgbClr val="B5541A"/>
          </a:solidFill>
          <a:ln>
            <a:noFill/>
          </a:ln>
        </p:spPr>
        <p:txBody>
          <a:bodyPr rtlCol="0" anchor="ctr"/>
          <a:lstStyle/>
          <a:p>
            <a:pPr algn="ctr"/>
          </a:p>
        </p:txBody>
      </p:sp>
      <p:sp>
        <p:nvSpPr>
          <p:cNvPr id="14" name="TextBox 13"/>
          <p:cNvSpPr txBox="1"/>
          <p:nvPr/>
        </p:nvSpPr>
        <p:spPr>
          <a:xfrm>
            <a:off x="4407408" y="1764792"/>
            <a:ext cx="3383280" cy="457200"/>
          </a:xfrm>
          <a:prstGeom prst="rect">
            <a:avLst/>
          </a:prstGeom>
          <a:noFill/>
        </p:spPr>
        <p:txBody>
          <a:bodyPr wrap="square" lIns="0" rIns="0" tIns="0" bIns="0" anchor="ctr">
            <a:spAutoFit/>
          </a:bodyPr>
          <a:lstStyle/>
          <a:p>
            <a:pPr algn="ctr">
              <a:lnSpc>
                <a:spcPct val="112000"/>
              </a:lnSpc>
            </a:pPr>
            <a:r>
              <a:rPr sz="1500" b="1" i="0" spc="200">
                <a:solidFill>
                  <a:srgbClr val="F4F1EA"/>
                </a:solidFill>
                <a:latin typeface="Inter"/>
              </a:rPr>
              <a:t>TUNE</a:t>
            </a:r>
          </a:p>
        </p:txBody>
      </p:sp>
      <p:cxnSp>
        <p:nvCxnSpPr>
          <p:cNvPr id="15" name="Connector 14"/>
          <p:cNvCxnSpPr/>
          <p:nvPr/>
        </p:nvCxnSpPr>
        <p:spPr>
          <a:xfrm>
            <a:off x="7808976" y="1993392"/>
            <a:ext cx="173736" cy="0"/>
          </a:xfrm>
          <a:prstGeom prst="line">
            <a:avLst/>
          </a:prstGeom>
          <a:ln w="15875">
            <a:solidFill>
              <a:srgbClr val="B7B5B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07408" y="2331720"/>
            <a:ext cx="3383280" cy="3017520"/>
          </a:xfrm>
          <a:prstGeom prst="roundRect">
            <a:avLst>
              <a:gd name="adj" fmla="val 2424"/>
            </a:avLst>
          </a:prstGeom>
          <a:solidFill>
            <a:srgbClr val="FFFDF9"/>
          </a:solidFill>
          <a:ln w="6350">
            <a:solidFill>
              <a:srgbClr val="E2DDD2"/>
            </a:solidFill>
          </a:ln>
        </p:spPr>
        <p:txBody>
          <a:bodyPr rtlCol="0" anchor="ctr"/>
          <a:lstStyle/>
          <a:p>
            <a:pPr algn="ctr"/>
          </a:p>
        </p:txBody>
      </p:sp>
      <p:sp>
        <p:nvSpPr>
          <p:cNvPr id="17" name="TextBox 16"/>
          <p:cNvSpPr txBox="1"/>
          <p:nvPr/>
        </p:nvSpPr>
        <p:spPr>
          <a:xfrm>
            <a:off x="4608576" y="2478024"/>
            <a:ext cx="3017520" cy="274320"/>
          </a:xfrm>
          <a:prstGeom prst="rect">
            <a:avLst/>
          </a:prstGeom>
          <a:noFill/>
        </p:spPr>
        <p:txBody>
          <a:bodyPr wrap="square" lIns="0" rIns="0" tIns="0" bIns="0" anchor="t">
            <a:spAutoFit/>
          </a:bodyPr>
          <a:lstStyle/>
          <a:p>
            <a:pPr algn="l">
              <a:lnSpc>
                <a:spcPct val="112000"/>
              </a:lnSpc>
            </a:pPr>
            <a:r>
              <a:rPr sz="1450" b="1" i="0">
                <a:solidFill>
                  <a:srgbClr val="1E2A38"/>
                </a:solidFill>
                <a:latin typeface="Inter"/>
              </a:rPr>
              <a:t>Let every scale learn its level</a:t>
            </a:r>
          </a:p>
        </p:txBody>
      </p:sp>
      <p:sp>
        <p:nvSpPr>
          <p:cNvPr id="18" name="TextBox 17"/>
          <p:cNvSpPr txBox="1"/>
          <p:nvPr/>
        </p:nvSpPr>
        <p:spPr>
          <a:xfrm>
            <a:off x="4608576" y="2862072"/>
            <a:ext cx="3017520" cy="1874519"/>
          </a:xfrm>
          <a:prstGeom prst="rect">
            <a:avLst/>
          </a:prstGeom>
          <a:noFill/>
        </p:spPr>
        <p:txBody>
          <a:bodyPr wrap="square" lIns="0" rIns="0" tIns="0" bIns="0" anchor="t">
            <a:spAutoFit/>
          </a:bodyPr>
          <a:lstStyle/>
          <a:p>
            <a:pPr algn="l" marL="146304" indent="-146304">
              <a:lnSpc>
                <a:spcPct val="110000"/>
              </a:lnSpc>
              <a:spcAft>
                <a:spcPts val="400"/>
              </a:spcAft>
              <a:buFont typeface="Arial"/>
              <a:buChar char="•"/>
            </a:pPr>
            <a:r>
              <a:rPr sz="1200" b="0" i="0">
                <a:solidFill>
                  <a:srgbClr val="4A5360"/>
                </a:solidFill>
                <a:latin typeface="Inter"/>
              </a:rPr>
              <a:t>Start every scale on </a:t>
            </a:r>
            <a:r>
              <a:rPr sz="1200" b="1" i="0">
                <a:solidFill>
                  <a:srgbClr val="4A5360"/>
                </a:solidFill>
                <a:latin typeface="Inter"/>
              </a:rPr>
              <a:t>7</a:t>
            </a:r>
            <a:r>
              <a:rPr sz="1200" b="0" i="0">
                <a:solidFill>
                  <a:srgbClr val="4A5360"/>
                </a:solidFill>
                <a:latin typeface="Inter"/>
              </a:rPr>
              <a:t> instead of 8.</a:t>
            </a:r>
          </a:p>
          <a:p>
            <a:pPr algn="l" marL="146304" indent="-146304">
              <a:lnSpc>
                <a:spcPct val="110000"/>
              </a:lnSpc>
              <a:spcAft>
                <a:spcPts val="400"/>
              </a:spcAft>
              <a:buFont typeface="Arial"/>
              <a:buChar char="•"/>
            </a:pPr>
            <a:r>
              <a:rPr sz="1200" b="0" i="0">
                <a:solidFill>
                  <a:srgbClr val="4A5360"/>
                </a:solidFill>
                <a:latin typeface="Inter"/>
              </a:rPr>
              <a:t>Every 2 weeks: </a:t>
            </a:r>
            <a:r>
              <a:rPr sz="1200" b="1" i="0">
                <a:solidFill>
                  <a:srgbClr val="4A5360"/>
                </a:solidFill>
                <a:latin typeface="Inter"/>
              </a:rPr>
              <a:t>one step less sensitive</a:t>
            </a:r>
            <a:r>
              <a:rPr sz="1200" b="0" i="0">
                <a:solidFill>
                  <a:srgbClr val="4A5360"/>
                </a:solidFill>
                <a:latin typeface="Inter"/>
              </a:rPr>
              <a:t> if &gt; 7 empty wake-ups a week and ≤ 5% missed; </a:t>
            </a:r>
            <a:r>
              <a:rPr sz="1200" b="1" i="0">
                <a:solidFill>
                  <a:srgbClr val="4A5360"/>
                </a:solidFill>
                <a:latin typeface="Inter"/>
              </a:rPr>
              <a:t>one step more sensitive</a:t>
            </a:r>
            <a:r>
              <a:rPr sz="1200" b="0" i="0">
                <a:solidFill>
                  <a:srgbClr val="4A5360"/>
                </a:solidFill>
                <a:latin typeface="Inter"/>
              </a:rPr>
              <a:t> if &gt; 10% missed or &gt; 2 TOO_FEW a week.</a:t>
            </a:r>
          </a:p>
          <a:p>
            <a:pPr algn="l" marL="146304" indent="-146304">
              <a:lnSpc>
                <a:spcPct val="110000"/>
              </a:lnSpc>
              <a:spcAft>
                <a:spcPts val="400"/>
              </a:spcAft>
              <a:buFont typeface="Arial"/>
              <a:buChar char="•"/>
            </a:pPr>
            <a:r>
              <a:rPr sz="1200" b="0" i="0">
                <a:solidFill>
                  <a:srgbClr val="4A5360"/>
                </a:solidFill>
                <a:latin typeface="Inter"/>
              </a:rPr>
              <a:t>Same rule, 6 kg and 20 kg monitored apart.</a:t>
            </a:r>
          </a:p>
        </p:txBody>
      </p:sp>
      <p:sp>
        <p:nvSpPr>
          <p:cNvPr id="19" name="Rectangle 18"/>
          <p:cNvSpPr/>
          <p:nvPr/>
        </p:nvSpPr>
        <p:spPr>
          <a:xfrm>
            <a:off x="4608576" y="4617720"/>
            <a:ext cx="2980944" cy="10972"/>
          </a:xfrm>
          <a:prstGeom prst="rect">
            <a:avLst/>
          </a:prstGeom>
          <a:solidFill>
            <a:srgbClr val="E2DDD2"/>
          </a:solidFill>
          <a:ln>
            <a:noFill/>
          </a:ln>
        </p:spPr>
        <p:txBody>
          <a:bodyPr rtlCol="0" anchor="ctr"/>
          <a:lstStyle/>
          <a:p>
            <a:pPr algn="ctr"/>
          </a:p>
        </p:txBody>
      </p:sp>
      <p:sp>
        <p:nvSpPr>
          <p:cNvPr id="20" name="TextBox 19"/>
          <p:cNvSpPr txBox="1"/>
          <p:nvPr/>
        </p:nvSpPr>
        <p:spPr>
          <a:xfrm>
            <a:off x="4608576" y="4690872"/>
            <a:ext cx="3017520" cy="603504"/>
          </a:xfrm>
          <a:prstGeom prst="rect">
            <a:avLst/>
          </a:prstGeom>
          <a:noFill/>
        </p:spPr>
        <p:txBody>
          <a:bodyPr wrap="square" lIns="0" rIns="0" tIns="0" bIns="0" anchor="t">
            <a:spAutoFit/>
          </a:bodyPr>
          <a:lstStyle/>
          <a:p>
            <a:pPr algn="l">
              <a:lnSpc>
                <a:spcPct val="110000"/>
              </a:lnSpc>
            </a:pPr>
            <a:r>
              <a:rPr sz="1200" b="1" i="0">
                <a:solidFill>
                  <a:srgbClr val="B5541A"/>
                </a:solidFill>
                <a:latin typeface="Inter"/>
              </a:rPr>
              <a:t>−61% (20 kg) / −55% (6 kg) weighings</a:t>
            </a:r>
          </a:p>
        </p:txBody>
      </p:sp>
      <p:sp>
        <p:nvSpPr>
          <p:cNvPr id="21" name="Rounded Rectangle 20"/>
          <p:cNvSpPr/>
          <p:nvPr/>
        </p:nvSpPr>
        <p:spPr>
          <a:xfrm>
            <a:off x="8001000" y="1764792"/>
            <a:ext cx="3383280" cy="457200"/>
          </a:xfrm>
          <a:prstGeom prst="roundRect">
            <a:avLst>
              <a:gd name="adj" fmla="val 25000"/>
            </a:avLst>
          </a:prstGeom>
          <a:solidFill>
            <a:srgbClr val="1E2A38"/>
          </a:solidFill>
          <a:ln>
            <a:noFill/>
          </a:ln>
        </p:spPr>
        <p:txBody>
          <a:bodyPr rtlCol="0" anchor="ctr"/>
          <a:lstStyle/>
          <a:p>
            <a:pPr algn="ctr"/>
          </a:p>
        </p:txBody>
      </p:sp>
      <p:sp>
        <p:nvSpPr>
          <p:cNvPr id="22" name="TextBox 21"/>
          <p:cNvSpPr txBox="1"/>
          <p:nvPr/>
        </p:nvSpPr>
        <p:spPr>
          <a:xfrm>
            <a:off x="8001000" y="1764792"/>
            <a:ext cx="3383280" cy="457200"/>
          </a:xfrm>
          <a:prstGeom prst="rect">
            <a:avLst/>
          </a:prstGeom>
          <a:noFill/>
        </p:spPr>
        <p:txBody>
          <a:bodyPr wrap="square" lIns="0" rIns="0" tIns="0" bIns="0" anchor="ctr">
            <a:spAutoFit/>
          </a:bodyPr>
          <a:lstStyle/>
          <a:p>
            <a:pPr algn="ctr">
              <a:lnSpc>
                <a:spcPct val="112000"/>
              </a:lnSpc>
            </a:pPr>
            <a:r>
              <a:rPr sz="1500" b="1" i="0" spc="200">
                <a:solidFill>
                  <a:srgbClr val="F4F1EA"/>
                </a:solidFill>
                <a:latin typeface="Inter"/>
              </a:rPr>
              <a:t>WATCH</a:t>
            </a:r>
          </a:p>
        </p:txBody>
      </p:sp>
      <p:sp>
        <p:nvSpPr>
          <p:cNvPr id="23" name="Rounded Rectangle 22"/>
          <p:cNvSpPr/>
          <p:nvPr/>
        </p:nvSpPr>
        <p:spPr>
          <a:xfrm>
            <a:off x="8001000" y="2331720"/>
            <a:ext cx="3383280" cy="3017520"/>
          </a:xfrm>
          <a:prstGeom prst="roundRect">
            <a:avLst>
              <a:gd name="adj" fmla="val 2424"/>
            </a:avLst>
          </a:prstGeom>
          <a:solidFill>
            <a:srgbClr val="FFFDF9"/>
          </a:solidFill>
          <a:ln w="6350">
            <a:solidFill>
              <a:srgbClr val="E2DDD2"/>
            </a:solidFill>
          </a:ln>
        </p:spPr>
        <p:txBody>
          <a:bodyPr rtlCol="0" anchor="ctr"/>
          <a:lstStyle/>
          <a:p>
            <a:pPr algn="ctr"/>
          </a:p>
        </p:txBody>
      </p:sp>
      <p:sp>
        <p:nvSpPr>
          <p:cNvPr id="24" name="TextBox 23"/>
          <p:cNvSpPr txBox="1"/>
          <p:nvPr/>
        </p:nvSpPr>
        <p:spPr>
          <a:xfrm>
            <a:off x="8202168" y="2478024"/>
            <a:ext cx="3017520" cy="274320"/>
          </a:xfrm>
          <a:prstGeom prst="rect">
            <a:avLst/>
          </a:prstGeom>
          <a:noFill/>
        </p:spPr>
        <p:txBody>
          <a:bodyPr wrap="square" lIns="0" rIns="0" tIns="0" bIns="0" anchor="t">
            <a:spAutoFit/>
          </a:bodyPr>
          <a:lstStyle/>
          <a:p>
            <a:pPr algn="l">
              <a:lnSpc>
                <a:spcPct val="112000"/>
              </a:lnSpc>
            </a:pPr>
            <a:r>
              <a:rPr sz="1450" b="1" i="0">
                <a:solidFill>
                  <a:srgbClr val="1E2A38"/>
                </a:solidFill>
                <a:latin typeface="Inter"/>
              </a:rPr>
              <a:t>Keep the service level visible</a:t>
            </a:r>
          </a:p>
        </p:txBody>
      </p:sp>
      <p:sp>
        <p:nvSpPr>
          <p:cNvPr id="25" name="TextBox 24"/>
          <p:cNvSpPr txBox="1"/>
          <p:nvPr/>
        </p:nvSpPr>
        <p:spPr>
          <a:xfrm>
            <a:off x="8202168" y="2862072"/>
            <a:ext cx="3017520" cy="1874519"/>
          </a:xfrm>
          <a:prstGeom prst="rect">
            <a:avLst/>
          </a:prstGeom>
          <a:noFill/>
        </p:spPr>
        <p:txBody>
          <a:bodyPr wrap="square" lIns="0" rIns="0" tIns="0" bIns="0" anchor="t">
            <a:spAutoFit/>
          </a:bodyPr>
          <a:lstStyle/>
          <a:p>
            <a:pPr algn="l" marL="146304" indent="-146304">
              <a:lnSpc>
                <a:spcPct val="110000"/>
              </a:lnSpc>
              <a:spcAft>
                <a:spcPts val="400"/>
              </a:spcAft>
              <a:buFont typeface="Arial"/>
              <a:buChar char="•"/>
            </a:pPr>
            <a:r>
              <a:rPr sz="1200" b="0" i="0">
                <a:solidFill>
                  <a:srgbClr val="4A5360"/>
                </a:solidFill>
                <a:latin typeface="Inter"/>
              </a:rPr>
              <a:t>Report KPI 2.0 per scale (Power BI).</a:t>
            </a:r>
          </a:p>
          <a:p>
            <a:pPr algn="l" marL="146304" indent="-146304">
              <a:lnSpc>
                <a:spcPct val="110000"/>
              </a:lnSpc>
              <a:spcAft>
                <a:spcPts val="400"/>
              </a:spcAft>
              <a:buFont typeface="Arial"/>
              <a:buChar char="•"/>
            </a:pPr>
            <a:r>
              <a:rPr sz="1200" b="0" i="0">
                <a:solidFill>
                  <a:srgbClr val="4A5360"/>
                </a:solidFill>
                <a:latin typeface="Inter"/>
              </a:rPr>
              <a:t>Keep the 24 h check – it finds 91% of the detected misses.</a:t>
            </a:r>
          </a:p>
          <a:p>
            <a:pPr algn="l" marL="146304" indent="-146304">
              <a:lnSpc>
                <a:spcPct val="110000"/>
              </a:lnSpc>
              <a:spcAft>
                <a:spcPts val="400"/>
              </a:spcAft>
              <a:buFont typeface="Arial"/>
              <a:buChar char="•"/>
            </a:pPr>
            <a:r>
              <a:rPr sz="1200" b="0" i="0">
                <a:solidFill>
                  <a:srgbClr val="4A5360"/>
                </a:solidFill>
                <a:latin typeface="Inter"/>
              </a:rPr>
              <a:t>Watch list: 10% of the scales produce 55% / 36% of all misses → 12 h check or a higher level.</a:t>
            </a:r>
          </a:p>
        </p:txBody>
      </p:sp>
      <p:sp>
        <p:nvSpPr>
          <p:cNvPr id="26" name="Rectangle 25"/>
          <p:cNvSpPr/>
          <p:nvPr/>
        </p:nvSpPr>
        <p:spPr>
          <a:xfrm>
            <a:off x="8202168" y="4617720"/>
            <a:ext cx="2980944" cy="10972"/>
          </a:xfrm>
          <a:prstGeom prst="rect">
            <a:avLst/>
          </a:prstGeom>
          <a:solidFill>
            <a:srgbClr val="E2DDD2"/>
          </a:solidFill>
          <a:ln>
            <a:noFill/>
          </a:ln>
        </p:spPr>
        <p:txBody>
          <a:bodyPr rtlCol="0" anchor="ctr"/>
          <a:lstStyle/>
          <a:p>
            <a:pPr algn="ctr"/>
          </a:p>
        </p:txBody>
      </p:sp>
      <p:sp>
        <p:nvSpPr>
          <p:cNvPr id="27" name="TextBox 26"/>
          <p:cNvSpPr txBox="1"/>
          <p:nvPr/>
        </p:nvSpPr>
        <p:spPr>
          <a:xfrm>
            <a:off x="8202168" y="4690872"/>
            <a:ext cx="3017520" cy="603504"/>
          </a:xfrm>
          <a:prstGeom prst="rect">
            <a:avLst/>
          </a:prstGeom>
          <a:noFill/>
        </p:spPr>
        <p:txBody>
          <a:bodyPr wrap="square" lIns="0" rIns="0" tIns="0" bIns="0" anchor="t">
            <a:spAutoFit/>
          </a:bodyPr>
          <a:lstStyle/>
          <a:p>
            <a:pPr algn="l">
              <a:lnSpc>
                <a:spcPct val="110000"/>
              </a:lnSpc>
            </a:pPr>
            <a:r>
              <a:rPr sz="1200" b="1" i="0">
                <a:solidFill>
                  <a:srgbClr val="1E2A38"/>
                </a:solidFill>
                <a:latin typeface="Inter"/>
              </a:rPr>
              <a:t>misses found within 1–2 days; the miss limit sets the trade-off</a:t>
            </a:r>
          </a:p>
        </p:txBody>
      </p:sp>
      <p:sp>
        <p:nvSpPr>
          <p:cNvPr id="28" name="Rounded Rectangle 27"/>
          <p:cNvSpPr/>
          <p:nvPr/>
        </p:nvSpPr>
        <p:spPr>
          <a:xfrm>
            <a:off x="813816" y="5532120"/>
            <a:ext cx="10570464" cy="566928"/>
          </a:xfrm>
          <a:prstGeom prst="roundRect">
            <a:avLst>
              <a:gd name="adj" fmla="val 12903"/>
            </a:avLst>
          </a:prstGeom>
          <a:solidFill>
            <a:srgbClr val="ECE8DF"/>
          </a:solidFill>
          <a:ln>
            <a:noFill/>
          </a:ln>
        </p:spPr>
        <p:txBody>
          <a:bodyPr rtlCol="0" anchor="ctr"/>
          <a:lstStyle/>
          <a:p>
            <a:pPr algn="ctr"/>
          </a:p>
        </p:txBody>
      </p:sp>
      <p:sp>
        <p:nvSpPr>
          <p:cNvPr id="29" name="TextBox 28"/>
          <p:cNvSpPr txBox="1"/>
          <p:nvPr/>
        </p:nvSpPr>
        <p:spPr>
          <a:xfrm>
            <a:off x="1042416" y="5532120"/>
            <a:ext cx="10158984" cy="566928"/>
          </a:xfrm>
          <a:prstGeom prst="rect">
            <a:avLst/>
          </a:prstGeom>
          <a:noFill/>
        </p:spPr>
        <p:txBody>
          <a:bodyPr wrap="square" lIns="0" rIns="0" tIns="0" bIns="0" anchor="ctr">
            <a:spAutoFit/>
          </a:bodyPr>
          <a:lstStyle/>
          <a:p>
            <a:pPr algn="l">
              <a:lnSpc>
                <a:spcPct val="112000"/>
              </a:lnSpc>
            </a:pPr>
            <a:r>
              <a:rPr sz="1300" b="1" i="0">
                <a:solidFill>
                  <a:srgbClr val="1E2A38"/>
                </a:solidFill>
                <a:latin typeface="Inter"/>
              </a:rPr>
              <a:t>At the customer site:</a:t>
            </a:r>
            <a:r>
              <a:rPr sz="1300" b="0" i="0">
                <a:solidFill>
                  <a:srgbClr val="1E2A38"/>
                </a:solidFill>
                <a:latin typeface="Inter"/>
              </a:rPr>
              <a:t> parts picked in amounts below ≈ 25 g go on 6 kg scales · damping test at the 10 sites with the most coupled wake-ups</a:t>
            </a:r>
          </a:p>
        </p:txBody>
      </p:sp>
      <p:sp>
        <p:nvSpPr>
          <p:cNvPr id="30" name="TextBox 29"/>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simulation of every scale's own history, scales in a trigger loop left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17</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RESULT</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What it adds up to</a:t>
            </a:r>
          </a:p>
        </p:txBody>
      </p:sp>
      <p:sp>
        <p:nvSpPr>
          <p:cNvPr id="5" name="TextBox 4"/>
          <p:cNvSpPr txBox="1"/>
          <p:nvPr/>
        </p:nvSpPr>
        <p:spPr>
          <a:xfrm>
            <a:off x="813816" y="1719072"/>
            <a:ext cx="3657600" cy="603504"/>
          </a:xfrm>
          <a:prstGeom prst="rect">
            <a:avLst/>
          </a:prstGeom>
          <a:noFill/>
        </p:spPr>
        <p:txBody>
          <a:bodyPr wrap="square" lIns="0" rIns="0" tIns="0" bIns="0" anchor="t">
            <a:spAutoFit/>
          </a:bodyPr>
          <a:lstStyle/>
          <a:p>
            <a:pPr algn="l">
              <a:lnSpc>
                <a:spcPct val="95000"/>
              </a:lnSpc>
            </a:pPr>
            <a:r>
              <a:rPr sz="4400" b="1" i="0">
                <a:solidFill>
                  <a:srgbClr val="D46A1F"/>
                </a:solidFill>
                <a:latin typeface="Source Serif 4"/>
              </a:rPr>
              <a:t>−61% / −55%</a:t>
            </a:r>
          </a:p>
        </p:txBody>
      </p:sp>
      <p:sp>
        <p:nvSpPr>
          <p:cNvPr id="6" name="TextBox 5"/>
          <p:cNvSpPr txBox="1"/>
          <p:nvPr/>
        </p:nvSpPr>
        <p:spPr>
          <a:xfrm>
            <a:off x="813816" y="2359152"/>
            <a:ext cx="365760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weighings of the 20 kg / 6 kg scales without a loop</a:t>
            </a:r>
          </a:p>
        </p:txBody>
      </p:sp>
      <p:sp>
        <p:nvSpPr>
          <p:cNvPr id="7" name="TextBox 6"/>
          <p:cNvSpPr txBox="1"/>
          <p:nvPr/>
        </p:nvSpPr>
        <p:spPr>
          <a:xfrm>
            <a:off x="813816" y="3042229"/>
            <a:ext cx="3657600" cy="493776"/>
          </a:xfrm>
          <a:prstGeom prst="rect">
            <a:avLst/>
          </a:prstGeom>
          <a:noFill/>
        </p:spPr>
        <p:txBody>
          <a:bodyPr wrap="square" lIns="0" rIns="0" tIns="0" bIns="0" anchor="t">
            <a:spAutoFit/>
          </a:bodyPr>
          <a:lstStyle/>
          <a:p>
            <a:pPr algn="l">
              <a:lnSpc>
                <a:spcPct val="95000"/>
              </a:lnSpc>
            </a:pPr>
            <a:r>
              <a:rPr sz="3600" b="1" i="0">
                <a:solidFill>
                  <a:srgbClr val="2F5D8C"/>
                </a:solidFill>
                <a:latin typeface="Source Serif 4"/>
              </a:rPr>
              <a:t>≈ 2.1 million</a:t>
            </a:r>
          </a:p>
        </p:txBody>
      </p:sp>
      <p:sp>
        <p:nvSpPr>
          <p:cNvPr id="8" name="TextBox 7"/>
          <p:cNvSpPr txBox="1"/>
          <p:nvPr/>
        </p:nvSpPr>
        <p:spPr>
          <a:xfrm>
            <a:off x="813816" y="3572581"/>
            <a:ext cx="365760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fewer weighings per week if the 110,000 installed scales behaved like ours (≈ 19 per scale; illustrative)</a:t>
            </a:r>
          </a:p>
        </p:txBody>
      </p:sp>
      <p:sp>
        <p:nvSpPr>
          <p:cNvPr id="9" name="TextBox 8"/>
          <p:cNvSpPr txBox="1"/>
          <p:nvPr/>
        </p:nvSpPr>
        <p:spPr>
          <a:xfrm>
            <a:off x="813816" y="4496612"/>
            <a:ext cx="3657600" cy="493776"/>
          </a:xfrm>
          <a:prstGeom prst="rect">
            <a:avLst/>
          </a:prstGeom>
          <a:noFill/>
        </p:spPr>
        <p:txBody>
          <a:bodyPr wrap="square" lIns="0" rIns="0" tIns="0" bIns="0" anchor="t">
            <a:spAutoFit/>
          </a:bodyPr>
          <a:lstStyle/>
          <a:p>
            <a:pPr algn="l">
              <a:lnSpc>
                <a:spcPct val="95000"/>
              </a:lnSpc>
            </a:pPr>
            <a:r>
              <a:rPr sz="3600" b="1" i="0">
                <a:solidFill>
                  <a:srgbClr val="1E2A38"/>
                </a:solidFill>
                <a:latin typeface="Source Serif 4"/>
              </a:rPr>
              <a:t>11–12%</a:t>
            </a:r>
          </a:p>
        </p:txBody>
      </p:sp>
      <p:sp>
        <p:nvSpPr>
          <p:cNvPr id="10" name="TextBox 9"/>
          <p:cNvSpPr txBox="1"/>
          <p:nvPr/>
        </p:nvSpPr>
        <p:spPr>
          <a:xfrm>
            <a:off x="813816" y="5026964"/>
            <a:ext cx="3657600" cy="274320"/>
          </a:xfrm>
          <a:prstGeom prst="rect">
            <a:avLst/>
          </a:prstGeom>
          <a:noFill/>
        </p:spPr>
        <p:txBody>
          <a:bodyPr wrap="square" lIns="0" rIns="0" tIns="0" bIns="0" anchor="t">
            <a:spAutoFit/>
          </a:bodyPr>
          <a:lstStyle/>
          <a:p>
            <a:pPr algn="l">
              <a:lnSpc>
                <a:spcPct val="112000"/>
              </a:lnSpc>
            </a:pPr>
            <a:r>
              <a:rPr sz="1400" b="0" i="0">
                <a:solidFill>
                  <a:srgbClr val="1E2A38"/>
                </a:solidFill>
                <a:latin typeface="Inter"/>
              </a:rPr>
              <a:t>of the changes found late by the 24 h check – just above the 10% limit (simulated today: 3–5%)</a:t>
            </a:r>
          </a:p>
        </p:txBody>
      </p:sp>
      <p:pic>
        <p:nvPicPr>
          <p:cNvPr id="11" name="Picture 10" descr="c09_policies.png"/>
          <p:cNvPicPr>
            <a:picLocks noChangeAspect="1"/>
          </p:cNvPicPr>
          <p:nvPr/>
        </p:nvPicPr>
        <p:blipFill>
          <a:blip r:embed="rId2"/>
          <a:stretch>
            <a:fillRect/>
          </a:stretch>
        </p:blipFill>
        <p:spPr>
          <a:xfrm>
            <a:off x="4572000" y="1655064"/>
            <a:ext cx="6858000" cy="3429000"/>
          </a:xfrm>
          <a:prstGeom prst="rect">
            <a:avLst/>
          </a:prstGeom>
        </p:spPr>
      </p:pic>
      <p:sp>
        <p:nvSpPr>
          <p:cNvPr id="12" name="TextBox 11"/>
          <p:cNvSpPr txBox="1"/>
          <p:nvPr/>
        </p:nvSpPr>
        <p:spPr>
          <a:xfrm>
            <a:off x="4617720" y="5193792"/>
            <a:ext cx="6766560" cy="1005840"/>
          </a:xfrm>
          <a:prstGeom prst="rect">
            <a:avLst/>
          </a:prstGeom>
          <a:noFill/>
        </p:spPr>
        <p:txBody>
          <a:bodyPr wrap="square" lIns="0" rIns="0" tIns="0" bIns="0" anchor="t">
            <a:spAutoFit/>
          </a:bodyPr>
          <a:lstStyle/>
          <a:p>
            <a:pPr algn="l">
              <a:lnSpc>
                <a:spcPct val="112000"/>
              </a:lnSpc>
            </a:pPr>
            <a:r>
              <a:rPr sz="1200" b="0" i="0">
                <a:solidFill>
                  <a:srgbClr val="4A5360"/>
                </a:solidFill>
                <a:latin typeface="Inter"/>
              </a:rPr>
              <a:t>No policy brings the typical scale to Bossard's 0.5 fraction (best: 0.67 / 0.59). Scales meeting KPI 2.0: 4% → 26% (20 kg), 7% → 18% (6 kg). A simulation: compare the policies, don't read the numbers as forecasts.</a:t>
            </a:r>
          </a:p>
        </p:txBody>
      </p:sp>
      <p:sp>
        <p:nvSpPr>
          <p:cNvPr id="13" name="TextBox 12"/>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each scale's level-8 history × causal rate ratios, 5 replications, 16 weeks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18</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HONESTY</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What we cannot claim yet</a:t>
            </a:r>
          </a:p>
        </p:txBody>
      </p:sp>
      <p:sp>
        <p:nvSpPr>
          <p:cNvPr id="5" name="Rounded Rectangle 4"/>
          <p:cNvSpPr/>
          <p:nvPr/>
        </p:nvSpPr>
        <p:spPr>
          <a:xfrm>
            <a:off x="813816" y="176479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14984" y="196596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Observational data</a:t>
            </a:r>
          </a:p>
        </p:txBody>
      </p:sp>
      <p:sp>
        <p:nvSpPr>
          <p:cNvPr id="7" name="TextBox 6"/>
          <p:cNvSpPr txBox="1"/>
          <p:nvPr/>
        </p:nvSpPr>
        <p:spPr>
          <a:xfrm>
            <a:off x="1014984" y="226961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The before/after design removes what is constant per scale and calendar effects – not events that hit only the switched scales, e.g. a busy spell just before their switch.</a:t>
            </a:r>
          </a:p>
        </p:txBody>
      </p:sp>
      <p:sp>
        <p:nvSpPr>
          <p:cNvPr id="8" name="Rounded Rectangle 7"/>
          <p:cNvSpPr/>
          <p:nvPr/>
        </p:nvSpPr>
        <p:spPr>
          <a:xfrm>
            <a:off x="4407408" y="176479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4608576" y="196596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Misses are a lower bound</a:t>
            </a:r>
          </a:p>
        </p:txBody>
      </p:sp>
      <p:sp>
        <p:nvSpPr>
          <p:cNvPr id="10" name="TextBox 9"/>
          <p:cNvSpPr txBox="1"/>
          <p:nvPr/>
        </p:nvSpPr>
        <p:spPr>
          <a:xfrm>
            <a:off x="4608576" y="226961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TOO_FEW comes only from a manual weighing. A missed pick followed by an automatic weighing counts as OK – true miss rates are higher.</a:t>
            </a:r>
          </a:p>
        </p:txBody>
      </p:sp>
      <p:sp>
        <p:nvSpPr>
          <p:cNvPr id="11" name="Rounded Rectangle 10"/>
          <p:cNvSpPr/>
          <p:nvPr/>
        </p:nvSpPr>
        <p:spPr>
          <a:xfrm>
            <a:off x="8001000" y="176479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8202168" y="196596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Coupling: half explained</a:t>
            </a:r>
          </a:p>
        </p:txBody>
      </p:sp>
      <p:sp>
        <p:nvSpPr>
          <p:cNvPr id="13" name="TextBox 12"/>
          <p:cNvSpPr txBox="1"/>
          <p:nvPr/>
        </p:nvSpPr>
        <p:spPr>
          <a:xfrm>
            <a:off x="8202168" y="226961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Rack vibration, touching and picks below the threshold cannot be told apart in the data – and half of the empty wake-ups remains unexplained.</a:t>
            </a:r>
          </a:p>
        </p:txBody>
      </p:sp>
      <p:sp>
        <p:nvSpPr>
          <p:cNvPr id="14" name="Rounded Rectangle 13"/>
          <p:cNvSpPr/>
          <p:nvPr/>
        </p:nvSpPr>
        <p:spPr>
          <a:xfrm>
            <a:off x="813816" y="377647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15" name="TextBox 14"/>
          <p:cNvSpPr txBox="1"/>
          <p:nvPr/>
        </p:nvSpPr>
        <p:spPr>
          <a:xfrm>
            <a:off x="1014984" y="397764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Site, not rack</a:t>
            </a:r>
          </a:p>
        </p:txBody>
      </p:sp>
      <p:sp>
        <p:nvSpPr>
          <p:cNvPr id="16" name="TextBox 15"/>
          <p:cNvSpPr txBox="1"/>
          <p:nvPr/>
        </p:nvSpPr>
        <p:spPr>
          <a:xfrm>
            <a:off x="1014984" y="428129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The data know only the site. Neighbouring scales were inferred from timing and must be confirmed on site.</a:t>
            </a:r>
          </a:p>
        </p:txBody>
      </p:sp>
      <p:sp>
        <p:nvSpPr>
          <p:cNvPr id="17" name="Rounded Rectangle 16"/>
          <p:cNvSpPr/>
          <p:nvPr/>
        </p:nvSpPr>
        <p:spPr>
          <a:xfrm>
            <a:off x="4407408" y="377647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18" name="TextBox 17"/>
          <p:cNvSpPr txBox="1"/>
          <p:nvPr/>
        </p:nvSpPr>
        <p:spPr>
          <a:xfrm>
            <a:off x="4608576" y="397764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The simulation is a model</a:t>
            </a:r>
          </a:p>
        </p:txBody>
      </p:sp>
      <p:sp>
        <p:nvSpPr>
          <p:cNvPr id="19" name="TextBox 18"/>
          <p:cNvSpPr txBox="1"/>
          <p:nvPr/>
        </p:nvSpPr>
        <p:spPr>
          <a:xfrm>
            <a:off x="4608576" y="428129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Stricter than the observed status quo and somewhat optimistic in a back-test (r = 0.31–0.68 per scale): it ranks policies, it does not forecast.</a:t>
            </a:r>
          </a:p>
        </p:txBody>
      </p:sp>
      <p:sp>
        <p:nvSpPr>
          <p:cNvPr id="20" name="Rounded Rectangle 19"/>
          <p:cNvSpPr/>
          <p:nvPr/>
        </p:nvSpPr>
        <p:spPr>
          <a:xfrm>
            <a:off x="8001000" y="3776472"/>
            <a:ext cx="3383280" cy="1847088"/>
          </a:xfrm>
          <a:prstGeom prst="roundRect">
            <a:avLst>
              <a:gd name="adj" fmla="val 3960"/>
            </a:avLst>
          </a:prstGeom>
          <a:solidFill>
            <a:srgbClr val="FFFDF9"/>
          </a:solidFill>
          <a:ln w="6350">
            <a:solidFill>
              <a:srgbClr val="E2DDD2"/>
            </a:solidFill>
          </a:ln>
        </p:spPr>
        <p:txBody>
          <a:bodyPr rtlCol="0" anchor="ctr"/>
          <a:lstStyle/>
          <a:p>
            <a:pPr algn="ctr"/>
          </a:p>
        </p:txBody>
      </p:sp>
      <p:sp>
        <p:nvSpPr>
          <p:cNvPr id="21" name="TextBox 20"/>
          <p:cNvSpPr txBox="1"/>
          <p:nvPr/>
        </p:nvSpPr>
        <p:spPr>
          <a:xfrm>
            <a:off x="8202168" y="3977640"/>
            <a:ext cx="29809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Assumptions to confirm</a:t>
            </a:r>
          </a:p>
        </p:txBody>
      </p:sp>
      <p:sp>
        <p:nvSpPr>
          <p:cNvPr id="22" name="TextBox 21"/>
          <p:cNvSpPr txBox="1"/>
          <p:nvPr/>
        </p:nvSpPr>
        <p:spPr>
          <a:xfrm>
            <a:off x="8202168" y="4281297"/>
            <a:ext cx="2980944" cy="1342262"/>
          </a:xfrm>
          <a:prstGeom prst="rect">
            <a:avLst/>
          </a:prstGeom>
          <a:noFill/>
        </p:spPr>
        <p:txBody>
          <a:bodyPr wrap="square" lIns="0" rIns="0" tIns="0" bIns="0" anchor="t">
            <a:spAutoFit/>
          </a:bodyPr>
          <a:lstStyle/>
          <a:p>
            <a:pPr algn="l">
              <a:lnSpc>
                <a:spcPct val="115000"/>
              </a:lnSpc>
              <a:spcAft>
                <a:spcPts val="300"/>
              </a:spcAft>
            </a:pPr>
            <a:r>
              <a:rPr sz="1250" b="0" i="0">
                <a:solidFill>
                  <a:srgbClr val="4A5360"/>
                </a:solidFill>
                <a:latin typeface="Inter"/>
              </a:rPr>
              <a:t>The battery model (2 s at 3,000 × sleep power), the 24 h check rule and the significance threshold were inferred; the data cover one season.</a:t>
            </a:r>
          </a:p>
        </p:txBody>
      </p:sp>
      <p:sp>
        <p:nvSpPr>
          <p:cNvPr id="23" name="TextBox 22"/>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19</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NEXT STEPS</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From analysis to pilot</a:t>
            </a:r>
          </a:p>
        </p:txBody>
      </p:sp>
      <p:sp>
        <p:nvSpPr>
          <p:cNvPr id="5" name="Rounded Rectangle 4"/>
          <p:cNvSpPr/>
          <p:nvPr/>
        </p:nvSpPr>
        <p:spPr>
          <a:xfrm>
            <a:off x="813816" y="1764792"/>
            <a:ext cx="3383280" cy="3566160"/>
          </a:xfrm>
          <a:prstGeom prst="roundRect">
            <a:avLst>
              <a:gd name="adj" fmla="val 2162"/>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33271" y="1947672"/>
            <a:ext cx="2971800" cy="320040"/>
          </a:xfrm>
          <a:prstGeom prst="rect">
            <a:avLst/>
          </a:prstGeom>
          <a:noFill/>
        </p:spPr>
        <p:txBody>
          <a:bodyPr wrap="square" lIns="0" rIns="0" tIns="0" bIns="0" anchor="t">
            <a:spAutoFit/>
          </a:bodyPr>
          <a:lstStyle/>
          <a:p>
            <a:pPr algn="l">
              <a:lnSpc>
                <a:spcPct val="112000"/>
              </a:lnSpc>
            </a:pPr>
            <a:r>
              <a:rPr sz="1550" b="1" i="0">
                <a:solidFill>
                  <a:srgbClr val="B5541A"/>
                </a:solidFill>
                <a:latin typeface="Inter"/>
              </a:rPr>
              <a:t>For Bossard</a:t>
            </a:r>
          </a:p>
        </p:txBody>
      </p:sp>
      <p:sp>
        <p:nvSpPr>
          <p:cNvPr id="7" name="TextBox 6"/>
          <p:cNvSpPr txBox="1"/>
          <p:nvPr/>
        </p:nvSpPr>
        <p:spPr>
          <a:xfrm>
            <a:off x="1033271" y="2386584"/>
            <a:ext cx="2971800" cy="2834640"/>
          </a:xfrm>
          <a:prstGeom prst="rect">
            <a:avLst/>
          </a:prstGeom>
          <a:noFill/>
        </p:spPr>
        <p:txBody>
          <a:bodyPr wrap="square" lIns="0" rIns="0" tIns="0" bIns="0" anchor="t">
            <a:spAutoFit/>
          </a:bodyPr>
          <a:lstStyle/>
          <a:p>
            <a:pPr algn="l" marL="146304" indent="-146304">
              <a:lnSpc>
                <a:spcPct val="112000"/>
              </a:lnSpc>
              <a:spcAft>
                <a:spcPts val="600"/>
              </a:spcAft>
              <a:buFont typeface="Arial"/>
              <a:buChar char="•"/>
            </a:pPr>
            <a:r>
              <a:rPr sz="1250" b="0" i="0">
                <a:solidFill>
                  <a:srgbClr val="4A5360"/>
                </a:solidFill>
                <a:latin typeface="Inter"/>
              </a:rPr>
              <a:t>Repair the looping scales; take level 3 off the menu.</a:t>
            </a:r>
          </a:p>
          <a:p>
            <a:pPr algn="l" marL="146304" indent="-146304">
              <a:lnSpc>
                <a:spcPct val="112000"/>
              </a:lnSpc>
              <a:spcAft>
                <a:spcPts val="600"/>
              </a:spcAft>
              <a:buFont typeface="Arial"/>
              <a:buChar char="•"/>
            </a:pPr>
            <a:r>
              <a:rPr sz="1250" b="0" i="0">
                <a:solidFill>
                  <a:srgbClr val="4A5360"/>
                </a:solidFill>
                <a:latin typeface="Inter"/>
              </a:rPr>
              <a:t>Pilot the rule at 5–10 sites for 8 weeks, against matched control sites.</a:t>
            </a:r>
          </a:p>
          <a:p>
            <a:pPr algn="l" marL="146304" indent="-146304">
              <a:lnSpc>
                <a:spcPct val="112000"/>
              </a:lnSpc>
              <a:spcAft>
                <a:spcPts val="600"/>
              </a:spcAft>
              <a:buFont typeface="Arial"/>
              <a:buChar char="•"/>
            </a:pPr>
            <a:r>
              <a:rPr sz="1250" b="0" i="0">
                <a:solidFill>
                  <a:srgbClr val="4A5360"/>
                </a:solidFill>
                <a:latin typeface="Inter"/>
              </a:rPr>
              <a:t>Damping test at one of the top coupling sites.</a:t>
            </a:r>
          </a:p>
          <a:p>
            <a:pPr algn="l" marL="146304" indent="-146304">
              <a:lnSpc>
                <a:spcPct val="112000"/>
              </a:lnSpc>
              <a:spcAft>
                <a:spcPts val="600"/>
              </a:spcAft>
              <a:buFont typeface="Arial"/>
              <a:buChar char="•"/>
            </a:pPr>
            <a:r>
              <a:rPr sz="1250" b="0" i="0">
                <a:solidFill>
                  <a:srgbClr val="4A5360"/>
                </a:solidFill>
                <a:latin typeface="Inter"/>
              </a:rPr>
              <a:t>Confirm with the firmware team: what a level means per scale type, the threshold, the 24 h check.</a:t>
            </a:r>
          </a:p>
        </p:txBody>
      </p:sp>
      <p:sp>
        <p:nvSpPr>
          <p:cNvPr id="8" name="Rounded Rectangle 7"/>
          <p:cNvSpPr/>
          <p:nvPr/>
        </p:nvSpPr>
        <p:spPr>
          <a:xfrm>
            <a:off x="4407408" y="1764792"/>
            <a:ext cx="3383280" cy="3566160"/>
          </a:xfrm>
          <a:prstGeom prst="roundRect">
            <a:avLst>
              <a:gd name="adj" fmla="val 2162"/>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4626864" y="1947672"/>
            <a:ext cx="2971800" cy="320040"/>
          </a:xfrm>
          <a:prstGeom prst="rect">
            <a:avLst/>
          </a:prstGeom>
          <a:noFill/>
        </p:spPr>
        <p:txBody>
          <a:bodyPr wrap="square" lIns="0" rIns="0" tIns="0" bIns="0" anchor="t">
            <a:spAutoFit/>
          </a:bodyPr>
          <a:lstStyle/>
          <a:p>
            <a:pPr algn="l">
              <a:lnSpc>
                <a:spcPct val="112000"/>
              </a:lnSpc>
            </a:pPr>
            <a:r>
              <a:rPr sz="1550" b="1" i="0">
                <a:solidFill>
                  <a:srgbClr val="1E2A38"/>
                </a:solidFill>
                <a:latin typeface="Inter"/>
              </a:rPr>
              <a:t>For our project (until 27 Nov)</a:t>
            </a:r>
          </a:p>
        </p:txBody>
      </p:sp>
      <p:sp>
        <p:nvSpPr>
          <p:cNvPr id="10" name="TextBox 9"/>
          <p:cNvSpPr txBox="1"/>
          <p:nvPr/>
        </p:nvSpPr>
        <p:spPr>
          <a:xfrm>
            <a:off x="4626864" y="2386584"/>
            <a:ext cx="2971800" cy="2834640"/>
          </a:xfrm>
          <a:prstGeom prst="rect">
            <a:avLst/>
          </a:prstGeom>
          <a:noFill/>
        </p:spPr>
        <p:txBody>
          <a:bodyPr wrap="square" lIns="0" rIns="0" tIns="0" bIns="0" anchor="t">
            <a:spAutoFit/>
          </a:bodyPr>
          <a:lstStyle/>
          <a:p>
            <a:pPr algn="l" marL="146304" indent="-146304">
              <a:lnSpc>
                <a:spcPct val="112000"/>
              </a:lnSpc>
              <a:spcAft>
                <a:spcPts val="600"/>
              </a:spcAft>
              <a:buFont typeface="Arial"/>
              <a:buChar char="•"/>
            </a:pPr>
            <a:r>
              <a:rPr sz="1250" b="0" i="0">
                <a:solidFill>
                  <a:srgbClr val="4A5360"/>
                </a:solidFill>
                <a:latin typeface="Inter"/>
              </a:rPr>
              <a:t>Work in the feedback from 23 October.</a:t>
            </a:r>
          </a:p>
          <a:p>
            <a:pPr algn="l" marL="146304" indent="-146304">
              <a:lnSpc>
                <a:spcPct val="112000"/>
              </a:lnSpc>
              <a:spcAft>
                <a:spcPts val="600"/>
              </a:spcAft>
              <a:buFont typeface="Arial"/>
              <a:buChar char="•"/>
            </a:pPr>
            <a:r>
              <a:rPr sz="1250" b="0" i="0">
                <a:solidFill>
                  <a:srgbClr val="4A5360"/>
                </a:solidFill>
                <a:latin typeface="Inter"/>
              </a:rPr>
              <a:t>Power BI: sites page and a KPI 2.0 watch-list page.</a:t>
            </a:r>
          </a:p>
          <a:p>
            <a:pPr algn="l" marL="146304" indent="-146304">
              <a:lnSpc>
                <a:spcPct val="112000"/>
              </a:lnSpc>
              <a:spcAft>
                <a:spcPts val="600"/>
              </a:spcAft>
              <a:buFont typeface="Arial"/>
              <a:buChar char="•"/>
            </a:pPr>
            <a:r>
              <a:rPr sz="1250" b="0" i="0">
                <a:solidFill>
                  <a:srgbClr val="4A5360"/>
                </a:solidFill>
                <a:latin typeface="Inter"/>
              </a:rPr>
              <a:t>Literature: IoT replenishment (e-Kanban), detector trade-offs.</a:t>
            </a:r>
          </a:p>
          <a:p>
            <a:pPr algn="l" marL="146304" indent="-146304">
              <a:lnSpc>
                <a:spcPct val="112000"/>
              </a:lnSpc>
              <a:spcAft>
                <a:spcPts val="600"/>
              </a:spcAft>
              <a:buFont typeface="Arial"/>
              <a:buChar char="•"/>
            </a:pPr>
            <a:r>
              <a:rPr sz="1250" b="0" i="0">
                <a:solidFill>
                  <a:srgbClr val="4A5360"/>
                </a:solidFill>
                <a:latin typeface="Inter"/>
              </a:rPr>
              <a:t>Final deck with full speaker notes; code and report in the repository.</a:t>
            </a:r>
          </a:p>
        </p:txBody>
      </p:sp>
      <p:sp>
        <p:nvSpPr>
          <p:cNvPr id="11" name="Rounded Rectangle 10"/>
          <p:cNvSpPr/>
          <p:nvPr/>
        </p:nvSpPr>
        <p:spPr>
          <a:xfrm>
            <a:off x="8001000" y="1764792"/>
            <a:ext cx="3383280" cy="3566160"/>
          </a:xfrm>
          <a:prstGeom prst="roundRect">
            <a:avLst>
              <a:gd name="adj" fmla="val 2162"/>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8220456" y="1947672"/>
            <a:ext cx="2971800" cy="320040"/>
          </a:xfrm>
          <a:prstGeom prst="rect">
            <a:avLst/>
          </a:prstGeom>
          <a:noFill/>
        </p:spPr>
        <p:txBody>
          <a:bodyPr wrap="square" lIns="0" rIns="0" tIns="0" bIns="0" anchor="t">
            <a:spAutoFit/>
          </a:bodyPr>
          <a:lstStyle/>
          <a:p>
            <a:pPr algn="l">
              <a:lnSpc>
                <a:spcPct val="112000"/>
              </a:lnSpc>
            </a:pPr>
            <a:r>
              <a:rPr sz="1550" b="1" i="0">
                <a:solidFill>
                  <a:srgbClr val="1E2A38"/>
                </a:solidFill>
                <a:latin typeface="Inter"/>
              </a:rPr>
              <a:t>Expected results</a:t>
            </a:r>
          </a:p>
        </p:txBody>
      </p:sp>
      <p:sp>
        <p:nvSpPr>
          <p:cNvPr id="13" name="TextBox 12"/>
          <p:cNvSpPr txBox="1"/>
          <p:nvPr/>
        </p:nvSpPr>
        <p:spPr>
          <a:xfrm>
            <a:off x="8220456" y="2386584"/>
            <a:ext cx="2971800" cy="2834640"/>
          </a:xfrm>
          <a:prstGeom prst="rect">
            <a:avLst/>
          </a:prstGeom>
          <a:noFill/>
        </p:spPr>
        <p:txBody>
          <a:bodyPr wrap="square" lIns="0" rIns="0" tIns="0" bIns="0" anchor="t">
            <a:spAutoFit/>
          </a:bodyPr>
          <a:lstStyle/>
          <a:p>
            <a:pPr algn="l" marL="146304" indent="-146304">
              <a:lnSpc>
                <a:spcPct val="112000"/>
              </a:lnSpc>
              <a:spcAft>
                <a:spcPts val="600"/>
              </a:spcAft>
              <a:buFont typeface="Arial"/>
              <a:buChar char="•"/>
            </a:pPr>
            <a:r>
              <a:rPr sz="1250" b="0" i="0">
                <a:solidFill>
                  <a:srgbClr val="4A5360"/>
                </a:solidFill>
                <a:latin typeface="Inter"/>
              </a:rPr>
              <a:t>A rule Bossard can switch on centrally – no new hardware.</a:t>
            </a:r>
          </a:p>
          <a:p>
            <a:pPr algn="l" marL="146304" indent="-146304">
              <a:lnSpc>
                <a:spcPct val="112000"/>
              </a:lnSpc>
              <a:spcAft>
                <a:spcPts val="600"/>
              </a:spcAft>
              <a:buFont typeface="Arial"/>
              <a:buChar char="•"/>
            </a:pPr>
            <a:r>
              <a:rPr sz="1250" b="0" i="0">
                <a:solidFill>
                  <a:srgbClr val="4A5360"/>
                </a:solidFill>
                <a:latin typeface="Inter"/>
              </a:rPr>
              <a:t>About 55–61% fewer weighings on normal scales, with about 1 in 9 changes found late – to be confirmed in the pilot.</a:t>
            </a:r>
          </a:p>
          <a:p>
            <a:pPr algn="l" marL="146304" indent="-146304">
              <a:lnSpc>
                <a:spcPct val="112000"/>
              </a:lnSpc>
              <a:spcAft>
                <a:spcPts val="600"/>
              </a:spcAft>
              <a:buFont typeface="Arial"/>
              <a:buChar char="•"/>
            </a:pPr>
            <a:r>
              <a:rPr sz="1250" b="0" i="0">
                <a:solidFill>
                  <a:srgbClr val="4A5360"/>
                </a:solidFill>
                <a:latin typeface="Inter"/>
              </a:rPr>
              <a:t>A daily loop detector: in the data, 59 scales looped outside level 3 (10% of all automatic weighings).</a:t>
            </a:r>
          </a:p>
        </p:txBody>
      </p:sp>
      <p:sp>
        <p:nvSpPr>
          <p:cNvPr id="14" name="TextBox 13"/>
          <p:cNvSpPr txBox="1"/>
          <p:nvPr/>
        </p:nvSpPr>
        <p:spPr>
          <a:xfrm>
            <a:off x="813816" y="5513831"/>
            <a:ext cx="10570464" cy="566928"/>
          </a:xfrm>
          <a:prstGeom prst="rect">
            <a:avLst/>
          </a:prstGeom>
          <a:noFill/>
        </p:spPr>
        <p:txBody>
          <a:bodyPr wrap="square" lIns="0" rIns="0" tIns="0" bIns="0" anchor="t">
            <a:spAutoFit/>
          </a:bodyPr>
          <a:lstStyle/>
          <a:p>
            <a:pPr algn="l">
              <a:lnSpc>
                <a:spcPct val="112000"/>
              </a:lnSpc>
            </a:pPr>
            <a:r>
              <a:rPr sz="1250" b="1" i="0">
                <a:solidFill>
                  <a:srgbClr val="1E2A38"/>
                </a:solidFill>
                <a:latin typeface="Inter"/>
              </a:rPr>
              <a:t>Team:</a:t>
            </a:r>
            <a:r>
              <a:rPr sz="1250" b="0" i="0">
                <a:solidFill>
                  <a:srgbClr val="1E2A38"/>
                </a:solidFill>
                <a:latin typeface="Inter"/>
              </a:rPr>
              <a:t> Erenalp Çakıroğlu – SmartBin case (data pipeline, analysis, Power BI, deck) · Nikolaos Georgantopoulos – inventory case · both decks reviewed jointly before submission.</a:t>
            </a:r>
          </a:p>
        </p:txBody>
      </p:sp>
      <p:sp>
        <p:nvSpPr>
          <p:cNvPr id="15" name="TextBox 14"/>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20</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A1 · POWER BI (OPTIONAL)</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Data quality at a glance</a:t>
            </a:r>
          </a:p>
        </p:txBody>
      </p:sp>
      <p:sp>
        <p:nvSpPr>
          <p:cNvPr id="5" name="Rounded Rectangle 4"/>
          <p:cNvSpPr/>
          <p:nvPr/>
        </p:nvSpPr>
        <p:spPr>
          <a:xfrm>
            <a:off x="813816" y="1764792"/>
            <a:ext cx="10570464" cy="4206240"/>
          </a:xfrm>
          <a:prstGeom prst="roundRect">
            <a:avLst>
              <a:gd name="adj" fmla="val 1739"/>
            </a:avLst>
          </a:prstGeom>
          <a:solidFill>
            <a:srgbClr val="FFFDF9"/>
          </a:solidFill>
          <a:ln w="19050">
            <a:solidFill>
              <a:srgbClr val="B5541A"/>
            </a:solidFill>
            <a:prstDash val="dash"/>
          </a:ln>
        </p:spPr>
        <p:txBody>
          <a:bodyPr rtlCol="0" anchor="ctr"/>
          <a:lstStyle/>
          <a:p>
            <a:pPr algn="ctr"/>
          </a:p>
        </p:txBody>
      </p:sp>
      <p:sp>
        <p:nvSpPr>
          <p:cNvPr id="6" name="TextBox 5"/>
          <p:cNvSpPr txBox="1"/>
          <p:nvPr/>
        </p:nvSpPr>
        <p:spPr>
          <a:xfrm>
            <a:off x="813816" y="3026664"/>
            <a:ext cx="10570464" cy="457200"/>
          </a:xfrm>
          <a:prstGeom prst="rect">
            <a:avLst/>
          </a:prstGeom>
          <a:noFill/>
        </p:spPr>
        <p:txBody>
          <a:bodyPr wrap="square" lIns="0" rIns="0" tIns="0" bIns="0" anchor="t">
            <a:spAutoFit/>
          </a:bodyPr>
          <a:lstStyle/>
          <a:p>
            <a:pPr algn="ctr">
              <a:lnSpc>
                <a:spcPct val="112000"/>
              </a:lnSpc>
            </a:pPr>
            <a:r>
              <a:rPr sz="2400" b="1" i="0" spc="100">
                <a:solidFill>
                  <a:srgbClr val="B5541A"/>
                </a:solidFill>
                <a:latin typeface="Inter"/>
              </a:rPr>
              <a:t>POWER BI DASHBOARD C</a:t>
            </a:r>
          </a:p>
        </p:txBody>
      </p:sp>
      <p:sp>
        <p:nvSpPr>
          <p:cNvPr id="7" name="TextBox 6"/>
          <p:cNvSpPr txBox="1"/>
          <p:nvPr/>
        </p:nvSpPr>
        <p:spPr>
          <a:xfrm>
            <a:off x="1271016" y="3593592"/>
            <a:ext cx="9656064" cy="822960"/>
          </a:xfrm>
          <a:prstGeom prst="rect">
            <a:avLst/>
          </a:prstGeom>
          <a:noFill/>
        </p:spPr>
        <p:txBody>
          <a:bodyPr wrap="square" lIns="0" rIns="0" tIns="0" bIns="0" anchor="t">
            <a:spAutoFit/>
          </a:bodyPr>
          <a:lstStyle/>
          <a:p>
            <a:pPr algn="ctr">
              <a:lnSpc>
                <a:spcPct val="115000"/>
              </a:lnSpc>
            </a:pPr>
            <a:r>
              <a:rPr sz="1400" b="0" i="0">
                <a:solidFill>
                  <a:srgbClr val="1E2A38"/>
                </a:solidFill>
                <a:latin typeface="Inter"/>
              </a:rPr>
              <a:t>Cleaning funnel and data quality: rows per rule (deleted vs. flagged), rows and scales per stage, share entering the KPI analysis</a:t>
            </a:r>
          </a:p>
        </p:txBody>
      </p:sp>
      <p:sp>
        <p:nvSpPr>
          <p:cNvPr id="8" name="TextBox 7"/>
          <p:cNvSpPr txBox="1"/>
          <p:nvPr/>
        </p:nvSpPr>
        <p:spPr>
          <a:xfrm>
            <a:off x="1271016" y="5285231"/>
            <a:ext cx="9656064" cy="457200"/>
          </a:xfrm>
          <a:prstGeom prst="rect">
            <a:avLst/>
          </a:prstGeom>
          <a:noFill/>
        </p:spPr>
        <p:txBody>
          <a:bodyPr wrap="square" lIns="0" rIns="0" tIns="0" bIns="0" anchor="t">
            <a:spAutoFit/>
          </a:bodyPr>
          <a:lstStyle/>
          <a:p>
            <a:pPr algn="ctr">
              <a:lnSpc>
                <a:spcPct val="110000"/>
              </a:lnSpc>
            </a:pPr>
            <a:r>
              <a:rPr sz="1100" b="0" i="0">
                <a:solidFill>
                  <a:srgbClr val="8A8F98"/>
                </a:solidFill>
                <a:latin typeface="Inter"/>
              </a:rPr>
              <a:t>Optional – insert a screenshot of the Power BI cleaning page here, or delete this slide.</a:t>
            </a:r>
          </a:p>
        </p:txBody>
      </p:sp>
      <p:sp>
        <p:nvSpPr>
          <p:cNvPr id="9" name="TextBox 8"/>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21</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A2</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Alternatives we tested – and why we rejected them</a:t>
            </a:r>
          </a:p>
        </p:txBody>
      </p:sp>
      <p:graphicFrame>
        <p:nvGraphicFramePr>
          <p:cNvPr id="5" name="Table 4"/>
          <p:cNvGraphicFramePr>
            <a:graphicFrameLocks noGrp="1"/>
          </p:cNvGraphicFramePr>
          <p:nvPr/>
        </p:nvGraphicFramePr>
        <p:xfrm>
          <a:off x="905256" y="1810512"/>
          <a:ext cx="10479022" cy="3950208"/>
        </p:xfrm>
        <a:graphic>
          <a:graphicData uri="http://schemas.openxmlformats.org/drawingml/2006/table">
            <a:tbl>
              <a:tblPr firstRow="0" bandRow="0"/>
              <a:tblGrid>
                <a:gridCol w="2429228"/>
                <a:gridCol w="2333964"/>
                <a:gridCol w="4239241"/>
                <a:gridCol w="1476589"/>
              </a:tblGrid>
              <a:tr h="438912">
                <a:tc>
                  <a:txBody>
                    <a:bodyPr wrap="square"/>
                    <a:lstStyle/>
                    <a:p>
                      <a:pPr algn="l"/>
                      <a:r>
                        <a:rPr sz="1150" b="1">
                          <a:solidFill>
                            <a:srgbClr val="1E2A38"/>
                          </a:solidFill>
                          <a:latin typeface="Inter"/>
                        </a:rPr>
                        <a:t>Alternative</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l"/>
                      <a:r>
                        <a:rPr sz="1150" b="1">
                          <a:solidFill>
                            <a:srgbClr val="1E2A38"/>
                          </a:solidFill>
                          <a:latin typeface="Inter"/>
                        </a:rPr>
                        <a:t>What we measured</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l"/>
                      <a:r>
                        <a:rPr sz="1150" b="1">
                          <a:solidFill>
                            <a:srgbClr val="1E2A38"/>
                          </a:solidFill>
                          <a:latin typeface="Inter"/>
                        </a:rPr>
                        <a:t>Result (20 kg / 6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l"/>
                      <a:r>
                        <a:rPr sz="1150" b="1">
                          <a:solidFill>
                            <a:srgbClr val="1E2A38"/>
                          </a:solidFill>
                          <a:latin typeface="Inter"/>
                        </a:rPr>
                        <a:t>Verdict</a:t>
                      </a:r>
                    </a:p>
                  </a:txBody>
                  <a:tcPr marL="64008" marR="64008" marT="36576" marB="36576" anchor="ctr">
                    <a:lnL w="0">
                      <a:noFill/>
                    </a:lnL>
                    <a:lnR w="0">
                      <a:noFill/>
                    </a:lnR>
                    <a:lnT w="0">
                      <a:noFill/>
                    </a:lnT>
                    <a:lnB w="12700">
                      <a:solidFill>
                        <a:srgbClr val="B7B5B1"/>
                      </a:solidFill>
                    </a:lnB>
                    <a:solidFill>
                      <a:srgbClr val="E5E3DE"/>
                    </a:solidFill>
                  </a:tcPr>
                </a:tc>
              </a:tr>
              <a:tr h="438912">
                <a:tc>
                  <a:txBody>
                    <a:bodyPr wrap="square"/>
                    <a:lstStyle/>
                    <a:p>
                      <a:pPr algn="l"/>
                      <a:r>
                        <a:rPr sz="1150" b="0">
                          <a:solidFill>
                            <a:srgbClr val="1E2A38"/>
                          </a:solidFill>
                          <a:latin typeface="Inter"/>
                        </a:rPr>
                        <a:t>One level for all (Bossard KPIs)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best single level: 4 (20 kg), 2 (6 kg)</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misses 38% / 46%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reject</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One level for all (KPI 2.0)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level 7 / 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weighings −51% / −69%; misses 9% / 19%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weaker than the rule</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Table by pick size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best level per pick-size class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same level as one level for all for 95–99% of the scales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reject</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Steer by the fraction (daily)</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fraction rule, start 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misses 47% / 46%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reject (Goodhart)</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Nightly check for every scale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+1 weighing per scale and night</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+7 per scale and week = 33–40% of the savings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watch list instead</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Quiet hours learned per site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trained Mar–Apr, tested May–Jun</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avoids 6% / 6% of empty wake-ups; puts 4% / 5% of picks at risk</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reject</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Longer minimum wait time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60-min vs. 1-min scales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76% / 82% at two sites, 40% / 49% on level 1: not measurable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out of scope</a:t>
                      </a:r>
                    </a:p>
                  </a:txBody>
                  <a:tcPr marL="64008" marR="64008" marT="36576" marB="36576" anchor="ctr">
                    <a:lnL w="0">
                      <a:noFill/>
                    </a:lnL>
                    <a:lnR w="0">
                      <a:noFill/>
                    </a:lnR>
                    <a:lnT w="0">
                      <a:noFill/>
                    </a:lnT>
                    <a:lnB w="12700">
                      <a:solidFill>
                        <a:srgbClr val="B7B5B1"/>
                      </a:solidFill>
                    </a:lnB>
                    <a:noFill/>
                  </a:tcPr>
                </a:tc>
              </a:tr>
              <a:tr h="438912">
                <a:tc>
                  <a:txBody>
                    <a:bodyPr wrap="square"/>
                    <a:lstStyle/>
                    <a:p>
                      <a:pPr algn="l"/>
                      <a:r>
                        <a:rPr sz="1150" b="0">
                          <a:solidFill>
                            <a:srgbClr val="1E2A38"/>
                          </a:solidFill>
                          <a:latin typeface="Inter"/>
                        </a:rPr>
                        <a:t>Merge bursts (firmware)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one weighing per 10-min window</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−13% / −14% alone, −5% / −4% on top of level 7; no misses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l"/>
                      <a:r>
                        <a:rPr sz="1150" b="0">
                          <a:solidFill>
                            <a:srgbClr val="1E2A38"/>
                          </a:solidFill>
                          <a:latin typeface="Inter"/>
                        </a:rPr>
                        <a:t>optional backlog</a:t>
                      </a:r>
                    </a:p>
                  </a:txBody>
                  <a:tcPr marL="64008" marR="64008" marT="36576" marB="36576" anchor="ctr">
                    <a:lnL w="0">
                      <a:noFill/>
                    </a:lnL>
                    <a:lnR w="0">
                      <a:noFill/>
                    </a:lnR>
                    <a:lnT w="0">
                      <a:noFill/>
                    </a:lnT>
                    <a:lnB w="12700">
                      <a:solidFill>
                        <a:srgbClr val="B7B5B1"/>
                      </a:solidFill>
                    </a:lnB>
                    <a:noFill/>
                  </a:tcPr>
                </a:tc>
              </a:tr>
            </a:tbl>
          </a:graphicData>
        </a:graphic>
      </p:graphicFrame>
      <p:cxnSp>
        <p:nvCxnSpPr>
          <p:cNvPr id="6" name="Connector 5"/>
          <p:cNvCxnSpPr/>
          <p:nvPr/>
        </p:nvCxnSpPr>
        <p:spPr>
          <a:xfrm>
            <a:off x="804672" y="1709928"/>
            <a:ext cx="10579608" cy="0"/>
          </a:xfrm>
          <a:prstGeom prst="line">
            <a:avLst/>
          </a:prstGeom>
          <a:ln w="12700">
            <a:solidFill>
              <a:srgbClr val="14141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3816" y="1709928"/>
            <a:ext cx="0" cy="4050792"/>
          </a:xfrm>
          <a:prstGeom prst="line">
            <a:avLst/>
          </a:prstGeom>
          <a:ln w="12700">
            <a:solidFill>
              <a:srgbClr val="1414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weighings without the scales in a trigger loop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22</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A3</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The rule in detail – and where the scales end up</a:t>
            </a:r>
          </a:p>
        </p:txBody>
      </p:sp>
      <p:sp>
        <p:nvSpPr>
          <p:cNvPr id="5" name="Rounded Rectangle 4"/>
          <p:cNvSpPr/>
          <p:nvPr/>
        </p:nvSpPr>
        <p:spPr>
          <a:xfrm>
            <a:off x="813816" y="1764792"/>
            <a:ext cx="4206240" cy="3977639"/>
          </a:xfrm>
          <a:prstGeom prst="roundRect">
            <a:avLst>
              <a:gd name="adj" fmla="val 1839"/>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14984" y="1965960"/>
            <a:ext cx="3803903"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Every two weeks, per scale</a:t>
            </a:r>
          </a:p>
        </p:txBody>
      </p:sp>
      <p:sp>
        <p:nvSpPr>
          <p:cNvPr id="7" name="TextBox 6"/>
          <p:cNvSpPr txBox="1"/>
          <p:nvPr/>
        </p:nvSpPr>
        <p:spPr>
          <a:xfrm>
            <a:off x="1014984" y="2269617"/>
            <a:ext cx="3803903" cy="3472814"/>
          </a:xfrm>
          <a:prstGeom prst="rect">
            <a:avLst/>
          </a:prstGeom>
          <a:noFill/>
        </p:spPr>
        <p:txBody>
          <a:bodyPr wrap="square" lIns="0" rIns="0" tIns="0" bIns="0" anchor="t">
            <a:spAutoFit/>
          </a:bodyPr>
          <a:lstStyle/>
          <a:p>
            <a:pPr algn="l">
              <a:lnSpc>
                <a:spcPct val="115000"/>
              </a:lnSpc>
              <a:spcAft>
                <a:spcPts val="500"/>
              </a:spcAft>
            </a:pPr>
            <a:r>
              <a:rPr sz="1250" b="1" i="0">
                <a:solidFill>
                  <a:srgbClr val="4A5360"/>
                </a:solidFill>
                <a:latin typeface="Inter"/>
              </a:rPr>
              <a:t>Measure</a:t>
            </a:r>
            <a:r>
              <a:rPr sz="1250" b="0" i="0">
                <a:solidFill>
                  <a:srgbClr val="4A5360"/>
                </a:solidFill>
                <a:latin typeface="Inter"/>
              </a:rPr>
              <a:t> over the last 14 days: empty wake-ups per week (TM/wk), share of changes missed (TOO_FEW / (caught picks + TOO_FEW)) and TOO_FEW per week.</a:t>
            </a:r>
          </a:p>
          <a:p>
            <a:pPr algn="l">
              <a:lnSpc>
                <a:spcPct val="115000"/>
              </a:lnSpc>
              <a:spcAft>
                <a:spcPts val="500"/>
              </a:spcAft>
            </a:pPr>
            <a:r>
              <a:rPr sz="1250" b="1" i="0">
                <a:solidFill>
                  <a:srgbClr val="4A5360"/>
                </a:solidFill>
                <a:latin typeface="Inter"/>
              </a:rPr>
              <a:t>If</a:t>
            </a:r>
            <a:r>
              <a:rPr sz="1250" b="0" i="0">
                <a:solidFill>
                  <a:srgbClr val="4A5360"/>
                </a:solidFill>
                <a:latin typeface="Inter"/>
              </a:rPr>
              <a:t> missed &gt; 10% </a:t>
            </a:r>
            <a:r>
              <a:rPr sz="1250" b="1" i="0">
                <a:solidFill>
                  <a:srgbClr val="4A5360"/>
                </a:solidFill>
                <a:latin typeface="Inter"/>
              </a:rPr>
              <a:t>or</a:t>
            </a:r>
            <a:r>
              <a:rPr sz="1250" b="0" i="0">
                <a:solidFill>
                  <a:srgbClr val="4A5360"/>
                </a:solidFill>
                <a:latin typeface="Inter"/>
              </a:rPr>
              <a:t> TOO_FEW/wk &gt; 2 → one level </a:t>
            </a:r>
            <a:r>
              <a:rPr sz="1250" b="1" i="0">
                <a:solidFill>
                  <a:srgbClr val="4A5360"/>
                </a:solidFill>
                <a:latin typeface="Inter"/>
              </a:rPr>
              <a:t>up</a:t>
            </a:r>
            <a:r>
              <a:rPr sz="1250" b="0" i="0">
                <a:solidFill>
                  <a:srgbClr val="4A5360"/>
                </a:solidFill>
                <a:latin typeface="Inter"/>
              </a:rPr>
              <a:t> (more sensitive).</a:t>
            </a:r>
          </a:p>
          <a:p>
            <a:pPr algn="l">
              <a:lnSpc>
                <a:spcPct val="115000"/>
              </a:lnSpc>
              <a:spcAft>
                <a:spcPts val="500"/>
              </a:spcAft>
            </a:pPr>
            <a:r>
              <a:rPr sz="1250" b="1" i="0">
                <a:solidFill>
                  <a:srgbClr val="4A5360"/>
                </a:solidFill>
                <a:latin typeface="Inter"/>
              </a:rPr>
              <a:t>Else if</a:t>
            </a:r>
            <a:r>
              <a:rPr sz="1250" b="0" i="0">
                <a:solidFill>
                  <a:srgbClr val="4A5360"/>
                </a:solidFill>
                <a:latin typeface="Inter"/>
              </a:rPr>
              <a:t> TM/wk &gt; 7 </a:t>
            </a:r>
            <a:r>
              <a:rPr sz="1250" b="1" i="0">
                <a:solidFill>
                  <a:srgbClr val="4A5360"/>
                </a:solidFill>
                <a:latin typeface="Inter"/>
              </a:rPr>
              <a:t>and</a:t>
            </a:r>
            <a:r>
              <a:rPr sz="1250" b="0" i="0">
                <a:solidFill>
                  <a:srgbClr val="4A5360"/>
                </a:solidFill>
                <a:latin typeface="Inter"/>
              </a:rPr>
              <a:t> missed ≤ 5% → one level </a:t>
            </a:r>
            <a:r>
              <a:rPr sz="1250" b="1" i="0">
                <a:solidFill>
                  <a:srgbClr val="4A5360"/>
                </a:solidFill>
                <a:latin typeface="Inter"/>
              </a:rPr>
              <a:t>down</a:t>
            </a:r>
            <a:r>
              <a:rPr sz="1250" b="0" i="0">
                <a:solidFill>
                  <a:srgbClr val="4A5360"/>
                </a:solidFill>
                <a:latin typeface="Inter"/>
              </a:rPr>
              <a:t>.</a:t>
            </a:r>
          </a:p>
          <a:p>
            <a:pPr algn="l">
              <a:lnSpc>
                <a:spcPct val="115000"/>
              </a:lnSpc>
              <a:spcAft>
                <a:spcPts val="500"/>
              </a:spcAft>
            </a:pPr>
            <a:r>
              <a:rPr sz="1250" b="1" i="0">
                <a:solidFill>
                  <a:srgbClr val="4A5360"/>
                </a:solidFill>
                <a:latin typeface="Inter"/>
              </a:rPr>
              <a:t>Else</a:t>
            </a:r>
            <a:r>
              <a:rPr sz="1250" b="0" i="0">
                <a:solidFill>
                  <a:srgbClr val="4A5360"/>
                </a:solidFill>
                <a:latin typeface="Inter"/>
              </a:rPr>
              <a:t> → keep the level.</a:t>
            </a:r>
          </a:p>
          <a:p>
            <a:pPr algn="l">
              <a:lnSpc>
                <a:spcPct val="115000"/>
              </a:lnSpc>
              <a:spcAft>
                <a:spcPts val="500"/>
              </a:spcAft>
            </a:pPr>
            <a:r>
              <a:rPr sz="1250" b="1" i="0">
                <a:solidFill>
                  <a:srgbClr val="4A5360"/>
                </a:solidFill>
                <a:latin typeface="Inter"/>
              </a:rPr>
              <a:t>Start:</a:t>
            </a:r>
            <a:r>
              <a:rPr sz="1250" b="0" i="0">
                <a:solidFill>
                  <a:srgbClr val="4A5360"/>
                </a:solidFill>
                <a:latin typeface="Inter"/>
              </a:rPr>
              <a:t> level 7. </a:t>
            </a:r>
            <a:r>
              <a:rPr sz="1250" b="1" i="0">
                <a:solidFill>
                  <a:srgbClr val="4A5360"/>
                </a:solidFill>
                <a:latin typeface="Inter"/>
              </a:rPr>
              <a:t>Range:</a:t>
            </a:r>
            <a:r>
              <a:rPr sz="1250" b="0" i="0">
                <a:solidFill>
                  <a:srgbClr val="4A5360"/>
                </a:solidFill>
                <a:latin typeface="Inter"/>
              </a:rPr>
              <a:t> levels 1–8 without 3. 6 kg and 20 kg are reported apart.</a:t>
            </a:r>
          </a:p>
        </p:txBody>
      </p:sp>
      <p:pic>
        <p:nvPicPr>
          <p:cNvPr id="8" name="Picture 7" descr="c10_final_levels.png"/>
          <p:cNvPicPr>
            <a:picLocks noChangeAspect="1"/>
          </p:cNvPicPr>
          <p:nvPr/>
        </p:nvPicPr>
        <p:blipFill>
          <a:blip r:embed="rId2"/>
          <a:stretch>
            <a:fillRect/>
          </a:stretch>
        </p:blipFill>
        <p:spPr>
          <a:xfrm>
            <a:off x="5257800" y="1719072"/>
            <a:ext cx="5852160" cy="3063240"/>
          </a:xfrm>
          <a:prstGeom prst="rect">
            <a:avLst/>
          </a:prstGeom>
        </p:spPr>
      </p:pic>
      <p:sp>
        <p:nvSpPr>
          <p:cNvPr id="9" name="TextBox 8"/>
          <p:cNvSpPr txBox="1"/>
          <p:nvPr/>
        </p:nvSpPr>
        <p:spPr>
          <a:xfrm>
            <a:off x="5349240" y="4919472"/>
            <a:ext cx="5943600" cy="822960"/>
          </a:xfrm>
          <a:prstGeom prst="rect">
            <a:avLst/>
          </a:prstGeom>
          <a:noFill/>
        </p:spPr>
        <p:txBody>
          <a:bodyPr wrap="square" lIns="0" rIns="0" tIns="0" bIns="0" anchor="t">
            <a:spAutoFit/>
          </a:bodyPr>
          <a:lstStyle/>
          <a:p>
            <a:pPr algn="l">
              <a:lnSpc>
                <a:spcPct val="112000"/>
              </a:lnSpc>
            </a:pPr>
            <a:r>
              <a:rPr sz="1200" b="0" i="0">
                <a:solidFill>
                  <a:srgbClr val="4A5360"/>
                </a:solidFill>
                <a:latin typeface="Inter"/>
              </a:rPr>
              <a:t>After 16 weeks: 56% of the 20 kg and 79% of the 6 kg scales are on level 7 or 8; almost no scale goes below 4. About one change per scale and month.</a:t>
            </a:r>
          </a:p>
        </p:txBody>
      </p:sp>
      <p:sp>
        <p:nvSpPr>
          <p:cNvPr id="10" name="TextBox 9"/>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simulation, 5 replications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23</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A4</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All policies compared</a:t>
            </a:r>
          </a:p>
        </p:txBody>
      </p:sp>
      <p:graphicFrame>
        <p:nvGraphicFramePr>
          <p:cNvPr id="5" name="Table 4"/>
          <p:cNvGraphicFramePr>
            <a:graphicFrameLocks noGrp="1"/>
          </p:cNvGraphicFramePr>
          <p:nvPr/>
        </p:nvGraphicFramePr>
        <p:xfrm>
          <a:off x="905256" y="1810512"/>
          <a:ext cx="10479021" cy="3657600"/>
        </p:xfrm>
        <a:graphic>
          <a:graphicData uri="http://schemas.openxmlformats.org/drawingml/2006/table">
            <a:tbl>
              <a:tblPr firstRow="0" bandRow="0"/>
              <a:tblGrid>
                <a:gridCol w="3019379"/>
                <a:gridCol w="1243274"/>
                <a:gridCol w="1243274"/>
                <a:gridCol w="1154468"/>
                <a:gridCol w="1154468"/>
                <a:gridCol w="1332079"/>
                <a:gridCol w="1332079"/>
              </a:tblGrid>
              <a:tr h="365760">
                <a:tc>
                  <a:txBody>
                    <a:bodyPr wrap="square"/>
                    <a:lstStyle/>
                    <a:p>
                      <a:pPr algn="l"/>
                      <a:r>
                        <a:rPr sz="1200" b="1">
                          <a:solidFill>
                            <a:srgbClr val="1E2A38"/>
                          </a:solidFill>
                          <a:latin typeface="Inter"/>
                        </a:rPr>
                        <a:t>Policy</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Weighings 20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Weighings 6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Missed 20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Missed 6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KPI 2.0 met 20 kg</a:t>
                      </a:r>
                    </a:p>
                  </a:txBody>
                  <a:tcPr marL="64008" marR="64008" marT="36576" marB="36576" anchor="ctr">
                    <a:lnL w="0">
                      <a:noFill/>
                    </a:lnL>
                    <a:lnR w="12700">
                      <a:solidFill>
                        <a:srgbClr val="C5C4BF"/>
                      </a:solidFill>
                    </a:lnR>
                    <a:lnT w="0">
                      <a:noFill/>
                    </a:lnT>
                    <a:lnB w="12700">
                      <a:solidFill>
                        <a:srgbClr val="B7B5B1"/>
                      </a:solidFill>
                    </a:lnB>
                    <a:solidFill>
                      <a:srgbClr val="E5E3DE"/>
                    </a:solidFill>
                  </a:tcPr>
                </a:tc>
                <a:tc>
                  <a:txBody>
                    <a:bodyPr wrap="square"/>
                    <a:lstStyle/>
                    <a:p>
                      <a:pPr algn="r"/>
                      <a:r>
                        <a:rPr sz="1200" b="1">
                          <a:solidFill>
                            <a:srgbClr val="1E2A38"/>
                          </a:solidFill>
                          <a:latin typeface="Inter"/>
                        </a:rPr>
                        <a:t>KPI 2.0 met 6 kg</a:t>
                      </a:r>
                    </a:p>
                  </a:txBody>
                  <a:tcPr marL="64008" marR="64008" marT="36576" marB="36576" anchor="ctr">
                    <a:lnL w="0">
                      <a:noFill/>
                    </a:lnL>
                    <a:lnR w="0">
                      <a:noFill/>
                    </a:lnR>
                    <a:lnT w="0">
                      <a:noFill/>
                    </a:lnT>
                    <a:lnB w="12700">
                      <a:solidFill>
                        <a:srgbClr val="B7B5B1"/>
                      </a:solidFill>
                    </a:lnB>
                    <a:solidFill>
                      <a:srgbClr val="E5E3DE"/>
                    </a:solidFill>
                  </a:tcPr>
                </a:tc>
              </a:tr>
              <a:tr h="365760">
                <a:tc>
                  <a:txBody>
                    <a:bodyPr wrap="square"/>
                    <a:lstStyle/>
                    <a:p>
                      <a:pPr algn="l"/>
                      <a:r>
                        <a:rPr sz="1200" b="0">
                          <a:solidFill>
                            <a:srgbClr val="1E2A38"/>
                          </a:solidFill>
                          <a:latin typeface="Inter"/>
                        </a:rPr>
                        <a:t>P0 today (level 8, simulated)</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3%</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P1 one level (Bossard KPIs)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38%</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P2 table by pick size</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39%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P3 rule for Bossard's KPIs</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−77%</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53%</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54%</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2%</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P4 best level per scale in hindsight</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−83%</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39%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51%</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2%</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P5 one level (KPI 2.0)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−51%</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−69%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19%</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20%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12%</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P6 rule, start 8</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−60%</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−55%</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11%</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12%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26%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19%</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1">
                          <a:solidFill>
                            <a:srgbClr val="1E2A38"/>
                          </a:solidFill>
                          <a:latin typeface="Inter"/>
                        </a:rPr>
                        <a:t>P7 rule, start 7 (recommended)</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−61%</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−55%</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11%</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12%</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26%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1">
                          <a:solidFill>
                            <a:srgbClr val="1E2A38"/>
                          </a:solidFill>
                          <a:latin typeface="Inter"/>
                        </a:rPr>
                        <a:t>18%</a:t>
                      </a:r>
                    </a:p>
                  </a:txBody>
                  <a:tcPr marL="64008" marR="64008" marT="36576" marB="36576" anchor="ctr">
                    <a:lnL w="0">
                      <a:noFill/>
                    </a:lnL>
                    <a:lnR w="0">
                      <a:noFill/>
                    </a:lnR>
                    <a:lnT w="0">
                      <a:noFill/>
                    </a:lnT>
                    <a:lnB w="12700">
                      <a:solidFill>
                        <a:srgbClr val="B7B5B1"/>
                      </a:solidFill>
                    </a:lnB>
                    <a:noFill/>
                  </a:tcPr>
                </a:tc>
              </a:tr>
              <a:tr h="365760">
                <a:tc>
                  <a:txBody>
                    <a:bodyPr wrap="square"/>
                    <a:lstStyle/>
                    <a:p>
                      <a:pPr algn="l"/>
                      <a:r>
                        <a:rPr sz="1200" b="0">
                          <a:solidFill>
                            <a:srgbClr val="1E2A38"/>
                          </a:solidFill>
                          <a:latin typeface="Inter"/>
                        </a:rPr>
                        <a:t>P8 steer by the fraction</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−74%</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−68%</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47%</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46%</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3%</a:t>
                      </a:r>
                    </a:p>
                  </a:txBody>
                  <a:tcPr marL="64008" marR="64008" marT="36576" marB="36576" anchor="ctr">
                    <a:lnL w="0">
                      <a:noFill/>
                    </a:lnL>
                    <a:lnR w="12700">
                      <a:solidFill>
                        <a:srgbClr val="C5C4BF"/>
                      </a:solidFill>
                    </a:lnR>
                    <a:lnT w="0">
                      <a:noFill/>
                    </a:lnT>
                    <a:lnB w="12700">
                      <a:solidFill>
                        <a:srgbClr val="B7B5B1"/>
                      </a:solidFill>
                    </a:lnB>
                    <a:noFill/>
                  </a:tcPr>
                </a:tc>
                <a:tc>
                  <a:txBody>
                    <a:bodyPr wrap="square"/>
                    <a:lstStyle/>
                    <a:p>
                      <a:pPr algn="r"/>
                      <a:r>
                        <a:rPr sz="1200" b="0">
                          <a:solidFill>
                            <a:srgbClr val="1E2A38"/>
                          </a:solidFill>
                          <a:latin typeface="Inter"/>
                        </a:rPr>
                        <a:t>2%</a:t>
                      </a:r>
                    </a:p>
                  </a:txBody>
                  <a:tcPr marL="64008" marR="64008" marT="36576" marB="36576" anchor="ctr">
                    <a:lnL w="0">
                      <a:noFill/>
                    </a:lnL>
                    <a:lnR w="0">
                      <a:noFill/>
                    </a:lnR>
                    <a:lnT w="0">
                      <a:noFill/>
                    </a:lnT>
                    <a:lnB w="12700">
                      <a:solidFill>
                        <a:srgbClr val="B7B5B1"/>
                      </a:solidFill>
                    </a:lnB>
                    <a:noFill/>
                  </a:tcPr>
                </a:tc>
              </a:tr>
            </a:tbl>
          </a:graphicData>
        </a:graphic>
      </p:graphicFrame>
      <p:cxnSp>
        <p:nvCxnSpPr>
          <p:cNvPr id="6" name="Connector 5"/>
          <p:cNvCxnSpPr/>
          <p:nvPr/>
        </p:nvCxnSpPr>
        <p:spPr>
          <a:xfrm>
            <a:off x="804672" y="1709928"/>
            <a:ext cx="10579608" cy="0"/>
          </a:xfrm>
          <a:prstGeom prst="line">
            <a:avLst/>
          </a:prstGeom>
          <a:ln w="12700">
            <a:solidFill>
              <a:srgbClr val="14141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13816" y="1709928"/>
            <a:ext cx="0" cy="3758184"/>
          </a:xfrm>
          <a:prstGeom prst="line">
            <a:avLst/>
          </a:prstGeom>
          <a:ln w="12700">
            <a:solidFill>
              <a:srgbClr val="1414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3816" y="5605272"/>
            <a:ext cx="10570464" cy="457200"/>
          </a:xfrm>
          <a:prstGeom prst="rect">
            <a:avLst/>
          </a:prstGeom>
          <a:noFill/>
        </p:spPr>
        <p:txBody>
          <a:bodyPr wrap="square" lIns="0" rIns="0" tIns="0" bIns="0" anchor="t">
            <a:spAutoFit/>
          </a:bodyPr>
          <a:lstStyle/>
          <a:p>
            <a:pPr algn="l">
              <a:lnSpc>
                <a:spcPct val="112000"/>
              </a:lnSpc>
            </a:pPr>
            <a:r>
              <a:rPr sz="1150" b="0" i="0">
                <a:solidFill>
                  <a:srgbClr val="4A5360"/>
                </a:solidFill>
                <a:latin typeface="Inter"/>
              </a:rPr>
              <a:t>Weighings: change vs. the simulated status quo, scales without a trigger loop. Missed: median share of changes missed. KPI 2.0 met: ≤ 7 empty wake-ups a week, ≤ 10% missed, ≤ 2 TOO_FEW a week.</a:t>
            </a:r>
          </a:p>
        </p:txBody>
      </p:sp>
      <p:sp>
        <p:nvSpPr>
          <p:cNvPr id="9" name="TextBox 8"/>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24</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A5</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When missed changes are found</a:t>
            </a:r>
          </a:p>
        </p:txBody>
      </p:sp>
      <p:sp>
        <p:nvSpPr>
          <p:cNvPr id="5" name="TextBox 4"/>
          <p:cNvSpPr txBox="1"/>
          <p:nvPr/>
        </p:nvSpPr>
        <p:spPr>
          <a:xfrm>
            <a:off x="813816" y="1719072"/>
            <a:ext cx="3291840" cy="548640"/>
          </a:xfrm>
          <a:prstGeom prst="rect">
            <a:avLst/>
          </a:prstGeom>
          <a:noFill/>
        </p:spPr>
        <p:txBody>
          <a:bodyPr wrap="square" lIns="0" rIns="0" tIns="0" bIns="0" anchor="t">
            <a:spAutoFit/>
          </a:bodyPr>
          <a:lstStyle/>
          <a:p>
            <a:pPr algn="l">
              <a:lnSpc>
                <a:spcPct val="95000"/>
              </a:lnSpc>
            </a:pPr>
            <a:r>
              <a:rPr sz="4000" b="1" i="0">
                <a:solidFill>
                  <a:srgbClr val="D46A1F"/>
                </a:solidFill>
                <a:latin typeface="Source Serif 4"/>
              </a:rPr>
              <a:t>85%</a:t>
            </a:r>
          </a:p>
        </p:txBody>
      </p:sp>
      <p:sp>
        <p:nvSpPr>
          <p:cNvPr id="6" name="TextBox 5"/>
          <p:cNvSpPr txBox="1"/>
          <p:nvPr/>
        </p:nvSpPr>
        <p:spPr>
          <a:xfrm>
            <a:off x="813816" y="2304288"/>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of the manual weighings come after ≥ 24 h without any weighing – a scheduled idle check</a:t>
            </a:r>
          </a:p>
        </p:txBody>
      </p:sp>
      <p:sp>
        <p:nvSpPr>
          <p:cNvPr id="7" name="TextBox 6"/>
          <p:cNvSpPr txBox="1"/>
          <p:nvPr/>
        </p:nvSpPr>
        <p:spPr>
          <a:xfrm>
            <a:off x="4407408" y="1719072"/>
            <a:ext cx="3291840" cy="548640"/>
          </a:xfrm>
          <a:prstGeom prst="rect">
            <a:avLst/>
          </a:prstGeom>
          <a:noFill/>
        </p:spPr>
        <p:txBody>
          <a:bodyPr wrap="square" lIns="0" rIns="0" tIns="0" bIns="0" anchor="t">
            <a:spAutoFit/>
          </a:bodyPr>
          <a:lstStyle/>
          <a:p>
            <a:pPr algn="l">
              <a:lnSpc>
                <a:spcPct val="95000"/>
              </a:lnSpc>
            </a:pPr>
            <a:r>
              <a:rPr sz="4000" b="1" i="0">
                <a:solidFill>
                  <a:srgbClr val="2F5D8C"/>
                </a:solidFill>
                <a:latin typeface="Source Serif 4"/>
              </a:rPr>
              <a:t>91%</a:t>
            </a:r>
          </a:p>
        </p:txBody>
      </p:sp>
      <p:sp>
        <p:nvSpPr>
          <p:cNvPr id="8" name="TextBox 7"/>
          <p:cNvSpPr txBox="1"/>
          <p:nvPr/>
        </p:nvSpPr>
        <p:spPr>
          <a:xfrm>
            <a:off x="4407408" y="2304288"/>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of all TOO_FEW are found by these idle checks</a:t>
            </a:r>
          </a:p>
        </p:txBody>
      </p:sp>
      <p:sp>
        <p:nvSpPr>
          <p:cNvPr id="9" name="TextBox 8"/>
          <p:cNvSpPr txBox="1"/>
          <p:nvPr/>
        </p:nvSpPr>
        <p:spPr>
          <a:xfrm>
            <a:off x="8001000" y="1719072"/>
            <a:ext cx="3291840" cy="548640"/>
          </a:xfrm>
          <a:prstGeom prst="rect">
            <a:avLst/>
          </a:prstGeom>
          <a:noFill/>
        </p:spPr>
        <p:txBody>
          <a:bodyPr wrap="square" lIns="0" rIns="0" tIns="0" bIns="0" anchor="t">
            <a:spAutoFit/>
          </a:bodyPr>
          <a:lstStyle/>
          <a:p>
            <a:pPr algn="l">
              <a:lnSpc>
                <a:spcPct val="95000"/>
              </a:lnSpc>
            </a:pPr>
            <a:r>
              <a:rPr sz="4000" b="1" i="0">
                <a:solidFill>
                  <a:srgbClr val="1E2A38"/>
                </a:solidFill>
                <a:latin typeface="Source Serif 4"/>
              </a:rPr>
              <a:t>26–49 h</a:t>
            </a:r>
          </a:p>
        </p:txBody>
      </p:sp>
      <p:sp>
        <p:nvSpPr>
          <p:cNvPr id="10" name="TextBox 9"/>
          <p:cNvSpPr txBox="1"/>
          <p:nvPr/>
        </p:nvSpPr>
        <p:spPr>
          <a:xfrm>
            <a:off x="8001000" y="2304288"/>
            <a:ext cx="3291840" cy="274320"/>
          </a:xfrm>
          <a:prstGeom prst="rect">
            <a:avLst/>
          </a:prstGeom>
          <a:noFill/>
        </p:spPr>
        <p:txBody>
          <a:bodyPr wrap="square" lIns="0" rIns="0" tIns="0" bIns="0" anchor="t">
            <a:spAutoFit/>
          </a:bodyPr>
          <a:lstStyle/>
          <a:p>
            <a:pPr algn="l">
              <a:lnSpc>
                <a:spcPct val="112000"/>
              </a:lnSpc>
            </a:pPr>
            <a:r>
              <a:rPr sz="1300" b="0" i="0">
                <a:solidFill>
                  <a:srgbClr val="1E2A38"/>
                </a:solidFill>
                <a:latin typeface="Inter"/>
              </a:rPr>
              <a:t>after the previous weighing (5th–95th percentile): a missed change can stay invisible for up to two days</a:t>
            </a:r>
          </a:p>
        </p:txBody>
      </p:sp>
      <p:pic>
        <p:nvPicPr>
          <p:cNvPr id="11" name="Picture 10" descr="c13_check_timing.png"/>
          <p:cNvPicPr>
            <a:picLocks noChangeAspect="1"/>
          </p:cNvPicPr>
          <p:nvPr/>
        </p:nvPicPr>
        <p:blipFill>
          <a:blip r:embed="rId2"/>
          <a:stretch>
            <a:fillRect/>
          </a:stretch>
        </p:blipFill>
        <p:spPr>
          <a:xfrm>
            <a:off x="1911095" y="3456432"/>
            <a:ext cx="8229600" cy="2743200"/>
          </a:xfrm>
          <a:prstGeom prst="rect">
            <a:avLst/>
          </a:prstGeom>
        </p:spPr>
      </p:pic>
      <p:sp>
        <p:nvSpPr>
          <p:cNvPr id="12" name="TextBox 11"/>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25</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A6</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Methods in one page</a:t>
            </a:r>
          </a:p>
        </p:txBody>
      </p:sp>
      <p:sp>
        <p:nvSpPr>
          <p:cNvPr id="5" name="Rounded Rectangle 4"/>
          <p:cNvSpPr/>
          <p:nvPr/>
        </p:nvSpPr>
        <p:spPr>
          <a:xfrm>
            <a:off x="813816" y="176479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978408" y="192938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Cleaning</a:t>
            </a:r>
          </a:p>
        </p:txBody>
      </p:sp>
      <p:sp>
        <p:nvSpPr>
          <p:cNvPr id="7" name="TextBox 6"/>
          <p:cNvSpPr txBox="1"/>
          <p:nvPr/>
        </p:nvSpPr>
        <p:spPr>
          <a:xfrm>
            <a:off x="978408" y="217341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Stage A deletes duplicates (same scale and ms) and impossible weights. Stage B flags conflicting duplicates, missing label or level, non-standard wait/delay, missing metadata, short periods, level 3 and rare levels.</a:t>
            </a:r>
          </a:p>
        </p:txBody>
      </p:sp>
      <p:sp>
        <p:nvSpPr>
          <p:cNvPr id="8" name="Rounded Rectangle 7"/>
          <p:cNvSpPr/>
          <p:nvPr/>
        </p:nvSpPr>
        <p:spPr>
          <a:xfrm>
            <a:off x="6163055" y="176479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6327647" y="192938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KPIs</a:t>
            </a:r>
          </a:p>
        </p:txBody>
      </p:sp>
      <p:sp>
        <p:nvSpPr>
          <p:cNvPr id="10" name="TextBox 9"/>
          <p:cNvSpPr txBox="1"/>
          <p:nvPr/>
        </p:nvSpPr>
        <p:spPr>
          <a:xfrm>
            <a:off x="6327647" y="217341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Per scale and level; typical scale = median. Missed = TOO_FEW / (caught picks + TOO_FEW).</a:t>
            </a:r>
          </a:p>
        </p:txBody>
      </p:sp>
      <p:sp>
        <p:nvSpPr>
          <p:cNvPr id="11" name="Rounded Rectangle 10"/>
          <p:cNvSpPr/>
          <p:nvPr/>
        </p:nvSpPr>
        <p:spPr>
          <a:xfrm>
            <a:off x="813816" y="318211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978408" y="334670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Causal effect</a:t>
            </a:r>
          </a:p>
        </p:txBody>
      </p:sp>
      <p:sp>
        <p:nvSpPr>
          <p:cNvPr id="13" name="TextBox 12"/>
          <p:cNvSpPr txBox="1"/>
          <p:nvPr/>
        </p:nvSpPr>
        <p:spPr>
          <a:xfrm>
            <a:off x="978408" y="359073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Difference-in-differences: switched scales vs. a balanced group that stayed on 8; fixed-effects Poisson rate ratios; 300 bootstrap samples over scales.</a:t>
            </a:r>
          </a:p>
        </p:txBody>
      </p:sp>
      <p:sp>
        <p:nvSpPr>
          <p:cNvPr id="14" name="Rounded Rectangle 13"/>
          <p:cNvSpPr/>
          <p:nvPr/>
        </p:nvSpPr>
        <p:spPr>
          <a:xfrm>
            <a:off x="6163055" y="318211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15" name="TextBox 14"/>
          <p:cNvSpPr txBox="1"/>
          <p:nvPr/>
        </p:nvSpPr>
        <p:spPr>
          <a:xfrm>
            <a:off x="6327647" y="334670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Coupling</a:t>
            </a:r>
          </a:p>
        </p:txBody>
      </p:sp>
      <p:sp>
        <p:nvSpPr>
          <p:cNvPr id="16" name="TextBox 15"/>
          <p:cNvSpPr txBox="1"/>
          <p:nvPr/>
        </p:nvSpPr>
        <p:spPr>
          <a:xfrm>
            <a:off x="6327647" y="359073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Real picks at other scales of the site within ±14 s of an empty wake-up vs. a control window 60–88 s later; beyond chance: a = (p_near − p_chance) / (1 − p_chance).</a:t>
            </a:r>
          </a:p>
        </p:txBody>
      </p:sp>
      <p:sp>
        <p:nvSpPr>
          <p:cNvPr id="17" name="Rounded Rectangle 16"/>
          <p:cNvSpPr/>
          <p:nvPr/>
        </p:nvSpPr>
        <p:spPr>
          <a:xfrm>
            <a:off x="813816" y="459943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18" name="TextBox 17"/>
          <p:cNvSpPr txBox="1"/>
          <p:nvPr/>
        </p:nvSpPr>
        <p:spPr>
          <a:xfrm>
            <a:off x="978408" y="476402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Sites</a:t>
            </a:r>
          </a:p>
        </p:txBody>
      </p:sp>
      <p:sp>
        <p:nvSpPr>
          <p:cNvPr id="19" name="TextBox 18"/>
          <p:cNvSpPr txBox="1"/>
          <p:nvPr/>
        </p:nvSpPr>
        <p:spPr>
          <a:xfrm>
            <a:off x="978408" y="500805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Intraclass correlation, permutation F-test (999 shuffles), split-half reliability (200 random halves); usage-adjusted variant.</a:t>
            </a:r>
          </a:p>
        </p:txBody>
      </p:sp>
      <p:sp>
        <p:nvSpPr>
          <p:cNvPr id="20" name="Rounded Rectangle 19"/>
          <p:cNvSpPr/>
          <p:nvPr/>
        </p:nvSpPr>
        <p:spPr>
          <a:xfrm>
            <a:off x="6163055" y="4599432"/>
            <a:ext cx="5212080" cy="1298448"/>
          </a:xfrm>
          <a:prstGeom prst="roundRect">
            <a:avLst>
              <a:gd name="adj" fmla="val 5633"/>
            </a:avLst>
          </a:prstGeom>
          <a:solidFill>
            <a:srgbClr val="FFFDF9"/>
          </a:solidFill>
          <a:ln w="6350">
            <a:solidFill>
              <a:srgbClr val="E2DDD2"/>
            </a:solidFill>
          </a:ln>
        </p:spPr>
        <p:txBody>
          <a:bodyPr rtlCol="0" anchor="ctr"/>
          <a:lstStyle/>
          <a:p>
            <a:pPr algn="ctr"/>
          </a:p>
        </p:txBody>
      </p:sp>
      <p:sp>
        <p:nvSpPr>
          <p:cNvPr id="21" name="TextBox 20"/>
          <p:cNvSpPr txBox="1"/>
          <p:nvPr/>
        </p:nvSpPr>
        <p:spPr>
          <a:xfrm>
            <a:off x="6327647" y="4764024"/>
            <a:ext cx="4882896" cy="274320"/>
          </a:xfrm>
          <a:prstGeom prst="rect">
            <a:avLst/>
          </a:prstGeom>
          <a:noFill/>
        </p:spPr>
        <p:txBody>
          <a:bodyPr wrap="square" lIns="0" rIns="0" tIns="0" bIns="0" anchor="t">
            <a:spAutoFit/>
          </a:bodyPr>
          <a:lstStyle/>
          <a:p>
            <a:pPr algn="l">
              <a:lnSpc>
                <a:spcPct val="100000"/>
              </a:lnSpc>
            </a:pPr>
            <a:r>
              <a:rPr sz="1350" b="1" i="0">
                <a:solidFill>
                  <a:srgbClr val="1E2A38"/>
                </a:solidFill>
                <a:latin typeface="Inter"/>
              </a:rPr>
              <a:t>Simulation</a:t>
            </a:r>
          </a:p>
        </p:txBody>
      </p:sp>
      <p:sp>
        <p:nvSpPr>
          <p:cNvPr id="22" name="TextBox 21"/>
          <p:cNvSpPr txBox="1"/>
          <p:nvPr/>
        </p:nvSpPr>
        <p:spPr>
          <a:xfrm>
            <a:off x="6327647" y="5008054"/>
            <a:ext cx="4882896" cy="889825"/>
          </a:xfrm>
          <a:prstGeom prst="rect">
            <a:avLst/>
          </a:prstGeom>
          <a:noFill/>
        </p:spPr>
        <p:txBody>
          <a:bodyPr wrap="square" lIns="0" rIns="0" tIns="0" bIns="0" anchor="t">
            <a:spAutoFit/>
          </a:bodyPr>
          <a:lstStyle/>
          <a:p>
            <a:pPr algn="l">
              <a:lnSpc>
                <a:spcPct val="115000"/>
              </a:lnSpc>
              <a:spcAft>
                <a:spcPts val="300"/>
              </a:spcAft>
            </a:pPr>
            <a:r>
              <a:rPr sz="1150" b="0" i="0">
                <a:solidFill>
                  <a:srgbClr val="4A5360"/>
                </a:solidFill>
                <a:latin typeface="Inter"/>
              </a:rPr>
              <a:t>Each scale's level-8 rates (shrunk to the type mean) × causal rate ratios; 16 weeks, 5 replications; back-test on the real switchers.</a:t>
            </a:r>
          </a:p>
        </p:txBody>
      </p:sp>
      <p:sp>
        <p:nvSpPr>
          <p:cNvPr id="23" name="TextBox 22"/>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Angrist &amp; Pischke (2009); Donges et al. (2016); Shrout &amp; Fleiss (1979); Grömping (2006)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26</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A7</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Same scales, week by week around their switch</a:t>
            </a:r>
          </a:p>
        </p:txBody>
      </p:sp>
      <p:pic>
        <p:nvPicPr>
          <p:cNvPr id="5" name="Picture 4" descr="c12_event_study.png"/>
          <p:cNvPicPr>
            <a:picLocks noChangeAspect="1"/>
          </p:cNvPicPr>
          <p:nvPr/>
        </p:nvPicPr>
        <p:blipFill>
          <a:blip r:embed="rId2"/>
          <a:stretch>
            <a:fillRect/>
          </a:stretch>
        </p:blipFill>
        <p:spPr>
          <a:xfrm>
            <a:off x="722376" y="1719072"/>
            <a:ext cx="6949440" cy="3429000"/>
          </a:xfrm>
          <a:prstGeom prst="rect">
            <a:avLst/>
          </a:prstGeom>
        </p:spPr>
      </p:pic>
      <p:sp>
        <p:nvSpPr>
          <p:cNvPr id="6" name="TextBox 5"/>
          <p:cNvSpPr txBox="1"/>
          <p:nvPr/>
        </p:nvSpPr>
        <p:spPr>
          <a:xfrm>
            <a:off x="8092440" y="1856232"/>
            <a:ext cx="3291840" cy="3291840"/>
          </a:xfrm>
          <a:prstGeom prst="rect">
            <a:avLst/>
          </a:prstGeom>
          <a:noFill/>
        </p:spPr>
        <p:txBody>
          <a:bodyPr wrap="square" lIns="0" rIns="0" tIns="0" bIns="0" anchor="t">
            <a:spAutoFit/>
          </a:bodyPr>
          <a:lstStyle/>
          <a:p>
            <a:pPr algn="l">
              <a:lnSpc>
                <a:spcPct val="115000"/>
              </a:lnSpc>
              <a:spcAft>
                <a:spcPts val="800"/>
              </a:spcAft>
            </a:pPr>
            <a:r>
              <a:rPr sz="1300" b="0" i="0">
                <a:solidFill>
                  <a:srgbClr val="4A5360"/>
                </a:solidFill>
                <a:latin typeface="Inter"/>
              </a:rPr>
              <a:t>Empty wake-ups per scale and day collapse in the week of the switch and stay down – a far larger change than anything before it.</a:t>
            </a:r>
          </a:p>
          <a:p>
            <a:pPr algn="l">
              <a:lnSpc>
                <a:spcPct val="115000"/>
              </a:lnSpc>
              <a:spcAft>
                <a:spcPts val="800"/>
              </a:spcAft>
            </a:pPr>
            <a:r>
              <a:rPr sz="1300" b="0" i="0">
                <a:solidFill>
                  <a:srgbClr val="4A5360"/>
                </a:solidFill>
                <a:latin typeface="Inter"/>
              </a:rPr>
              <a:t>The weeks before the switch show some extra activity (Bossard may have switched busy scales first); the difference-in-differences on slide 13 compares with scales that stayed on 8 over the same weeks.</a:t>
            </a:r>
          </a:p>
        </p:txBody>
      </p:sp>
      <p:sp>
        <p:nvSpPr>
          <p:cNvPr id="7" name="TextBox 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event study, switched scales grouped by their new level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27</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A8</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Shapley decomposition: the site explains most</a:t>
            </a:r>
          </a:p>
        </p:txBody>
      </p:sp>
      <p:pic>
        <p:nvPicPr>
          <p:cNvPr id="5" name="Picture 4" descr="c14_shapley.png"/>
          <p:cNvPicPr>
            <a:picLocks noChangeAspect="1"/>
          </p:cNvPicPr>
          <p:nvPr/>
        </p:nvPicPr>
        <p:blipFill>
          <a:blip r:embed="rId2"/>
          <a:stretch>
            <a:fillRect/>
          </a:stretch>
        </p:blipFill>
        <p:spPr>
          <a:xfrm>
            <a:off x="722376" y="1719072"/>
            <a:ext cx="6766560" cy="3383280"/>
          </a:xfrm>
          <a:prstGeom prst="rect">
            <a:avLst/>
          </a:prstGeom>
        </p:spPr>
      </p:pic>
      <p:sp>
        <p:nvSpPr>
          <p:cNvPr id="6" name="TextBox 5"/>
          <p:cNvSpPr txBox="1"/>
          <p:nvPr/>
        </p:nvSpPr>
        <p:spPr>
          <a:xfrm>
            <a:off x="8092440" y="1856232"/>
            <a:ext cx="3291840" cy="3108960"/>
          </a:xfrm>
          <a:prstGeom prst="rect">
            <a:avLst/>
          </a:prstGeom>
          <a:noFill/>
        </p:spPr>
        <p:txBody>
          <a:bodyPr wrap="square" lIns="0" rIns="0" tIns="0" bIns="0" anchor="t">
            <a:spAutoFit/>
          </a:bodyPr>
          <a:lstStyle/>
          <a:p>
            <a:pPr algn="l">
              <a:lnSpc>
                <a:spcPct val="115000"/>
              </a:lnSpc>
            </a:pPr>
            <a:r>
              <a:rPr sz="1300" b="0" i="0">
                <a:solidFill>
                  <a:srgbClr val="4A5360"/>
                </a:solidFill>
                <a:latin typeface="Inter"/>
              </a:rPr>
              <a:t>Share of the variance of the TOO_MANY fraction between periods explained by each parameter. The setting gets a small share partly because almost all data come from level 8 – its strength is measured on the same scales before and after, on slide 13.</a:t>
            </a:r>
          </a:p>
        </p:txBody>
      </p:sp>
      <p:sp>
        <p:nvSpPr>
          <p:cNvPr id="7" name="TextBox 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Method: LMG / Shapley R² (Grömping, 2006). Source: own analysis of the Bossard SmartBin data, 1 Mar – 20 Jun 2022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28</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A9</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Empty wake-ups follow the working day</a:t>
            </a:r>
          </a:p>
        </p:txBody>
      </p:sp>
      <p:pic>
        <p:nvPicPr>
          <p:cNvPr id="5" name="Picture 4" descr="c11_hourly.png"/>
          <p:cNvPicPr>
            <a:picLocks noChangeAspect="1"/>
          </p:cNvPicPr>
          <p:nvPr/>
        </p:nvPicPr>
        <p:blipFill>
          <a:blip r:embed="rId2"/>
          <a:stretch>
            <a:fillRect/>
          </a:stretch>
        </p:blipFill>
        <p:spPr>
          <a:xfrm>
            <a:off x="722376" y="1719072"/>
            <a:ext cx="6949440" cy="3291840"/>
          </a:xfrm>
          <a:prstGeom prst="rect">
            <a:avLst/>
          </a:prstGeom>
        </p:spPr>
      </p:pic>
      <p:sp>
        <p:nvSpPr>
          <p:cNvPr id="6" name="TextBox 5"/>
          <p:cNvSpPr txBox="1"/>
          <p:nvPr/>
        </p:nvSpPr>
        <p:spPr>
          <a:xfrm>
            <a:off x="8092440" y="1856232"/>
            <a:ext cx="3291840" cy="3108960"/>
          </a:xfrm>
          <a:prstGeom prst="rect">
            <a:avLst/>
          </a:prstGeom>
          <a:noFill/>
        </p:spPr>
        <p:txBody>
          <a:bodyPr wrap="square" lIns="0" rIns="0" tIns="0" bIns="0" anchor="t">
            <a:spAutoFit/>
          </a:bodyPr>
          <a:lstStyle/>
          <a:p>
            <a:pPr algn="l">
              <a:lnSpc>
                <a:spcPct val="115000"/>
              </a:lnSpc>
              <a:spcAft>
                <a:spcPts val="800"/>
              </a:spcAft>
            </a:pPr>
            <a:r>
              <a:rPr sz="1300" b="0" i="0">
                <a:solidFill>
                  <a:srgbClr val="4A5360"/>
                </a:solidFill>
                <a:latin typeface="Inter"/>
              </a:rPr>
              <a:t>Empty wake-ups (dashed) and real picks (solid) share the same daily rhythm.</a:t>
            </a:r>
          </a:p>
          <a:p>
            <a:pPr algn="l">
              <a:lnSpc>
                <a:spcPct val="115000"/>
              </a:lnSpc>
              <a:spcAft>
                <a:spcPts val="800"/>
              </a:spcAft>
            </a:pPr>
            <a:r>
              <a:rPr sz="1300" b="0" i="0">
                <a:solidFill>
                  <a:srgbClr val="4A5360"/>
                </a:solidFill>
                <a:latin typeface="Inter"/>
              </a:rPr>
              <a:t>Weekends: 2.4% / 2.5% of the empty wake-ups (20 kg / 6 kg).</a:t>
            </a:r>
          </a:p>
          <a:p>
            <a:pPr algn="l">
              <a:lnSpc>
                <a:spcPct val="115000"/>
              </a:lnSpc>
              <a:spcAft>
                <a:spcPts val="800"/>
              </a:spcAft>
            </a:pPr>
            <a:r>
              <a:rPr sz="1300" b="0" i="0">
                <a:solidFill>
                  <a:srgbClr val="4A5360"/>
                </a:solidFill>
                <a:latin typeface="Inter"/>
              </a:rPr>
              <a:t>So a night or weekend mode would not help: empty wake-ups go with activity on the site (r = 0.99).</a:t>
            </a:r>
          </a:p>
        </p:txBody>
      </p:sp>
      <p:sp>
        <p:nvSpPr>
          <p:cNvPr id="7" name="TextBox 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 scales in a trigger loop left out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29</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APPENDIX A10 · REFLECTION</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What we learned</a:t>
            </a:r>
          </a:p>
        </p:txBody>
      </p:sp>
      <p:sp>
        <p:nvSpPr>
          <p:cNvPr id="5" name="Rounded Rectangle 4"/>
          <p:cNvSpPr/>
          <p:nvPr/>
        </p:nvSpPr>
        <p:spPr>
          <a:xfrm>
            <a:off x="813816" y="1764792"/>
            <a:ext cx="5212080" cy="1691640"/>
          </a:xfrm>
          <a:prstGeom prst="roundRect">
            <a:avLst>
              <a:gd name="adj" fmla="val 4324"/>
            </a:avLst>
          </a:prstGeom>
          <a:solidFill>
            <a:srgbClr val="FFFDF9"/>
          </a:solidFill>
          <a:ln w="6350">
            <a:solidFill>
              <a:srgbClr val="E2DDD2"/>
            </a:solidFill>
          </a:ln>
        </p:spPr>
        <p:txBody>
          <a:bodyPr rtlCol="0" anchor="ctr"/>
          <a:lstStyle/>
          <a:p>
            <a:pPr algn="ctr"/>
          </a:p>
        </p:txBody>
      </p:sp>
      <p:sp>
        <p:nvSpPr>
          <p:cNvPr id="6" name="TextBox 5"/>
          <p:cNvSpPr txBox="1"/>
          <p:nvPr/>
        </p:nvSpPr>
        <p:spPr>
          <a:xfrm>
            <a:off x="1014984" y="1965960"/>
            <a:ext cx="48097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Surprising</a:t>
            </a:r>
          </a:p>
        </p:txBody>
      </p:sp>
      <p:sp>
        <p:nvSpPr>
          <p:cNvPr id="7" name="TextBox 6"/>
          <p:cNvSpPr txBox="1"/>
          <p:nvPr/>
        </p:nvSpPr>
        <p:spPr>
          <a:xfrm>
            <a:off x="1014984" y="2269617"/>
            <a:ext cx="4809744" cy="118681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The most surprising finding was not about the setting: 274 looping scales caused more than a quarter of all automatic weighings in the data.</a:t>
            </a:r>
          </a:p>
        </p:txBody>
      </p:sp>
      <p:sp>
        <p:nvSpPr>
          <p:cNvPr id="8" name="Rounded Rectangle 7"/>
          <p:cNvSpPr/>
          <p:nvPr/>
        </p:nvSpPr>
        <p:spPr>
          <a:xfrm>
            <a:off x="6163055" y="1764792"/>
            <a:ext cx="5212080" cy="1691640"/>
          </a:xfrm>
          <a:prstGeom prst="roundRect">
            <a:avLst>
              <a:gd name="adj" fmla="val 4324"/>
            </a:avLst>
          </a:prstGeom>
          <a:solidFill>
            <a:srgbClr val="FFFDF9"/>
          </a:solidFill>
          <a:ln w="6350">
            <a:solidFill>
              <a:srgbClr val="E2DDD2"/>
            </a:solidFill>
          </a:ln>
        </p:spPr>
        <p:txBody>
          <a:bodyPr rtlCol="0" anchor="ctr"/>
          <a:lstStyle/>
          <a:p>
            <a:pPr algn="ctr"/>
          </a:p>
        </p:txBody>
      </p:sp>
      <p:sp>
        <p:nvSpPr>
          <p:cNvPr id="9" name="TextBox 8"/>
          <p:cNvSpPr txBox="1"/>
          <p:nvPr/>
        </p:nvSpPr>
        <p:spPr>
          <a:xfrm>
            <a:off x="6364223" y="1965960"/>
            <a:ext cx="48097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Expected</a:t>
            </a:r>
          </a:p>
        </p:txBody>
      </p:sp>
      <p:sp>
        <p:nvSpPr>
          <p:cNvPr id="10" name="TextBox 9"/>
          <p:cNvSpPr txBox="1"/>
          <p:nvPr/>
        </p:nvSpPr>
        <p:spPr>
          <a:xfrm>
            <a:off x="6364223" y="2269617"/>
            <a:ext cx="4809744" cy="118681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The setting trades empty wake-ups against misses – but the first step costs almost nothing.</a:t>
            </a:r>
          </a:p>
        </p:txBody>
      </p:sp>
      <p:sp>
        <p:nvSpPr>
          <p:cNvPr id="11" name="Rounded Rectangle 10"/>
          <p:cNvSpPr/>
          <p:nvPr/>
        </p:nvSpPr>
        <p:spPr>
          <a:xfrm>
            <a:off x="813816" y="3639312"/>
            <a:ext cx="5212080" cy="1691640"/>
          </a:xfrm>
          <a:prstGeom prst="roundRect">
            <a:avLst>
              <a:gd name="adj" fmla="val 4324"/>
            </a:avLst>
          </a:prstGeom>
          <a:solidFill>
            <a:srgbClr val="FFFDF9"/>
          </a:solidFill>
          <a:ln w="6350">
            <a:solidFill>
              <a:srgbClr val="E2DDD2"/>
            </a:solidFill>
          </a:ln>
        </p:spPr>
        <p:txBody>
          <a:bodyPr rtlCol="0" anchor="ctr"/>
          <a:lstStyle/>
          <a:p>
            <a:pPr algn="ctr"/>
          </a:p>
        </p:txBody>
      </p:sp>
      <p:sp>
        <p:nvSpPr>
          <p:cNvPr id="12" name="TextBox 11"/>
          <p:cNvSpPr txBox="1"/>
          <p:nvPr/>
        </p:nvSpPr>
        <p:spPr>
          <a:xfrm>
            <a:off x="1014984" y="3840480"/>
            <a:ext cx="48097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Hard</a:t>
            </a:r>
          </a:p>
        </p:txBody>
      </p:sp>
      <p:sp>
        <p:nvSpPr>
          <p:cNvPr id="13" name="TextBox 12"/>
          <p:cNvSpPr txBox="1"/>
          <p:nvPr/>
        </p:nvSpPr>
        <p:spPr>
          <a:xfrm>
            <a:off x="1014984" y="4144137"/>
            <a:ext cx="4809744" cy="118681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Labels are not ground truth: TOO_FEW is a lower bound and tiny picks are invisible. We had to estimate the threshold from the data.</a:t>
            </a:r>
          </a:p>
        </p:txBody>
      </p:sp>
      <p:sp>
        <p:nvSpPr>
          <p:cNvPr id="14" name="Rounded Rectangle 13"/>
          <p:cNvSpPr/>
          <p:nvPr/>
        </p:nvSpPr>
        <p:spPr>
          <a:xfrm>
            <a:off x="6163055" y="3639312"/>
            <a:ext cx="5212080" cy="1691640"/>
          </a:xfrm>
          <a:prstGeom prst="roundRect">
            <a:avLst>
              <a:gd name="adj" fmla="val 4324"/>
            </a:avLst>
          </a:prstGeom>
          <a:solidFill>
            <a:srgbClr val="FFFDF9"/>
          </a:solidFill>
          <a:ln w="6350">
            <a:solidFill>
              <a:srgbClr val="E2DDD2"/>
            </a:solidFill>
          </a:ln>
        </p:spPr>
        <p:txBody>
          <a:bodyPr rtlCol="0" anchor="ctr"/>
          <a:lstStyle/>
          <a:p>
            <a:pPr algn="ctr"/>
          </a:p>
        </p:txBody>
      </p:sp>
      <p:sp>
        <p:nvSpPr>
          <p:cNvPr id="15" name="TextBox 14"/>
          <p:cNvSpPr txBox="1"/>
          <p:nvPr/>
        </p:nvSpPr>
        <p:spPr>
          <a:xfrm>
            <a:off x="6364223" y="3840480"/>
            <a:ext cx="4809744" cy="274320"/>
          </a:xfrm>
          <a:prstGeom prst="rect">
            <a:avLst/>
          </a:prstGeom>
          <a:noFill/>
        </p:spPr>
        <p:txBody>
          <a:bodyPr wrap="square" lIns="0" rIns="0" tIns="0" bIns="0" anchor="t">
            <a:spAutoFit/>
          </a:bodyPr>
          <a:lstStyle/>
          <a:p>
            <a:pPr algn="l">
              <a:lnSpc>
                <a:spcPct val="100000"/>
              </a:lnSpc>
            </a:pPr>
            <a:r>
              <a:rPr sz="1500" b="1" i="0">
                <a:solidFill>
                  <a:srgbClr val="1E2A38"/>
                </a:solidFill>
                <a:latin typeface="Inter"/>
              </a:rPr>
              <a:t>Next time</a:t>
            </a:r>
          </a:p>
        </p:txBody>
      </p:sp>
      <p:sp>
        <p:nvSpPr>
          <p:cNvPr id="16" name="TextBox 15"/>
          <p:cNvSpPr txBox="1"/>
          <p:nvPr/>
        </p:nvSpPr>
        <p:spPr>
          <a:xfrm>
            <a:off x="6364223" y="4144137"/>
            <a:ext cx="4809744" cy="1186815"/>
          </a:xfrm>
          <a:prstGeom prst="rect">
            <a:avLst/>
          </a:prstGeom>
          <a:noFill/>
        </p:spPr>
        <p:txBody>
          <a:bodyPr wrap="square" lIns="0" rIns="0" tIns="0" bIns="0" anchor="t">
            <a:spAutoFit/>
          </a:bodyPr>
          <a:lstStyle/>
          <a:p>
            <a:pPr algn="l">
              <a:lnSpc>
                <a:spcPct val="115000"/>
              </a:lnSpc>
              <a:spcAft>
                <a:spcPts val="300"/>
              </a:spcAft>
            </a:pPr>
            <a:r>
              <a:rPr sz="1300" b="0" i="0">
                <a:solidFill>
                  <a:srgbClr val="4A5360"/>
                </a:solidFill>
                <a:latin typeface="Inter"/>
              </a:rPr>
              <a:t>Ask for rack positions and the firmware rules first – and design the pilot with control sites from day one.</a:t>
            </a:r>
          </a:p>
        </p:txBody>
      </p:sp>
      <p:sp>
        <p:nvSpPr>
          <p:cNvPr id="17" name="TextBox 16"/>
          <p:cNvSpPr txBox="1"/>
          <p:nvPr/>
        </p:nvSpPr>
        <p:spPr>
          <a:xfrm>
            <a:off x="813816" y="6382512"/>
            <a:ext cx="10241280" cy="274320"/>
          </a:xfrm>
          <a:prstGeom prst="rect">
            <a:avLst/>
          </a:prstGeom>
          <a:noFill/>
        </p:spPr>
        <p:txBody>
          <a:bodyPr wrap="square" lIns="0" rIns="0" tIns="0" bIns="0" anchor="t">
            <a:spAutoFit/>
          </a:bodyPr>
          <a:lstStyle/>
          <a:p>
            <a:pPr algn="l">
              <a:lnSpc>
                <a:spcPct val="112000"/>
              </a:lnSpc>
            </a:pPr>
            <a:r>
              <a:rPr sz="950" b="0" i="0">
                <a:solidFill>
                  <a:srgbClr val="8A8F98"/>
                </a:solidFill>
                <a:latin typeface="Inter"/>
              </a:rPr>
              <a:t>Source: own analysis of the Bossard SmartBin data, 1 Mar – 20 Jun 2022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11292840" y="6382512"/>
            <a:ext cx="457200" cy="274320"/>
          </a:xfrm>
          <a:prstGeom prst="rect">
            <a:avLst/>
          </a:prstGeom>
          <a:noFill/>
        </p:spPr>
        <p:txBody>
          <a:bodyPr wrap="square" lIns="0" rIns="0" tIns="0" bIns="0" anchor="t">
            <a:spAutoFit/>
          </a:bodyPr>
          <a:lstStyle/>
          <a:p>
            <a:pPr algn="r">
              <a:lnSpc>
                <a:spcPct val="112000"/>
              </a:lnSpc>
            </a:pPr>
            <a:r>
              <a:rPr sz="950" b="0" i="0">
                <a:solidFill>
                  <a:srgbClr val="8A8F98"/>
                </a:solidFill>
                <a:latin typeface="Inter"/>
              </a:rPr>
              <a:t>30</a:t>
            </a:r>
          </a:p>
        </p:txBody>
      </p:sp>
      <p:sp>
        <p:nvSpPr>
          <p:cNvPr id="3" name="TextBox 2"/>
          <p:cNvSpPr txBox="1"/>
          <p:nvPr/>
        </p:nvSpPr>
        <p:spPr>
          <a:xfrm>
            <a:off x="813816" y="713232"/>
            <a:ext cx="10844784" cy="237744"/>
          </a:xfrm>
          <a:prstGeom prst="rect">
            <a:avLst/>
          </a:prstGeom>
          <a:noFill/>
        </p:spPr>
        <p:txBody>
          <a:bodyPr wrap="square" lIns="0" rIns="0" tIns="0" bIns="0" anchor="t">
            <a:spAutoFit/>
          </a:bodyPr>
          <a:lstStyle/>
          <a:p>
            <a:pPr algn="l">
              <a:lnSpc>
                <a:spcPct val="112000"/>
              </a:lnSpc>
            </a:pPr>
            <a:r>
              <a:rPr sz="1200" b="1" i="0" spc="150">
                <a:solidFill>
                  <a:srgbClr val="B5541A"/>
                </a:solidFill>
                <a:latin typeface="Inter"/>
              </a:rPr>
              <a:t>REFERENCES</a:t>
            </a:r>
          </a:p>
        </p:txBody>
      </p:sp>
      <p:sp>
        <p:nvSpPr>
          <p:cNvPr id="4" name="TextBox 3"/>
          <p:cNvSpPr txBox="1"/>
          <p:nvPr/>
        </p:nvSpPr>
        <p:spPr>
          <a:xfrm>
            <a:off x="813816" y="987552"/>
            <a:ext cx="10844784" cy="502920"/>
          </a:xfrm>
          <a:prstGeom prst="rect">
            <a:avLst/>
          </a:prstGeom>
          <a:noFill/>
        </p:spPr>
        <p:txBody>
          <a:bodyPr wrap="square" lIns="0" rIns="0" tIns="0" bIns="0" anchor="t">
            <a:spAutoFit/>
          </a:bodyPr>
          <a:lstStyle/>
          <a:p>
            <a:pPr algn="l">
              <a:lnSpc>
                <a:spcPct val="100000"/>
              </a:lnSpc>
            </a:pPr>
            <a:r>
              <a:rPr sz="3200" b="1" i="0">
                <a:solidFill>
                  <a:srgbClr val="1E2A38"/>
                </a:solidFill>
                <a:latin typeface="Source Serif 4"/>
              </a:rPr>
              <a:t>Sources</a:t>
            </a:r>
          </a:p>
        </p:txBody>
      </p:sp>
      <p:sp>
        <p:nvSpPr>
          <p:cNvPr id="5" name="TextBox 4"/>
          <p:cNvSpPr txBox="1"/>
          <p:nvPr/>
        </p:nvSpPr>
        <p:spPr>
          <a:xfrm>
            <a:off x="813816" y="1673352"/>
            <a:ext cx="10570464" cy="4480560"/>
          </a:xfrm>
          <a:prstGeom prst="rect">
            <a:avLst/>
          </a:prstGeom>
          <a:noFill/>
        </p:spPr>
        <p:txBody>
          <a:bodyPr wrap="square" lIns="0" rIns="0" tIns="0" bIns="0" anchor="t">
            <a:spAutoFit/>
          </a:bodyPr>
          <a:lstStyle/>
          <a:p>
            <a:pPr algn="l">
              <a:lnSpc>
                <a:spcPct val="108000"/>
              </a:lnSpc>
              <a:spcAft>
                <a:spcPts val="500"/>
              </a:spcAft>
            </a:pPr>
            <a:r>
              <a:rPr sz="1100" b="0" i="0">
                <a:solidFill>
                  <a:srgbClr val="1E2A38"/>
                </a:solidFill>
                <a:latin typeface="Inter"/>
              </a:rPr>
              <a:t>Anastasi, G., Conti, M., Di Francesco, M., &amp; Passarella, A. (2009). Energy conservation in wireless sensor networks: A survey. Ad Hoc Networks, 7(3), 537–568. https://doi.org/10.1016/j.adhoc.2008.06.003</a:t>
            </a:r>
          </a:p>
          <a:p>
            <a:pPr algn="l">
              <a:lnSpc>
                <a:spcPct val="108000"/>
              </a:lnSpc>
              <a:spcAft>
                <a:spcPts val="500"/>
              </a:spcAft>
            </a:pPr>
            <a:r>
              <a:rPr sz="1100" b="0" i="0">
                <a:solidFill>
                  <a:srgbClr val="1E2A38"/>
                </a:solidFill>
                <a:latin typeface="Inter"/>
              </a:rPr>
              <a:t>Angrist, J. D., &amp; Pischke, J.-S. (2009). Mostly harmless econometrics: An empiricist's companion. Princeton University Press.</a:t>
            </a:r>
          </a:p>
          <a:p>
            <a:pPr algn="l">
              <a:lnSpc>
                <a:spcPct val="108000"/>
              </a:lnSpc>
              <a:spcAft>
                <a:spcPts val="500"/>
              </a:spcAft>
            </a:pPr>
            <a:r>
              <a:rPr sz="1100" b="0" i="0">
                <a:solidFill>
                  <a:srgbClr val="1E2A38"/>
                </a:solidFill>
                <a:latin typeface="Inter"/>
              </a:rPr>
              <a:t>Bossard AG. (n.d.). SmartBin Cloud. Retrieved 6 October 2026, from https://www.bossard.com/ch-en/smart-factory-logistics/systems/smartbin-cloud/</a:t>
            </a:r>
          </a:p>
          <a:p>
            <a:pPr algn="l">
              <a:lnSpc>
                <a:spcPct val="108000"/>
              </a:lnSpc>
              <a:spcAft>
                <a:spcPts val="500"/>
              </a:spcAft>
            </a:pPr>
            <a:r>
              <a:rPr sz="1100" b="0" i="0">
                <a:solidFill>
                  <a:srgbClr val="1E2A38"/>
                </a:solidFill>
                <a:latin typeface="Inter"/>
              </a:rPr>
              <a:t>Bossard AG &amp; D ONE Solutions AG. (2026). Smart Factory Logistics – SmartBin Cloud [Lecture slides, case description and case data]. HSLU, module Data-driven Supply Chain Management and Logistics. Confidential (NDA).</a:t>
            </a:r>
          </a:p>
          <a:p>
            <a:pPr algn="l">
              <a:lnSpc>
                <a:spcPct val="108000"/>
              </a:lnSpc>
              <a:spcAft>
                <a:spcPts val="500"/>
              </a:spcAft>
            </a:pPr>
            <a:r>
              <a:rPr sz="1100" b="0" i="0">
                <a:solidFill>
                  <a:srgbClr val="1E2A38"/>
                </a:solidFill>
                <a:latin typeface="Inter"/>
              </a:rPr>
              <a:t>Chapman, P., Clinton, J., Kerber, R., Khabaza, T., Reinartz, T., Shearer, C., &amp; Wirth, R. (2000). CRISP-DM 1.0: Step-by-step data mining guide. SPSS Inc.</a:t>
            </a:r>
          </a:p>
          <a:p>
            <a:pPr algn="l">
              <a:lnSpc>
                <a:spcPct val="108000"/>
              </a:lnSpc>
              <a:spcAft>
                <a:spcPts val="500"/>
              </a:spcAft>
            </a:pPr>
            <a:r>
              <a:rPr sz="1100" b="0" i="0">
                <a:solidFill>
                  <a:srgbClr val="1E2A38"/>
                </a:solidFill>
                <a:latin typeface="Inter"/>
              </a:rPr>
              <a:t>Donges, J. F., Schleussner, C.-F., Siegmund, J. F., &amp; Donner, R. V. (2016). Event coincidence analysis for quantifying statistical interrelationships between event time series. The European Physical Journal Special Topics, 225(3), 471–487. https://doi.org/10.1140/epjst/e2015-50233-y</a:t>
            </a:r>
          </a:p>
          <a:p>
            <a:pPr algn="l">
              <a:lnSpc>
                <a:spcPct val="108000"/>
              </a:lnSpc>
              <a:spcAft>
                <a:spcPts val="500"/>
              </a:spcAft>
            </a:pPr>
            <a:r>
              <a:rPr sz="1100" b="0" i="0">
                <a:solidFill>
                  <a:srgbClr val="1E2A38"/>
                </a:solidFill>
                <a:latin typeface="Inter"/>
              </a:rPr>
              <a:t>Green, D. M., &amp; Swets, J. A. (1966). Signal detection theory and psychophysics. Wiley.</a:t>
            </a:r>
          </a:p>
          <a:p>
            <a:pPr algn="l">
              <a:lnSpc>
                <a:spcPct val="108000"/>
              </a:lnSpc>
              <a:spcAft>
                <a:spcPts val="500"/>
              </a:spcAft>
            </a:pPr>
            <a:r>
              <a:rPr sz="1100" b="0" i="0">
                <a:solidFill>
                  <a:srgbClr val="1E2A38"/>
                </a:solidFill>
                <a:latin typeface="Inter"/>
              </a:rPr>
              <a:t>Grömping, U. (2006). Relative importance for linear regression in R: The package relaimpo. Journal of Statistical Software, 17(1), 1–27. https://doi.org/10.18637/jss.v017.i01</a:t>
            </a:r>
          </a:p>
          <a:p>
            <a:pPr algn="l">
              <a:lnSpc>
                <a:spcPct val="108000"/>
              </a:lnSpc>
              <a:spcAft>
                <a:spcPts val="500"/>
              </a:spcAft>
            </a:pPr>
            <a:r>
              <a:rPr sz="1100" b="0" i="0">
                <a:solidFill>
                  <a:srgbClr val="1E2A38"/>
                </a:solidFill>
                <a:latin typeface="Inter"/>
              </a:rPr>
              <a:t>Shrout, P. E., &amp; Fleiss, J. L. (1979). Intraclass correlations: Uses in assessing rater reliability. Psychological Bulletin, 86(2), 420–428. https://doi.org/10.1037/0033-2909.86.2.420</a:t>
            </a:r>
          </a:p>
          <a:p>
            <a:pPr algn="l">
              <a:lnSpc>
                <a:spcPct val="108000"/>
              </a:lnSpc>
              <a:spcAft>
                <a:spcPts val="500"/>
              </a:spcAft>
            </a:pPr>
            <a:r>
              <a:rPr sz="1100" b="0" i="0">
                <a:solidFill>
                  <a:srgbClr val="1E2A38"/>
                </a:solidFill>
                <a:latin typeface="Inter"/>
              </a:rPr>
              <a:t>Strathern, M. (1997). 'Improving ratings': Audit in the British university system. European Review, 5(3), 305–321.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SmartBin Cloud – tuning the vibration sensor</dc:title>
  <dc:subject>HSLU · Data-driven Supply Chain Management and Logistics · Smart Logistics Service Optimisation</dc:subject>
  <dc:creator>Erenalp Çakıroğlu</dc:creator>
  <cp:keywords>SmartBin; IoT; sensitivity; Bossard; case study</cp:keywords>
  <dc:description/>
  <cp:lastModifiedBy>Erenalp Çakıroğlu</cp:lastModifiedBy>
  <cp:revision>1</cp:revision>
  <dcterms:created xsi:type="dcterms:W3CDTF">2026-10-06T21:32:08Z</dcterms:created>
  <dcterms:modified xsi:type="dcterms:W3CDTF">2026-10-06T21:32:08Z</dcterms:modified>
  <cp:category/>
</cp:coreProperties>
</file>