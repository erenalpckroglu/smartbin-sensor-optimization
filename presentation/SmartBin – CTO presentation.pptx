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r>
              <a:t>Thank you for having us. This talk is about the SmartBin scales.</a:t>
            </a:r>
          </a:p>
          <a:p>
            <a:r>
              <a:t>Today most of their weighings find nothing.</a:t>
            </a:r>
          </a:p>
          <a:p>
            <a:r>
              <a:t>We looked at 7.6 million weighings and found out why.</a:t>
            </a:r>
          </a:p>
          <a:p>
            <a:r>
              <a:t>We also found a simple way for every scale to find its own setting.</a:t>
            </a:r>
          </a:p>
          <a:p>
            <a:r>
              <a:t>The three numbers on the right tell the whole story.</a:t>
            </a:r>
          </a:p>
          <a:p>
            <a:r>
              <a:t>We can cut the weighings by more than half.</a:t>
            </a:r>
          </a:p>
          <a:p>
            <a:r>
              <a:t>More than half of the empty wake-ups come from picking nearby.</a:t>
            </a:r>
          </a:p>
          <a:p>
            <a:r>
              <a:t>And a very small group of scales causes a quarter of the load.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A SmartBin is a scale under a storage bin.</a:t>
            </a:r>
          </a:p>
          <a:p>
            <a:r>
              <a:t>When a worker takes parts, a sensor feels the vibration and wakes the scale up.</a:t>
            </a:r>
          </a:p>
          <a:p>
            <a:r>
              <a:t>The scale weighs the bin and sends the new stock level to ARIMS. ARIMS then reorders.</a:t>
            </a:r>
          </a:p>
          <a:p>
            <a:r>
              <a:t>The problem is that three out of four of these weighings find nothing.</a:t>
            </a:r>
          </a:p>
          <a:p>
            <a:r>
              <a:t>Each one costs battery, network and cloud capacity.</a:t>
            </a:r>
          </a:p>
          <a:p>
            <a:r>
              <a:t>If we make the sensor less sensitive, it may sleep through a real pick.</a:t>
            </a:r>
          </a:p>
          <a:p>
            <a:r>
              <a:t>Then the stock level is wrong for a while.</a:t>
            </a:r>
          </a:p>
          <a:p>
            <a:r>
              <a:t>So the question is simple. How should the sensor be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We had 7.6 million weighings from 18,455 scales over 16 weeks.</a:t>
            </a:r>
          </a:p>
          <a:p>
            <a:r>
              <a:t>First we cleaned the data. We removed duplicate rows and a few impossible weights.</a:t>
            </a:r>
          </a:p>
          <a:p>
            <a:r>
              <a:t>Then we measured each scale on its own. We use the typical scale, so a few noisy scales cannot distort the picture.</a:t>
            </a:r>
          </a:p>
          <a:p>
            <a:r>
              <a:t>The most useful part of the data is April. Bossard gave 7,846 scales a new setting. So we can compare the same scale before and after.</a:t>
            </a:r>
          </a:p>
          <a:p>
            <a:r>
              <a:t>Finally we simulated nine ways to set the sensor.</a:t>
            </a:r>
          </a:p>
          <a:p>
            <a:r>
              <a:t>The whole analysis can be run again in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This is the fleet today, on the factory setting.</a:t>
            </a:r>
          </a:p>
          <a:p>
            <a:r>
              <a:t>Almost every scale meets Bossard's target for missed picks.</a:t>
            </a:r>
          </a:p>
          <a:p>
            <a:r>
              <a:t>But almost no scale meets the target for empty wake-ups.</a:t>
            </a:r>
          </a:p>
          <a:p>
            <a:r>
              <a:t>A typical 20 kg scale wakes up for nothing about 14 times a week. It sees only one or two real picks.</a:t>
            </a:r>
          </a:p>
          <a:p>
            <a:r>
              <a:t>So the sensor is set too sensitive. There is room to turn it down.</a:t>
            </a:r>
          </a:p>
          <a:p>
            <a:r>
              <a:t>The real question is how far we can go before we start missing picks.</a:t>
            </a:r>
          </a:p>
          <a:p>
            <a:r>
              <a:t>If the Power BI report is open, this page can be shown live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Bossard's KPI is the share of wake-ups that find nothing.</a:t>
            </a:r>
          </a:p>
          <a:p>
            <a:r>
              <a:t>Look at what happens when the setting goes down.</a:t>
            </a:r>
          </a:p>
          <a:p>
            <a:r>
              <a:t>On the left, the empty wake-ups almost disappear.</a:t>
            </a:r>
          </a:p>
          <a:p>
            <a:r>
              <a:t>On the right, the KPI barely changes. Only on setting 1 does it touch the target, and there the sensor is almost off.</a:t>
            </a:r>
          </a:p>
          <a:p>
            <a:r>
              <a:t>Why? A less sensitive scale also misses real picks. Both numbers fall together, so the share stays high.</a:t>
            </a:r>
          </a:p>
          <a:p>
            <a:r>
              <a:t>The KPI also punishes bins that are rarely used.</a:t>
            </a:r>
          </a:p>
          <a:p>
            <a:r>
              <a:t>So we suggest to count what really costs money. Empty wake-ups per week, and the share of picks we miss.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a:t>
            </a:r>
          </a:p>
          <a:p>
            <a:r>
              <a:t>This is our key finding.</a:t>
            </a:r>
          </a:p>
          <a:p>
            <a:r>
              <a:t>Here is one real moment from the data. A worker takes parts from Bin A. In the same seconds, three bins next to it wake up. They weigh and find nothing.</a:t>
            </a:r>
          </a:p>
          <a:p>
            <a:r>
              <a:t>This is not a rare story. It happens all the time.</a:t>
            </a:r>
          </a:p>
          <a:p>
            <a:r>
              <a:t>More than half of all empty wake-ups come within 14 seconds of a real pick in the same factory. That is after we remove what would happen by chance.</a:t>
            </a:r>
          </a:p>
          <a:p>
            <a:r>
              <a:t>So the sensor does not only feel its own bin. It feels the whole rack.</a:t>
            </a:r>
          </a:p>
          <a:p>
            <a:r>
              <a:t>A lower setting filters part of this. Better damping of the rack could do the 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A claim like this needs proof. We checked it in four ways.</a:t>
            </a:r>
          </a:p>
          <a:p>
            <a:r>
              <a:t>First, the left chart. Around an empty wake-up, picks nearby jump to about eight times the normal level. Exactly at zero seconds.</a:t>
            </a:r>
          </a:p>
          <a:p>
            <a:r>
              <a:t>Second, we look one minute later, in the same busy hour. The link is gone. So it is not just a busy time of day.</a:t>
            </a:r>
          </a:p>
          <a:p>
            <a:r>
              <a:t>Third, the right chart. We take picks from a different factory at the same moment. There is no link at all.</a:t>
            </a:r>
          </a:p>
          <a:p>
            <a:r>
              <a:t>Fourth, the busier the factory, the stronger the link. And it holds for almost every scale.</a:t>
            </a:r>
          </a:p>
          <a:p>
            <a:r>
              <a:t>What the data cannot tell us is how the vibration travels. A short test on site with a vibration sensor would show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a:t>
            </a:r>
          </a:p>
          <a:p>
            <a:r>
              <a:t>Our third finding was the biggest surprise.</a:t>
            </a:r>
          </a:p>
          <a:p>
            <a:r>
              <a:t>A small group of scales wakes itself up again and again. On the left you see one of them. About forty wake-ups every hour, day and night.</a:t>
            </a:r>
          </a:p>
          <a:p>
            <a:r>
              <a:t>The gap is usually 90 seconds. That is the shortest wait the scale allows, plus its measuring delay. So the scale triggers itself.</a:t>
            </a:r>
          </a:p>
          <a:p>
            <a:r>
              <a:t>On the right you see how different these scales are. They wake up at night and at weekends. And they have no link to picks nearby.</a:t>
            </a:r>
          </a:p>
          <a:p>
            <a:r>
              <a:t>Only 1.5 percent of the scales do this. But they cause 27 percent of all weighings. Most of them during a short test of setting 3 in April.</a:t>
            </a:r>
          </a:p>
          <a:p>
            <a:r>
              <a:t>The same scales behave normally on another setting. So the hardware is fine. This looks like a firmware problem.</a:t>
            </a:r>
          </a:p>
          <a:p>
            <a:r>
              <a:t>We removed these scales and repeated all our analyses. The results did not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Now, what does the setting really do?</a:t>
            </a:r>
          </a:p>
          <a:p>
            <a:r>
              <a:t>In April Bossard changed the setting of thousands of scales. We compare each scale with itself, before and after.</a:t>
            </a:r>
          </a:p>
          <a:p>
            <a:r>
              <a:t>The first step, from 8 to 7, removes about half of the empty wake-ups. It costs only two or three points of missed picks.</a:t>
            </a:r>
          </a:p>
          <a:p>
            <a:r>
              <a:t>The steps below 6 are different. There the scale starts to miss real picks.</a:t>
            </a:r>
          </a:p>
          <a:p>
            <a:r>
              <a:t>So the first steps are cheap. The deep steps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Can we not just pick one good setting for everyone?</a:t>
            </a:r>
          </a:p>
          <a:p>
            <a:r>
              <a:t>No. On the left, every bar is a factory. Same setting, very different results.</a:t>
            </a:r>
          </a:p>
          <a:p>
            <a:r>
              <a:t>On the right is what makes the biggest difference. The factory, and how often a bin is used.</a:t>
            </a:r>
          </a:p>
          <a:p>
            <a:r>
              <a:t>Box type and item weight matter much less. But those are the only things Bossard knows before a scale is installed.</a:t>
            </a:r>
          </a:p>
          <a:p>
            <a:r>
              <a:t>We also tested a table by pick size. It chose the same setting for almost every scale.</a:t>
            </a:r>
          </a:p>
          <a:p>
            <a:r>
              <a:t>So the best setting cannot be looked up. Each scale has to learn it.</a:t>
            </a:r>
          </a:p>
          <a:p>
            <a:r>
              <a:t>If the Power BI report is open, the factory page fits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Our recommendation has three steps. None of them needs new hardware. Everything runs on data the cloud already has.</a:t>
            </a:r>
          </a:p>
          <a:p>
            <a:r>
              <a:t>Flag. Find the looping scales every day and send them to service.</a:t>
            </a:r>
          </a:p>
          <a:p>
            <a:r>
              <a:t>Tune. Every scale starts on setting 7. Every two weeks it moves one step, or it stays.</a:t>
            </a:r>
          </a:p>
          <a:p>
            <a:r>
              <a:t>Watch. Track the new KPIs. Keep the daily safety check. Look closer at the few scales that miss most picks.</a:t>
            </a:r>
          </a:p>
          <a:p>
            <a:r>
              <a:t>We suggest to start the first part now, and to test the rule in about ten factories for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How do we find a looping scale? With two simple numbers.</a:t>
            </a:r>
          </a:p>
          <a:p>
            <a:r>
              <a:t>How often does it wake up again within two minutes? And how many times a day does it wake up?</a:t>
            </a:r>
          </a:p>
          <a:p>
            <a:r>
              <a:t>If more than half of the wake-ups come that fast, and it wakes up more than 20 times a day, it is looping.</a:t>
            </a:r>
          </a:p>
          <a:p>
            <a:r>
              <a:t>The chart shows why this is easy. Normal scales sit bottom left. Looping scales sit top right. There is a big gap between them.</a:t>
            </a:r>
          </a:p>
          <a:p>
            <a:r>
              <a:t>Then three steps. Set the scale back to 7 from the cloud. If it still loops after two days, send service. And give the list to the firmware team.</a:t>
            </a:r>
          </a:p>
          <a:p>
            <a:r>
              <a:t>We deliver the check as a short script, together with today's list.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a:t>
            </a:r>
          </a:p>
          <a:p>
            <a:r>
              <a:t>This is the heart of the solution, and it is simple.</a:t>
            </a:r>
          </a:p>
          <a:p>
            <a:r>
              <a:t>Every two weeks the cloud looks at each scale.</a:t>
            </a:r>
          </a:p>
          <a:p>
            <a:r>
              <a:t>Did it miss more than 10 percent of its picks? Then it becomes one step more sensitive.</a:t>
            </a:r>
          </a:p>
          <a:p>
            <a:r>
              <a:t>Did it wake up for nothing more than seven times a week, with almost no misses? Then it becomes one step less sensitive.</a:t>
            </a:r>
          </a:p>
          <a:p>
            <a:r>
              <a:t>Otherwise it stays where it is.</a:t>
            </a:r>
          </a:p>
          <a:p>
            <a:r>
              <a:t>On the right is an example. A busy scale starts on 7 and steps down twice. On 5 it misses a pick, so it goes back up to 6. There it stays.</a:t>
            </a:r>
          </a:p>
          <a:p>
            <a:r>
              <a:t>It ends with about two thirds fewer empty wake-ups.</a:t>
            </a:r>
          </a:p>
          <a:p>
            <a:r>
              <a:t>On average a scale changes its setting about once a month.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A fair question is this. If the sensor sleeps more, does the stock stay wrong for days?</a:t>
            </a:r>
          </a:p>
          <a:p>
            <a:r>
              <a:t>The data says no. Most missed picks are found within one or two days. Bossard already runs a daily check on every scale that was quiet for 24 hours. It finds most of the misses, and we keep it.</a:t>
            </a:r>
          </a:p>
          <a:p>
            <a:r>
              <a:t>A few take longer. We suggest an alarm for any scale that has been silent for two days.</a:t>
            </a:r>
          </a:p>
          <a:p>
            <a:r>
              <a:t>On the right you see that misses are concentrated. Ten percent of the scales cause about half of them. Those scales get an extra check.</a:t>
            </a:r>
          </a:p>
          <a:p>
            <a:r>
              <a:t>We do not recommend an extra night check for all scales. It would eat a third of the savings.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We simulated every option on every scale.</a:t>
            </a:r>
          </a:p>
          <a:p>
            <a:r>
              <a:t>One setting for all saves a lot. But the typical scale then misses close to half of its picks. Steering by Bossard's KPI ends in the same place.</a:t>
            </a:r>
          </a:p>
          <a:p>
            <a:r>
              <a:t>Our rule saves 61 and 55 percent of the weighings. The typical scale misses around 11 to 12 percent of its picks, and the daily check finds them.</a:t>
            </a:r>
          </a:p>
          <a:p>
            <a:r>
              <a:t>On the whole fleet that is about 2 million fewer weighings every week. That is an estimate, not a promise.</a:t>
            </a:r>
          </a:p>
          <a:p>
            <a:r>
              <a:t>To be honest, 11 to 12 percent is just above the 10 percent target. The pilot will fine-tune this.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or keep it for questions)</a:t>
            </a:r>
          </a:p>
          <a:p>
            <a:r>
              <a:t>We tested the obvious shortcuts.</a:t>
            </a:r>
          </a:p>
          <a:p>
            <a:r>
              <a:t>One setting for all looks good on Bossard's KPI, but it misses many real picks.</a:t>
            </a:r>
          </a:p>
          <a:p>
            <a:r>
              <a:t>Switching the sensor off at quiet hours does not help. Empty wake-ups follow the working day, just like real picks.</a:t>
            </a:r>
          </a:p>
          <a:p>
            <a:r>
              <a:t>An extra night check for every scale costs too much.</a:t>
            </a:r>
          </a:p>
          <a:p>
            <a:r>
              <a:t>A longer wait time was only used in two factories, so we cannot measure it.</a:t>
            </a:r>
          </a:p>
          <a:p>
            <a:r>
              <a:t>Bundling wake-ups is a nice firmware idea for later, but it adds only a little.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a:t>
            </a:r>
          </a:p>
          <a:p>
            <a:r>
              <a:t>What should Bossard do on Monday?</a:t>
            </a:r>
          </a:p>
          <a:p>
            <a:r>
              <a:t>Two things are safe and can start now. The daily loop check, and the new default setting of 7. We measured both on real scales.</a:t>
            </a:r>
          </a:p>
          <a:p>
            <a:r>
              <a:t>The rule itself goes into an eight-week pilot in about ten factories. We compare them with similar factories that keep the old setting.</a:t>
            </a:r>
          </a:p>
          <a:p>
            <a:r>
              <a:t>In parallel, a vibration test in the factories with the most empty wake-ups, and a firmware fix for the loops.</a:t>
            </a:r>
          </a:p>
          <a:p>
            <a:r>
              <a:t>Our limits are simple. We have one season of data, and the April change was not random. That is why we want a pilot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during questions. The backup slides cover data cleaning, the results without the looping scales, the methods, pick size, the code and the sources.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someone asks about duplicates. Yes, we checked them. Not all duplicates were identical. Some copies had different labels, so we keep the row but do not use its label.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someone asks whether the looping scales distort the results. We removed them and ran everything again. The key numbers stay the same, and the link to picks nearby gets stronger.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someone asks about a method.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if someone asks about pick size. Small picks are hard to see on a 20 kg scale. Settings 6 to 8 work for almost every pick size. That is why the rule starts on 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data scientists in the room. Everything can be rebuilt from the three raw files.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cited on the slides. Case data are confidential and used under the module 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822960"/>
            <a:ext cx="6400800" cy="27432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SMARTBIN CLOUD · BOSSARD × D ONE · HSLU CASE STUDY</a:t>
            </a:r>
          </a:p>
        </p:txBody>
      </p:sp>
      <p:sp>
        <p:nvSpPr>
          <p:cNvPr id="4" name="TextBox 3"/>
          <p:cNvSpPr txBox="1"/>
          <p:nvPr/>
        </p:nvSpPr>
        <p:spPr>
          <a:xfrm>
            <a:off x="813816" y="1234440"/>
            <a:ext cx="6583680" cy="2011680"/>
          </a:xfrm>
          <a:prstGeom prst="rect">
            <a:avLst/>
          </a:prstGeom>
          <a:noFill/>
        </p:spPr>
        <p:txBody>
          <a:bodyPr wrap="square" lIns="0" rIns="0" tIns="0" bIns="0" anchor="t">
            <a:spAutoFit/>
          </a:bodyPr>
          <a:lstStyle/>
          <a:p>
            <a:pPr algn="l">
              <a:lnSpc>
                <a:spcPct val="100000"/>
              </a:lnSpc>
            </a:pPr>
            <a:r>
              <a:rPr sz="4600" b="1">
                <a:solidFill>
                  <a:srgbClr val="FFFFFF"/>
                </a:solidFill>
                <a:latin typeface="Space Grotesk"/>
              </a:rPr>
              <a:t>Wake up for picks,</a:t>
            </a:r>
          </a:p>
          <a:p>
            <a:pPr algn="l">
              <a:lnSpc>
                <a:spcPct val="100000"/>
              </a:lnSpc>
            </a:pPr>
            <a:r>
              <a:rPr sz="4600" b="1">
                <a:solidFill>
                  <a:srgbClr val="FFFFFF"/>
                </a:solidFill>
                <a:latin typeface="Space Grotesk"/>
              </a:rPr>
              <a:t>not for noise</a:t>
            </a:r>
          </a:p>
        </p:txBody>
      </p:sp>
      <p:sp>
        <p:nvSpPr>
          <p:cNvPr id="5" name="TextBox 4"/>
          <p:cNvSpPr txBox="1"/>
          <p:nvPr/>
        </p:nvSpPr>
        <p:spPr>
          <a:xfrm>
            <a:off x="813816" y="2880360"/>
            <a:ext cx="6035040" cy="822960"/>
          </a:xfrm>
          <a:prstGeom prst="rect">
            <a:avLst/>
          </a:prstGeom>
          <a:noFill/>
        </p:spPr>
        <p:txBody>
          <a:bodyPr wrap="square" lIns="0" rIns="0" tIns="0" bIns="0" anchor="t">
            <a:spAutoFit/>
          </a:bodyPr>
          <a:lstStyle/>
          <a:p>
            <a:pPr algn="l">
              <a:lnSpc>
                <a:spcPct val="115000"/>
              </a:lnSpc>
            </a:pPr>
            <a:r>
              <a:rPr sz="1900" b="0">
                <a:solidFill>
                  <a:srgbClr val="B8C4D9"/>
                </a:solidFill>
                <a:latin typeface="DM Sans"/>
              </a:rPr>
              <a:t>How each SmartBin scale can find its own sensor setting</a:t>
            </a:r>
          </a:p>
        </p:txBody>
      </p:sp>
      <p:sp>
        <p:nvSpPr>
          <p:cNvPr id="6" name="TextBox 5"/>
          <p:cNvSpPr txBox="1"/>
          <p:nvPr/>
        </p:nvSpPr>
        <p:spPr>
          <a:xfrm>
            <a:off x="813816" y="5760720"/>
            <a:ext cx="6400800" cy="27432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Erenalp Çakıroğlu</a:t>
            </a:r>
          </a:p>
        </p:txBody>
      </p:sp>
      <p:sp>
        <p:nvSpPr>
          <p:cNvPr id="7" name="TextBox 6"/>
          <p:cNvSpPr txBox="1"/>
          <p:nvPr/>
        </p:nvSpPr>
        <p:spPr>
          <a:xfrm>
            <a:off x="813816" y="6053328"/>
            <a:ext cx="6400800" cy="27432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MSc Applied Information and Data Science · HSLU Lucerne</a:t>
            </a:r>
          </a:p>
        </p:txBody>
      </p:sp>
      <p:sp>
        <p:nvSpPr>
          <p:cNvPr id="8" name="Rounded Rectangle 7"/>
          <p:cNvSpPr/>
          <p:nvPr/>
        </p:nvSpPr>
        <p:spPr>
          <a:xfrm>
            <a:off x="7726679" y="1234440"/>
            <a:ext cx="3657600" cy="1298448"/>
          </a:xfrm>
          <a:prstGeom prst="roundRect">
            <a:avLst>
              <a:gd name="adj" fmla="val 8450"/>
            </a:avLst>
          </a:prstGeom>
          <a:solidFill>
            <a:srgbClr val="5EEAD4">
              <a:alpha val="8000"/>
            </a:srgbClr>
          </a:solidFill>
          <a:ln w="6350">
            <a:solidFill>
              <a:srgbClr val="5EEAD4">
                <a:alpha val="50000"/>
              </a:srgbClr>
            </a:solidFill>
          </a:ln>
        </p:spPr>
        <p:txBody>
          <a:bodyPr rtlCol="0" anchor="ctr"/>
          <a:lstStyle/>
          <a:p>
            <a:pPr algn="ctr"/>
          </a:p>
        </p:txBody>
      </p:sp>
      <p:sp>
        <p:nvSpPr>
          <p:cNvPr id="9" name="TextBox 8"/>
          <p:cNvSpPr txBox="1"/>
          <p:nvPr/>
        </p:nvSpPr>
        <p:spPr>
          <a:xfrm>
            <a:off x="7955279" y="1399032"/>
            <a:ext cx="3291840" cy="548640"/>
          </a:xfrm>
          <a:prstGeom prst="rect">
            <a:avLst/>
          </a:prstGeom>
          <a:noFill/>
        </p:spPr>
        <p:txBody>
          <a:bodyPr wrap="square" lIns="0" rIns="0" tIns="0" bIns="0" anchor="t">
            <a:spAutoFit/>
          </a:bodyPr>
          <a:lstStyle/>
          <a:p>
            <a:pPr algn="l">
              <a:lnSpc>
                <a:spcPct val="112000"/>
              </a:lnSpc>
            </a:pPr>
            <a:r>
              <a:rPr sz="3000" b="1">
                <a:solidFill>
                  <a:srgbClr val="5EEAD4"/>
                </a:solidFill>
                <a:latin typeface="Space Grotesk"/>
              </a:rPr>
              <a:t>−61% / −55%</a:t>
            </a:r>
          </a:p>
        </p:txBody>
      </p:sp>
      <p:sp>
        <p:nvSpPr>
          <p:cNvPr id="10" name="TextBox 9"/>
          <p:cNvSpPr txBox="1"/>
          <p:nvPr/>
        </p:nvSpPr>
        <p:spPr>
          <a:xfrm>
            <a:off x="7955279" y="1984248"/>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fewer weighings with our rule</a:t>
            </a:r>
          </a:p>
        </p:txBody>
      </p:sp>
      <p:sp>
        <p:nvSpPr>
          <p:cNvPr id="11" name="Rounded Rectangle 10"/>
          <p:cNvSpPr/>
          <p:nvPr/>
        </p:nvSpPr>
        <p:spPr>
          <a:xfrm>
            <a:off x="7726679" y="2715768"/>
            <a:ext cx="3657600" cy="1298448"/>
          </a:xfrm>
          <a:prstGeom prst="roundRect">
            <a:avLst>
              <a:gd name="adj" fmla="val 8450"/>
            </a:avLst>
          </a:prstGeom>
          <a:solidFill>
            <a:srgbClr val="8EA2FF">
              <a:alpha val="8000"/>
            </a:srgbClr>
          </a:solidFill>
          <a:ln w="6350">
            <a:solidFill>
              <a:srgbClr val="8EA2FF">
                <a:alpha val="50000"/>
              </a:srgbClr>
            </a:solidFill>
          </a:ln>
        </p:spPr>
        <p:txBody>
          <a:bodyPr rtlCol="0" anchor="ctr"/>
          <a:lstStyle/>
          <a:p>
            <a:pPr algn="ctr"/>
          </a:p>
        </p:txBody>
      </p:sp>
      <p:sp>
        <p:nvSpPr>
          <p:cNvPr id="12" name="TextBox 11"/>
          <p:cNvSpPr txBox="1"/>
          <p:nvPr/>
        </p:nvSpPr>
        <p:spPr>
          <a:xfrm>
            <a:off x="7955279" y="2880360"/>
            <a:ext cx="3291840" cy="548640"/>
          </a:xfrm>
          <a:prstGeom prst="rect">
            <a:avLst/>
          </a:prstGeom>
          <a:noFill/>
        </p:spPr>
        <p:txBody>
          <a:bodyPr wrap="square" lIns="0" rIns="0" tIns="0" bIns="0" anchor="t">
            <a:spAutoFit/>
          </a:bodyPr>
          <a:lstStyle/>
          <a:p>
            <a:pPr algn="l">
              <a:lnSpc>
                <a:spcPct val="112000"/>
              </a:lnSpc>
            </a:pPr>
            <a:r>
              <a:rPr sz="3000" b="1">
                <a:solidFill>
                  <a:srgbClr val="8EA2FF"/>
                </a:solidFill>
                <a:latin typeface="Space Grotesk"/>
              </a:rPr>
              <a:t>55%</a:t>
            </a:r>
          </a:p>
        </p:txBody>
      </p:sp>
      <p:sp>
        <p:nvSpPr>
          <p:cNvPr id="13" name="TextBox 12"/>
          <p:cNvSpPr txBox="1"/>
          <p:nvPr/>
        </p:nvSpPr>
        <p:spPr>
          <a:xfrm>
            <a:off x="7955279" y="3465576"/>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of empty wake-ups happen when someone picks nearby</a:t>
            </a:r>
          </a:p>
        </p:txBody>
      </p:sp>
      <p:sp>
        <p:nvSpPr>
          <p:cNvPr id="14" name="Rounded Rectangle 13"/>
          <p:cNvSpPr/>
          <p:nvPr/>
        </p:nvSpPr>
        <p:spPr>
          <a:xfrm>
            <a:off x="7726679" y="4197096"/>
            <a:ext cx="3657600" cy="1298448"/>
          </a:xfrm>
          <a:prstGeom prst="roundRect">
            <a:avLst>
              <a:gd name="adj" fmla="val 8450"/>
            </a:avLst>
          </a:prstGeom>
          <a:solidFill>
            <a:srgbClr val="FF8FA3">
              <a:alpha val="8000"/>
            </a:srgbClr>
          </a:solidFill>
          <a:ln w="6350">
            <a:solidFill>
              <a:srgbClr val="FF8FA3">
                <a:alpha val="50000"/>
              </a:srgbClr>
            </a:solidFill>
          </a:ln>
        </p:spPr>
        <p:txBody>
          <a:bodyPr rtlCol="0" anchor="ctr"/>
          <a:lstStyle/>
          <a:p>
            <a:pPr algn="ctr"/>
          </a:p>
        </p:txBody>
      </p:sp>
      <p:sp>
        <p:nvSpPr>
          <p:cNvPr id="15" name="TextBox 14"/>
          <p:cNvSpPr txBox="1"/>
          <p:nvPr/>
        </p:nvSpPr>
        <p:spPr>
          <a:xfrm>
            <a:off x="7955279" y="4361688"/>
            <a:ext cx="3291840" cy="548640"/>
          </a:xfrm>
          <a:prstGeom prst="rect">
            <a:avLst/>
          </a:prstGeom>
          <a:noFill/>
        </p:spPr>
        <p:txBody>
          <a:bodyPr wrap="square" lIns="0" rIns="0" tIns="0" bIns="0" anchor="t">
            <a:spAutoFit/>
          </a:bodyPr>
          <a:lstStyle/>
          <a:p>
            <a:pPr algn="l">
              <a:lnSpc>
                <a:spcPct val="112000"/>
              </a:lnSpc>
            </a:pPr>
            <a:r>
              <a:rPr sz="3000" b="1">
                <a:solidFill>
                  <a:srgbClr val="FF8FA3"/>
                </a:solidFill>
                <a:latin typeface="Space Grotesk"/>
              </a:rPr>
              <a:t>1.5% → 27%</a:t>
            </a:r>
          </a:p>
        </p:txBody>
      </p:sp>
      <p:sp>
        <p:nvSpPr>
          <p:cNvPr id="16" name="TextBox 15"/>
          <p:cNvSpPr txBox="1"/>
          <p:nvPr/>
        </p:nvSpPr>
        <p:spPr>
          <a:xfrm>
            <a:off x="7955279" y="4946904"/>
            <a:ext cx="329184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1.5% of the scales cause 27% of all weighings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THE PROBLEM</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3 out of 4 automatic weighings find nothing</a:t>
            </a:r>
          </a:p>
        </p:txBody>
      </p:sp>
      <p:sp>
        <p:nvSpPr>
          <p:cNvPr id="5" name="Rounded Rectangle 4"/>
          <p:cNvSpPr/>
          <p:nvPr/>
        </p:nvSpPr>
        <p:spPr>
          <a:xfrm>
            <a:off x="813816"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6" name="Oval 5"/>
          <p:cNvSpPr/>
          <p:nvPr/>
        </p:nvSpPr>
        <p:spPr>
          <a:xfrm>
            <a:off x="950976"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1</a:t>
            </a:r>
          </a:p>
        </p:txBody>
      </p:sp>
      <p:sp>
        <p:nvSpPr>
          <p:cNvPr id="7" name="TextBox 6"/>
          <p:cNvSpPr txBox="1"/>
          <p:nvPr/>
        </p:nvSpPr>
        <p:spPr>
          <a:xfrm>
            <a:off x="1316736"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Pick</a:t>
            </a:r>
          </a:p>
        </p:txBody>
      </p:sp>
      <p:sp>
        <p:nvSpPr>
          <p:cNvPr id="8" name="TextBox 7"/>
          <p:cNvSpPr txBox="1"/>
          <p:nvPr/>
        </p:nvSpPr>
        <p:spPr>
          <a:xfrm>
            <a:off x="950976"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 worker takes parts from a bin.</a:t>
            </a:r>
          </a:p>
        </p:txBody>
      </p:sp>
      <p:cxnSp>
        <p:nvCxnSpPr>
          <p:cNvPr id="9" name="Connector 8"/>
          <p:cNvCxnSpPr/>
          <p:nvPr/>
        </p:nvCxnSpPr>
        <p:spPr>
          <a:xfrm>
            <a:off x="2414015" y="2118868"/>
            <a:ext cx="146305"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87752"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11" name="Oval 10"/>
          <p:cNvSpPr/>
          <p:nvPr/>
        </p:nvSpPr>
        <p:spPr>
          <a:xfrm>
            <a:off x="2724912"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2</a:t>
            </a:r>
          </a:p>
        </p:txBody>
      </p:sp>
      <p:sp>
        <p:nvSpPr>
          <p:cNvPr id="12" name="TextBox 11"/>
          <p:cNvSpPr txBox="1"/>
          <p:nvPr/>
        </p:nvSpPr>
        <p:spPr>
          <a:xfrm>
            <a:off x="3090672"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Wake up</a:t>
            </a:r>
          </a:p>
        </p:txBody>
      </p:sp>
      <p:sp>
        <p:nvSpPr>
          <p:cNvPr id="13" name="TextBox 12"/>
          <p:cNvSpPr txBox="1"/>
          <p:nvPr/>
        </p:nvSpPr>
        <p:spPr>
          <a:xfrm>
            <a:off x="2724912"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 vibration sensor wakes the scale.</a:t>
            </a:r>
          </a:p>
        </p:txBody>
      </p:sp>
      <p:cxnSp>
        <p:nvCxnSpPr>
          <p:cNvPr id="14" name="Connector 13"/>
          <p:cNvCxnSpPr/>
          <p:nvPr/>
        </p:nvCxnSpPr>
        <p:spPr>
          <a:xfrm>
            <a:off x="4187952"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61688" y="1506220"/>
            <a:ext cx="1572768" cy="1234440"/>
          </a:xfrm>
          <a:prstGeom prst="roundRect">
            <a:avLst>
              <a:gd name="adj" fmla="val 8888"/>
            </a:avLst>
          </a:prstGeom>
          <a:solidFill>
            <a:srgbClr val="5EEAD4">
              <a:alpha val="8000"/>
            </a:srgbClr>
          </a:solidFill>
          <a:ln w="6350">
            <a:solidFill>
              <a:srgbClr val="5EEAD4">
                <a:alpha val="50000"/>
              </a:srgbClr>
            </a:solidFill>
          </a:ln>
        </p:spPr>
        <p:txBody>
          <a:bodyPr rtlCol="0" anchor="ctr"/>
          <a:lstStyle/>
          <a:p>
            <a:pPr algn="ctr"/>
          </a:p>
        </p:txBody>
      </p:sp>
      <p:sp>
        <p:nvSpPr>
          <p:cNvPr id="16" name="Oval 15"/>
          <p:cNvSpPr/>
          <p:nvPr/>
        </p:nvSpPr>
        <p:spPr>
          <a:xfrm>
            <a:off x="4498848" y="1652523"/>
            <a:ext cx="274320" cy="274320"/>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3</a:t>
            </a:r>
          </a:p>
        </p:txBody>
      </p:sp>
      <p:sp>
        <p:nvSpPr>
          <p:cNvPr id="17" name="TextBox 16"/>
          <p:cNvSpPr txBox="1"/>
          <p:nvPr/>
        </p:nvSpPr>
        <p:spPr>
          <a:xfrm>
            <a:off x="4864607"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Weigh</a:t>
            </a:r>
          </a:p>
        </p:txBody>
      </p:sp>
      <p:sp>
        <p:nvSpPr>
          <p:cNvPr id="18" name="TextBox 17"/>
          <p:cNvSpPr txBox="1"/>
          <p:nvPr/>
        </p:nvSpPr>
        <p:spPr>
          <a:xfrm>
            <a:off x="4498848"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The scale weighs the bin.</a:t>
            </a:r>
          </a:p>
        </p:txBody>
      </p:sp>
      <p:cxnSp>
        <p:nvCxnSpPr>
          <p:cNvPr id="19" name="Connector 18"/>
          <p:cNvCxnSpPr/>
          <p:nvPr/>
        </p:nvCxnSpPr>
        <p:spPr>
          <a:xfrm>
            <a:off x="5961888" y="2118868"/>
            <a:ext cx="146303"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35624" y="1506220"/>
            <a:ext cx="1572768" cy="1234440"/>
          </a:xfrm>
          <a:prstGeom prst="roundRect">
            <a:avLst>
              <a:gd name="adj" fmla="val 8888"/>
            </a:avLst>
          </a:prstGeom>
          <a:solidFill>
            <a:srgbClr val="8EA2FF">
              <a:alpha val="8000"/>
            </a:srgbClr>
          </a:solidFill>
          <a:ln w="6350">
            <a:solidFill>
              <a:srgbClr val="8EA2FF">
                <a:alpha val="50000"/>
              </a:srgbClr>
            </a:solidFill>
          </a:ln>
        </p:spPr>
        <p:txBody>
          <a:bodyPr rtlCol="0" anchor="ctr"/>
          <a:lstStyle/>
          <a:p>
            <a:pPr algn="ctr"/>
          </a:p>
        </p:txBody>
      </p:sp>
      <p:sp>
        <p:nvSpPr>
          <p:cNvPr id="21" name="Oval 20"/>
          <p:cNvSpPr/>
          <p:nvPr/>
        </p:nvSpPr>
        <p:spPr>
          <a:xfrm>
            <a:off x="6272784" y="1652523"/>
            <a:ext cx="274320" cy="274320"/>
          </a:xfrm>
          <a:prstGeom prst="ellipse">
            <a:avLst/>
          </a:prstGeom>
          <a:solidFill>
            <a:srgbClr val="8EA2FF"/>
          </a:solidFill>
          <a:ln>
            <a:noFill/>
          </a:ln>
        </p:spPr>
        <p:txBody>
          <a:bodyPr rtlCol="0" anchor="ctr" lIns="0" rIns="0" tIns="0" bIns="0"/>
          <a:lstStyle/>
          <a:p>
            <a:pPr algn="ctr"/>
            <a:r>
              <a:rPr sz="1100" b="1">
                <a:solidFill>
                  <a:srgbClr val="0A1020"/>
                </a:solidFill>
                <a:latin typeface="Space Grotesk"/>
              </a:rPr>
              <a:t>4</a:t>
            </a:r>
          </a:p>
        </p:txBody>
      </p:sp>
      <p:sp>
        <p:nvSpPr>
          <p:cNvPr id="22" name="TextBox 21"/>
          <p:cNvSpPr txBox="1"/>
          <p:nvPr/>
        </p:nvSpPr>
        <p:spPr>
          <a:xfrm>
            <a:off x="6638544" y="1661667"/>
            <a:ext cx="1024128" cy="274320"/>
          </a:xfrm>
          <a:prstGeom prst="rect">
            <a:avLst/>
          </a:prstGeom>
          <a:noFill/>
        </p:spPr>
        <p:txBody>
          <a:bodyPr wrap="square" lIns="0" rIns="0" tIns="0" bIns="0" anchor="t">
            <a:spAutoFit/>
          </a:bodyPr>
          <a:lstStyle/>
          <a:p>
            <a:pPr algn="l">
              <a:lnSpc>
                <a:spcPct val="112000"/>
              </a:lnSpc>
            </a:pPr>
            <a:r>
              <a:rPr sz="1400" b="1">
                <a:solidFill>
                  <a:srgbClr val="FFFFFF"/>
                </a:solidFill>
                <a:latin typeface="Space Grotesk"/>
              </a:rPr>
              <a:t>Reorder</a:t>
            </a:r>
          </a:p>
        </p:txBody>
      </p:sp>
      <p:sp>
        <p:nvSpPr>
          <p:cNvPr id="23" name="TextBox 22"/>
          <p:cNvSpPr txBox="1"/>
          <p:nvPr/>
        </p:nvSpPr>
        <p:spPr>
          <a:xfrm>
            <a:off x="6272784" y="2054860"/>
            <a:ext cx="1298448" cy="640080"/>
          </a:xfrm>
          <a:prstGeom prst="rect">
            <a:avLst/>
          </a:prstGeom>
          <a:noFill/>
        </p:spPr>
        <p:txBody>
          <a:bodyPr wrap="square" lIns="0" rIns="0" tIns="0" bIns="0" anchor="t">
            <a:spAutoFit/>
          </a:bodyPr>
          <a:lstStyle/>
          <a:p>
            <a:pPr algn="l">
              <a:lnSpc>
                <a:spcPct val="110000"/>
              </a:lnSpc>
            </a:pPr>
            <a:r>
              <a:rPr sz="1200" b="0">
                <a:solidFill>
                  <a:srgbClr val="B8C4D9"/>
                </a:solidFill>
                <a:latin typeface="DM Sans"/>
              </a:rPr>
              <a:t>ARIMS gets the new stock and reorders.</a:t>
            </a:r>
          </a:p>
        </p:txBody>
      </p:sp>
      <p:sp>
        <p:nvSpPr>
          <p:cNvPr id="24" name="Rounded Rectangle 23"/>
          <p:cNvSpPr/>
          <p:nvPr/>
        </p:nvSpPr>
        <p:spPr>
          <a:xfrm>
            <a:off x="813816" y="3014980"/>
            <a:ext cx="3332988" cy="1417320"/>
          </a:xfrm>
          <a:prstGeom prst="roundRect">
            <a:avLst>
              <a:gd name="adj" fmla="val 7741"/>
            </a:avLst>
          </a:prstGeom>
          <a:solidFill>
            <a:srgbClr val="FF8FA3">
              <a:alpha val="8000"/>
            </a:srgbClr>
          </a:solidFill>
          <a:ln w="6350">
            <a:solidFill>
              <a:srgbClr val="FF8FA3">
                <a:alpha val="50000"/>
              </a:srgbClr>
            </a:solidFill>
          </a:ln>
        </p:spPr>
        <p:txBody>
          <a:bodyPr rtlCol="0" anchor="ctr"/>
          <a:lstStyle/>
          <a:p>
            <a:pPr algn="ctr"/>
          </a:p>
        </p:txBody>
      </p:sp>
      <p:sp>
        <p:nvSpPr>
          <p:cNvPr id="25" name="TextBox 24"/>
          <p:cNvSpPr txBox="1"/>
          <p:nvPr/>
        </p:nvSpPr>
        <p:spPr>
          <a:xfrm>
            <a:off x="996696" y="3179572"/>
            <a:ext cx="2967228" cy="274320"/>
          </a:xfrm>
          <a:prstGeom prst="rect">
            <a:avLst/>
          </a:prstGeom>
          <a:noFill/>
        </p:spPr>
        <p:txBody>
          <a:bodyPr wrap="square" lIns="0" rIns="0" tIns="0" bIns="0" anchor="t">
            <a:spAutoFit/>
          </a:bodyPr>
          <a:lstStyle/>
          <a:p>
            <a:pPr algn="l">
              <a:lnSpc>
                <a:spcPct val="112000"/>
              </a:lnSpc>
            </a:pPr>
            <a:r>
              <a:rPr sz="1500" b="1">
                <a:solidFill>
                  <a:srgbClr val="FF8FA3"/>
                </a:solidFill>
                <a:latin typeface="Space Grotesk"/>
              </a:rPr>
              <a:t>Too sensitive</a:t>
            </a:r>
          </a:p>
        </p:txBody>
      </p:sp>
      <p:sp>
        <p:nvSpPr>
          <p:cNvPr id="26" name="TextBox 25"/>
          <p:cNvSpPr txBox="1"/>
          <p:nvPr/>
        </p:nvSpPr>
        <p:spPr>
          <a:xfrm>
            <a:off x="996696" y="3545332"/>
            <a:ext cx="2967228"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scale wakes up, but nothing was taken. This wastes battery, network and cloud capacity.</a:t>
            </a:r>
          </a:p>
        </p:txBody>
      </p:sp>
      <p:sp>
        <p:nvSpPr>
          <p:cNvPr id="27" name="Rounded Rectangle 26"/>
          <p:cNvSpPr/>
          <p:nvPr/>
        </p:nvSpPr>
        <p:spPr>
          <a:xfrm>
            <a:off x="4375404" y="3014980"/>
            <a:ext cx="3332988" cy="1417320"/>
          </a:xfrm>
          <a:prstGeom prst="roundRect">
            <a:avLst>
              <a:gd name="adj" fmla="val 7741"/>
            </a:avLst>
          </a:prstGeom>
          <a:solidFill>
            <a:srgbClr val="FFC56E">
              <a:alpha val="8000"/>
            </a:srgbClr>
          </a:solidFill>
          <a:ln w="6350">
            <a:solidFill>
              <a:srgbClr val="FFC56E">
                <a:alpha val="50000"/>
              </a:srgbClr>
            </a:solidFill>
          </a:ln>
        </p:spPr>
        <p:txBody>
          <a:bodyPr rtlCol="0" anchor="ctr"/>
          <a:lstStyle/>
          <a:p>
            <a:pPr algn="ctr"/>
          </a:p>
        </p:txBody>
      </p:sp>
      <p:sp>
        <p:nvSpPr>
          <p:cNvPr id="28" name="TextBox 27"/>
          <p:cNvSpPr txBox="1"/>
          <p:nvPr/>
        </p:nvSpPr>
        <p:spPr>
          <a:xfrm>
            <a:off x="4558284" y="3179572"/>
            <a:ext cx="2967228" cy="274320"/>
          </a:xfrm>
          <a:prstGeom prst="rect">
            <a:avLst/>
          </a:prstGeom>
          <a:noFill/>
        </p:spPr>
        <p:txBody>
          <a:bodyPr wrap="square" lIns="0" rIns="0" tIns="0" bIns="0" anchor="t">
            <a:spAutoFit/>
          </a:bodyPr>
          <a:lstStyle/>
          <a:p>
            <a:pPr algn="l">
              <a:lnSpc>
                <a:spcPct val="112000"/>
              </a:lnSpc>
            </a:pPr>
            <a:r>
              <a:rPr sz="1500" b="1">
                <a:solidFill>
                  <a:srgbClr val="FFC56E"/>
                </a:solidFill>
                <a:latin typeface="Space Grotesk"/>
              </a:rPr>
              <a:t>Not sensitive enough</a:t>
            </a:r>
          </a:p>
        </p:txBody>
      </p:sp>
      <p:sp>
        <p:nvSpPr>
          <p:cNvPr id="29" name="TextBox 28"/>
          <p:cNvSpPr txBox="1"/>
          <p:nvPr/>
        </p:nvSpPr>
        <p:spPr>
          <a:xfrm>
            <a:off x="4558284" y="3545332"/>
            <a:ext cx="2967228"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scale sleeps through a pick. The stock level is wrong until the next weighing.</a:t>
            </a:r>
          </a:p>
        </p:txBody>
      </p:sp>
      <p:sp>
        <p:nvSpPr>
          <p:cNvPr id="30" name="TextBox 29"/>
          <p:cNvSpPr txBox="1"/>
          <p:nvPr/>
        </p:nvSpPr>
        <p:spPr>
          <a:xfrm>
            <a:off x="813816" y="4706620"/>
            <a:ext cx="6858000" cy="54864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Every weighing costs energy. It uses about 3,000 times more power than sleeping.</a:t>
            </a:r>
          </a:p>
        </p:txBody>
      </p:sp>
      <p:pic>
        <p:nvPicPr>
          <p:cNvPr id="31" name="Picture 30" descr="k01_donut.png"/>
          <p:cNvPicPr>
            <a:picLocks noChangeAspect="1"/>
          </p:cNvPicPr>
          <p:nvPr/>
        </p:nvPicPr>
        <p:blipFill>
          <a:blip r:embed="rId2"/>
          <a:stretch>
            <a:fillRect/>
          </a:stretch>
        </p:blipFill>
        <p:spPr>
          <a:xfrm>
            <a:off x="8183879" y="1460500"/>
            <a:ext cx="3291840" cy="3291840"/>
          </a:xfrm>
          <a:prstGeom prst="rect">
            <a:avLst/>
          </a:prstGeom>
        </p:spPr>
      </p:pic>
      <p:sp>
        <p:nvSpPr>
          <p:cNvPr id="32" name="TextBox 31"/>
          <p:cNvSpPr txBox="1"/>
          <p:nvPr/>
        </p:nvSpPr>
        <p:spPr>
          <a:xfrm>
            <a:off x="7863840" y="4889500"/>
            <a:ext cx="3931920" cy="548640"/>
          </a:xfrm>
          <a:prstGeom prst="rect">
            <a:avLst/>
          </a:prstGeom>
          <a:noFill/>
        </p:spPr>
        <p:txBody>
          <a:bodyPr wrap="square" lIns="0" rIns="0" tIns="0" bIns="0" anchor="t">
            <a:spAutoFit/>
          </a:bodyPr>
          <a:lstStyle/>
          <a:p>
            <a:pPr algn="ctr">
              <a:lnSpc>
                <a:spcPct val="112000"/>
              </a:lnSpc>
            </a:pPr>
            <a:r>
              <a:rPr sz="1200" b="0">
                <a:solidFill>
                  <a:srgbClr val="B8C4D9"/>
                </a:solidFill>
                <a:latin typeface="DM Sans"/>
              </a:rPr>
              <a:t>7.1 million automatic weighings, March–June 2022</a:t>
            </a:r>
          </a:p>
        </p:txBody>
      </p:sp>
      <p:sp>
        <p:nvSpPr>
          <p:cNvPr id="33" name="TextBox 3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case description Bossard / D ONE (2026) · Report §2, §4.1</a:t>
            </a:r>
          </a:p>
        </p:txBody>
      </p:sp>
      <p:sp>
        <p:nvSpPr>
          <p:cNvPr id="34" name="TextBox 3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DATA AND APPROACH</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cleaned 7.6 million weighings and looked at every scale on its own</a:t>
            </a:r>
          </a:p>
        </p:txBody>
      </p:sp>
      <p:sp>
        <p:nvSpPr>
          <p:cNvPr id="5" name="TextBox 4"/>
          <p:cNvSpPr txBox="1"/>
          <p:nvPr/>
        </p:nvSpPr>
        <p:spPr>
          <a:xfrm>
            <a:off x="813816"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7.6 M</a:t>
            </a:r>
          </a:p>
        </p:txBody>
      </p:sp>
      <p:sp>
        <p:nvSpPr>
          <p:cNvPr id="6" name="TextBox 5"/>
          <p:cNvSpPr txBox="1"/>
          <p:nvPr/>
        </p:nvSpPr>
        <p:spPr>
          <a:xfrm>
            <a:off x="813816"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weighings</a:t>
            </a:r>
          </a:p>
        </p:txBody>
      </p:sp>
      <p:sp>
        <p:nvSpPr>
          <p:cNvPr id="7" name="TextBox 6"/>
          <p:cNvSpPr txBox="1"/>
          <p:nvPr/>
        </p:nvSpPr>
        <p:spPr>
          <a:xfrm>
            <a:off x="3456432"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18,455</a:t>
            </a:r>
          </a:p>
        </p:txBody>
      </p:sp>
      <p:sp>
        <p:nvSpPr>
          <p:cNvPr id="8" name="TextBox 7"/>
          <p:cNvSpPr txBox="1"/>
          <p:nvPr/>
        </p:nvSpPr>
        <p:spPr>
          <a:xfrm>
            <a:off x="3456432"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scales</a:t>
            </a:r>
          </a:p>
        </p:txBody>
      </p:sp>
      <p:sp>
        <p:nvSpPr>
          <p:cNvPr id="9" name="TextBox 8"/>
          <p:cNvSpPr txBox="1"/>
          <p:nvPr/>
        </p:nvSpPr>
        <p:spPr>
          <a:xfrm>
            <a:off x="6099048"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16 weeks</a:t>
            </a:r>
          </a:p>
        </p:txBody>
      </p:sp>
      <p:sp>
        <p:nvSpPr>
          <p:cNvPr id="10" name="TextBox 9"/>
          <p:cNvSpPr txBox="1"/>
          <p:nvPr/>
        </p:nvSpPr>
        <p:spPr>
          <a:xfrm>
            <a:off x="6099048"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March – June 2022</a:t>
            </a:r>
          </a:p>
        </p:txBody>
      </p:sp>
      <p:sp>
        <p:nvSpPr>
          <p:cNvPr id="11" name="TextBox 10"/>
          <p:cNvSpPr txBox="1"/>
          <p:nvPr/>
        </p:nvSpPr>
        <p:spPr>
          <a:xfrm>
            <a:off x="8741664" y="1823720"/>
            <a:ext cx="2459736"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7,846</a:t>
            </a:r>
          </a:p>
        </p:txBody>
      </p:sp>
      <p:sp>
        <p:nvSpPr>
          <p:cNvPr id="12" name="TextBox 11"/>
          <p:cNvSpPr txBox="1"/>
          <p:nvPr/>
        </p:nvSpPr>
        <p:spPr>
          <a:xfrm>
            <a:off x="8741664" y="2335276"/>
            <a:ext cx="2459736"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scales got a new setting in April</a:t>
            </a:r>
          </a:p>
        </p:txBody>
      </p:sp>
      <p:sp>
        <p:nvSpPr>
          <p:cNvPr id="13" name="Rounded Rectangle 12"/>
          <p:cNvSpPr/>
          <p:nvPr/>
        </p:nvSpPr>
        <p:spPr>
          <a:xfrm>
            <a:off x="813816"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14" name="Oval 13"/>
          <p:cNvSpPr/>
          <p:nvPr/>
        </p:nvSpPr>
        <p:spPr>
          <a:xfrm>
            <a:off x="996696"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1</a:t>
            </a:r>
          </a:p>
        </p:txBody>
      </p:sp>
      <p:sp>
        <p:nvSpPr>
          <p:cNvPr id="15" name="TextBox 14"/>
          <p:cNvSpPr txBox="1"/>
          <p:nvPr/>
        </p:nvSpPr>
        <p:spPr>
          <a:xfrm>
            <a:off x="1435608"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Clean</a:t>
            </a:r>
          </a:p>
        </p:txBody>
      </p:sp>
      <p:sp>
        <p:nvSpPr>
          <p:cNvPr id="16" name="TextBox 15"/>
          <p:cNvSpPr txBox="1"/>
          <p:nvPr/>
        </p:nvSpPr>
        <p:spPr>
          <a:xfrm>
            <a:off x="996696"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Removed 5,733 duplicate rows and 5 impossible weights. 69% of the rows are used for the KPIs.</a:t>
            </a:r>
          </a:p>
        </p:txBody>
      </p:sp>
      <p:cxnSp>
        <p:nvCxnSpPr>
          <p:cNvPr id="17" name="Connector 16"/>
          <p:cNvCxnSpPr/>
          <p:nvPr/>
        </p:nvCxnSpPr>
        <p:spPr>
          <a:xfrm>
            <a:off x="3323844"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6724"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19" name="Oval 18"/>
          <p:cNvSpPr/>
          <p:nvPr/>
        </p:nvSpPr>
        <p:spPr>
          <a:xfrm>
            <a:off x="3689604"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2</a:t>
            </a:r>
          </a:p>
        </p:txBody>
      </p:sp>
      <p:sp>
        <p:nvSpPr>
          <p:cNvPr id="20" name="TextBox 19"/>
          <p:cNvSpPr txBox="1"/>
          <p:nvPr/>
        </p:nvSpPr>
        <p:spPr>
          <a:xfrm>
            <a:off x="4128516"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Measure</a:t>
            </a:r>
          </a:p>
        </p:txBody>
      </p:sp>
      <p:sp>
        <p:nvSpPr>
          <p:cNvPr id="21" name="TextBox 20"/>
          <p:cNvSpPr txBox="1"/>
          <p:nvPr/>
        </p:nvSpPr>
        <p:spPr>
          <a:xfrm>
            <a:off x="3689604"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One result per scale and setting. We use the typical scale (the median), so a few noisy scales cannot distort the result.</a:t>
            </a:r>
          </a:p>
        </p:txBody>
      </p:sp>
      <p:cxnSp>
        <p:nvCxnSpPr>
          <p:cNvPr id="22" name="Connector 21"/>
          <p:cNvCxnSpPr/>
          <p:nvPr/>
        </p:nvCxnSpPr>
        <p:spPr>
          <a:xfrm>
            <a:off x="6016752"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199632" y="3103880"/>
            <a:ext cx="2491740" cy="2240280"/>
          </a:xfrm>
          <a:prstGeom prst="roundRect">
            <a:avLst>
              <a:gd name="adj" fmla="val 4897"/>
            </a:avLst>
          </a:prstGeom>
          <a:solidFill>
            <a:srgbClr val="5EEAD4">
              <a:alpha val="8000"/>
            </a:srgbClr>
          </a:solidFill>
          <a:ln w="6350">
            <a:solidFill>
              <a:srgbClr val="5EEAD4">
                <a:alpha val="50000"/>
              </a:srgbClr>
            </a:solidFill>
          </a:ln>
        </p:spPr>
        <p:txBody>
          <a:bodyPr rtlCol="0" anchor="ctr"/>
          <a:lstStyle/>
          <a:p>
            <a:pPr algn="ctr"/>
          </a:p>
        </p:txBody>
      </p:sp>
      <p:sp>
        <p:nvSpPr>
          <p:cNvPr id="24" name="Oval 23"/>
          <p:cNvSpPr/>
          <p:nvPr/>
        </p:nvSpPr>
        <p:spPr>
          <a:xfrm>
            <a:off x="6382512" y="3286760"/>
            <a:ext cx="329184" cy="329184"/>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3</a:t>
            </a:r>
          </a:p>
        </p:txBody>
      </p:sp>
      <p:sp>
        <p:nvSpPr>
          <p:cNvPr id="25" name="TextBox 24"/>
          <p:cNvSpPr txBox="1"/>
          <p:nvPr/>
        </p:nvSpPr>
        <p:spPr>
          <a:xfrm>
            <a:off x="6821424"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Compare</a:t>
            </a:r>
          </a:p>
        </p:txBody>
      </p:sp>
      <p:sp>
        <p:nvSpPr>
          <p:cNvPr id="26" name="TextBox 25"/>
          <p:cNvSpPr txBox="1"/>
          <p:nvPr/>
        </p:nvSpPr>
        <p:spPr>
          <a:xfrm>
            <a:off x="6382512"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In April, 7,846 scales got a new setting. We compare each one with itself before the change.</a:t>
            </a:r>
          </a:p>
        </p:txBody>
      </p:sp>
      <p:cxnSp>
        <p:nvCxnSpPr>
          <p:cNvPr id="27" name="Connector 26"/>
          <p:cNvCxnSpPr/>
          <p:nvPr/>
        </p:nvCxnSpPr>
        <p:spPr>
          <a:xfrm>
            <a:off x="8709660" y="3451352"/>
            <a:ext cx="164592"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92540" y="3103880"/>
            <a:ext cx="2491740" cy="2240280"/>
          </a:xfrm>
          <a:prstGeom prst="roundRect">
            <a:avLst>
              <a:gd name="adj" fmla="val 4897"/>
            </a:avLst>
          </a:prstGeom>
          <a:solidFill>
            <a:srgbClr val="8EA2FF">
              <a:alpha val="8000"/>
            </a:srgbClr>
          </a:solidFill>
          <a:ln w="6350">
            <a:solidFill>
              <a:srgbClr val="8EA2FF">
                <a:alpha val="50000"/>
              </a:srgbClr>
            </a:solidFill>
          </a:ln>
        </p:spPr>
        <p:txBody>
          <a:bodyPr rtlCol="0" anchor="ctr"/>
          <a:lstStyle/>
          <a:p>
            <a:pPr algn="ctr"/>
          </a:p>
        </p:txBody>
      </p:sp>
      <p:sp>
        <p:nvSpPr>
          <p:cNvPr id="29" name="Oval 28"/>
          <p:cNvSpPr/>
          <p:nvPr/>
        </p:nvSpPr>
        <p:spPr>
          <a:xfrm>
            <a:off x="9075420" y="3286760"/>
            <a:ext cx="329184" cy="329184"/>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4</a:t>
            </a:r>
          </a:p>
        </p:txBody>
      </p:sp>
      <p:sp>
        <p:nvSpPr>
          <p:cNvPr id="30" name="TextBox 29"/>
          <p:cNvSpPr txBox="1"/>
          <p:nvPr/>
        </p:nvSpPr>
        <p:spPr>
          <a:xfrm>
            <a:off x="9514332" y="3305048"/>
            <a:ext cx="1760220" cy="3200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Simulate</a:t>
            </a:r>
          </a:p>
        </p:txBody>
      </p:sp>
      <p:sp>
        <p:nvSpPr>
          <p:cNvPr id="31" name="TextBox 30"/>
          <p:cNvSpPr txBox="1"/>
          <p:nvPr/>
        </p:nvSpPr>
        <p:spPr>
          <a:xfrm>
            <a:off x="9075420" y="3835400"/>
            <a:ext cx="2125980" cy="1463040"/>
          </a:xfrm>
          <a:prstGeom prst="rect">
            <a:avLst/>
          </a:prstGeom>
          <a:noFill/>
        </p:spPr>
        <p:txBody>
          <a:bodyPr wrap="square" lIns="0" rIns="0" tIns="0" bIns="0" anchor="t">
            <a:spAutoFit/>
          </a:bodyPr>
          <a:lstStyle/>
          <a:p>
            <a:pPr algn="l">
              <a:lnSpc>
                <a:spcPct val="113000"/>
              </a:lnSpc>
            </a:pPr>
            <a:r>
              <a:rPr sz="1250" b="0">
                <a:solidFill>
                  <a:srgbClr val="B8C4D9"/>
                </a:solidFill>
                <a:latin typeface="DM Sans"/>
              </a:rPr>
              <a:t>We tested 9 ways to set the sensor on every scale and compared the results.</a:t>
            </a:r>
          </a:p>
        </p:txBody>
      </p:sp>
      <p:sp>
        <p:nvSpPr>
          <p:cNvPr id="32" name="Rounded Rectangle 31"/>
          <p:cNvSpPr/>
          <p:nvPr/>
        </p:nvSpPr>
        <p:spPr>
          <a:xfrm>
            <a:off x="813816" y="5618480"/>
            <a:ext cx="898564"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Python</a:t>
            </a:r>
          </a:p>
        </p:txBody>
      </p:sp>
      <p:sp>
        <p:nvSpPr>
          <p:cNvPr id="33" name="Rounded Rectangle 32"/>
          <p:cNvSpPr/>
          <p:nvPr/>
        </p:nvSpPr>
        <p:spPr>
          <a:xfrm>
            <a:off x="1822108" y="5618480"/>
            <a:ext cx="952976"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DuckDB</a:t>
            </a:r>
          </a:p>
        </p:txBody>
      </p:sp>
      <p:sp>
        <p:nvSpPr>
          <p:cNvPr id="34" name="Rounded Rectangle 33"/>
          <p:cNvSpPr/>
          <p:nvPr/>
        </p:nvSpPr>
        <p:spPr>
          <a:xfrm>
            <a:off x="2884812" y="5618480"/>
            <a:ext cx="996850"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Power BI</a:t>
            </a:r>
          </a:p>
        </p:txBody>
      </p:sp>
      <p:sp>
        <p:nvSpPr>
          <p:cNvPr id="35" name="Rounded Rectangle 34"/>
          <p:cNvSpPr/>
          <p:nvPr/>
        </p:nvSpPr>
        <p:spPr>
          <a:xfrm>
            <a:off x="3991391" y="5618480"/>
            <a:ext cx="887710"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Quarto</a:t>
            </a:r>
          </a:p>
        </p:txBody>
      </p:sp>
      <p:sp>
        <p:nvSpPr>
          <p:cNvPr id="36" name="Rounded Rectangle 35"/>
          <p:cNvSpPr/>
          <p:nvPr/>
        </p:nvSpPr>
        <p:spPr>
          <a:xfrm>
            <a:off x="4988829" y="5618480"/>
            <a:ext cx="2587704" cy="310896"/>
          </a:xfrm>
          <a:prstGeom prst="roundRect">
            <a:avLst>
              <a:gd name="adj" fmla="val 50000"/>
            </a:avLst>
          </a:prstGeom>
          <a:solidFill>
            <a:srgbClr val="8EA2FF">
              <a:alpha val="16000"/>
            </a:srgbClr>
          </a:solidFill>
          <a:ln w="6350">
            <a:solidFill>
              <a:srgbClr val="8EA2FF">
                <a:alpha val="45000"/>
              </a:srgbClr>
            </a:solidFill>
          </a:ln>
        </p:spPr>
        <p:txBody>
          <a:bodyPr rtlCol="0" anchor="ctr" lIns="45720" rIns="45720" tIns="0" bIns="0" wrap="none"/>
          <a:lstStyle/>
          <a:p>
            <a:pPr algn="ctr"/>
            <a:r>
              <a:rPr sz="1200" b="1">
                <a:solidFill>
                  <a:srgbClr val="8EA2FF"/>
                </a:solidFill>
                <a:latin typeface="DM Sans"/>
              </a:rPr>
              <a:t>Tested on simulated data first</a:t>
            </a:r>
          </a:p>
        </p:txBody>
      </p:sp>
      <p:sp>
        <p:nvSpPr>
          <p:cNvPr id="37" name="TextBox 3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§2–3, Appendix A</a:t>
            </a:r>
          </a:p>
        </p:txBody>
      </p:sp>
      <p:sp>
        <p:nvSpPr>
          <p:cNvPr id="38" name="TextBox 3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TODAY</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Almost no scale misses picks – but almost every scale wakes up too often</a:t>
            </a:r>
          </a:p>
        </p:txBody>
      </p:sp>
      <p:pic>
        <p:nvPicPr>
          <p:cNvPr id="5" name="Picture 4" descr="k02_one_sided.png"/>
          <p:cNvPicPr>
            <a:picLocks noChangeAspect="1"/>
          </p:cNvPicPr>
          <p:nvPr/>
        </p:nvPicPr>
        <p:blipFill>
          <a:blip r:embed="rId2"/>
          <a:stretch>
            <a:fillRect/>
          </a:stretch>
        </p:blipFill>
        <p:spPr>
          <a:xfrm>
            <a:off x="676656" y="1869440"/>
            <a:ext cx="6766560" cy="3291840"/>
          </a:xfrm>
          <a:prstGeom prst="rect">
            <a:avLst/>
          </a:prstGeom>
        </p:spPr>
      </p:pic>
      <p:sp>
        <p:nvSpPr>
          <p:cNvPr id="6" name="Rounded Rectangle 5"/>
          <p:cNvSpPr/>
          <p:nvPr/>
        </p:nvSpPr>
        <p:spPr>
          <a:xfrm>
            <a:off x="7863840" y="1869440"/>
            <a:ext cx="3520440" cy="3291840"/>
          </a:xfrm>
          <a:prstGeom prst="roundRect">
            <a:avLst>
              <a:gd name="adj" fmla="val 3333"/>
            </a:avLst>
          </a:prstGeom>
          <a:solidFill>
            <a:srgbClr val="FFFFFF">
              <a:alpha val="5000"/>
            </a:srgbClr>
          </a:solidFill>
          <a:ln w="6350">
            <a:solidFill>
              <a:srgbClr val="FFFFFF">
                <a:alpha val="12000"/>
              </a:srgbClr>
            </a:solidFill>
          </a:ln>
        </p:spPr>
        <p:txBody>
          <a:bodyPr rtlCol="0" anchor="ctr"/>
          <a:lstStyle/>
          <a:p>
            <a:pPr algn="ctr"/>
          </a:p>
        </p:txBody>
      </p:sp>
      <p:sp>
        <p:nvSpPr>
          <p:cNvPr id="7" name="TextBox 6"/>
          <p:cNvSpPr txBox="1"/>
          <p:nvPr/>
        </p:nvSpPr>
        <p:spPr>
          <a:xfrm>
            <a:off x="8092440" y="2052320"/>
            <a:ext cx="310896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A TYPICAL 20 KG SCALE, PER WEEK</a:t>
            </a:r>
          </a:p>
        </p:txBody>
      </p:sp>
      <p:sp>
        <p:nvSpPr>
          <p:cNvPr id="8" name="TextBox 7"/>
          <p:cNvSpPr txBox="1"/>
          <p:nvPr/>
        </p:nvSpPr>
        <p:spPr>
          <a:xfrm>
            <a:off x="8092440" y="2372360"/>
            <a:ext cx="3108960" cy="614680"/>
          </a:xfrm>
          <a:prstGeom prst="rect">
            <a:avLst/>
          </a:prstGeom>
          <a:noFill/>
        </p:spPr>
        <p:txBody>
          <a:bodyPr wrap="square" lIns="0" rIns="0" tIns="0" bIns="0" anchor="t">
            <a:spAutoFit/>
          </a:bodyPr>
          <a:lstStyle/>
          <a:p>
            <a:pPr algn="l">
              <a:lnSpc>
                <a:spcPct val="95000"/>
              </a:lnSpc>
            </a:pPr>
            <a:r>
              <a:rPr sz="4400" b="1">
                <a:solidFill>
                  <a:srgbClr val="FF8FA3"/>
                </a:solidFill>
                <a:latin typeface="Space Grotesk"/>
              </a:rPr>
              <a:t>13.5</a:t>
            </a:r>
          </a:p>
        </p:txBody>
      </p:sp>
      <p:sp>
        <p:nvSpPr>
          <p:cNvPr id="9" name="TextBox 8"/>
          <p:cNvSpPr txBox="1"/>
          <p:nvPr/>
        </p:nvSpPr>
        <p:spPr>
          <a:xfrm>
            <a:off x="8092440" y="3023616"/>
            <a:ext cx="310896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empty wake-ups</a:t>
            </a:r>
          </a:p>
        </p:txBody>
      </p:sp>
      <p:sp>
        <p:nvSpPr>
          <p:cNvPr id="10" name="TextBox 9"/>
          <p:cNvSpPr txBox="1"/>
          <p:nvPr/>
        </p:nvSpPr>
        <p:spPr>
          <a:xfrm>
            <a:off x="8092440" y="3474110"/>
            <a:ext cx="3108960" cy="614680"/>
          </a:xfrm>
          <a:prstGeom prst="rect">
            <a:avLst/>
          </a:prstGeom>
          <a:noFill/>
        </p:spPr>
        <p:txBody>
          <a:bodyPr wrap="square" lIns="0" rIns="0" tIns="0" bIns="0" anchor="t">
            <a:spAutoFit/>
          </a:bodyPr>
          <a:lstStyle/>
          <a:p>
            <a:pPr algn="l">
              <a:lnSpc>
                <a:spcPct val="95000"/>
              </a:lnSpc>
            </a:pPr>
            <a:r>
              <a:rPr sz="4400" b="1">
                <a:solidFill>
                  <a:srgbClr val="5EEAD4"/>
                </a:solidFill>
                <a:latin typeface="Space Grotesk"/>
              </a:rPr>
              <a:t>1.5</a:t>
            </a:r>
          </a:p>
        </p:txBody>
      </p:sp>
      <p:sp>
        <p:nvSpPr>
          <p:cNvPr id="11" name="TextBox 10"/>
          <p:cNvSpPr txBox="1"/>
          <p:nvPr/>
        </p:nvSpPr>
        <p:spPr>
          <a:xfrm>
            <a:off x="8092440" y="4125366"/>
            <a:ext cx="310896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real picks</a:t>
            </a:r>
          </a:p>
        </p:txBody>
      </p:sp>
      <p:sp>
        <p:nvSpPr>
          <p:cNvPr id="12" name="TextBox 11"/>
          <p:cNvSpPr txBox="1"/>
          <p:nvPr/>
        </p:nvSpPr>
        <p:spPr>
          <a:xfrm>
            <a:off x="813816" y="5435600"/>
            <a:ext cx="10570464" cy="548640"/>
          </a:xfrm>
          <a:prstGeom prst="rect">
            <a:avLst/>
          </a:prstGeom>
          <a:noFill/>
        </p:spPr>
        <p:txBody>
          <a:bodyPr wrap="square" lIns="0" rIns="0" tIns="0" bIns="0" anchor="t">
            <a:spAutoFit/>
          </a:bodyPr>
          <a:lstStyle/>
          <a:p>
            <a:pPr algn="l">
              <a:lnSpc>
                <a:spcPct val="112000"/>
              </a:lnSpc>
            </a:pPr>
            <a:r>
              <a:rPr sz="1600" b="1">
                <a:solidFill>
                  <a:srgbClr val="FFFFFF"/>
                </a:solidFill>
                <a:latin typeface="Space Grotesk"/>
              </a:rPr>
              <a:t>So the setting can safely go down. The question is how far.</a:t>
            </a:r>
          </a:p>
        </p:txBody>
      </p:sp>
      <p:sp>
        <p:nvSpPr>
          <p:cNvPr id="13" name="TextBox 1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scales on the default setting (8) · Report §4.1</a:t>
            </a:r>
          </a:p>
        </p:txBody>
      </p:sp>
      <p:sp>
        <p:nvSpPr>
          <p:cNvPr id="14" name="TextBox 1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1 · THE KPI</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The current KPI looks better when the sensor is switched off</a:t>
            </a:r>
          </a:p>
        </p:txBody>
      </p:sp>
      <p:pic>
        <p:nvPicPr>
          <p:cNvPr id="5" name="Picture 4" descr="k03_kpi_levels.png"/>
          <p:cNvPicPr>
            <a:picLocks noChangeAspect="1"/>
          </p:cNvPicPr>
          <p:nvPr/>
        </p:nvPicPr>
        <p:blipFill>
          <a:blip r:embed="rId2"/>
          <a:stretch>
            <a:fillRect/>
          </a:stretch>
        </p:blipFill>
        <p:spPr>
          <a:xfrm>
            <a:off x="676656" y="1869440"/>
            <a:ext cx="7040880" cy="3383280"/>
          </a:xfrm>
          <a:prstGeom prst="rect">
            <a:avLst/>
          </a:prstGeom>
        </p:spPr>
      </p:pic>
      <p:sp>
        <p:nvSpPr>
          <p:cNvPr id="6" name="TextBox 5"/>
          <p:cNvSpPr txBox="1"/>
          <p:nvPr/>
        </p:nvSpPr>
        <p:spPr>
          <a:xfrm>
            <a:off x="813816" y="5344160"/>
            <a:ext cx="676656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Lower settings remove almost all empty wake-ups, but the KPI hardly moves. It only improves when the scale also stops seeing real picks.</a:t>
            </a:r>
          </a:p>
        </p:txBody>
      </p:sp>
      <p:sp>
        <p:nvSpPr>
          <p:cNvPr id="7" name="Rounded Rectangle 6"/>
          <p:cNvSpPr/>
          <p:nvPr/>
        </p:nvSpPr>
        <p:spPr>
          <a:xfrm>
            <a:off x="8092440" y="1869440"/>
            <a:ext cx="3291840" cy="4069080"/>
          </a:xfrm>
          <a:prstGeom prst="roundRect">
            <a:avLst>
              <a:gd name="adj" fmla="val 3333"/>
            </a:avLst>
          </a:prstGeom>
          <a:solidFill>
            <a:srgbClr val="5EEAD4">
              <a:alpha val="8000"/>
            </a:srgbClr>
          </a:solidFill>
          <a:ln w="6350">
            <a:solidFill>
              <a:srgbClr val="5EEAD4">
                <a:alpha val="50000"/>
              </a:srgbClr>
            </a:solidFill>
          </a:ln>
        </p:spPr>
        <p:txBody>
          <a:bodyPr rtlCol="0" anchor="ctr"/>
          <a:lstStyle/>
          <a:p>
            <a:pPr algn="ctr"/>
          </a:p>
        </p:txBody>
      </p:sp>
      <p:sp>
        <p:nvSpPr>
          <p:cNvPr id="8" name="TextBox 7"/>
          <p:cNvSpPr txBox="1"/>
          <p:nvPr/>
        </p:nvSpPr>
        <p:spPr>
          <a:xfrm>
            <a:off x="8321040" y="2052320"/>
            <a:ext cx="292608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WE SUGGEST: KPI 2.0</a:t>
            </a:r>
          </a:p>
        </p:txBody>
      </p:sp>
      <p:sp>
        <p:nvSpPr>
          <p:cNvPr id="9" name="TextBox 8"/>
          <p:cNvSpPr txBox="1"/>
          <p:nvPr/>
        </p:nvSpPr>
        <p:spPr>
          <a:xfrm>
            <a:off x="8321040" y="2354072"/>
            <a:ext cx="2926080" cy="457200"/>
          </a:xfrm>
          <a:prstGeom prst="rect">
            <a:avLst/>
          </a:prstGeom>
          <a:noFill/>
        </p:spPr>
        <p:txBody>
          <a:bodyPr wrap="square" lIns="0" rIns="0" tIns="0" bIns="0" anchor="t">
            <a:spAutoFit/>
          </a:bodyPr>
          <a:lstStyle/>
          <a:p>
            <a:pPr algn="l">
              <a:lnSpc>
                <a:spcPct val="105000"/>
              </a:lnSpc>
            </a:pPr>
            <a:r>
              <a:rPr sz="1600" b="1">
                <a:solidFill>
                  <a:srgbClr val="FFFFFF"/>
                </a:solidFill>
                <a:latin typeface="Space Grotesk"/>
              </a:rPr>
              <a:t>Count what really costs money</a:t>
            </a:r>
          </a:p>
        </p:txBody>
      </p:sp>
      <p:sp>
        <p:nvSpPr>
          <p:cNvPr id="10" name="TextBox 9"/>
          <p:cNvSpPr txBox="1"/>
          <p:nvPr/>
        </p:nvSpPr>
        <p:spPr>
          <a:xfrm>
            <a:off x="8321040" y="310388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7</a:t>
            </a:r>
          </a:p>
        </p:txBody>
      </p:sp>
      <p:sp>
        <p:nvSpPr>
          <p:cNvPr id="11" name="TextBox 10"/>
          <p:cNvSpPr txBox="1"/>
          <p:nvPr/>
        </p:nvSpPr>
        <p:spPr>
          <a:xfrm>
            <a:off x="9418319" y="317703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empty wake-ups per week</a:t>
            </a:r>
          </a:p>
        </p:txBody>
      </p:sp>
      <p:sp>
        <p:nvSpPr>
          <p:cNvPr id="12" name="TextBox 11"/>
          <p:cNvSpPr txBox="1"/>
          <p:nvPr/>
        </p:nvSpPr>
        <p:spPr>
          <a:xfrm>
            <a:off x="8321040" y="388112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10%</a:t>
            </a:r>
          </a:p>
        </p:txBody>
      </p:sp>
      <p:sp>
        <p:nvSpPr>
          <p:cNvPr id="13" name="TextBox 12"/>
          <p:cNvSpPr txBox="1"/>
          <p:nvPr/>
        </p:nvSpPr>
        <p:spPr>
          <a:xfrm>
            <a:off x="9418319" y="395427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of picks missed</a:t>
            </a:r>
          </a:p>
        </p:txBody>
      </p:sp>
      <p:sp>
        <p:nvSpPr>
          <p:cNvPr id="14" name="TextBox 13"/>
          <p:cNvSpPr txBox="1"/>
          <p:nvPr/>
        </p:nvSpPr>
        <p:spPr>
          <a:xfrm>
            <a:off x="8321040" y="4658360"/>
            <a:ext cx="1097280" cy="457200"/>
          </a:xfrm>
          <a:prstGeom prst="rect">
            <a:avLst/>
          </a:prstGeom>
          <a:noFill/>
        </p:spPr>
        <p:txBody>
          <a:bodyPr wrap="square" lIns="0" rIns="0" tIns="0" bIns="0" anchor="t">
            <a:spAutoFit/>
          </a:bodyPr>
          <a:lstStyle/>
          <a:p>
            <a:pPr algn="l">
              <a:lnSpc>
                <a:spcPct val="112000"/>
              </a:lnSpc>
            </a:pPr>
            <a:r>
              <a:rPr sz="2400" b="1">
                <a:solidFill>
                  <a:srgbClr val="5EEAD4"/>
                </a:solidFill>
                <a:latin typeface="Space Grotesk"/>
              </a:rPr>
              <a:t>≤ 2</a:t>
            </a:r>
          </a:p>
        </p:txBody>
      </p:sp>
      <p:sp>
        <p:nvSpPr>
          <p:cNvPr id="15" name="TextBox 14"/>
          <p:cNvSpPr txBox="1"/>
          <p:nvPr/>
        </p:nvSpPr>
        <p:spPr>
          <a:xfrm>
            <a:off x="9418319" y="4731512"/>
            <a:ext cx="1828800" cy="457200"/>
          </a:xfrm>
          <a:prstGeom prst="rect">
            <a:avLst/>
          </a:prstGeom>
          <a:noFill/>
        </p:spPr>
        <p:txBody>
          <a:bodyPr wrap="square" lIns="0" rIns="0" tIns="0" bIns="0" anchor="t">
            <a:spAutoFit/>
          </a:bodyPr>
          <a:lstStyle/>
          <a:p>
            <a:pPr algn="l">
              <a:lnSpc>
                <a:spcPct val="110000"/>
              </a:lnSpc>
            </a:pPr>
            <a:r>
              <a:rPr sz="1250" b="0">
                <a:solidFill>
                  <a:srgbClr val="D7DEFF"/>
                </a:solidFill>
                <a:latin typeface="DM Sans"/>
              </a:rPr>
              <a:t>missed picks per week</a:t>
            </a:r>
          </a:p>
        </p:txBody>
      </p:sp>
      <p:sp>
        <p:nvSpPr>
          <p:cNvPr id="16" name="TextBox 15"/>
          <p:cNvSpPr txBox="1"/>
          <p:nvPr/>
        </p:nvSpPr>
        <p:spPr>
          <a:xfrm>
            <a:off x="8321040" y="5481319"/>
            <a:ext cx="2834640" cy="548640"/>
          </a:xfrm>
          <a:prstGeom prst="rect">
            <a:avLst/>
          </a:prstGeom>
          <a:noFill/>
        </p:spPr>
        <p:txBody>
          <a:bodyPr wrap="square" lIns="0" rIns="0" tIns="0" bIns="0" anchor="t">
            <a:spAutoFit/>
          </a:bodyPr>
          <a:lstStyle/>
          <a:p>
            <a:pPr algn="l">
              <a:lnSpc>
                <a:spcPct val="112000"/>
              </a:lnSpc>
            </a:pPr>
            <a:r>
              <a:rPr sz="1200" b="0">
                <a:solidFill>
                  <a:srgbClr val="B8C4D9"/>
                </a:solidFill>
                <a:latin typeface="DM Sans"/>
              </a:rPr>
              <a:t>Slow-moving bins are no longer punished.</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typical scale per setting · Report §4.3, §4.4, §6.1</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2 · KEY INSIGHT</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Over half of the empty wake-ups happen when someone picks nearby</a:t>
            </a:r>
          </a:p>
        </p:txBody>
      </p:sp>
      <p:sp>
        <p:nvSpPr>
          <p:cNvPr id="5" name="TextBox 4"/>
          <p:cNvSpPr txBox="1"/>
          <p:nvPr/>
        </p:nvSpPr>
        <p:spPr>
          <a:xfrm>
            <a:off x="813816" y="1805432"/>
            <a:ext cx="64008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A REAL EXAMPLE FROM THE DATA</a:t>
            </a:r>
          </a:p>
        </p:txBody>
      </p:sp>
      <p:pic>
        <p:nvPicPr>
          <p:cNvPr id="6" name="Picture 5" descr="k04_episode.png"/>
          <p:cNvPicPr>
            <a:picLocks noChangeAspect="1"/>
          </p:cNvPicPr>
          <p:nvPr/>
        </p:nvPicPr>
        <p:blipFill>
          <a:blip r:embed="rId2"/>
          <a:stretch>
            <a:fillRect/>
          </a:stretch>
        </p:blipFill>
        <p:spPr>
          <a:xfrm>
            <a:off x="722376" y="2098040"/>
            <a:ext cx="6858000" cy="2926080"/>
          </a:xfrm>
          <a:prstGeom prst="rect">
            <a:avLst/>
          </a:prstGeom>
        </p:spPr>
      </p:pic>
      <p:sp>
        <p:nvSpPr>
          <p:cNvPr id="7" name="TextBox 6"/>
          <p:cNvSpPr txBox="1"/>
          <p:nvPr/>
        </p:nvSpPr>
        <p:spPr>
          <a:xfrm>
            <a:off x="813816" y="5115560"/>
            <a:ext cx="658368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A worker picks from Bin A. Three bins next to it wake up within 14 seconds and find nothing.</a:t>
            </a:r>
          </a:p>
        </p:txBody>
      </p:sp>
      <p:sp>
        <p:nvSpPr>
          <p:cNvPr id="8" name="Rounded Rectangle 7"/>
          <p:cNvSpPr/>
          <p:nvPr/>
        </p:nvSpPr>
        <p:spPr>
          <a:xfrm>
            <a:off x="7955279" y="1869440"/>
            <a:ext cx="3429000" cy="1965960"/>
          </a:xfrm>
          <a:prstGeom prst="roundRect">
            <a:avLst>
              <a:gd name="adj" fmla="val 5581"/>
            </a:avLst>
          </a:prstGeom>
          <a:solidFill>
            <a:srgbClr val="8EA2FF">
              <a:alpha val="13000"/>
            </a:srgbClr>
          </a:solidFill>
          <a:ln w="6350">
            <a:solidFill>
              <a:srgbClr val="8EA2FF">
                <a:alpha val="50000"/>
              </a:srgbClr>
            </a:solidFill>
          </a:ln>
        </p:spPr>
        <p:txBody>
          <a:bodyPr rtlCol="0" anchor="ctr"/>
          <a:lstStyle/>
          <a:p>
            <a:pPr algn="ctr"/>
          </a:p>
        </p:txBody>
      </p:sp>
      <p:sp>
        <p:nvSpPr>
          <p:cNvPr id="9" name="TextBox 8"/>
          <p:cNvSpPr txBox="1"/>
          <p:nvPr/>
        </p:nvSpPr>
        <p:spPr>
          <a:xfrm>
            <a:off x="8183879" y="2006600"/>
            <a:ext cx="3017520" cy="822960"/>
          </a:xfrm>
          <a:prstGeom prst="rect">
            <a:avLst/>
          </a:prstGeom>
          <a:noFill/>
        </p:spPr>
        <p:txBody>
          <a:bodyPr wrap="square" lIns="0" rIns="0" tIns="0" bIns="0" anchor="t">
            <a:spAutoFit/>
          </a:bodyPr>
          <a:lstStyle/>
          <a:p>
            <a:pPr algn="l">
              <a:lnSpc>
                <a:spcPct val="112000"/>
              </a:lnSpc>
            </a:pPr>
            <a:r>
              <a:rPr sz="5400" b="1">
                <a:solidFill>
                  <a:srgbClr val="8EA2FF"/>
                </a:solidFill>
                <a:latin typeface="Space Grotesk"/>
              </a:rPr>
              <a:t>55%</a:t>
            </a:r>
          </a:p>
        </p:txBody>
      </p:sp>
      <p:sp>
        <p:nvSpPr>
          <p:cNvPr id="10" name="TextBox 9"/>
          <p:cNvSpPr txBox="1"/>
          <p:nvPr/>
        </p:nvSpPr>
        <p:spPr>
          <a:xfrm>
            <a:off x="8183879" y="2875280"/>
            <a:ext cx="3017520" cy="914400"/>
          </a:xfrm>
          <a:prstGeom prst="rect">
            <a:avLst/>
          </a:prstGeom>
          <a:noFill/>
        </p:spPr>
        <p:txBody>
          <a:bodyPr wrap="square" lIns="0" rIns="0" tIns="0" bIns="0" anchor="t">
            <a:spAutoFit/>
          </a:bodyPr>
          <a:lstStyle/>
          <a:p>
            <a:pPr algn="l">
              <a:lnSpc>
                <a:spcPct val="112000"/>
              </a:lnSpc>
            </a:pPr>
            <a:r>
              <a:rPr sz="1250" b="0">
                <a:solidFill>
                  <a:srgbClr val="D7DEFF"/>
                </a:solidFill>
                <a:latin typeface="DM Sans"/>
              </a:rPr>
              <a:t>of empty wake-ups come within 14 seconds of a real pick in the same factory</a:t>
            </a:r>
          </a:p>
        </p:txBody>
      </p:sp>
      <p:sp>
        <p:nvSpPr>
          <p:cNvPr id="11" name="Rounded Rectangle 10"/>
          <p:cNvSpPr/>
          <p:nvPr/>
        </p:nvSpPr>
        <p:spPr>
          <a:xfrm>
            <a:off x="7955279" y="4018279"/>
            <a:ext cx="3429000" cy="1828800"/>
          </a:xfrm>
          <a:prstGeom prst="roundRect">
            <a:avLst>
              <a:gd name="adj" fmla="val 6000"/>
            </a:avLst>
          </a:prstGeom>
          <a:solidFill>
            <a:srgbClr val="FFFFFF">
              <a:alpha val="5000"/>
            </a:srgbClr>
          </a:solidFill>
          <a:ln w="6350">
            <a:solidFill>
              <a:srgbClr val="FFFFFF">
                <a:alpha val="12000"/>
              </a:srgbClr>
            </a:solidFill>
          </a:ln>
        </p:spPr>
        <p:txBody>
          <a:bodyPr rtlCol="0" anchor="ctr"/>
          <a:lstStyle/>
          <a:p>
            <a:pPr algn="ctr"/>
          </a:p>
        </p:txBody>
      </p:sp>
      <p:sp>
        <p:nvSpPr>
          <p:cNvPr id="12" name="TextBox 11"/>
          <p:cNvSpPr txBox="1"/>
          <p:nvPr/>
        </p:nvSpPr>
        <p:spPr>
          <a:xfrm>
            <a:off x="8183879" y="4155440"/>
            <a:ext cx="3017520" cy="274320"/>
          </a:xfrm>
          <a:prstGeom prst="rect">
            <a:avLst/>
          </a:prstGeom>
          <a:noFill/>
        </p:spPr>
        <p:txBody>
          <a:bodyPr wrap="square" lIns="0" rIns="0" tIns="0" bIns="0" anchor="t">
            <a:spAutoFit/>
          </a:bodyPr>
          <a:lstStyle/>
          <a:p>
            <a:pPr algn="l">
              <a:lnSpc>
                <a:spcPct val="112000"/>
              </a:lnSpc>
            </a:pPr>
            <a:r>
              <a:rPr sz="1050" b="1" spc="100">
                <a:solidFill>
                  <a:srgbClr val="5EEAD4"/>
                </a:solidFill>
                <a:latin typeface="DM Sans"/>
              </a:rPr>
              <a:t>WHAT IT MEANS</a:t>
            </a:r>
          </a:p>
        </p:txBody>
      </p:sp>
      <p:sp>
        <p:nvSpPr>
          <p:cNvPr id="13" name="TextBox 12"/>
          <p:cNvSpPr txBox="1"/>
          <p:nvPr/>
        </p:nvSpPr>
        <p:spPr>
          <a:xfrm>
            <a:off x="8183879" y="4475479"/>
            <a:ext cx="3017520" cy="1371600"/>
          </a:xfrm>
          <a:prstGeom prst="rect">
            <a:avLst/>
          </a:prstGeom>
          <a:noFill/>
        </p:spPr>
        <p:txBody>
          <a:bodyPr wrap="square" lIns="0" rIns="0" tIns="0" bIns="0" anchor="t">
            <a:spAutoFit/>
          </a:bodyPr>
          <a:lstStyle/>
          <a:p>
            <a:pPr algn="l" marL="201168" indent="-201168">
              <a:lnSpc>
                <a:spcPct val="112000"/>
              </a:lnSpc>
              <a:spcAft>
                <a:spcPts val="400"/>
              </a:spcAft>
              <a:buClr>
                <a:srgbClr val="5EEAD4"/>
              </a:buClr>
              <a:buFont typeface="Arial"/>
              <a:buChar char="•"/>
            </a:pPr>
            <a:r>
              <a:rPr sz="1250" b="0">
                <a:solidFill>
                  <a:srgbClr val="B8C4D9"/>
                </a:solidFill>
                <a:latin typeface="DM Sans"/>
              </a:rPr>
              <a:t>The sensor feels the whole rack, not only its own bin.</a:t>
            </a:r>
          </a:p>
          <a:p>
            <a:pPr algn="l" marL="201168" indent="-201168">
              <a:lnSpc>
                <a:spcPct val="112000"/>
              </a:lnSpc>
              <a:spcAft>
                <a:spcPts val="400"/>
              </a:spcAft>
              <a:buClr>
                <a:srgbClr val="5EEAD4"/>
              </a:buClr>
              <a:buFont typeface="Arial"/>
              <a:buChar char="•"/>
            </a:pPr>
            <a:r>
              <a:rPr sz="1250" b="0">
                <a:solidFill>
                  <a:srgbClr val="B8C4D9"/>
                </a:solidFill>
                <a:latin typeface="DM Sans"/>
              </a:rPr>
              <a:t>A lower setting filters part of it.</a:t>
            </a:r>
          </a:p>
          <a:p>
            <a:pPr algn="l" marL="201168" indent="-201168">
              <a:lnSpc>
                <a:spcPct val="112000"/>
              </a:lnSpc>
              <a:spcAft>
                <a:spcPts val="400"/>
              </a:spcAft>
              <a:buClr>
                <a:srgbClr val="5EEAD4"/>
              </a:buClr>
              <a:buFont typeface="Arial"/>
              <a:buChar char="•"/>
            </a:pPr>
            <a:r>
              <a:rPr sz="1250" b="0">
                <a:solidFill>
                  <a:srgbClr val="B8C4D9"/>
                </a:solidFill>
                <a:latin typeface="DM Sans"/>
              </a:rPr>
              <a:t>Damping the rack may do the rest.</a:t>
            </a:r>
          </a:p>
        </p:txBody>
      </p:sp>
      <p:sp>
        <p:nvSpPr>
          <p:cNvPr id="14" name="TextBox 13"/>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above the chance level · looping scales left out · Report §4.5, Appendix C</a:t>
            </a:r>
          </a:p>
        </p:txBody>
      </p:sp>
      <p:sp>
        <p:nvSpPr>
          <p:cNvPr id="15" name="TextBox 14"/>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2 · PROOF</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It is not chance – four checks agree</a:t>
            </a:r>
          </a:p>
        </p:txBody>
      </p:sp>
      <p:pic>
        <p:nvPicPr>
          <p:cNvPr id="5" name="Picture 4" descr="k05_correlogram.png"/>
          <p:cNvPicPr>
            <a:picLocks noChangeAspect="1"/>
          </p:cNvPicPr>
          <p:nvPr/>
        </p:nvPicPr>
        <p:blipFill>
          <a:blip r:embed="rId2"/>
          <a:stretch>
            <a:fillRect/>
          </a:stretch>
        </p:blipFill>
        <p:spPr>
          <a:xfrm>
            <a:off x="676656" y="1460500"/>
            <a:ext cx="5486400" cy="3017520"/>
          </a:xfrm>
          <a:prstGeom prst="rect">
            <a:avLst/>
          </a:prstGeom>
        </p:spPr>
      </p:pic>
      <p:pic>
        <p:nvPicPr>
          <p:cNvPr id="6" name="Picture 5" descr="k06_placebo.png"/>
          <p:cNvPicPr>
            <a:picLocks noChangeAspect="1"/>
          </p:cNvPicPr>
          <p:nvPr/>
        </p:nvPicPr>
        <p:blipFill>
          <a:blip r:embed="rId3"/>
          <a:stretch>
            <a:fillRect/>
          </a:stretch>
        </p:blipFill>
        <p:spPr>
          <a:xfrm>
            <a:off x="6492240" y="1460500"/>
            <a:ext cx="4937760" cy="3017520"/>
          </a:xfrm>
          <a:prstGeom prst="rect">
            <a:avLst/>
          </a:prstGeom>
        </p:spPr>
      </p:pic>
      <p:sp>
        <p:nvSpPr>
          <p:cNvPr id="7" name="Rounded Rectangle 6"/>
          <p:cNvSpPr/>
          <p:nvPr/>
        </p:nvSpPr>
        <p:spPr>
          <a:xfrm>
            <a:off x="813816"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8" name="Oval 7"/>
          <p:cNvSpPr/>
          <p:nvPr/>
        </p:nvSpPr>
        <p:spPr>
          <a:xfrm>
            <a:off x="950976"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9" name="TextBox 8"/>
          <p:cNvSpPr txBox="1"/>
          <p:nvPr/>
        </p:nvSpPr>
        <p:spPr>
          <a:xfrm>
            <a:off x="1289304"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Peak at zero</a:t>
            </a:r>
          </a:p>
        </p:txBody>
      </p:sp>
      <p:sp>
        <p:nvSpPr>
          <p:cNvPr id="10" name="TextBox 9"/>
          <p:cNvSpPr txBox="1"/>
          <p:nvPr/>
        </p:nvSpPr>
        <p:spPr>
          <a:xfrm>
            <a:off x="950976"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Picks nearby jump about 8 times at the moment of an empty wake-up.</a:t>
            </a:r>
          </a:p>
        </p:txBody>
      </p:sp>
      <p:sp>
        <p:nvSpPr>
          <p:cNvPr id="11" name="Rounded Rectangle 10"/>
          <p:cNvSpPr/>
          <p:nvPr/>
        </p:nvSpPr>
        <p:spPr>
          <a:xfrm>
            <a:off x="3502152"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12" name="Oval 11"/>
          <p:cNvSpPr/>
          <p:nvPr/>
        </p:nvSpPr>
        <p:spPr>
          <a:xfrm>
            <a:off x="3639312"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13" name="TextBox 12"/>
          <p:cNvSpPr txBox="1"/>
          <p:nvPr/>
        </p:nvSpPr>
        <p:spPr>
          <a:xfrm>
            <a:off x="3977640"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Not just a busy hour</a:t>
            </a:r>
          </a:p>
        </p:txBody>
      </p:sp>
      <p:sp>
        <p:nvSpPr>
          <p:cNvPr id="14" name="TextBox 13"/>
          <p:cNvSpPr txBox="1"/>
          <p:nvPr/>
        </p:nvSpPr>
        <p:spPr>
          <a:xfrm>
            <a:off x="3639312"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One minute later, in the same hour, the link is gone.</a:t>
            </a:r>
          </a:p>
        </p:txBody>
      </p:sp>
      <p:sp>
        <p:nvSpPr>
          <p:cNvPr id="15" name="Rounded Rectangle 14"/>
          <p:cNvSpPr/>
          <p:nvPr/>
        </p:nvSpPr>
        <p:spPr>
          <a:xfrm>
            <a:off x="6190488"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16" name="Oval 15"/>
          <p:cNvSpPr/>
          <p:nvPr/>
        </p:nvSpPr>
        <p:spPr>
          <a:xfrm>
            <a:off x="6327648"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17" name="TextBox 16"/>
          <p:cNvSpPr txBox="1"/>
          <p:nvPr/>
        </p:nvSpPr>
        <p:spPr>
          <a:xfrm>
            <a:off x="6665976"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Not in another factory</a:t>
            </a:r>
          </a:p>
        </p:txBody>
      </p:sp>
      <p:sp>
        <p:nvSpPr>
          <p:cNvPr id="18" name="TextBox 17"/>
          <p:cNvSpPr txBox="1"/>
          <p:nvPr/>
        </p:nvSpPr>
        <p:spPr>
          <a:xfrm>
            <a:off x="6327648"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Picks in a different factory at the same time show no link.</a:t>
            </a:r>
          </a:p>
        </p:txBody>
      </p:sp>
      <p:sp>
        <p:nvSpPr>
          <p:cNvPr id="19" name="Rounded Rectangle 18"/>
          <p:cNvSpPr/>
          <p:nvPr/>
        </p:nvSpPr>
        <p:spPr>
          <a:xfrm>
            <a:off x="8878824" y="4660900"/>
            <a:ext cx="2505456" cy="1188720"/>
          </a:xfrm>
          <a:prstGeom prst="roundRect">
            <a:avLst>
              <a:gd name="adj" fmla="val 9230"/>
            </a:avLst>
          </a:prstGeom>
          <a:solidFill>
            <a:srgbClr val="FFFFFF">
              <a:alpha val="5000"/>
            </a:srgbClr>
          </a:solidFill>
          <a:ln w="6350">
            <a:solidFill>
              <a:srgbClr val="FFFFFF">
                <a:alpha val="12000"/>
              </a:srgbClr>
            </a:solidFill>
          </a:ln>
        </p:spPr>
        <p:txBody>
          <a:bodyPr rtlCol="0" anchor="ctr"/>
          <a:lstStyle/>
          <a:p>
            <a:pPr algn="ctr"/>
          </a:p>
        </p:txBody>
      </p:sp>
      <p:sp>
        <p:nvSpPr>
          <p:cNvPr id="20" name="Oval 19"/>
          <p:cNvSpPr/>
          <p:nvPr/>
        </p:nvSpPr>
        <p:spPr>
          <a:xfrm>
            <a:off x="9015984" y="4798060"/>
            <a:ext cx="256032" cy="256032"/>
          </a:xfrm>
          <a:prstGeom prst="ellipse">
            <a:avLst/>
          </a:prstGeom>
          <a:solidFill>
            <a:srgbClr val="5EEAD4"/>
          </a:solidFill>
          <a:ln>
            <a:noFill/>
          </a:ln>
        </p:spPr>
        <p:txBody>
          <a:bodyPr rtlCol="0" anchor="ctr" lIns="0" rIns="0" tIns="0" bIns="0"/>
          <a:lstStyle/>
          <a:p>
            <a:pPr algn="ctr"/>
            <a:r>
              <a:rPr sz="1100" b="1">
                <a:solidFill>
                  <a:srgbClr val="0A1020"/>
                </a:solidFill>
                <a:latin typeface="Space Grotesk"/>
              </a:rPr>
              <a:t>✓</a:t>
            </a:r>
          </a:p>
        </p:txBody>
      </p:sp>
      <p:sp>
        <p:nvSpPr>
          <p:cNvPr id="21" name="TextBox 20"/>
          <p:cNvSpPr txBox="1"/>
          <p:nvPr/>
        </p:nvSpPr>
        <p:spPr>
          <a:xfrm>
            <a:off x="9354312" y="4798060"/>
            <a:ext cx="1938528" cy="274320"/>
          </a:xfrm>
          <a:prstGeom prst="rect">
            <a:avLst/>
          </a:prstGeom>
          <a:noFill/>
        </p:spPr>
        <p:txBody>
          <a:bodyPr wrap="square" lIns="0" rIns="0" tIns="0" bIns="0" anchor="t">
            <a:spAutoFit/>
          </a:bodyPr>
          <a:lstStyle/>
          <a:p>
            <a:pPr algn="l">
              <a:lnSpc>
                <a:spcPct val="112000"/>
              </a:lnSpc>
            </a:pPr>
            <a:r>
              <a:rPr sz="1300" b="1">
                <a:solidFill>
                  <a:srgbClr val="FFFFFF"/>
                </a:solidFill>
                <a:latin typeface="Space Grotesk"/>
              </a:rPr>
              <a:t>Busier site, stronger link</a:t>
            </a:r>
          </a:p>
        </p:txBody>
      </p:sp>
      <p:sp>
        <p:nvSpPr>
          <p:cNvPr id="22" name="TextBox 21"/>
          <p:cNvSpPr txBox="1"/>
          <p:nvPr/>
        </p:nvSpPr>
        <p:spPr>
          <a:xfrm>
            <a:off x="9015984" y="5163820"/>
            <a:ext cx="2231136" cy="685800"/>
          </a:xfrm>
          <a:prstGeom prst="rect">
            <a:avLst/>
          </a:prstGeom>
          <a:noFill/>
        </p:spPr>
        <p:txBody>
          <a:bodyPr wrap="square" lIns="0" rIns="0" tIns="0" bIns="0" anchor="t">
            <a:spAutoFit/>
          </a:bodyPr>
          <a:lstStyle/>
          <a:p>
            <a:pPr algn="l">
              <a:lnSpc>
                <a:spcPct val="110000"/>
              </a:lnSpc>
            </a:pPr>
            <a:r>
              <a:rPr sz="1150" b="0">
                <a:solidFill>
                  <a:srgbClr val="B8C4D9"/>
                </a:solidFill>
                <a:latin typeface="DM Sans"/>
              </a:rPr>
              <a:t>And it holds for 99.8% of all scales.</a:t>
            </a:r>
          </a:p>
        </p:txBody>
      </p:sp>
      <p:sp>
        <p:nvSpPr>
          <p:cNvPr id="23" name="TextBox 22"/>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event coincidence analysis (Donges et al., 2016) · Report §4.5, Appendix C</a:t>
            </a:r>
          </a:p>
        </p:txBody>
      </p:sp>
      <p:sp>
        <p:nvSpPr>
          <p:cNvPr id="24" name="TextBox 23"/>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3 · LOOPING SCALES</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1.5% of the scales wake themselves up – and cause 27% of all weighings</a:t>
            </a:r>
          </a:p>
        </p:txBody>
      </p:sp>
      <p:pic>
        <p:nvPicPr>
          <p:cNvPr id="5" name="Picture 4" descr="k07_loopday.png"/>
          <p:cNvPicPr>
            <a:picLocks noChangeAspect="1"/>
          </p:cNvPicPr>
          <p:nvPr/>
        </p:nvPicPr>
        <p:blipFill>
          <a:blip r:embed="rId2"/>
          <a:stretch>
            <a:fillRect/>
          </a:stretch>
        </p:blipFill>
        <p:spPr>
          <a:xfrm>
            <a:off x="676656" y="1869440"/>
            <a:ext cx="5852160" cy="2743200"/>
          </a:xfrm>
          <a:prstGeom prst="rect">
            <a:avLst/>
          </a:prstGeom>
        </p:spPr>
      </p:pic>
      <p:pic>
        <p:nvPicPr>
          <p:cNvPr id="6" name="Picture 5" descr="k08_loop_evidence.png"/>
          <p:cNvPicPr>
            <a:picLocks noChangeAspect="1"/>
          </p:cNvPicPr>
          <p:nvPr/>
        </p:nvPicPr>
        <p:blipFill>
          <a:blip r:embed="rId3"/>
          <a:stretch>
            <a:fillRect/>
          </a:stretch>
        </p:blipFill>
        <p:spPr>
          <a:xfrm>
            <a:off x="6263640" y="1869440"/>
            <a:ext cx="5212080" cy="2743200"/>
          </a:xfrm>
          <a:prstGeom prst="rect">
            <a:avLst/>
          </a:prstGeom>
        </p:spPr>
      </p:pic>
      <p:sp>
        <p:nvSpPr>
          <p:cNvPr id="7" name="TextBox 6"/>
          <p:cNvSpPr txBox="1"/>
          <p:nvPr/>
        </p:nvSpPr>
        <p:spPr>
          <a:xfrm>
            <a:off x="813816" y="4704079"/>
            <a:ext cx="5486400" cy="5486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About every 90 seconds, day and night. That is the shortest wait the scale allows (60 s) plus its measuring delay (30 s).</a:t>
            </a:r>
          </a:p>
        </p:txBody>
      </p:sp>
      <p:sp>
        <p:nvSpPr>
          <p:cNvPr id="8" name="TextBox 7"/>
          <p:cNvSpPr txBox="1"/>
          <p:nvPr/>
        </p:nvSpPr>
        <p:spPr>
          <a:xfrm>
            <a:off x="6446520" y="4704079"/>
            <a:ext cx="4937760" cy="5486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same scales act normally on another setting (215 of 215). This points to the firmware, not to broken hardware.</a:t>
            </a:r>
          </a:p>
        </p:txBody>
      </p:sp>
      <p:sp>
        <p:nvSpPr>
          <p:cNvPr id="9" name="Rounded Rectangle 8"/>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p>
        </p:txBody>
      </p:sp>
      <p:sp>
        <p:nvSpPr>
          <p:cNvPr id="10" name="TextBox 9"/>
          <p:cNvSpPr txBox="1"/>
          <p:nvPr/>
        </p:nvSpPr>
        <p:spPr>
          <a:xfrm>
            <a:off x="1042416" y="5394960"/>
            <a:ext cx="10113264" cy="73152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We took these scales out and repeated every analysis.</a:t>
            </a:r>
            <a:r>
              <a:rPr sz="1350" b="0">
                <a:solidFill>
                  <a:srgbClr val="D7DEFF"/>
                </a:solidFill>
                <a:latin typeface="DM Sans"/>
              </a:rPr>
              <a:t> The results hold. The link to picks nearby gets even clearer (45% → 55%).</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looping = over half of the wake-ups within 2 min and over 20 a day · Report §5.3, Appendix C</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4 · THE SETTING</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One step down halves the empty wake-ups – and costs almost nothing</a:t>
            </a:r>
          </a:p>
        </p:txBody>
      </p:sp>
      <p:pic>
        <p:nvPicPr>
          <p:cNvPr id="5" name="Picture 4" descr="k09_knob.png"/>
          <p:cNvPicPr>
            <a:picLocks noChangeAspect="1"/>
          </p:cNvPicPr>
          <p:nvPr/>
        </p:nvPicPr>
        <p:blipFill>
          <a:blip r:embed="rId2"/>
          <a:stretch>
            <a:fillRect/>
          </a:stretch>
        </p:blipFill>
        <p:spPr>
          <a:xfrm>
            <a:off x="676656" y="1869440"/>
            <a:ext cx="7132320" cy="3383280"/>
          </a:xfrm>
          <a:prstGeom prst="rect">
            <a:avLst/>
          </a:prstGeom>
        </p:spPr>
      </p:pic>
      <p:sp>
        <p:nvSpPr>
          <p:cNvPr id="6" name="TextBox 5"/>
          <p:cNvSpPr txBox="1"/>
          <p:nvPr/>
        </p:nvSpPr>
        <p:spPr>
          <a:xfrm>
            <a:off x="8183879" y="2006600"/>
            <a:ext cx="3200400" cy="474980"/>
          </a:xfrm>
          <a:prstGeom prst="rect">
            <a:avLst/>
          </a:prstGeom>
          <a:noFill/>
        </p:spPr>
        <p:txBody>
          <a:bodyPr wrap="square" lIns="0" rIns="0" tIns="0" bIns="0" anchor="t">
            <a:spAutoFit/>
          </a:bodyPr>
          <a:lstStyle/>
          <a:p>
            <a:pPr algn="l">
              <a:lnSpc>
                <a:spcPct val="95000"/>
              </a:lnSpc>
            </a:pPr>
            <a:r>
              <a:rPr sz="3400" b="1">
                <a:solidFill>
                  <a:srgbClr val="5EEAD4"/>
                </a:solidFill>
                <a:latin typeface="Space Grotesk"/>
              </a:rPr>
              <a:t>−52% / −59%</a:t>
            </a:r>
          </a:p>
        </p:txBody>
      </p:sp>
      <p:sp>
        <p:nvSpPr>
          <p:cNvPr id="7" name="TextBox 6"/>
          <p:cNvSpPr txBox="1"/>
          <p:nvPr/>
        </p:nvSpPr>
        <p:spPr>
          <a:xfrm>
            <a:off x="8183879" y="2518156"/>
            <a:ext cx="320040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empty wake-ups when the setting goes from 8 to 7 (20 kg / 6 kg)</a:t>
            </a:r>
          </a:p>
        </p:txBody>
      </p:sp>
      <p:sp>
        <p:nvSpPr>
          <p:cNvPr id="8" name="TextBox 7"/>
          <p:cNvSpPr txBox="1"/>
          <p:nvPr/>
        </p:nvSpPr>
        <p:spPr>
          <a:xfrm>
            <a:off x="8183879" y="3281984"/>
            <a:ext cx="3200400" cy="474980"/>
          </a:xfrm>
          <a:prstGeom prst="rect">
            <a:avLst/>
          </a:prstGeom>
          <a:noFill/>
        </p:spPr>
        <p:txBody>
          <a:bodyPr wrap="square" lIns="0" rIns="0" tIns="0" bIns="0" anchor="t">
            <a:spAutoFit/>
          </a:bodyPr>
          <a:lstStyle/>
          <a:p>
            <a:pPr algn="l">
              <a:lnSpc>
                <a:spcPct val="95000"/>
              </a:lnSpc>
            </a:pPr>
            <a:r>
              <a:rPr sz="3400" b="1">
                <a:solidFill>
                  <a:srgbClr val="8EA2FF"/>
                </a:solidFill>
                <a:latin typeface="Space Grotesk"/>
              </a:rPr>
              <a:t>+2 / +3</a:t>
            </a:r>
          </a:p>
        </p:txBody>
      </p:sp>
      <p:sp>
        <p:nvSpPr>
          <p:cNvPr id="9" name="TextBox 8"/>
          <p:cNvSpPr txBox="1"/>
          <p:nvPr/>
        </p:nvSpPr>
        <p:spPr>
          <a:xfrm>
            <a:off x="8183879" y="3793540"/>
            <a:ext cx="320040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points more missed picks</a:t>
            </a:r>
          </a:p>
        </p:txBody>
      </p:sp>
      <p:sp>
        <p:nvSpPr>
          <p:cNvPr id="10" name="TextBox 9"/>
          <p:cNvSpPr txBox="1"/>
          <p:nvPr/>
        </p:nvSpPr>
        <p:spPr>
          <a:xfrm>
            <a:off x="8183879" y="4335475"/>
            <a:ext cx="3200400" cy="731520"/>
          </a:xfrm>
          <a:prstGeom prst="rect">
            <a:avLst/>
          </a:prstGeom>
          <a:noFill/>
        </p:spPr>
        <p:txBody>
          <a:bodyPr wrap="square" lIns="0" rIns="0" tIns="0" bIns="0" anchor="t">
            <a:spAutoFit/>
          </a:bodyPr>
          <a:lstStyle/>
          <a:p>
            <a:pPr algn="l">
              <a:lnSpc>
                <a:spcPct val="110000"/>
              </a:lnSpc>
            </a:pPr>
            <a:r>
              <a:rPr sz="1400" b="1">
                <a:solidFill>
                  <a:srgbClr val="FFFFFF"/>
                </a:solidFill>
                <a:latin typeface="Space Grotesk"/>
              </a:rPr>
              <a:t>Below setting 6, the scale starts to miss real picks.</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same scales before and after their change, minus the trend of unchanged scales · Report §5.1</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FINDING 5 · NO ONE-SIZE-FITS-ALL</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The same setting works differently in every factory</a:t>
            </a:r>
          </a:p>
        </p:txBody>
      </p:sp>
      <p:pic>
        <p:nvPicPr>
          <p:cNvPr id="5" name="Picture 4" descr="k10_sites.png"/>
          <p:cNvPicPr>
            <a:picLocks noChangeAspect="1"/>
          </p:cNvPicPr>
          <p:nvPr/>
        </p:nvPicPr>
        <p:blipFill>
          <a:blip r:embed="rId2"/>
          <a:stretch>
            <a:fillRect/>
          </a:stretch>
        </p:blipFill>
        <p:spPr>
          <a:xfrm>
            <a:off x="676656" y="1460500"/>
            <a:ext cx="6766560" cy="3291840"/>
          </a:xfrm>
          <a:prstGeom prst="rect">
            <a:avLst/>
          </a:prstGeom>
        </p:spPr>
      </p:pic>
      <p:pic>
        <p:nvPicPr>
          <p:cNvPr id="6" name="Picture 5" descr="k11_drivers.png"/>
          <p:cNvPicPr>
            <a:picLocks noChangeAspect="1"/>
          </p:cNvPicPr>
          <p:nvPr/>
        </p:nvPicPr>
        <p:blipFill>
          <a:blip r:embed="rId3"/>
          <a:stretch>
            <a:fillRect/>
          </a:stretch>
        </p:blipFill>
        <p:spPr>
          <a:xfrm>
            <a:off x="7223760" y="1460500"/>
            <a:ext cx="4206240" cy="3291840"/>
          </a:xfrm>
          <a:prstGeom prst="rect">
            <a:avLst/>
          </a:prstGeom>
        </p:spPr>
      </p:pic>
      <p:sp>
        <p:nvSpPr>
          <p:cNvPr id="7" name="Rounded Rectangle 6"/>
          <p:cNvSpPr/>
          <p:nvPr/>
        </p:nvSpPr>
        <p:spPr>
          <a:xfrm>
            <a:off x="813816" y="5394960"/>
            <a:ext cx="10570464" cy="731520"/>
          </a:xfrm>
          <a:prstGeom prst="roundRect">
            <a:avLst>
              <a:gd name="adj" fmla="val 15000"/>
            </a:avLst>
          </a:prstGeom>
          <a:solidFill>
            <a:srgbClr val="5EEAD4">
              <a:alpha val="13000"/>
            </a:srgbClr>
          </a:solidFill>
          <a:ln w="6350">
            <a:solidFill>
              <a:srgbClr val="5EEAD4">
                <a:alpha val="50000"/>
              </a:srgbClr>
            </a:solidFill>
          </a:ln>
        </p:spPr>
        <p:txBody>
          <a:bodyPr rtlCol="0" anchor="ctr"/>
          <a:lstStyle/>
          <a:p>
            <a:pPr algn="ctr"/>
          </a:p>
        </p:txBody>
      </p:sp>
      <p:sp>
        <p:nvSpPr>
          <p:cNvPr id="8" name="TextBox 7"/>
          <p:cNvSpPr txBox="1"/>
          <p:nvPr/>
        </p:nvSpPr>
        <p:spPr>
          <a:xfrm>
            <a:off x="1042416" y="5394960"/>
            <a:ext cx="10113264" cy="731520"/>
          </a:xfrm>
          <a:prstGeom prst="rect">
            <a:avLst/>
          </a:prstGeom>
          <a:noFill/>
        </p:spPr>
        <p:txBody>
          <a:bodyPr wrap="square" lIns="0" rIns="0" tIns="0" bIns="0" anchor="ctr">
            <a:spAutoFit/>
          </a:bodyPr>
          <a:lstStyle/>
          <a:p>
            <a:pPr algn="l">
              <a:lnSpc>
                <a:spcPct val="112000"/>
              </a:lnSpc>
            </a:pPr>
            <a:r>
              <a:rPr sz="1350" b="1">
                <a:solidFill>
                  <a:srgbClr val="FFFFFF"/>
                </a:solidFill>
                <a:latin typeface="DM Sans"/>
              </a:rPr>
              <a:t>What decides the best setting only shows once a scale is running.</a:t>
            </a:r>
            <a:r>
              <a:rPr sz="1350" b="0">
                <a:solidFill>
                  <a:srgbClr val="D7DEFF"/>
                </a:solidFill>
                <a:latin typeface="DM Sans"/>
              </a:rPr>
              <a:t> So each scale should learn its own setting.</a:t>
            </a:r>
          </a:p>
        </p:txBody>
      </p:sp>
      <p:sp>
        <p:nvSpPr>
          <p:cNvPr id="9" name="TextBox 8"/>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factories with at least 20 scales, default setting · Report §4.7, §4.8</a:t>
            </a:r>
          </a:p>
        </p:txBody>
      </p:sp>
      <p:sp>
        <p:nvSpPr>
          <p:cNvPr id="10" name="TextBox 9"/>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OUR RECOMMENDATION</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Flag, tune, watch</a:t>
            </a:r>
          </a:p>
        </p:txBody>
      </p:sp>
      <p:sp>
        <p:nvSpPr>
          <p:cNvPr id="5" name="Rounded Rectangle 4"/>
          <p:cNvSpPr/>
          <p:nvPr/>
        </p:nvSpPr>
        <p:spPr>
          <a:xfrm>
            <a:off x="813816" y="1506220"/>
            <a:ext cx="3340608" cy="2514600"/>
          </a:xfrm>
          <a:prstGeom prst="roundRect">
            <a:avLst>
              <a:gd name="adj" fmla="val 4363"/>
            </a:avLst>
          </a:prstGeom>
          <a:solidFill>
            <a:srgbClr val="FF8FA3">
              <a:alpha val="8000"/>
            </a:srgbClr>
          </a:solidFill>
          <a:ln w="6350">
            <a:solidFill>
              <a:srgbClr val="FF8FA3">
                <a:alpha val="50000"/>
              </a:srgbClr>
            </a:solidFill>
          </a:ln>
        </p:spPr>
        <p:txBody>
          <a:bodyPr rtlCol="0" anchor="ctr"/>
          <a:lstStyle/>
          <a:p>
            <a:pPr algn="ctr"/>
          </a:p>
        </p:txBody>
      </p:sp>
      <p:sp>
        <p:nvSpPr>
          <p:cNvPr id="6" name="Oval 5"/>
          <p:cNvSpPr/>
          <p:nvPr/>
        </p:nvSpPr>
        <p:spPr>
          <a:xfrm>
            <a:off x="1042416" y="1734820"/>
            <a:ext cx="502920" cy="502920"/>
          </a:xfrm>
          <a:prstGeom prst="ellipse">
            <a:avLst/>
          </a:prstGeom>
          <a:solidFill>
            <a:srgbClr val="FF8FA3"/>
          </a:solidFill>
          <a:ln>
            <a:noFill/>
          </a:ln>
        </p:spPr>
        <p:txBody>
          <a:bodyPr rtlCol="0" anchor="ctr" lIns="0" rIns="0" tIns="0" bIns="0"/>
          <a:lstStyle/>
          <a:p>
            <a:pPr algn="ctr"/>
            <a:r>
              <a:rPr sz="2000" b="1">
                <a:solidFill>
                  <a:srgbClr val="0A1020"/>
                </a:solidFill>
                <a:latin typeface="Space Grotesk"/>
              </a:rPr>
              <a:t>F</a:t>
            </a:r>
          </a:p>
        </p:txBody>
      </p:sp>
      <p:sp>
        <p:nvSpPr>
          <p:cNvPr id="7" name="TextBox 6"/>
          <p:cNvSpPr txBox="1"/>
          <p:nvPr/>
        </p:nvSpPr>
        <p:spPr>
          <a:xfrm>
            <a:off x="1682495"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Flag</a:t>
            </a:r>
          </a:p>
        </p:txBody>
      </p:sp>
      <p:sp>
        <p:nvSpPr>
          <p:cNvPr id="8" name="TextBox 7"/>
          <p:cNvSpPr txBox="1"/>
          <p:nvPr/>
        </p:nvSpPr>
        <p:spPr>
          <a:xfrm>
            <a:off x="1042416"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Find looping scales every day and send them to service.</a:t>
            </a:r>
          </a:p>
        </p:txBody>
      </p:sp>
      <p:sp>
        <p:nvSpPr>
          <p:cNvPr id="9" name="Rounded Rectangle 8"/>
          <p:cNvSpPr/>
          <p:nvPr/>
        </p:nvSpPr>
        <p:spPr>
          <a:xfrm>
            <a:off x="1042416" y="3517900"/>
            <a:ext cx="1137503" cy="310896"/>
          </a:xfrm>
          <a:prstGeom prst="roundRect">
            <a:avLst>
              <a:gd name="adj" fmla="val 50000"/>
            </a:avLst>
          </a:prstGeom>
          <a:solidFill>
            <a:srgbClr val="FF8FA3">
              <a:alpha val="16000"/>
            </a:srgbClr>
          </a:solidFill>
          <a:ln w="6350">
            <a:solidFill>
              <a:srgbClr val="FF8FA3">
                <a:alpha val="45000"/>
              </a:srgbClr>
            </a:solidFill>
          </a:ln>
        </p:spPr>
        <p:txBody>
          <a:bodyPr rtlCol="0" anchor="ctr" lIns="45720" rIns="45720" tIns="0" bIns="0" wrap="none"/>
          <a:lstStyle/>
          <a:p>
            <a:pPr algn="ctr"/>
            <a:r>
              <a:rPr sz="1200" b="1">
                <a:solidFill>
                  <a:srgbClr val="FF8FA3"/>
                </a:solidFill>
                <a:latin typeface="DM Sans"/>
              </a:rPr>
              <a:t>274 scales</a:t>
            </a:r>
          </a:p>
        </p:txBody>
      </p:sp>
      <p:sp>
        <p:nvSpPr>
          <p:cNvPr id="10" name="Rounded Rectangle 9"/>
          <p:cNvSpPr/>
          <p:nvPr/>
        </p:nvSpPr>
        <p:spPr>
          <a:xfrm>
            <a:off x="4428744" y="1506220"/>
            <a:ext cx="3340608" cy="2514600"/>
          </a:xfrm>
          <a:prstGeom prst="roundRect">
            <a:avLst>
              <a:gd name="adj" fmla="val 4363"/>
            </a:avLst>
          </a:prstGeom>
          <a:solidFill>
            <a:srgbClr val="5EEAD4">
              <a:alpha val="8000"/>
            </a:srgbClr>
          </a:solidFill>
          <a:ln w="6350">
            <a:solidFill>
              <a:srgbClr val="5EEAD4">
                <a:alpha val="50000"/>
              </a:srgbClr>
            </a:solidFill>
          </a:ln>
        </p:spPr>
        <p:txBody>
          <a:bodyPr rtlCol="0" anchor="ctr"/>
          <a:lstStyle/>
          <a:p>
            <a:pPr algn="ctr"/>
          </a:p>
        </p:txBody>
      </p:sp>
      <p:sp>
        <p:nvSpPr>
          <p:cNvPr id="11" name="Oval 10"/>
          <p:cNvSpPr/>
          <p:nvPr/>
        </p:nvSpPr>
        <p:spPr>
          <a:xfrm>
            <a:off x="4657344" y="1734820"/>
            <a:ext cx="502920" cy="502920"/>
          </a:xfrm>
          <a:prstGeom prst="ellipse">
            <a:avLst/>
          </a:prstGeom>
          <a:solidFill>
            <a:srgbClr val="5EEAD4"/>
          </a:solidFill>
          <a:ln>
            <a:noFill/>
          </a:ln>
        </p:spPr>
        <p:txBody>
          <a:bodyPr rtlCol="0" anchor="ctr" lIns="0" rIns="0" tIns="0" bIns="0"/>
          <a:lstStyle/>
          <a:p>
            <a:pPr algn="ctr"/>
            <a:r>
              <a:rPr sz="2000" b="1">
                <a:solidFill>
                  <a:srgbClr val="0A1020"/>
                </a:solidFill>
                <a:latin typeface="Space Grotesk"/>
              </a:rPr>
              <a:t>T</a:t>
            </a:r>
          </a:p>
        </p:txBody>
      </p:sp>
      <p:sp>
        <p:nvSpPr>
          <p:cNvPr id="12" name="TextBox 11"/>
          <p:cNvSpPr txBox="1"/>
          <p:nvPr/>
        </p:nvSpPr>
        <p:spPr>
          <a:xfrm>
            <a:off x="5297424"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Tune</a:t>
            </a:r>
          </a:p>
        </p:txBody>
      </p:sp>
      <p:sp>
        <p:nvSpPr>
          <p:cNvPr id="13" name="TextBox 12"/>
          <p:cNvSpPr txBox="1"/>
          <p:nvPr/>
        </p:nvSpPr>
        <p:spPr>
          <a:xfrm>
            <a:off x="4657344"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Start every scale on 7. Every two weeks it moves one step – or stays.</a:t>
            </a:r>
          </a:p>
        </p:txBody>
      </p:sp>
      <p:sp>
        <p:nvSpPr>
          <p:cNvPr id="14" name="Rounded Rectangle 13"/>
          <p:cNvSpPr/>
          <p:nvPr/>
        </p:nvSpPr>
        <p:spPr>
          <a:xfrm>
            <a:off x="4657344" y="3517900"/>
            <a:ext cx="2079942" cy="310896"/>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00" b="1">
                <a:solidFill>
                  <a:srgbClr val="5EEAD4"/>
                </a:solidFill>
                <a:latin typeface="DM Sans"/>
              </a:rPr>
              <a:t>−61% / −55% weighings</a:t>
            </a:r>
          </a:p>
        </p:txBody>
      </p:sp>
      <p:sp>
        <p:nvSpPr>
          <p:cNvPr id="15" name="Rounded Rectangle 14"/>
          <p:cNvSpPr/>
          <p:nvPr/>
        </p:nvSpPr>
        <p:spPr>
          <a:xfrm>
            <a:off x="8043672" y="1506220"/>
            <a:ext cx="3340608" cy="2514600"/>
          </a:xfrm>
          <a:prstGeom prst="roundRect">
            <a:avLst>
              <a:gd name="adj" fmla="val 4363"/>
            </a:avLst>
          </a:prstGeom>
          <a:solidFill>
            <a:srgbClr val="8EA2FF">
              <a:alpha val="8000"/>
            </a:srgbClr>
          </a:solidFill>
          <a:ln w="6350">
            <a:solidFill>
              <a:srgbClr val="8EA2FF">
                <a:alpha val="50000"/>
              </a:srgbClr>
            </a:solidFill>
          </a:ln>
        </p:spPr>
        <p:txBody>
          <a:bodyPr rtlCol="0" anchor="ctr"/>
          <a:lstStyle/>
          <a:p>
            <a:pPr algn="ctr"/>
          </a:p>
        </p:txBody>
      </p:sp>
      <p:sp>
        <p:nvSpPr>
          <p:cNvPr id="16" name="Oval 15"/>
          <p:cNvSpPr/>
          <p:nvPr/>
        </p:nvSpPr>
        <p:spPr>
          <a:xfrm>
            <a:off x="8272272" y="1734820"/>
            <a:ext cx="502920" cy="502920"/>
          </a:xfrm>
          <a:prstGeom prst="ellipse">
            <a:avLst/>
          </a:prstGeom>
          <a:solidFill>
            <a:srgbClr val="8EA2FF"/>
          </a:solidFill>
          <a:ln>
            <a:noFill/>
          </a:ln>
        </p:spPr>
        <p:txBody>
          <a:bodyPr rtlCol="0" anchor="ctr" lIns="0" rIns="0" tIns="0" bIns="0"/>
          <a:lstStyle/>
          <a:p>
            <a:pPr algn="ctr"/>
            <a:r>
              <a:rPr sz="2000" b="1">
                <a:solidFill>
                  <a:srgbClr val="0A1020"/>
                </a:solidFill>
                <a:latin typeface="Space Grotesk"/>
              </a:rPr>
              <a:t>W</a:t>
            </a:r>
          </a:p>
        </p:txBody>
      </p:sp>
      <p:sp>
        <p:nvSpPr>
          <p:cNvPr id="17" name="TextBox 16"/>
          <p:cNvSpPr txBox="1"/>
          <p:nvPr/>
        </p:nvSpPr>
        <p:spPr>
          <a:xfrm>
            <a:off x="8912352" y="1780540"/>
            <a:ext cx="2334768" cy="457200"/>
          </a:xfrm>
          <a:prstGeom prst="rect">
            <a:avLst/>
          </a:prstGeom>
          <a:noFill/>
        </p:spPr>
        <p:txBody>
          <a:bodyPr wrap="square" lIns="0" rIns="0" tIns="0" bIns="0" anchor="t">
            <a:spAutoFit/>
          </a:bodyPr>
          <a:lstStyle/>
          <a:p>
            <a:pPr algn="l">
              <a:lnSpc>
                <a:spcPct val="112000"/>
              </a:lnSpc>
            </a:pPr>
            <a:r>
              <a:rPr sz="2400" b="1">
                <a:solidFill>
                  <a:srgbClr val="FFFFFF"/>
                </a:solidFill>
                <a:latin typeface="Space Grotesk"/>
              </a:rPr>
              <a:t>Watch</a:t>
            </a:r>
          </a:p>
        </p:txBody>
      </p:sp>
      <p:sp>
        <p:nvSpPr>
          <p:cNvPr id="18" name="TextBox 17"/>
          <p:cNvSpPr txBox="1"/>
          <p:nvPr/>
        </p:nvSpPr>
        <p:spPr>
          <a:xfrm>
            <a:off x="8272272" y="2420620"/>
            <a:ext cx="2883408" cy="1005840"/>
          </a:xfrm>
          <a:prstGeom prst="rect">
            <a:avLst/>
          </a:prstGeom>
          <a:noFill/>
        </p:spPr>
        <p:txBody>
          <a:bodyPr wrap="square" lIns="0" rIns="0" tIns="0" bIns="0" anchor="t">
            <a:spAutoFit/>
          </a:bodyPr>
          <a:lstStyle/>
          <a:p>
            <a:pPr algn="l">
              <a:lnSpc>
                <a:spcPct val="115000"/>
              </a:lnSpc>
            </a:pPr>
            <a:r>
              <a:rPr sz="1350" b="0">
                <a:solidFill>
                  <a:srgbClr val="D7DEFF"/>
                </a:solidFill>
                <a:latin typeface="DM Sans"/>
              </a:rPr>
              <a:t>Track KPI 2.0. Keep the daily check. Watch the few scales that miss most.</a:t>
            </a:r>
          </a:p>
        </p:txBody>
      </p:sp>
      <p:sp>
        <p:nvSpPr>
          <p:cNvPr id="19" name="Rounded Rectangle 18"/>
          <p:cNvSpPr/>
          <p:nvPr/>
        </p:nvSpPr>
        <p:spPr>
          <a:xfrm>
            <a:off x="8272272" y="3517900"/>
            <a:ext cx="1763871" cy="310896"/>
          </a:xfrm>
          <a:prstGeom prst="roundRect">
            <a:avLst>
              <a:gd name="adj" fmla="val 50000"/>
            </a:avLst>
          </a:prstGeom>
          <a:solidFill>
            <a:srgbClr val="8EA2FF">
              <a:alpha val="16000"/>
            </a:srgbClr>
          </a:solidFill>
          <a:ln w="6350">
            <a:solidFill>
              <a:srgbClr val="8EA2FF">
                <a:alpha val="45000"/>
              </a:srgbClr>
            </a:solidFill>
          </a:ln>
        </p:spPr>
        <p:txBody>
          <a:bodyPr rtlCol="0" anchor="ctr" lIns="45720" rIns="45720" tIns="0" bIns="0" wrap="none"/>
          <a:lstStyle/>
          <a:p>
            <a:pPr algn="ctr"/>
            <a:r>
              <a:rPr sz="1200" b="1">
                <a:solidFill>
                  <a:srgbClr val="8EA2FF"/>
                </a:solidFill>
                <a:latin typeface="DM Sans"/>
              </a:rPr>
              <a:t>misses stay visible</a:t>
            </a:r>
          </a:p>
        </p:txBody>
      </p:sp>
      <p:sp>
        <p:nvSpPr>
          <p:cNvPr id="20" name="Rectangle 19"/>
          <p:cNvSpPr/>
          <p:nvPr/>
        </p:nvSpPr>
        <p:spPr>
          <a:xfrm>
            <a:off x="813816" y="4551172"/>
            <a:ext cx="3477768" cy="36576"/>
          </a:xfrm>
          <a:prstGeom prst="rect">
            <a:avLst/>
          </a:prstGeom>
          <a:solidFill>
            <a:srgbClr val="5EEAD4"/>
          </a:solidFill>
          <a:ln>
            <a:noFill/>
          </a:ln>
        </p:spPr>
        <p:txBody>
          <a:bodyPr rtlCol="0" anchor="ctr"/>
          <a:lstStyle/>
          <a:p>
            <a:pPr algn="ctr"/>
          </a:p>
        </p:txBody>
      </p:sp>
      <p:sp>
        <p:nvSpPr>
          <p:cNvPr id="21" name="Oval 20"/>
          <p:cNvSpPr/>
          <p:nvPr/>
        </p:nvSpPr>
        <p:spPr>
          <a:xfrm>
            <a:off x="813816" y="4432300"/>
            <a:ext cx="274320" cy="274320"/>
          </a:xfrm>
          <a:prstGeom prst="ellipse">
            <a:avLst/>
          </a:prstGeom>
          <a:solidFill>
            <a:srgbClr val="5EEAD4"/>
          </a:solidFill>
          <a:ln>
            <a:noFill/>
          </a:ln>
        </p:spPr>
        <p:txBody>
          <a:bodyPr rtlCol="0" anchor="ctr" lIns="0" rIns="0" tIns="0" bIns="0"/>
          <a:lstStyle/>
          <a:p>
            <a:pPr algn="ctr"/>
            <a:r>
              <a:rPr sz="1300" b="1">
                <a:solidFill>
                  <a:srgbClr val="0A1020"/>
                </a:solidFill>
                <a:latin typeface="Space Grotesk"/>
              </a:rPr>
              <a:t/>
            </a:r>
          </a:p>
        </p:txBody>
      </p:sp>
      <p:sp>
        <p:nvSpPr>
          <p:cNvPr id="22" name="TextBox 21"/>
          <p:cNvSpPr txBox="1"/>
          <p:nvPr/>
        </p:nvSpPr>
        <p:spPr>
          <a:xfrm>
            <a:off x="813816"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NOW</a:t>
            </a:r>
          </a:p>
        </p:txBody>
      </p:sp>
      <p:sp>
        <p:nvSpPr>
          <p:cNvPr id="23" name="TextBox 22"/>
          <p:cNvSpPr txBox="1"/>
          <p:nvPr/>
        </p:nvSpPr>
        <p:spPr>
          <a:xfrm>
            <a:off x="813816"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Start the loop check · default 8 → 7</a:t>
            </a:r>
          </a:p>
        </p:txBody>
      </p:sp>
      <p:sp>
        <p:nvSpPr>
          <p:cNvPr id="24" name="Rectangle 23"/>
          <p:cNvSpPr/>
          <p:nvPr/>
        </p:nvSpPr>
        <p:spPr>
          <a:xfrm>
            <a:off x="4337304" y="4551172"/>
            <a:ext cx="3477768" cy="36576"/>
          </a:xfrm>
          <a:prstGeom prst="rect">
            <a:avLst/>
          </a:prstGeom>
          <a:solidFill>
            <a:srgbClr val="FFFFFF">
              <a:alpha val="20000"/>
            </a:srgbClr>
          </a:solidFill>
          <a:ln>
            <a:noFill/>
          </a:ln>
        </p:spPr>
        <p:txBody>
          <a:bodyPr rtlCol="0" anchor="ctr"/>
          <a:lstStyle/>
          <a:p>
            <a:pPr algn="ctr"/>
          </a:p>
        </p:txBody>
      </p:sp>
      <p:sp>
        <p:nvSpPr>
          <p:cNvPr id="25" name="Oval 24"/>
          <p:cNvSpPr/>
          <p:nvPr/>
        </p:nvSpPr>
        <p:spPr>
          <a:xfrm>
            <a:off x="4337304" y="4432300"/>
            <a:ext cx="274320" cy="274320"/>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
            </a:r>
          </a:p>
        </p:txBody>
      </p:sp>
      <p:sp>
        <p:nvSpPr>
          <p:cNvPr id="26" name="TextBox 25"/>
          <p:cNvSpPr txBox="1"/>
          <p:nvPr/>
        </p:nvSpPr>
        <p:spPr>
          <a:xfrm>
            <a:off x="4337304"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WEEKS 1–8</a:t>
            </a:r>
          </a:p>
        </p:txBody>
      </p:sp>
      <p:sp>
        <p:nvSpPr>
          <p:cNvPr id="27" name="TextBox 26"/>
          <p:cNvSpPr txBox="1"/>
          <p:nvPr/>
        </p:nvSpPr>
        <p:spPr>
          <a:xfrm>
            <a:off x="4337304"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Test the rule in about 10 factories</a:t>
            </a:r>
          </a:p>
        </p:txBody>
      </p:sp>
      <p:sp>
        <p:nvSpPr>
          <p:cNvPr id="28" name="Rectangle 27"/>
          <p:cNvSpPr/>
          <p:nvPr/>
        </p:nvSpPr>
        <p:spPr>
          <a:xfrm>
            <a:off x="7860792" y="4551172"/>
            <a:ext cx="3477768" cy="36576"/>
          </a:xfrm>
          <a:prstGeom prst="rect">
            <a:avLst/>
          </a:prstGeom>
          <a:solidFill>
            <a:srgbClr val="FFFFFF">
              <a:alpha val="20000"/>
            </a:srgbClr>
          </a:solidFill>
          <a:ln>
            <a:noFill/>
          </a:ln>
        </p:spPr>
        <p:txBody>
          <a:bodyPr rtlCol="0" anchor="ctr"/>
          <a:lstStyle/>
          <a:p>
            <a:pPr algn="ctr"/>
          </a:p>
        </p:txBody>
      </p:sp>
      <p:sp>
        <p:nvSpPr>
          <p:cNvPr id="29" name="Oval 28"/>
          <p:cNvSpPr/>
          <p:nvPr/>
        </p:nvSpPr>
        <p:spPr>
          <a:xfrm>
            <a:off x="7860792" y="4432300"/>
            <a:ext cx="274320" cy="274320"/>
          </a:xfrm>
          <a:prstGeom prst="ellipse">
            <a:avLst/>
          </a:prstGeom>
          <a:solidFill>
            <a:srgbClr val="8EA2FF"/>
          </a:solidFill>
          <a:ln>
            <a:noFill/>
          </a:ln>
        </p:spPr>
        <p:txBody>
          <a:bodyPr rtlCol="0" anchor="ctr" lIns="0" rIns="0" tIns="0" bIns="0"/>
          <a:lstStyle/>
          <a:p>
            <a:pPr algn="ctr"/>
            <a:r>
              <a:rPr sz="1300" b="1">
                <a:solidFill>
                  <a:srgbClr val="0A1020"/>
                </a:solidFill>
                <a:latin typeface="Space Grotesk"/>
              </a:rPr>
              <a:t/>
            </a:r>
          </a:p>
        </p:txBody>
      </p:sp>
      <p:sp>
        <p:nvSpPr>
          <p:cNvPr id="30" name="TextBox 29"/>
          <p:cNvSpPr txBox="1"/>
          <p:nvPr/>
        </p:nvSpPr>
        <p:spPr>
          <a:xfrm>
            <a:off x="7860792" y="4843780"/>
            <a:ext cx="324916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THEN</a:t>
            </a:r>
          </a:p>
        </p:txBody>
      </p:sp>
      <p:sp>
        <p:nvSpPr>
          <p:cNvPr id="31" name="TextBox 30"/>
          <p:cNvSpPr txBox="1"/>
          <p:nvPr/>
        </p:nvSpPr>
        <p:spPr>
          <a:xfrm>
            <a:off x="7860792" y="5118100"/>
            <a:ext cx="3249168" cy="548640"/>
          </a:xfrm>
          <a:prstGeom prst="rect">
            <a:avLst/>
          </a:prstGeom>
          <a:noFill/>
        </p:spPr>
        <p:txBody>
          <a:bodyPr wrap="square" lIns="0" rIns="0" tIns="0" bIns="0" anchor="t">
            <a:spAutoFit/>
          </a:bodyPr>
          <a:lstStyle/>
          <a:p>
            <a:pPr algn="l">
              <a:lnSpc>
                <a:spcPct val="110000"/>
              </a:lnSpc>
            </a:pPr>
            <a:r>
              <a:rPr sz="1300" b="0">
                <a:solidFill>
                  <a:srgbClr val="FFFFFF"/>
                </a:solidFill>
                <a:latin typeface="DM Sans"/>
              </a:rPr>
              <a:t>Roll out to all scales</a:t>
            </a:r>
          </a:p>
        </p:txBody>
      </p:sp>
      <p:sp>
        <p:nvSpPr>
          <p:cNvPr id="32" name="TextBox 3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simulation over 16 weeks · Report §6.3–6.4</a:t>
            </a:r>
          </a:p>
        </p:txBody>
      </p:sp>
      <p:sp>
        <p:nvSpPr>
          <p:cNvPr id="33" name="TextBox 3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1 · FLAG</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A simple daily check finds the looping scales</a:t>
            </a:r>
          </a:p>
        </p:txBody>
      </p:sp>
      <p:sp>
        <p:nvSpPr>
          <p:cNvPr id="5" name="Rounded Rectangle 4"/>
          <p:cNvSpPr/>
          <p:nvPr/>
        </p:nvSpPr>
        <p:spPr>
          <a:xfrm>
            <a:off x="813816" y="1460500"/>
            <a:ext cx="5120640" cy="2103120"/>
          </a:xfrm>
          <a:prstGeom prst="roundRect">
            <a:avLst>
              <a:gd name="adj" fmla="val 5217"/>
            </a:avLst>
          </a:prstGeom>
          <a:solidFill>
            <a:srgbClr val="FF8FA3">
              <a:alpha val="13000"/>
            </a:srgbClr>
          </a:solidFill>
          <a:ln w="6350">
            <a:solidFill>
              <a:srgbClr val="FF8FA3">
                <a:alpha val="50000"/>
              </a:srgbClr>
            </a:solidFill>
          </a:ln>
        </p:spPr>
        <p:txBody>
          <a:bodyPr rtlCol="0" anchor="ctr"/>
          <a:lstStyle/>
          <a:p>
            <a:pPr algn="ctr"/>
          </a:p>
        </p:txBody>
      </p:sp>
      <p:sp>
        <p:nvSpPr>
          <p:cNvPr id="6" name="TextBox 5"/>
          <p:cNvSpPr txBox="1"/>
          <p:nvPr/>
        </p:nvSpPr>
        <p:spPr>
          <a:xfrm>
            <a:off x="1042416" y="1615948"/>
            <a:ext cx="4663440" cy="274320"/>
          </a:xfrm>
          <a:prstGeom prst="rect">
            <a:avLst/>
          </a:prstGeom>
          <a:noFill/>
        </p:spPr>
        <p:txBody>
          <a:bodyPr wrap="square" lIns="0" rIns="0" tIns="0" bIns="0" anchor="t">
            <a:spAutoFit/>
          </a:bodyPr>
          <a:lstStyle/>
          <a:p>
            <a:pPr algn="l">
              <a:lnSpc>
                <a:spcPct val="112000"/>
              </a:lnSpc>
            </a:pPr>
            <a:r>
              <a:rPr sz="1050" b="1" spc="100">
                <a:solidFill>
                  <a:srgbClr val="FF8FA3"/>
                </a:solidFill>
                <a:latin typeface="DM Sans"/>
              </a:rPr>
              <a:t>A SCALE IS LOOPING IF, OVER THE LAST WEEK</a:t>
            </a:r>
          </a:p>
        </p:txBody>
      </p:sp>
      <p:sp>
        <p:nvSpPr>
          <p:cNvPr id="7" name="TextBox 6"/>
          <p:cNvSpPr txBox="1"/>
          <p:nvPr/>
        </p:nvSpPr>
        <p:spPr>
          <a:xfrm>
            <a:off x="1042416" y="1963420"/>
            <a:ext cx="4663440" cy="1463040"/>
          </a:xfrm>
          <a:prstGeom prst="rect">
            <a:avLst/>
          </a:prstGeom>
          <a:noFill/>
        </p:spPr>
        <p:txBody>
          <a:bodyPr wrap="square" lIns="0" rIns="0" tIns="0" bIns="0" anchor="t">
            <a:spAutoFit/>
          </a:bodyPr>
          <a:lstStyle/>
          <a:p>
            <a:pPr algn="l" marL="201168" indent="-201168">
              <a:lnSpc>
                <a:spcPct val="112000"/>
              </a:lnSpc>
              <a:spcAft>
                <a:spcPts val="800"/>
              </a:spcAft>
              <a:buClr>
                <a:srgbClr val="FF8FA3"/>
              </a:buClr>
              <a:buFont typeface="Arial"/>
              <a:buChar char="•"/>
            </a:pPr>
            <a:r>
              <a:rPr sz="1500" b="0">
                <a:solidFill>
                  <a:srgbClr val="D7DEFF"/>
                </a:solidFill>
                <a:latin typeface="DM Sans"/>
              </a:rPr>
              <a:t>more than </a:t>
            </a:r>
            <a:r>
              <a:rPr sz="1500" b="1">
                <a:solidFill>
                  <a:srgbClr val="FFFFFF"/>
                </a:solidFill>
                <a:latin typeface="DM Sans"/>
              </a:rPr>
              <a:t>half</a:t>
            </a:r>
            <a:r>
              <a:rPr sz="1500" b="0">
                <a:solidFill>
                  <a:srgbClr val="D7DEFF"/>
                </a:solidFill>
                <a:latin typeface="DM Sans"/>
              </a:rPr>
              <a:t> of its wake-ups come within </a:t>
            </a:r>
            <a:r>
              <a:rPr sz="1500" b="1">
                <a:solidFill>
                  <a:srgbClr val="FFFFFF"/>
                </a:solidFill>
                <a:latin typeface="DM Sans"/>
              </a:rPr>
              <a:t>2 minutes</a:t>
            </a:r>
            <a:r>
              <a:rPr sz="1500" b="0">
                <a:solidFill>
                  <a:srgbClr val="D7DEFF"/>
                </a:solidFill>
                <a:latin typeface="DM Sans"/>
              </a:rPr>
              <a:t> of the last one, and</a:t>
            </a:r>
          </a:p>
          <a:p>
            <a:pPr algn="l" marL="201168" indent="-201168">
              <a:lnSpc>
                <a:spcPct val="112000"/>
              </a:lnSpc>
              <a:spcAft>
                <a:spcPts val="800"/>
              </a:spcAft>
              <a:buClr>
                <a:srgbClr val="FF8FA3"/>
              </a:buClr>
              <a:buFont typeface="Arial"/>
              <a:buChar char="•"/>
            </a:pPr>
            <a:r>
              <a:rPr sz="1500" b="0">
                <a:solidFill>
                  <a:srgbClr val="D7DEFF"/>
                </a:solidFill>
                <a:latin typeface="DM Sans"/>
              </a:rPr>
              <a:t>it wakes up more than </a:t>
            </a:r>
            <a:r>
              <a:rPr sz="1500" b="1">
                <a:solidFill>
                  <a:srgbClr val="FFFFFF"/>
                </a:solidFill>
                <a:latin typeface="DM Sans"/>
              </a:rPr>
              <a:t>20 times a day</a:t>
            </a:r>
            <a:r>
              <a:rPr sz="1500" b="0">
                <a:solidFill>
                  <a:srgbClr val="D7DEFF"/>
                </a:solidFill>
                <a:latin typeface="DM Sans"/>
              </a:rPr>
              <a:t>.</a:t>
            </a:r>
          </a:p>
        </p:txBody>
      </p:sp>
      <p:sp>
        <p:nvSpPr>
          <p:cNvPr id="8" name="TextBox 7"/>
          <p:cNvSpPr txBox="1"/>
          <p:nvPr/>
        </p:nvSpPr>
        <p:spPr>
          <a:xfrm>
            <a:off x="813816" y="379222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THEN</a:t>
            </a:r>
          </a:p>
        </p:txBody>
      </p:sp>
      <p:sp>
        <p:nvSpPr>
          <p:cNvPr id="9" name="Oval 8"/>
          <p:cNvSpPr/>
          <p:nvPr/>
        </p:nvSpPr>
        <p:spPr>
          <a:xfrm>
            <a:off x="813816" y="4112259"/>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1</a:t>
            </a:r>
          </a:p>
        </p:txBody>
      </p:sp>
      <p:sp>
        <p:nvSpPr>
          <p:cNvPr id="10" name="TextBox 9"/>
          <p:cNvSpPr txBox="1"/>
          <p:nvPr/>
        </p:nvSpPr>
        <p:spPr>
          <a:xfrm>
            <a:off x="1271016" y="41396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Set it back to 7 from the cloud</a:t>
            </a:r>
          </a:p>
        </p:txBody>
      </p:sp>
      <p:sp>
        <p:nvSpPr>
          <p:cNvPr id="11" name="Oval 10"/>
          <p:cNvSpPr/>
          <p:nvPr/>
        </p:nvSpPr>
        <p:spPr>
          <a:xfrm>
            <a:off x="813816" y="4569460"/>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2</a:t>
            </a:r>
          </a:p>
        </p:txBody>
      </p:sp>
      <p:sp>
        <p:nvSpPr>
          <p:cNvPr id="12" name="TextBox 11"/>
          <p:cNvSpPr txBox="1"/>
          <p:nvPr/>
        </p:nvSpPr>
        <p:spPr>
          <a:xfrm>
            <a:off x="1271016" y="45968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Still looping after 2 days → service visit</a:t>
            </a:r>
          </a:p>
        </p:txBody>
      </p:sp>
      <p:sp>
        <p:nvSpPr>
          <p:cNvPr id="13" name="Oval 12"/>
          <p:cNvSpPr/>
          <p:nvPr/>
        </p:nvSpPr>
        <p:spPr>
          <a:xfrm>
            <a:off x="813816" y="5026660"/>
            <a:ext cx="310896" cy="310896"/>
          </a:xfrm>
          <a:prstGeom prst="ellipse">
            <a:avLst/>
          </a:prstGeom>
          <a:solidFill>
            <a:srgbClr val="5EEAD4"/>
          </a:solidFill>
          <a:ln>
            <a:noFill/>
          </a:ln>
        </p:spPr>
        <p:txBody>
          <a:bodyPr rtlCol="0" anchor="ctr" lIns="0" rIns="0" tIns="0" bIns="0"/>
          <a:lstStyle/>
          <a:p>
            <a:pPr algn="ctr"/>
            <a:r>
              <a:rPr sz="1200" b="1">
                <a:solidFill>
                  <a:srgbClr val="0A1020"/>
                </a:solidFill>
                <a:latin typeface="Space Grotesk"/>
              </a:rPr>
              <a:t>3</a:t>
            </a:r>
          </a:p>
        </p:txBody>
      </p:sp>
      <p:sp>
        <p:nvSpPr>
          <p:cNvPr id="14" name="TextBox 13"/>
          <p:cNvSpPr txBox="1"/>
          <p:nvPr/>
        </p:nvSpPr>
        <p:spPr>
          <a:xfrm>
            <a:off x="1271016" y="5054092"/>
            <a:ext cx="4572000" cy="365760"/>
          </a:xfrm>
          <a:prstGeom prst="rect">
            <a:avLst/>
          </a:prstGeom>
          <a:noFill/>
        </p:spPr>
        <p:txBody>
          <a:bodyPr wrap="square" lIns="0" rIns="0" tIns="0" bIns="0" anchor="t">
            <a:spAutoFit/>
          </a:bodyPr>
          <a:lstStyle/>
          <a:p>
            <a:pPr algn="l">
              <a:lnSpc>
                <a:spcPct val="112000"/>
              </a:lnSpc>
            </a:pPr>
            <a:r>
              <a:rPr sz="1350" b="0">
                <a:solidFill>
                  <a:srgbClr val="FFFFFF"/>
                </a:solidFill>
                <a:latin typeface="DM Sans"/>
              </a:rPr>
              <a:t>Send the list to the firmware team</a:t>
            </a:r>
          </a:p>
        </p:txBody>
      </p:sp>
      <p:pic>
        <p:nvPicPr>
          <p:cNvPr id="15" name="Picture 14" descr="k12_detector.png"/>
          <p:cNvPicPr>
            <a:picLocks noChangeAspect="1"/>
          </p:cNvPicPr>
          <p:nvPr/>
        </p:nvPicPr>
        <p:blipFill>
          <a:blip r:embed="rId2"/>
          <a:stretch>
            <a:fillRect/>
          </a:stretch>
        </p:blipFill>
        <p:spPr>
          <a:xfrm>
            <a:off x="5852160" y="1414779"/>
            <a:ext cx="5669280" cy="3474720"/>
          </a:xfrm>
          <a:prstGeom prst="rect">
            <a:avLst/>
          </a:prstGeom>
        </p:spPr>
      </p:pic>
      <p:sp>
        <p:nvSpPr>
          <p:cNvPr id="16" name="TextBox 15"/>
          <p:cNvSpPr txBox="1"/>
          <p:nvPr/>
        </p:nvSpPr>
        <p:spPr>
          <a:xfrm>
            <a:off x="6035040" y="4980940"/>
            <a:ext cx="5303520" cy="45720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Looping and normal scales are far apart. Other thresholds give almost the same list.</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each dot = scales with similar values · Report §5.3, Appendix C</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2 · TUNE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Every two weeks, each scale moves one step – or stays</a:t>
            </a:r>
          </a:p>
        </p:txBody>
      </p:sp>
      <p:sp>
        <p:nvSpPr>
          <p:cNvPr id="5" name="TextBox 4"/>
          <p:cNvSpPr txBox="1"/>
          <p:nvPr/>
        </p:nvSpPr>
        <p:spPr>
          <a:xfrm>
            <a:off x="813816" y="146050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EVERY 2 WEEKS, FOR EACH SCALE</a:t>
            </a:r>
          </a:p>
        </p:txBody>
      </p:sp>
      <p:sp>
        <p:nvSpPr>
          <p:cNvPr id="6" name="Rounded Rectangle 5"/>
          <p:cNvSpPr/>
          <p:nvPr/>
        </p:nvSpPr>
        <p:spPr>
          <a:xfrm>
            <a:off x="813816" y="1826260"/>
            <a:ext cx="5120640" cy="868680"/>
          </a:xfrm>
          <a:prstGeom prst="roundRect">
            <a:avLst>
              <a:gd name="adj" fmla="val 12631"/>
            </a:avLst>
          </a:prstGeom>
          <a:solidFill>
            <a:srgbClr val="FFC56E">
              <a:alpha val="8000"/>
            </a:srgbClr>
          </a:solidFill>
          <a:ln w="6350">
            <a:solidFill>
              <a:srgbClr val="FFC56E">
                <a:alpha val="50000"/>
              </a:srgbClr>
            </a:solidFill>
          </a:ln>
        </p:spPr>
        <p:txBody>
          <a:bodyPr rtlCol="0" anchor="ctr"/>
          <a:lstStyle/>
          <a:p>
            <a:pPr algn="ctr"/>
          </a:p>
        </p:txBody>
      </p:sp>
      <p:sp>
        <p:nvSpPr>
          <p:cNvPr id="7" name="TextBox 6"/>
          <p:cNvSpPr txBox="1"/>
          <p:nvPr/>
        </p:nvSpPr>
        <p:spPr>
          <a:xfrm>
            <a:off x="996696" y="191770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Missed more than 10% of its picks?</a:t>
            </a:r>
          </a:p>
        </p:txBody>
      </p:sp>
      <p:cxnSp>
        <p:nvCxnSpPr>
          <p:cNvPr id="8" name="Connector 7"/>
          <p:cNvCxnSpPr/>
          <p:nvPr/>
        </p:nvCxnSpPr>
        <p:spPr>
          <a:xfrm>
            <a:off x="4105656" y="2256028"/>
            <a:ext cx="320040" cy="0"/>
          </a:xfrm>
          <a:prstGeom prst="line">
            <a:avLst/>
          </a:prstGeom>
          <a:ln w="22225">
            <a:solidFill>
              <a:srgbClr val="FFC5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71416" y="1917700"/>
            <a:ext cx="1371600" cy="685800"/>
          </a:xfrm>
          <a:prstGeom prst="rect">
            <a:avLst/>
          </a:prstGeom>
          <a:noFill/>
        </p:spPr>
        <p:txBody>
          <a:bodyPr wrap="square" lIns="0" rIns="0" tIns="0" bIns="0" anchor="ctr">
            <a:spAutoFit/>
          </a:bodyPr>
          <a:lstStyle/>
          <a:p>
            <a:pPr algn="l">
              <a:lnSpc>
                <a:spcPct val="105000"/>
              </a:lnSpc>
            </a:pPr>
            <a:r>
              <a:rPr sz="1250" b="1">
                <a:solidFill>
                  <a:srgbClr val="FFC56E"/>
                </a:solidFill>
                <a:latin typeface="Space Grotesk"/>
              </a:rPr>
              <a:t>one step MORE sensitive</a:t>
            </a:r>
          </a:p>
        </p:txBody>
      </p:sp>
      <p:sp>
        <p:nvSpPr>
          <p:cNvPr id="10" name="Rounded Rectangle 9"/>
          <p:cNvSpPr/>
          <p:nvPr/>
        </p:nvSpPr>
        <p:spPr>
          <a:xfrm>
            <a:off x="813816" y="2832100"/>
            <a:ext cx="5120640" cy="868680"/>
          </a:xfrm>
          <a:prstGeom prst="roundRect">
            <a:avLst>
              <a:gd name="adj" fmla="val 12631"/>
            </a:avLst>
          </a:prstGeom>
          <a:solidFill>
            <a:srgbClr val="5EEAD4">
              <a:alpha val="8000"/>
            </a:srgbClr>
          </a:solidFill>
          <a:ln w="6350">
            <a:solidFill>
              <a:srgbClr val="5EEAD4">
                <a:alpha val="50000"/>
              </a:srgbClr>
            </a:solidFill>
          </a:ln>
        </p:spPr>
        <p:txBody>
          <a:bodyPr rtlCol="0" anchor="ctr"/>
          <a:lstStyle/>
          <a:p>
            <a:pPr algn="ctr"/>
          </a:p>
        </p:txBody>
      </p:sp>
      <p:sp>
        <p:nvSpPr>
          <p:cNvPr id="11" name="TextBox 10"/>
          <p:cNvSpPr txBox="1"/>
          <p:nvPr/>
        </p:nvSpPr>
        <p:spPr>
          <a:xfrm>
            <a:off x="996696" y="292354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More than 7 empty wake-ups a week, and almost no misses?</a:t>
            </a:r>
          </a:p>
        </p:txBody>
      </p:sp>
      <p:cxnSp>
        <p:nvCxnSpPr>
          <p:cNvPr id="12" name="Connector 11"/>
          <p:cNvCxnSpPr/>
          <p:nvPr/>
        </p:nvCxnSpPr>
        <p:spPr>
          <a:xfrm>
            <a:off x="4105656" y="3261868"/>
            <a:ext cx="320040" cy="0"/>
          </a:xfrm>
          <a:prstGeom prst="line">
            <a:avLst/>
          </a:prstGeom>
          <a:ln w="22225">
            <a:solidFill>
              <a:srgbClr val="5EEA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71416" y="2923540"/>
            <a:ext cx="1371600" cy="685800"/>
          </a:xfrm>
          <a:prstGeom prst="rect">
            <a:avLst/>
          </a:prstGeom>
          <a:noFill/>
        </p:spPr>
        <p:txBody>
          <a:bodyPr wrap="square" lIns="0" rIns="0" tIns="0" bIns="0" anchor="ctr">
            <a:spAutoFit/>
          </a:bodyPr>
          <a:lstStyle/>
          <a:p>
            <a:pPr algn="l">
              <a:lnSpc>
                <a:spcPct val="105000"/>
              </a:lnSpc>
            </a:pPr>
            <a:r>
              <a:rPr sz="1250" b="1">
                <a:solidFill>
                  <a:srgbClr val="5EEAD4"/>
                </a:solidFill>
                <a:latin typeface="Space Grotesk"/>
              </a:rPr>
              <a:t>one step LESS sensitive</a:t>
            </a:r>
          </a:p>
        </p:txBody>
      </p:sp>
      <p:sp>
        <p:nvSpPr>
          <p:cNvPr id="14" name="Rounded Rectangle 13"/>
          <p:cNvSpPr/>
          <p:nvPr/>
        </p:nvSpPr>
        <p:spPr>
          <a:xfrm>
            <a:off x="813816" y="3837940"/>
            <a:ext cx="5120640" cy="868680"/>
          </a:xfrm>
          <a:prstGeom prst="roundRect">
            <a:avLst>
              <a:gd name="adj" fmla="val 12631"/>
            </a:avLst>
          </a:prstGeom>
          <a:solidFill>
            <a:srgbClr val="8EA2FF">
              <a:alpha val="8000"/>
            </a:srgbClr>
          </a:solidFill>
          <a:ln w="6350">
            <a:solidFill>
              <a:srgbClr val="8EA2FF">
                <a:alpha val="50000"/>
              </a:srgbClr>
            </a:solidFill>
          </a:ln>
        </p:spPr>
        <p:txBody>
          <a:bodyPr rtlCol="0" anchor="ctr"/>
          <a:lstStyle/>
          <a:p>
            <a:pPr algn="ctr"/>
          </a:p>
        </p:txBody>
      </p:sp>
      <p:sp>
        <p:nvSpPr>
          <p:cNvPr id="15" name="TextBox 14"/>
          <p:cNvSpPr txBox="1"/>
          <p:nvPr/>
        </p:nvSpPr>
        <p:spPr>
          <a:xfrm>
            <a:off x="996696" y="3929380"/>
            <a:ext cx="3063240" cy="685800"/>
          </a:xfrm>
          <a:prstGeom prst="rect">
            <a:avLst/>
          </a:prstGeom>
          <a:noFill/>
        </p:spPr>
        <p:txBody>
          <a:bodyPr wrap="square" lIns="0" rIns="0" tIns="0" bIns="0" anchor="ctr">
            <a:spAutoFit/>
          </a:bodyPr>
          <a:lstStyle/>
          <a:p>
            <a:pPr algn="l">
              <a:lnSpc>
                <a:spcPct val="110000"/>
              </a:lnSpc>
            </a:pPr>
            <a:r>
              <a:rPr sz="1250" b="0">
                <a:solidFill>
                  <a:srgbClr val="FFFFFF"/>
                </a:solidFill>
                <a:latin typeface="DM Sans"/>
              </a:rPr>
              <a:t>Neither?</a:t>
            </a:r>
          </a:p>
        </p:txBody>
      </p:sp>
      <p:cxnSp>
        <p:nvCxnSpPr>
          <p:cNvPr id="16" name="Connector 15"/>
          <p:cNvCxnSpPr/>
          <p:nvPr/>
        </p:nvCxnSpPr>
        <p:spPr>
          <a:xfrm>
            <a:off x="4105656" y="4267708"/>
            <a:ext cx="320040" cy="0"/>
          </a:xfrm>
          <a:prstGeom prst="line">
            <a:avLst/>
          </a:prstGeom>
          <a:ln w="22225">
            <a:solidFill>
              <a:srgbClr val="8EA2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71416" y="3929380"/>
            <a:ext cx="1371600" cy="685800"/>
          </a:xfrm>
          <a:prstGeom prst="rect">
            <a:avLst/>
          </a:prstGeom>
          <a:noFill/>
        </p:spPr>
        <p:txBody>
          <a:bodyPr wrap="square" lIns="0" rIns="0" tIns="0" bIns="0" anchor="ctr">
            <a:spAutoFit/>
          </a:bodyPr>
          <a:lstStyle/>
          <a:p>
            <a:pPr algn="l">
              <a:lnSpc>
                <a:spcPct val="105000"/>
              </a:lnSpc>
            </a:pPr>
            <a:r>
              <a:rPr sz="1250" b="1">
                <a:solidFill>
                  <a:srgbClr val="8EA2FF"/>
                </a:solidFill>
                <a:latin typeface="Space Grotesk"/>
              </a:rPr>
              <a:t>stay</a:t>
            </a:r>
          </a:p>
        </p:txBody>
      </p:sp>
      <p:sp>
        <p:nvSpPr>
          <p:cNvPr id="18" name="TextBox 17"/>
          <p:cNvSpPr txBox="1"/>
          <p:nvPr/>
        </p:nvSpPr>
        <p:spPr>
          <a:xfrm>
            <a:off x="813816" y="4889500"/>
            <a:ext cx="5120640" cy="3657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Start on setting 7. Never below 1, never setting 3.</a:t>
            </a:r>
          </a:p>
        </p:txBody>
      </p:sp>
      <p:sp>
        <p:nvSpPr>
          <p:cNvPr id="19" name="TextBox 18"/>
          <p:cNvSpPr txBox="1"/>
          <p:nvPr/>
        </p:nvSpPr>
        <p:spPr>
          <a:xfrm>
            <a:off x="6263640" y="1460500"/>
            <a:ext cx="512064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EXAMPLE · A BUSY 20 KG SCALE</a:t>
            </a:r>
          </a:p>
        </p:txBody>
      </p:sp>
      <p:pic>
        <p:nvPicPr>
          <p:cNvPr id="20" name="Picture 19" descr="k13_tune_example.png"/>
          <p:cNvPicPr>
            <a:picLocks noChangeAspect="1"/>
          </p:cNvPicPr>
          <p:nvPr/>
        </p:nvPicPr>
        <p:blipFill>
          <a:blip r:embed="rId2"/>
          <a:stretch>
            <a:fillRect/>
          </a:stretch>
        </p:blipFill>
        <p:spPr>
          <a:xfrm>
            <a:off x="6172200" y="1780540"/>
            <a:ext cx="5212080" cy="3017520"/>
          </a:xfrm>
          <a:prstGeom prst="rect">
            <a:avLst/>
          </a:prstGeom>
        </p:spPr>
      </p:pic>
      <p:sp>
        <p:nvSpPr>
          <p:cNvPr id="21" name="TextBox 20"/>
          <p:cNvSpPr txBox="1"/>
          <p:nvPr/>
        </p:nvSpPr>
        <p:spPr>
          <a:xfrm>
            <a:off x="6263640" y="4843780"/>
            <a:ext cx="5029200" cy="54864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It settles on setting 6 with about two thirds fewer empty wake-ups.</a:t>
            </a:r>
          </a:p>
        </p:txBody>
      </p:sp>
      <p:sp>
        <p:nvSpPr>
          <p:cNvPr id="22" name="TextBox 21"/>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rule simulated on every scale for 16 weeks; the example is illustrative · Report §6.2–6.4</a:t>
            </a:r>
          </a:p>
        </p:txBody>
      </p:sp>
      <p:sp>
        <p:nvSpPr>
          <p:cNvPr id="23" name="TextBox 22"/>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STEP 3 · WATCH</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Missed picks are still found – usually within two days</a:t>
            </a:r>
          </a:p>
        </p:txBody>
      </p:sp>
      <p:sp>
        <p:nvSpPr>
          <p:cNvPr id="5" name="TextBox 4"/>
          <p:cNvSpPr txBox="1"/>
          <p:nvPr/>
        </p:nvSpPr>
        <p:spPr>
          <a:xfrm>
            <a:off x="813816" y="1396491"/>
            <a:ext cx="54864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WHEN IS A MISSED PICK FOUND?</a:t>
            </a:r>
          </a:p>
        </p:txBody>
      </p:sp>
      <p:pic>
        <p:nvPicPr>
          <p:cNvPr id="6" name="Picture 5" descr="k14_delay.png"/>
          <p:cNvPicPr>
            <a:picLocks noChangeAspect="1"/>
          </p:cNvPicPr>
          <p:nvPr/>
        </p:nvPicPr>
        <p:blipFill>
          <a:blip r:embed="rId2"/>
          <a:stretch>
            <a:fillRect/>
          </a:stretch>
        </p:blipFill>
        <p:spPr>
          <a:xfrm>
            <a:off x="676656" y="1689100"/>
            <a:ext cx="5852160" cy="2011680"/>
          </a:xfrm>
          <a:prstGeom prst="rect">
            <a:avLst/>
          </a:prstGeom>
        </p:spPr>
      </p:pic>
      <p:sp>
        <p:nvSpPr>
          <p:cNvPr id="7" name="TextBox 6"/>
          <p:cNvSpPr txBox="1"/>
          <p:nvPr/>
        </p:nvSpPr>
        <p:spPr>
          <a:xfrm>
            <a:off x="813816" y="3837939"/>
            <a:ext cx="5486400" cy="8229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Bossard's daily check finds 91% of them. We keep it. A missed pick only matters if it should have started a reorder.</a:t>
            </a:r>
          </a:p>
        </p:txBody>
      </p:sp>
      <p:sp>
        <p:nvSpPr>
          <p:cNvPr id="8" name="TextBox 7"/>
          <p:cNvSpPr txBox="1"/>
          <p:nvPr/>
        </p:nvSpPr>
        <p:spPr>
          <a:xfrm>
            <a:off x="6355080" y="1396491"/>
            <a:ext cx="548640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WHO MISSES THE PICKS?</a:t>
            </a:r>
          </a:p>
        </p:txBody>
      </p:sp>
      <p:pic>
        <p:nvPicPr>
          <p:cNvPr id="9" name="Picture 8" descr="k15_concentration.png"/>
          <p:cNvPicPr>
            <a:picLocks noChangeAspect="1"/>
          </p:cNvPicPr>
          <p:nvPr/>
        </p:nvPicPr>
        <p:blipFill>
          <a:blip r:embed="rId3"/>
          <a:stretch>
            <a:fillRect/>
          </a:stretch>
        </p:blipFill>
        <p:spPr>
          <a:xfrm>
            <a:off x="6263640" y="1689100"/>
            <a:ext cx="5120640" cy="3017520"/>
          </a:xfrm>
          <a:prstGeom prst="rect">
            <a:avLst/>
          </a:prstGeom>
        </p:spPr>
      </p:pic>
      <p:sp>
        <p:nvSpPr>
          <p:cNvPr id="10" name="Rounded Rectangle 9"/>
          <p:cNvSpPr/>
          <p:nvPr/>
        </p:nvSpPr>
        <p:spPr>
          <a:xfrm>
            <a:off x="813816" y="5440680"/>
            <a:ext cx="1988978" cy="365760"/>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50" b="1">
                <a:solidFill>
                  <a:srgbClr val="5EEAD4"/>
                </a:solidFill>
                <a:latin typeface="DM Sans"/>
              </a:rPr>
              <a:t>Keep the daily check</a:t>
            </a:r>
          </a:p>
        </p:txBody>
      </p:sp>
      <p:sp>
        <p:nvSpPr>
          <p:cNvPr id="11" name="Rounded Rectangle 10"/>
          <p:cNvSpPr/>
          <p:nvPr/>
        </p:nvSpPr>
        <p:spPr>
          <a:xfrm>
            <a:off x="2939954" y="5440680"/>
            <a:ext cx="2673032" cy="365760"/>
          </a:xfrm>
          <a:prstGeom prst="roundRect">
            <a:avLst>
              <a:gd name="adj" fmla="val 50000"/>
            </a:avLst>
          </a:prstGeom>
          <a:solidFill>
            <a:srgbClr val="5EEAD4">
              <a:alpha val="16000"/>
            </a:srgbClr>
          </a:solidFill>
          <a:ln w="6350">
            <a:solidFill>
              <a:srgbClr val="5EEAD4">
                <a:alpha val="45000"/>
              </a:srgbClr>
            </a:solidFill>
          </a:ln>
        </p:spPr>
        <p:txBody>
          <a:bodyPr rtlCol="0" anchor="ctr" lIns="45720" rIns="45720" tIns="0" bIns="0" wrap="none"/>
          <a:lstStyle/>
          <a:p>
            <a:pPr algn="ctr"/>
            <a:r>
              <a:rPr sz="1250" b="1">
                <a:solidFill>
                  <a:srgbClr val="5EEAD4"/>
                </a:solidFill>
                <a:latin typeface="DM Sans"/>
              </a:rPr>
              <a:t>Extra check for the worst 10%</a:t>
            </a:r>
          </a:p>
        </p:txBody>
      </p:sp>
      <p:sp>
        <p:nvSpPr>
          <p:cNvPr id="12" name="Rounded Rectangle 11"/>
          <p:cNvSpPr/>
          <p:nvPr/>
        </p:nvSpPr>
        <p:spPr>
          <a:xfrm>
            <a:off x="5750147" y="5440680"/>
            <a:ext cx="2813526" cy="365760"/>
          </a:xfrm>
          <a:prstGeom prst="roundRect">
            <a:avLst>
              <a:gd name="adj" fmla="val 50000"/>
            </a:avLst>
          </a:prstGeom>
          <a:solidFill>
            <a:srgbClr val="FFC56E">
              <a:alpha val="16000"/>
            </a:srgbClr>
          </a:solidFill>
          <a:ln w="6350">
            <a:solidFill>
              <a:srgbClr val="FFC56E">
                <a:alpha val="45000"/>
              </a:srgbClr>
            </a:solidFill>
          </a:ln>
        </p:spPr>
        <p:txBody>
          <a:bodyPr rtlCol="0" anchor="ctr" lIns="45720" rIns="45720" tIns="0" bIns="0" wrap="none"/>
          <a:lstStyle/>
          <a:p>
            <a:pPr algn="ctr"/>
            <a:r>
              <a:rPr sz="1250" b="1">
                <a:solidFill>
                  <a:srgbClr val="FFC56E"/>
                </a:solidFill>
                <a:latin typeface="DM Sans"/>
              </a:rPr>
              <a:t>Alarm if a scale is silent for 48 h</a:t>
            </a:r>
          </a:p>
        </p:txBody>
      </p:sp>
      <p:sp>
        <p:nvSpPr>
          <p:cNvPr id="13" name="Rounded Rectangle 12"/>
          <p:cNvSpPr/>
          <p:nvPr/>
        </p:nvSpPr>
        <p:spPr>
          <a:xfrm>
            <a:off x="8700833" y="5440680"/>
            <a:ext cx="2448560" cy="365760"/>
          </a:xfrm>
          <a:prstGeom prst="roundRect">
            <a:avLst>
              <a:gd name="adj" fmla="val 50000"/>
            </a:avLst>
          </a:prstGeom>
          <a:solidFill>
            <a:srgbClr val="FF8FA3">
              <a:alpha val="16000"/>
            </a:srgbClr>
          </a:solidFill>
          <a:ln w="6350">
            <a:solidFill>
              <a:srgbClr val="FF8FA3">
                <a:alpha val="45000"/>
              </a:srgbClr>
            </a:solidFill>
          </a:ln>
        </p:spPr>
        <p:txBody>
          <a:bodyPr rtlCol="0" anchor="ctr" lIns="45720" rIns="45720" tIns="0" bIns="0" wrap="none"/>
          <a:lstStyle/>
          <a:p>
            <a:pPr algn="ctr"/>
            <a:r>
              <a:rPr sz="1250" b="1">
                <a:solidFill>
                  <a:srgbClr val="FF8FA3"/>
                </a:solidFill>
                <a:latin typeface="DM Sans"/>
              </a:rPr>
              <a:t>No extra night check for all</a:t>
            </a:r>
          </a:p>
        </p:txBody>
      </p:sp>
      <p:sp>
        <p:nvSpPr>
          <p:cNvPr id="14" name="TextBox 13"/>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time since the last weighing of every missed pick · Report §3, §6.4</a:t>
            </a:r>
          </a:p>
        </p:txBody>
      </p:sp>
      <p:sp>
        <p:nvSpPr>
          <p:cNvPr id="15" name="TextBox 14"/>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RESULT</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More than half fewer weighings – and misses stay under control</a:t>
            </a:r>
          </a:p>
        </p:txBody>
      </p:sp>
      <p:pic>
        <p:nvPicPr>
          <p:cNvPr id="5" name="Picture 4" descr="k16_result.png"/>
          <p:cNvPicPr>
            <a:picLocks noChangeAspect="1"/>
          </p:cNvPicPr>
          <p:nvPr/>
        </p:nvPicPr>
        <p:blipFill>
          <a:blip r:embed="rId2"/>
          <a:stretch>
            <a:fillRect/>
          </a:stretch>
        </p:blipFill>
        <p:spPr>
          <a:xfrm>
            <a:off x="676656" y="1869440"/>
            <a:ext cx="7315200" cy="3566160"/>
          </a:xfrm>
          <a:prstGeom prst="rect">
            <a:avLst/>
          </a:prstGeom>
        </p:spPr>
      </p:pic>
      <p:sp>
        <p:nvSpPr>
          <p:cNvPr id="6" name="TextBox 5"/>
          <p:cNvSpPr txBox="1"/>
          <p:nvPr/>
        </p:nvSpPr>
        <p:spPr>
          <a:xfrm>
            <a:off x="8366760" y="1915160"/>
            <a:ext cx="3017520" cy="530860"/>
          </a:xfrm>
          <a:prstGeom prst="rect">
            <a:avLst/>
          </a:prstGeom>
          <a:noFill/>
        </p:spPr>
        <p:txBody>
          <a:bodyPr wrap="square" lIns="0" rIns="0" tIns="0" bIns="0" anchor="t">
            <a:spAutoFit/>
          </a:bodyPr>
          <a:lstStyle/>
          <a:p>
            <a:pPr algn="l">
              <a:lnSpc>
                <a:spcPct val="95000"/>
              </a:lnSpc>
            </a:pPr>
            <a:r>
              <a:rPr sz="3800" b="1">
                <a:solidFill>
                  <a:srgbClr val="5EEAD4"/>
                </a:solidFill>
                <a:latin typeface="Space Grotesk"/>
              </a:rPr>
              <a:t>≈ 2.1 M</a:t>
            </a:r>
          </a:p>
        </p:txBody>
      </p:sp>
      <p:sp>
        <p:nvSpPr>
          <p:cNvPr id="7" name="TextBox 6"/>
          <p:cNvSpPr txBox="1"/>
          <p:nvPr/>
        </p:nvSpPr>
        <p:spPr>
          <a:xfrm>
            <a:off x="8366760" y="2482596"/>
            <a:ext cx="301752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fewer weighings per week on 110,000 scales</a:t>
            </a:r>
          </a:p>
        </p:txBody>
      </p:sp>
      <p:sp>
        <p:nvSpPr>
          <p:cNvPr id="8" name="TextBox 7"/>
          <p:cNvSpPr txBox="1"/>
          <p:nvPr/>
        </p:nvSpPr>
        <p:spPr>
          <a:xfrm>
            <a:off x="8366760" y="3292144"/>
            <a:ext cx="3017520" cy="419100"/>
          </a:xfrm>
          <a:prstGeom prst="rect">
            <a:avLst/>
          </a:prstGeom>
          <a:noFill/>
        </p:spPr>
        <p:txBody>
          <a:bodyPr wrap="square" lIns="0" rIns="0" tIns="0" bIns="0" anchor="t">
            <a:spAutoFit/>
          </a:bodyPr>
          <a:lstStyle/>
          <a:p>
            <a:pPr algn="l">
              <a:lnSpc>
                <a:spcPct val="95000"/>
              </a:lnSpc>
            </a:pPr>
            <a:r>
              <a:rPr sz="3000" b="1">
                <a:solidFill>
                  <a:srgbClr val="8EA2FF"/>
                </a:solidFill>
                <a:latin typeface="Space Grotesk"/>
              </a:rPr>
              <a:t>+8% / +5%</a:t>
            </a:r>
          </a:p>
        </p:txBody>
      </p:sp>
      <p:sp>
        <p:nvSpPr>
          <p:cNvPr id="9" name="TextBox 8"/>
          <p:cNvSpPr txBox="1"/>
          <p:nvPr/>
        </p:nvSpPr>
        <p:spPr>
          <a:xfrm>
            <a:off x="8366760" y="3747820"/>
            <a:ext cx="3017520" cy="274320"/>
          </a:xfrm>
          <a:prstGeom prst="rect">
            <a:avLst/>
          </a:prstGeom>
          <a:noFill/>
        </p:spPr>
        <p:txBody>
          <a:bodyPr wrap="square" lIns="0" rIns="0" tIns="0" bIns="0" anchor="t">
            <a:spAutoFit/>
          </a:bodyPr>
          <a:lstStyle/>
          <a:p>
            <a:pPr algn="l">
              <a:lnSpc>
                <a:spcPct val="112000"/>
              </a:lnSpc>
            </a:pPr>
            <a:r>
              <a:rPr sz="1300" b="0">
                <a:solidFill>
                  <a:srgbClr val="B8C4D9"/>
                </a:solidFill>
                <a:latin typeface="DM Sans"/>
              </a:rPr>
              <a:t>battery life – the big gain is network and cloud</a:t>
            </a:r>
          </a:p>
        </p:txBody>
      </p:sp>
      <p:sp>
        <p:nvSpPr>
          <p:cNvPr id="10" name="TextBox 9"/>
          <p:cNvSpPr txBox="1"/>
          <p:nvPr/>
        </p:nvSpPr>
        <p:spPr>
          <a:xfrm>
            <a:off x="8366760" y="4557369"/>
            <a:ext cx="3017520" cy="91440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To be honest: the typical scale misses 11%–12%, just above the 10% target. The pilot fine-tunes this.</a:t>
            </a:r>
          </a:p>
        </p:txBody>
      </p:sp>
      <p:sp>
        <p:nvSpPr>
          <p:cNvPr id="11" name="TextBox 10"/>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simulation with each scale's own behaviour, looping scales left out; the fleet number is an estimate, not a forecast · Report §6.3</a:t>
            </a:r>
          </a:p>
        </p:txBody>
      </p:sp>
      <p:sp>
        <p:nvSpPr>
          <p:cNvPr id="12" name="TextBox 11"/>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WHAT WE RULED OUT</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tested the shortcuts – none of them works</a:t>
            </a:r>
          </a:p>
        </p:txBody>
      </p:sp>
      <p:graphicFrame>
        <p:nvGraphicFramePr>
          <p:cNvPr id="5" name="Table 4"/>
          <p:cNvGraphicFramePr>
            <a:graphicFrameLocks noGrp="1"/>
          </p:cNvGraphicFramePr>
          <p:nvPr/>
        </p:nvGraphicFramePr>
        <p:xfrm>
          <a:off x="813816" y="1506220"/>
          <a:ext cx="10570463" cy="3803904"/>
        </p:xfrm>
        <a:graphic>
          <a:graphicData uri="http://schemas.openxmlformats.org/drawingml/2006/table">
            <a:tbl>
              <a:tblPr firstRow="0" bandRow="0"/>
              <a:tblGrid>
                <a:gridCol w="3383280"/>
                <a:gridCol w="5669280"/>
                <a:gridCol w="1517903"/>
              </a:tblGrid>
              <a:tr h="475488">
                <a:tc>
                  <a:txBody>
                    <a:bodyPr wrap="square"/>
                    <a:lstStyle/>
                    <a:p>
                      <a:pPr algn="l"/>
                      <a:r>
                        <a:rPr sz="1300" b="1">
                          <a:solidFill>
                            <a:srgbClr val="5EEAD4"/>
                          </a:solidFill>
                          <a:latin typeface="Space Grotesk"/>
                        </a:rPr>
                        <a:t>Idea</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300" b="1">
                          <a:solidFill>
                            <a:srgbClr val="5EEAD4"/>
                          </a:solidFill>
                          <a:latin typeface="Space Grotesk"/>
                        </a:rPr>
                        <a:t>What happened</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300" b="1">
                          <a:solidFill>
                            <a:srgbClr val="5EEAD4"/>
                          </a:solidFill>
                          <a:latin typeface="Space Grotesk"/>
                        </a:rPr>
                        <a:t>Verdict</a:t>
                      </a:r>
                    </a:p>
                  </a:txBody>
                  <a:tcPr marL="91440" marR="91440" marT="36576" marB="36576" anchor="ctr">
                    <a:lnL w="0">
                      <a:noFill/>
                    </a:lnL>
                    <a:lnR w="0">
                      <a:noFill/>
                    </a:lnR>
                    <a:lnT w="0">
                      <a:noFill/>
                    </a:lnT>
                    <a:lnB w="6350">
                      <a:solidFill>
                        <a:srgbClr val="FFFFFF">
                          <a:alpha val="40000"/>
                        </a:srgbClr>
                      </a:solidFill>
                    </a:lnB>
                    <a:noFill/>
                  </a:tcPr>
                </a:tc>
              </a:tr>
              <a:tr h="475488">
                <a:tc>
                  <a:txBody>
                    <a:bodyPr wrap="square"/>
                    <a:lstStyle/>
                    <a:p>
                      <a:pPr algn="l"/>
                      <a:r>
                        <a:rPr sz="1300" b="0">
                          <a:solidFill>
                            <a:srgbClr val="FFFFFF"/>
                          </a:solidFill>
                          <a:latin typeface="DM Sans"/>
                        </a:rPr>
                        <a:t>One setting for all scales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Misses 38%–46% of the picks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Steer by Bossard's KPI</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Pushes scales to setting 1 – the sensor is practically off</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A table by pick size or item weight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Chooses the same setting for almost every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 gain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Sensor off at quiet hours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Saves only 6% – and real picks happen then too</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Extra night check for every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Eats a third of the savings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no</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Longer wait time between weighings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Only used in two factories – cannot be measured</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open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300" b="0">
                          <a:solidFill>
                            <a:srgbClr val="FFFFFF"/>
                          </a:solidFill>
                          <a:latin typeface="DM Sans"/>
                        </a:rPr>
                        <a:t>Bundle wake-ups into one weighing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B8C4D9"/>
                          </a:solidFill>
                          <a:latin typeface="DM Sans"/>
                        </a:rPr>
                        <a:t>Saves a few % more – needs a firmware change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300" b="0">
                          <a:solidFill>
                            <a:srgbClr val="FF8FA3"/>
                          </a:solidFill>
                          <a:latin typeface="DM Sans"/>
                        </a:rPr>
                        <a:t>maybe later</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§6.3, §6.5</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NEXT STEPS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Start the safe steps now – let a pilot decide the rest</a:t>
            </a:r>
          </a:p>
        </p:txBody>
      </p:sp>
      <p:sp>
        <p:nvSpPr>
          <p:cNvPr id="5" name="Rounded Rectangle 4"/>
          <p:cNvSpPr/>
          <p:nvPr/>
        </p:nvSpPr>
        <p:spPr>
          <a:xfrm>
            <a:off x="813816"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p>
        </p:txBody>
      </p:sp>
      <p:sp>
        <p:nvSpPr>
          <p:cNvPr id="6" name="TextBox 5"/>
          <p:cNvSpPr txBox="1"/>
          <p:nvPr/>
        </p:nvSpPr>
        <p:spPr>
          <a:xfrm>
            <a:off x="996696" y="1689100"/>
            <a:ext cx="204520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NOW</a:t>
            </a:r>
          </a:p>
        </p:txBody>
      </p:sp>
      <p:sp>
        <p:nvSpPr>
          <p:cNvPr id="7" name="TextBox 6"/>
          <p:cNvSpPr txBox="1"/>
          <p:nvPr/>
        </p:nvSpPr>
        <p:spPr>
          <a:xfrm>
            <a:off x="996696"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5EEAD4"/>
              </a:buClr>
              <a:buFont typeface="Arial"/>
              <a:buChar char="•"/>
            </a:pPr>
            <a:r>
              <a:rPr sz="1300" b="0">
                <a:solidFill>
                  <a:srgbClr val="FFFFFF"/>
                </a:solidFill>
                <a:latin typeface="DM Sans"/>
              </a:rPr>
              <a:t>Run the daily loop check</a:t>
            </a:r>
          </a:p>
          <a:p>
            <a:pPr algn="l" marL="201168" indent="-201168">
              <a:lnSpc>
                <a:spcPct val="112000"/>
              </a:lnSpc>
              <a:spcAft>
                <a:spcPts val="700"/>
              </a:spcAft>
              <a:buClr>
                <a:srgbClr val="5EEAD4"/>
              </a:buClr>
              <a:buFont typeface="Arial"/>
              <a:buChar char="•"/>
            </a:pPr>
            <a:r>
              <a:rPr sz="1300" b="0">
                <a:solidFill>
                  <a:srgbClr val="FFFFFF"/>
                </a:solidFill>
                <a:latin typeface="DM Sans"/>
              </a:rPr>
              <a:t>Remove setting 3 from the menu</a:t>
            </a:r>
          </a:p>
          <a:p>
            <a:pPr algn="l" marL="201168" indent="-201168">
              <a:lnSpc>
                <a:spcPct val="112000"/>
              </a:lnSpc>
              <a:spcAft>
                <a:spcPts val="700"/>
              </a:spcAft>
              <a:buClr>
                <a:srgbClr val="5EEAD4"/>
              </a:buClr>
              <a:buFont typeface="Arial"/>
              <a:buChar char="•"/>
            </a:pPr>
            <a:r>
              <a:rPr sz="1300" b="0">
                <a:solidFill>
                  <a:srgbClr val="FFFFFF"/>
                </a:solidFill>
                <a:latin typeface="DM Sans"/>
              </a:rPr>
              <a:t>Default setting 8 → 7</a:t>
            </a:r>
          </a:p>
          <a:p>
            <a:pPr algn="l" marL="201168" indent="-201168">
              <a:lnSpc>
                <a:spcPct val="112000"/>
              </a:lnSpc>
              <a:spcAft>
                <a:spcPts val="700"/>
              </a:spcAft>
              <a:buClr>
                <a:srgbClr val="5EEAD4"/>
              </a:buClr>
              <a:buFont typeface="Arial"/>
              <a:buChar char="•"/>
            </a:pPr>
            <a:r>
              <a:rPr sz="1300" b="0">
                <a:solidFill>
                  <a:srgbClr val="FFFFFF"/>
                </a:solidFill>
                <a:latin typeface="DM Sans"/>
              </a:rPr>
              <a:t>Show KPI 2.0 in the dashboard</a:t>
            </a:r>
          </a:p>
        </p:txBody>
      </p:sp>
      <p:sp>
        <p:nvSpPr>
          <p:cNvPr id="8" name="Rounded Rectangle 7"/>
          <p:cNvSpPr/>
          <p:nvPr/>
        </p:nvSpPr>
        <p:spPr>
          <a:xfrm>
            <a:off x="3453384" y="1506220"/>
            <a:ext cx="2410968" cy="3017520"/>
          </a:xfrm>
          <a:prstGeom prst="roundRect">
            <a:avLst>
              <a:gd name="adj" fmla="val 4551"/>
            </a:avLst>
          </a:prstGeom>
          <a:solidFill>
            <a:srgbClr val="5EEAD4">
              <a:alpha val="8000"/>
            </a:srgbClr>
          </a:solidFill>
          <a:ln w="6350">
            <a:solidFill>
              <a:srgbClr val="5EEAD4">
                <a:alpha val="50000"/>
              </a:srgbClr>
            </a:solidFill>
          </a:ln>
        </p:spPr>
        <p:txBody>
          <a:bodyPr rtlCol="0" anchor="ctr"/>
          <a:lstStyle/>
          <a:p>
            <a:pPr algn="ctr"/>
          </a:p>
        </p:txBody>
      </p:sp>
      <p:sp>
        <p:nvSpPr>
          <p:cNvPr id="9" name="TextBox 8"/>
          <p:cNvSpPr txBox="1"/>
          <p:nvPr/>
        </p:nvSpPr>
        <p:spPr>
          <a:xfrm>
            <a:off x="3636264" y="1689100"/>
            <a:ext cx="2045208" cy="274320"/>
          </a:xfrm>
          <a:prstGeom prst="rect">
            <a:avLst/>
          </a:prstGeom>
          <a:noFill/>
        </p:spPr>
        <p:txBody>
          <a:bodyPr wrap="square" lIns="0" rIns="0" tIns="0" bIns="0" anchor="t">
            <a:spAutoFit/>
          </a:bodyPr>
          <a:lstStyle/>
          <a:p>
            <a:pPr algn="l">
              <a:lnSpc>
                <a:spcPct val="112000"/>
              </a:lnSpc>
            </a:pPr>
            <a:r>
              <a:rPr sz="1100" b="1" spc="120">
                <a:solidFill>
                  <a:srgbClr val="5EEAD4"/>
                </a:solidFill>
                <a:latin typeface="DM Sans"/>
              </a:rPr>
              <a:t>PILOT · 8 WEEKS</a:t>
            </a:r>
          </a:p>
        </p:txBody>
      </p:sp>
      <p:sp>
        <p:nvSpPr>
          <p:cNvPr id="10" name="TextBox 9"/>
          <p:cNvSpPr txBox="1"/>
          <p:nvPr/>
        </p:nvSpPr>
        <p:spPr>
          <a:xfrm>
            <a:off x="3636264"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5EEAD4"/>
              </a:buClr>
              <a:buFont typeface="Arial"/>
              <a:buChar char="•"/>
            </a:pPr>
            <a:r>
              <a:rPr sz="1300" b="0">
                <a:solidFill>
                  <a:srgbClr val="FFFFFF"/>
                </a:solidFill>
                <a:latin typeface="DM Sans"/>
              </a:rPr>
              <a:t>Rule in about 10 factories</a:t>
            </a:r>
          </a:p>
          <a:p>
            <a:pPr algn="l" marL="201168" indent="-201168">
              <a:lnSpc>
                <a:spcPct val="112000"/>
              </a:lnSpc>
              <a:spcAft>
                <a:spcPts val="700"/>
              </a:spcAft>
              <a:buClr>
                <a:srgbClr val="5EEAD4"/>
              </a:buClr>
              <a:buFont typeface="Arial"/>
              <a:buChar char="•"/>
            </a:pPr>
            <a:r>
              <a:rPr sz="1300" b="0">
                <a:solidFill>
                  <a:srgbClr val="FFFFFF"/>
                </a:solidFill>
                <a:latin typeface="DM Sans"/>
              </a:rPr>
              <a:t>Compare with similar factories without it</a:t>
            </a:r>
          </a:p>
          <a:p>
            <a:pPr algn="l" marL="201168" indent="-201168">
              <a:lnSpc>
                <a:spcPct val="112000"/>
              </a:lnSpc>
              <a:spcAft>
                <a:spcPts val="700"/>
              </a:spcAft>
              <a:buClr>
                <a:srgbClr val="5EEAD4"/>
              </a:buClr>
              <a:buFont typeface="Arial"/>
              <a:buChar char="•"/>
            </a:pPr>
            <a:r>
              <a:rPr sz="1300" b="0">
                <a:solidFill>
                  <a:srgbClr val="FFFFFF"/>
                </a:solidFill>
                <a:latin typeface="DM Sans"/>
              </a:rPr>
              <a:t>Fine-tune the step-down threshold</a:t>
            </a:r>
          </a:p>
        </p:txBody>
      </p:sp>
      <p:sp>
        <p:nvSpPr>
          <p:cNvPr id="11" name="Rounded Rectangle 10"/>
          <p:cNvSpPr/>
          <p:nvPr/>
        </p:nvSpPr>
        <p:spPr>
          <a:xfrm>
            <a:off x="6092952" y="1506220"/>
            <a:ext cx="2410968" cy="3017520"/>
          </a:xfrm>
          <a:prstGeom prst="roundRect">
            <a:avLst>
              <a:gd name="adj" fmla="val 4551"/>
            </a:avLst>
          </a:prstGeom>
          <a:solidFill>
            <a:srgbClr val="8EA2FF">
              <a:alpha val="8000"/>
            </a:srgbClr>
          </a:solidFill>
          <a:ln w="6350">
            <a:solidFill>
              <a:srgbClr val="8EA2FF">
                <a:alpha val="50000"/>
              </a:srgbClr>
            </a:solidFill>
          </a:ln>
        </p:spPr>
        <p:txBody>
          <a:bodyPr rtlCol="0" anchor="ctr"/>
          <a:lstStyle/>
          <a:p>
            <a:pPr algn="ctr"/>
          </a:p>
        </p:txBody>
      </p:sp>
      <p:sp>
        <p:nvSpPr>
          <p:cNvPr id="12" name="TextBox 11"/>
          <p:cNvSpPr txBox="1"/>
          <p:nvPr/>
        </p:nvSpPr>
        <p:spPr>
          <a:xfrm>
            <a:off x="6275832" y="1689100"/>
            <a:ext cx="2045208" cy="274320"/>
          </a:xfrm>
          <a:prstGeom prst="rect">
            <a:avLst/>
          </a:prstGeom>
          <a:noFill/>
        </p:spPr>
        <p:txBody>
          <a:bodyPr wrap="square" lIns="0" rIns="0" tIns="0" bIns="0" anchor="t">
            <a:spAutoFit/>
          </a:bodyPr>
          <a:lstStyle/>
          <a:p>
            <a:pPr algn="l">
              <a:lnSpc>
                <a:spcPct val="112000"/>
              </a:lnSpc>
            </a:pPr>
            <a:r>
              <a:rPr sz="1100" b="1" spc="120">
                <a:solidFill>
                  <a:srgbClr val="8EA2FF"/>
                </a:solidFill>
                <a:latin typeface="DM Sans"/>
              </a:rPr>
              <a:t>IN PARALLEL</a:t>
            </a:r>
          </a:p>
        </p:txBody>
      </p:sp>
      <p:sp>
        <p:nvSpPr>
          <p:cNvPr id="13" name="TextBox 12"/>
          <p:cNvSpPr txBox="1"/>
          <p:nvPr/>
        </p:nvSpPr>
        <p:spPr>
          <a:xfrm>
            <a:off x="6275832" y="2054860"/>
            <a:ext cx="2045208" cy="2377440"/>
          </a:xfrm>
          <a:prstGeom prst="rect">
            <a:avLst/>
          </a:prstGeom>
          <a:noFill/>
        </p:spPr>
        <p:txBody>
          <a:bodyPr wrap="square" lIns="0" rIns="0" tIns="0" bIns="0" anchor="t">
            <a:spAutoFit/>
          </a:bodyPr>
          <a:lstStyle/>
          <a:p>
            <a:pPr algn="l" marL="201168" indent="-201168">
              <a:lnSpc>
                <a:spcPct val="112000"/>
              </a:lnSpc>
              <a:spcAft>
                <a:spcPts val="700"/>
              </a:spcAft>
              <a:buClr>
                <a:srgbClr val="8EA2FF"/>
              </a:buClr>
              <a:buFont typeface="Arial"/>
              <a:buChar char="•"/>
            </a:pPr>
            <a:r>
              <a:rPr sz="1300" b="0">
                <a:solidFill>
                  <a:srgbClr val="FFFFFF"/>
                </a:solidFill>
                <a:latin typeface="DM Sans"/>
              </a:rPr>
              <a:t>Vibration test in the 10 most affected factories</a:t>
            </a:r>
          </a:p>
          <a:p>
            <a:pPr algn="l" marL="201168" indent="-201168">
              <a:lnSpc>
                <a:spcPct val="112000"/>
              </a:lnSpc>
              <a:spcAft>
                <a:spcPts val="700"/>
              </a:spcAft>
              <a:buClr>
                <a:srgbClr val="8EA2FF"/>
              </a:buClr>
              <a:buFont typeface="Arial"/>
              <a:buChar char="•"/>
            </a:pPr>
            <a:r>
              <a:rPr sz="1300" b="0">
                <a:solidFill>
                  <a:srgbClr val="FFFFFF"/>
                </a:solidFill>
                <a:latin typeface="DM Sans"/>
              </a:rPr>
              <a:t>Firmware fix for the loops</a:t>
            </a:r>
          </a:p>
          <a:p>
            <a:pPr algn="l" marL="201168" indent="-201168">
              <a:lnSpc>
                <a:spcPct val="112000"/>
              </a:lnSpc>
              <a:spcAft>
                <a:spcPts val="700"/>
              </a:spcAft>
              <a:buClr>
                <a:srgbClr val="8EA2FF"/>
              </a:buClr>
              <a:buFont typeface="Arial"/>
              <a:buChar char="•"/>
            </a:pPr>
            <a:r>
              <a:rPr sz="1300" b="0">
                <a:solidFill>
                  <a:srgbClr val="FFFFFF"/>
                </a:solidFill>
                <a:latin typeface="DM Sans"/>
              </a:rPr>
              <a:t>Confirm how the daily check works</a:t>
            </a:r>
          </a:p>
        </p:txBody>
      </p:sp>
      <p:sp>
        <p:nvSpPr>
          <p:cNvPr id="14" name="Rounded Rectangle 13"/>
          <p:cNvSpPr/>
          <p:nvPr/>
        </p:nvSpPr>
        <p:spPr>
          <a:xfrm>
            <a:off x="8732520" y="1506220"/>
            <a:ext cx="2651760" cy="3017520"/>
          </a:xfrm>
          <a:prstGeom prst="roundRect">
            <a:avLst>
              <a:gd name="adj" fmla="val 4137"/>
            </a:avLst>
          </a:prstGeom>
          <a:solidFill>
            <a:srgbClr val="FFFFFF">
              <a:alpha val="5000"/>
            </a:srgbClr>
          </a:solidFill>
          <a:ln w="6350">
            <a:solidFill>
              <a:srgbClr val="FFFFFF">
                <a:alpha val="12000"/>
              </a:srgbClr>
            </a:solidFill>
          </a:ln>
        </p:spPr>
        <p:txBody>
          <a:bodyPr rtlCol="0" anchor="ctr"/>
          <a:lstStyle/>
          <a:p>
            <a:pPr algn="ctr"/>
          </a:p>
        </p:txBody>
      </p:sp>
      <p:sp>
        <p:nvSpPr>
          <p:cNvPr id="15" name="TextBox 14"/>
          <p:cNvSpPr txBox="1"/>
          <p:nvPr/>
        </p:nvSpPr>
        <p:spPr>
          <a:xfrm>
            <a:off x="8915400" y="1689100"/>
            <a:ext cx="2286000" cy="274320"/>
          </a:xfrm>
          <a:prstGeom prst="rect">
            <a:avLst/>
          </a:prstGeom>
          <a:noFill/>
        </p:spPr>
        <p:txBody>
          <a:bodyPr wrap="square" lIns="0" rIns="0" tIns="0" bIns="0" anchor="t">
            <a:spAutoFit/>
          </a:bodyPr>
          <a:lstStyle/>
          <a:p>
            <a:pPr algn="l">
              <a:lnSpc>
                <a:spcPct val="112000"/>
              </a:lnSpc>
            </a:pPr>
            <a:r>
              <a:rPr sz="1100" b="1" spc="120">
                <a:solidFill>
                  <a:srgbClr val="FF8FA3"/>
                </a:solidFill>
                <a:latin typeface="DM Sans"/>
              </a:rPr>
              <a:t>LIMITS</a:t>
            </a:r>
          </a:p>
        </p:txBody>
      </p:sp>
      <p:sp>
        <p:nvSpPr>
          <p:cNvPr id="16" name="TextBox 15"/>
          <p:cNvSpPr txBox="1"/>
          <p:nvPr/>
        </p:nvSpPr>
        <p:spPr>
          <a:xfrm>
            <a:off x="8915400" y="2054860"/>
            <a:ext cx="2331720" cy="2377440"/>
          </a:xfrm>
          <a:prstGeom prst="rect">
            <a:avLst/>
          </a:prstGeom>
          <a:noFill/>
        </p:spPr>
        <p:txBody>
          <a:bodyPr wrap="square" lIns="0" rIns="0" tIns="0" bIns="0" anchor="t">
            <a:spAutoFit/>
          </a:bodyPr>
          <a:lstStyle/>
          <a:p>
            <a:pPr algn="l" marL="201168" indent="-201168">
              <a:lnSpc>
                <a:spcPct val="112000"/>
              </a:lnSpc>
              <a:spcAft>
                <a:spcPts val="600"/>
              </a:spcAft>
              <a:buClr>
                <a:srgbClr val="FF8FA3"/>
              </a:buClr>
              <a:buFont typeface="Arial"/>
              <a:buChar char="•"/>
            </a:pPr>
            <a:r>
              <a:rPr sz="1200" b="0">
                <a:solidFill>
                  <a:srgbClr val="B8C4D9"/>
                </a:solidFill>
                <a:latin typeface="DM Sans"/>
              </a:rPr>
              <a:t>Only one season of data</a:t>
            </a:r>
          </a:p>
          <a:p>
            <a:pPr algn="l" marL="201168" indent="-201168">
              <a:lnSpc>
                <a:spcPct val="112000"/>
              </a:lnSpc>
              <a:spcAft>
                <a:spcPts val="600"/>
              </a:spcAft>
              <a:buClr>
                <a:srgbClr val="FF8FA3"/>
              </a:buClr>
              <a:buFont typeface="Arial"/>
              <a:buChar char="•"/>
            </a:pPr>
            <a:r>
              <a:rPr sz="1200" b="0">
                <a:solidFill>
                  <a:srgbClr val="B8C4D9"/>
                </a:solidFill>
                <a:latin typeface="DM Sans"/>
              </a:rPr>
              <a:t>The April change was not random</a:t>
            </a:r>
          </a:p>
          <a:p>
            <a:pPr algn="l" marL="201168" indent="-201168">
              <a:lnSpc>
                <a:spcPct val="112000"/>
              </a:lnSpc>
              <a:spcAft>
                <a:spcPts val="600"/>
              </a:spcAft>
              <a:buClr>
                <a:srgbClr val="FF8FA3"/>
              </a:buClr>
              <a:buFont typeface="Arial"/>
              <a:buChar char="•"/>
            </a:pPr>
            <a:r>
              <a:rPr sz="1200" b="0">
                <a:solidFill>
                  <a:srgbClr val="B8C4D9"/>
                </a:solidFill>
                <a:latin typeface="DM Sans"/>
              </a:rPr>
              <a:t>Some missed picks are never seen</a:t>
            </a:r>
          </a:p>
          <a:p>
            <a:pPr algn="l" marL="201168" indent="-201168">
              <a:lnSpc>
                <a:spcPct val="112000"/>
              </a:lnSpc>
              <a:spcAft>
                <a:spcPts val="600"/>
              </a:spcAft>
              <a:buClr>
                <a:srgbClr val="FF8FA3"/>
              </a:buClr>
              <a:buFont typeface="Arial"/>
              <a:buChar char="•"/>
            </a:pPr>
            <a:r>
              <a:rPr sz="1200" b="0">
                <a:solidFill>
                  <a:srgbClr val="B8C4D9"/>
                </a:solidFill>
                <a:latin typeface="DM Sans"/>
              </a:rPr>
              <a:t>No rack positions in the data</a:t>
            </a:r>
          </a:p>
        </p:txBody>
      </p:sp>
      <p:sp>
        <p:nvSpPr>
          <p:cNvPr id="17" name="Rounded Rectangle 16"/>
          <p:cNvSpPr/>
          <p:nvPr/>
        </p:nvSpPr>
        <p:spPr>
          <a:xfrm>
            <a:off x="813816" y="4798060"/>
            <a:ext cx="10570464" cy="777240"/>
          </a:xfrm>
          <a:prstGeom prst="roundRect">
            <a:avLst>
              <a:gd name="adj" fmla="val 14117"/>
            </a:avLst>
          </a:prstGeom>
          <a:solidFill>
            <a:srgbClr val="5EEAD4">
              <a:alpha val="13000"/>
            </a:srgbClr>
          </a:solidFill>
          <a:ln w="6350">
            <a:solidFill>
              <a:srgbClr val="5EEAD4">
                <a:alpha val="50000"/>
              </a:srgbClr>
            </a:solidFill>
          </a:ln>
        </p:spPr>
        <p:txBody>
          <a:bodyPr rtlCol="0" anchor="ctr"/>
          <a:lstStyle/>
          <a:p>
            <a:pPr algn="ctr"/>
          </a:p>
        </p:txBody>
      </p:sp>
      <p:sp>
        <p:nvSpPr>
          <p:cNvPr id="18" name="TextBox 17"/>
          <p:cNvSpPr txBox="1"/>
          <p:nvPr/>
        </p:nvSpPr>
        <p:spPr>
          <a:xfrm>
            <a:off x="1042416" y="4798060"/>
            <a:ext cx="10113264" cy="777240"/>
          </a:xfrm>
          <a:prstGeom prst="rect">
            <a:avLst/>
          </a:prstGeom>
          <a:noFill/>
        </p:spPr>
        <p:txBody>
          <a:bodyPr wrap="square" lIns="0" rIns="0" tIns="0" bIns="0" anchor="ctr">
            <a:spAutoFit/>
          </a:bodyPr>
          <a:lstStyle/>
          <a:p>
            <a:pPr algn="l">
              <a:lnSpc>
                <a:spcPct val="112000"/>
              </a:lnSpc>
            </a:pPr>
            <a:r>
              <a:rPr sz="1400" b="1">
                <a:solidFill>
                  <a:srgbClr val="FFFFFF"/>
                </a:solidFill>
                <a:latin typeface="DM Sans"/>
              </a:rPr>
              <a:t>Our advice for today:</a:t>
            </a:r>
            <a:r>
              <a:rPr sz="1400" b="0">
                <a:solidFill>
                  <a:srgbClr val="D7DEFF"/>
                </a:solidFill>
                <a:latin typeface="DM Sans"/>
              </a:rPr>
              <a:t> start the loop check and the new default 7 now. Both are low risk and measured. Let the pilot decide the details of the rule.</a:t>
            </a:r>
          </a:p>
        </p:txBody>
      </p:sp>
      <p:sp>
        <p:nvSpPr>
          <p:cNvPr id="19" name="TextBox 18"/>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§7–8</a:t>
            </a:r>
          </a:p>
        </p:txBody>
      </p:sp>
      <p:sp>
        <p:nvSpPr>
          <p:cNvPr id="20" name="TextBox 19"/>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1097280"/>
            <a:ext cx="7315200" cy="274320"/>
          </a:xfrm>
          <a:prstGeom prst="rect">
            <a:avLst/>
          </a:prstGeom>
          <a:noFill/>
        </p:spPr>
        <p:txBody>
          <a:bodyPr wrap="square" lIns="0" rIns="0" tIns="0" bIns="0" anchor="t">
            <a:spAutoFit/>
          </a:bodyPr>
          <a:lstStyle/>
          <a:p>
            <a:pPr algn="l">
              <a:lnSpc>
                <a:spcPct val="112000"/>
              </a:lnSpc>
            </a:pPr>
            <a:r>
              <a:rPr sz="1200" b="1" spc="150">
                <a:solidFill>
                  <a:srgbClr val="5EEAD4"/>
                </a:solidFill>
                <a:latin typeface="DM Sans"/>
              </a:rPr>
              <a:t>THANK YOU</a:t>
            </a:r>
          </a:p>
        </p:txBody>
      </p:sp>
      <p:sp>
        <p:nvSpPr>
          <p:cNvPr id="4" name="TextBox 3"/>
          <p:cNvSpPr txBox="1"/>
          <p:nvPr/>
        </p:nvSpPr>
        <p:spPr>
          <a:xfrm>
            <a:off x="813816" y="1463040"/>
            <a:ext cx="7315200" cy="914400"/>
          </a:xfrm>
          <a:prstGeom prst="rect">
            <a:avLst/>
          </a:prstGeom>
          <a:noFill/>
        </p:spPr>
        <p:txBody>
          <a:bodyPr wrap="square" lIns="0" rIns="0" tIns="0" bIns="0" anchor="t">
            <a:spAutoFit/>
          </a:bodyPr>
          <a:lstStyle/>
          <a:p>
            <a:pPr algn="l">
              <a:lnSpc>
                <a:spcPct val="112000"/>
              </a:lnSpc>
            </a:pPr>
            <a:r>
              <a:rPr sz="5200" b="1">
                <a:solidFill>
                  <a:srgbClr val="FFFFFF"/>
                </a:solidFill>
                <a:latin typeface="Space Grotesk"/>
              </a:rPr>
              <a:t>Questions?</a:t>
            </a:r>
          </a:p>
        </p:txBody>
      </p:sp>
      <p:sp>
        <p:nvSpPr>
          <p:cNvPr id="5" name="Oval 4"/>
          <p:cNvSpPr/>
          <p:nvPr/>
        </p:nvSpPr>
        <p:spPr>
          <a:xfrm>
            <a:off x="813816" y="2926080"/>
            <a:ext cx="457200" cy="457200"/>
          </a:xfrm>
          <a:prstGeom prst="ellipse">
            <a:avLst/>
          </a:prstGeom>
          <a:solidFill>
            <a:srgbClr val="FF8FA3"/>
          </a:solidFill>
          <a:ln>
            <a:noFill/>
          </a:ln>
        </p:spPr>
        <p:txBody>
          <a:bodyPr rtlCol="0" anchor="ctr" lIns="0" rIns="0" tIns="0" bIns="0"/>
          <a:lstStyle/>
          <a:p>
            <a:pPr algn="ctr"/>
            <a:r>
              <a:rPr sz="1700" b="1">
                <a:solidFill>
                  <a:srgbClr val="0A1020"/>
                </a:solidFill>
                <a:latin typeface="Space Grotesk"/>
              </a:rPr>
              <a:t>F</a:t>
            </a:r>
          </a:p>
        </p:txBody>
      </p:sp>
      <p:sp>
        <p:nvSpPr>
          <p:cNvPr id="6" name="TextBox 5"/>
          <p:cNvSpPr txBox="1"/>
          <p:nvPr/>
        </p:nvSpPr>
        <p:spPr>
          <a:xfrm>
            <a:off x="1453895" y="29718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Flag</a:t>
            </a:r>
          </a:p>
        </p:txBody>
      </p:sp>
      <p:sp>
        <p:nvSpPr>
          <p:cNvPr id="7" name="TextBox 6"/>
          <p:cNvSpPr txBox="1"/>
          <p:nvPr/>
        </p:nvSpPr>
        <p:spPr>
          <a:xfrm>
            <a:off x="2825496" y="30175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find the looping scales every day</a:t>
            </a:r>
          </a:p>
        </p:txBody>
      </p:sp>
      <p:sp>
        <p:nvSpPr>
          <p:cNvPr id="8" name="Oval 7"/>
          <p:cNvSpPr/>
          <p:nvPr/>
        </p:nvSpPr>
        <p:spPr>
          <a:xfrm>
            <a:off x="813816" y="3611880"/>
            <a:ext cx="457200" cy="457200"/>
          </a:xfrm>
          <a:prstGeom prst="ellipse">
            <a:avLst/>
          </a:prstGeom>
          <a:solidFill>
            <a:srgbClr val="5EEAD4"/>
          </a:solidFill>
          <a:ln>
            <a:noFill/>
          </a:ln>
        </p:spPr>
        <p:txBody>
          <a:bodyPr rtlCol="0" anchor="ctr" lIns="0" rIns="0" tIns="0" bIns="0"/>
          <a:lstStyle/>
          <a:p>
            <a:pPr algn="ctr"/>
            <a:r>
              <a:rPr sz="1700" b="1">
                <a:solidFill>
                  <a:srgbClr val="0A1020"/>
                </a:solidFill>
                <a:latin typeface="Space Grotesk"/>
              </a:rPr>
              <a:t>T</a:t>
            </a:r>
          </a:p>
        </p:txBody>
      </p:sp>
      <p:sp>
        <p:nvSpPr>
          <p:cNvPr id="9" name="TextBox 8"/>
          <p:cNvSpPr txBox="1"/>
          <p:nvPr/>
        </p:nvSpPr>
        <p:spPr>
          <a:xfrm>
            <a:off x="1453895" y="36576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Tune</a:t>
            </a:r>
          </a:p>
        </p:txBody>
      </p:sp>
      <p:sp>
        <p:nvSpPr>
          <p:cNvPr id="10" name="TextBox 9"/>
          <p:cNvSpPr txBox="1"/>
          <p:nvPr/>
        </p:nvSpPr>
        <p:spPr>
          <a:xfrm>
            <a:off x="2825496" y="37033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every scale learns its own setting</a:t>
            </a:r>
          </a:p>
        </p:txBody>
      </p:sp>
      <p:sp>
        <p:nvSpPr>
          <p:cNvPr id="11" name="Oval 10"/>
          <p:cNvSpPr/>
          <p:nvPr/>
        </p:nvSpPr>
        <p:spPr>
          <a:xfrm>
            <a:off x="813816" y="4297680"/>
            <a:ext cx="457200" cy="457200"/>
          </a:xfrm>
          <a:prstGeom prst="ellipse">
            <a:avLst/>
          </a:prstGeom>
          <a:solidFill>
            <a:srgbClr val="8EA2FF"/>
          </a:solidFill>
          <a:ln>
            <a:noFill/>
          </a:ln>
        </p:spPr>
        <p:txBody>
          <a:bodyPr rtlCol="0" anchor="ctr" lIns="0" rIns="0" tIns="0" bIns="0"/>
          <a:lstStyle/>
          <a:p>
            <a:pPr algn="ctr"/>
            <a:r>
              <a:rPr sz="1700" b="1">
                <a:solidFill>
                  <a:srgbClr val="0A1020"/>
                </a:solidFill>
                <a:latin typeface="Space Grotesk"/>
              </a:rPr>
              <a:t>W</a:t>
            </a:r>
          </a:p>
        </p:txBody>
      </p:sp>
      <p:sp>
        <p:nvSpPr>
          <p:cNvPr id="12" name="TextBox 11"/>
          <p:cNvSpPr txBox="1"/>
          <p:nvPr/>
        </p:nvSpPr>
        <p:spPr>
          <a:xfrm>
            <a:off x="1453895" y="4343400"/>
            <a:ext cx="1371600" cy="365760"/>
          </a:xfrm>
          <a:prstGeom prst="rect">
            <a:avLst/>
          </a:prstGeom>
          <a:noFill/>
        </p:spPr>
        <p:txBody>
          <a:bodyPr wrap="square" lIns="0" rIns="0" tIns="0" bIns="0" anchor="t">
            <a:spAutoFit/>
          </a:bodyPr>
          <a:lstStyle/>
          <a:p>
            <a:pPr algn="l">
              <a:lnSpc>
                <a:spcPct val="112000"/>
              </a:lnSpc>
            </a:pPr>
            <a:r>
              <a:rPr sz="2000" b="1">
                <a:solidFill>
                  <a:srgbClr val="FFFFFF"/>
                </a:solidFill>
                <a:latin typeface="Space Grotesk"/>
              </a:rPr>
              <a:t>Watch</a:t>
            </a:r>
          </a:p>
        </p:txBody>
      </p:sp>
      <p:sp>
        <p:nvSpPr>
          <p:cNvPr id="13" name="TextBox 12"/>
          <p:cNvSpPr txBox="1"/>
          <p:nvPr/>
        </p:nvSpPr>
        <p:spPr>
          <a:xfrm>
            <a:off x="2825496" y="4389120"/>
            <a:ext cx="7315200" cy="365760"/>
          </a:xfrm>
          <a:prstGeom prst="rect">
            <a:avLst/>
          </a:prstGeom>
          <a:noFill/>
        </p:spPr>
        <p:txBody>
          <a:bodyPr wrap="square" lIns="0" rIns="0" tIns="0" bIns="0" anchor="t">
            <a:spAutoFit/>
          </a:bodyPr>
          <a:lstStyle/>
          <a:p>
            <a:pPr algn="l">
              <a:lnSpc>
                <a:spcPct val="112000"/>
              </a:lnSpc>
            </a:pPr>
            <a:r>
              <a:rPr sz="1700" b="0">
                <a:solidFill>
                  <a:srgbClr val="D7DEFF"/>
                </a:solidFill>
                <a:latin typeface="DM Sans"/>
              </a:rPr>
              <a:t>keep missed picks visible</a:t>
            </a:r>
          </a:p>
        </p:txBody>
      </p:sp>
      <p:sp>
        <p:nvSpPr>
          <p:cNvPr id="14" name="TextBox 13"/>
          <p:cNvSpPr txBox="1"/>
          <p:nvPr/>
        </p:nvSpPr>
        <p:spPr>
          <a:xfrm>
            <a:off x="813816" y="5943600"/>
            <a:ext cx="10058400" cy="365760"/>
          </a:xfrm>
          <a:prstGeom prst="rect">
            <a:avLst/>
          </a:prstGeom>
          <a:noFill/>
        </p:spPr>
        <p:txBody>
          <a:bodyPr wrap="square" lIns="0" rIns="0" tIns="0" bIns="0" anchor="t">
            <a:spAutoFit/>
          </a:bodyPr>
          <a:lstStyle/>
          <a:p>
            <a:pPr algn="l">
              <a:lnSpc>
                <a:spcPct val="112000"/>
              </a:lnSpc>
            </a:pPr>
            <a:r>
              <a:rPr sz="1150" b="0">
                <a:solidFill>
                  <a:srgbClr val="8D99B0"/>
                </a:solidFill>
                <a:latin typeface="DM Sans"/>
              </a:rPr>
              <a:t>Erenalp Çakıroğlu · code, report and pipeline in a private repository (case data under NDA)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DATA CLEANING</a:t>
            </a:r>
          </a:p>
        </p:txBody>
      </p:sp>
      <p:sp>
        <p:nvSpPr>
          <p:cNvPr id="4" name="TextBox 3"/>
          <p:cNvSpPr txBox="1"/>
          <p:nvPr/>
        </p:nvSpPr>
        <p:spPr>
          <a:xfrm>
            <a:off x="813816" y="777240"/>
            <a:ext cx="10570464" cy="81787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We delete only what is broken – everything else is kept and marked</a:t>
            </a:r>
          </a:p>
        </p:txBody>
      </p:sp>
      <p:pic>
        <p:nvPicPr>
          <p:cNvPr id="5" name="Picture 4" descr="k17_cleaning.png"/>
          <p:cNvPicPr>
            <a:picLocks noChangeAspect="1"/>
          </p:cNvPicPr>
          <p:nvPr/>
        </p:nvPicPr>
        <p:blipFill>
          <a:blip r:embed="rId2"/>
          <a:stretch>
            <a:fillRect/>
          </a:stretch>
        </p:blipFill>
        <p:spPr>
          <a:xfrm>
            <a:off x="676656" y="1823720"/>
            <a:ext cx="6766560" cy="4023360"/>
          </a:xfrm>
          <a:prstGeom prst="rect">
            <a:avLst/>
          </a:prstGeom>
        </p:spPr>
      </p:pic>
      <p:sp>
        <p:nvSpPr>
          <p:cNvPr id="6" name="TextBox 5"/>
          <p:cNvSpPr txBox="1"/>
          <p:nvPr/>
        </p:nvSpPr>
        <p:spPr>
          <a:xfrm>
            <a:off x="7589520" y="1915160"/>
            <a:ext cx="3840480" cy="4114800"/>
          </a:xfrm>
          <a:prstGeom prst="rect">
            <a:avLst/>
          </a:prstGeom>
          <a:noFill/>
        </p:spPr>
        <p:txBody>
          <a:bodyPr wrap="square" lIns="0" rIns="0" tIns="0" bIns="0" anchor="t">
            <a:spAutoFit/>
          </a:bodyPr>
          <a:lstStyle/>
          <a:p>
            <a:pPr algn="l" marL="201168" indent="-201168">
              <a:lnSpc>
                <a:spcPct val="112000"/>
              </a:lnSpc>
              <a:spcAft>
                <a:spcPts val="800"/>
              </a:spcAft>
              <a:buClr>
                <a:srgbClr val="5EEAD4"/>
              </a:buClr>
              <a:buFont typeface="Arial"/>
              <a:buChar char="•"/>
            </a:pPr>
            <a:r>
              <a:rPr sz="1250" b="1">
                <a:solidFill>
                  <a:srgbClr val="FFFFFF"/>
                </a:solidFill>
                <a:latin typeface="DM Sans"/>
              </a:rPr>
              <a:t>5,733 duplicate rows</a:t>
            </a:r>
            <a:r>
              <a:rPr sz="1250" b="0">
                <a:solidFill>
                  <a:srgbClr val="B8C4D9"/>
                </a:solidFill>
                <a:latin typeface="DM Sans"/>
              </a:rPr>
              <a:t> (same scale, same millisecond). In 1,300 cases the copies had different labels. We keep one copy but do not trust its label.</a:t>
            </a:r>
          </a:p>
          <a:p>
            <a:pPr algn="l" marL="201168" indent="-201168">
              <a:lnSpc>
                <a:spcPct val="112000"/>
              </a:lnSpc>
              <a:spcAft>
                <a:spcPts val="800"/>
              </a:spcAft>
              <a:buClr>
                <a:srgbClr val="5EEAD4"/>
              </a:buClr>
              <a:buFont typeface="Arial"/>
              <a:buChar char="•"/>
            </a:pPr>
            <a:r>
              <a:rPr sz="1250" b="1">
                <a:solidFill>
                  <a:srgbClr val="FFFFFF"/>
                </a:solidFill>
                <a:latin typeface="DM Sans"/>
              </a:rPr>
              <a:t>5 impossible weights</a:t>
            </a:r>
            <a:r>
              <a:rPr sz="1250" b="0">
                <a:solidFill>
                  <a:srgbClr val="B8C4D9"/>
                </a:solidFill>
                <a:latin typeface="DM Sans"/>
              </a:rPr>
              <a:t> (144 kg to 50 t).</a:t>
            </a:r>
          </a:p>
          <a:p>
            <a:pPr algn="l" marL="201168" indent="-201168">
              <a:lnSpc>
                <a:spcPct val="112000"/>
              </a:lnSpc>
              <a:spcAft>
                <a:spcPts val="800"/>
              </a:spcAft>
              <a:buClr>
                <a:srgbClr val="5EEAD4"/>
              </a:buClr>
              <a:buFont typeface="Arial"/>
              <a:buChar char="•"/>
            </a:pPr>
            <a:r>
              <a:rPr sz="1250" b="1">
                <a:solidFill>
                  <a:srgbClr val="FFFFFF"/>
                </a:solidFill>
                <a:latin typeface="DM Sans"/>
              </a:rPr>
              <a:t>Marked, not deleted.</a:t>
            </a:r>
            <a:r>
              <a:rPr sz="1250" b="0">
                <a:solidFill>
                  <a:srgbClr val="B8C4D9"/>
                </a:solidFill>
                <a:latin typeface="DM Sans"/>
              </a:rPr>
              <a:t> Rows we cannot use for the KPIs stay in the data. The next weighing needs them to compute its weight change.</a:t>
            </a:r>
          </a:p>
          <a:p>
            <a:pPr algn="l" marL="201168" indent="-201168">
              <a:lnSpc>
                <a:spcPct val="112000"/>
              </a:lnSpc>
              <a:spcAft>
                <a:spcPts val="800"/>
              </a:spcAft>
              <a:buClr>
                <a:srgbClr val="5EEAD4"/>
              </a:buClr>
              <a:buFont typeface="Arial"/>
              <a:buChar char="•"/>
            </a:pPr>
            <a:r>
              <a:rPr sz="1250" b="1">
                <a:solidFill>
                  <a:srgbClr val="FFFFFF"/>
                </a:solidFill>
                <a:latin typeface="DM Sans"/>
              </a:rPr>
              <a:t>69% of the rows</a:t>
            </a:r>
            <a:r>
              <a:rPr sz="1250" b="0">
                <a:solidFill>
                  <a:srgbClr val="B8C4D9"/>
                </a:solidFill>
                <a:latin typeface="DM Sans"/>
              </a:rPr>
              <a:t> are used for the KPIs.</a:t>
            </a:r>
          </a:p>
        </p:txBody>
      </p:sp>
      <p:sp>
        <p:nvSpPr>
          <p:cNvPr id="7" name="TextBox 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 §3, Appendix A</a:t>
            </a:r>
          </a:p>
        </p:txBody>
      </p:sp>
      <p:sp>
        <p:nvSpPr>
          <p:cNvPr id="8" name="TextBox 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ROBUSTNESS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Without the looping scales, every key result holds</a:t>
            </a:r>
          </a:p>
        </p:txBody>
      </p:sp>
      <p:graphicFrame>
        <p:nvGraphicFramePr>
          <p:cNvPr id="5" name="Table 4"/>
          <p:cNvGraphicFramePr>
            <a:graphicFrameLocks noGrp="1"/>
          </p:cNvGraphicFramePr>
          <p:nvPr/>
        </p:nvGraphicFramePr>
        <p:xfrm>
          <a:off x="813816" y="1506220"/>
          <a:ext cx="10570463" cy="3017520"/>
        </p:xfrm>
        <a:graphic>
          <a:graphicData uri="http://schemas.openxmlformats.org/drawingml/2006/table">
            <a:tbl>
              <a:tblPr firstRow="0" bandRow="0"/>
              <a:tblGrid>
                <a:gridCol w="5467481"/>
                <a:gridCol w="2551491"/>
                <a:gridCol w="2551491"/>
              </a:tblGrid>
              <a:tr h="502920">
                <a:tc>
                  <a:txBody>
                    <a:bodyPr wrap="square"/>
                    <a:lstStyle/>
                    <a:p>
                      <a:pPr algn="l"/>
                      <a:r>
                        <a:rPr sz="1300" b="1">
                          <a:solidFill>
                            <a:srgbClr val="5EEAD4"/>
                          </a:solidFill>
                          <a:latin typeface="Space Grotesk"/>
                        </a:rPr>
                        <a:t>Result</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300" b="1">
                          <a:solidFill>
                            <a:srgbClr val="5EEAD4"/>
                          </a:solidFill>
                          <a:latin typeface="Space Grotesk"/>
                        </a:rPr>
                        <a:t>All scales</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r"/>
                      <a:r>
                        <a:rPr sz="1300" b="1">
                          <a:solidFill>
                            <a:srgbClr val="5EEAD4"/>
                          </a:solidFill>
                          <a:latin typeface="Space Grotesk"/>
                        </a:rPr>
                        <a:t>Without looping scales</a:t>
                      </a:r>
                    </a:p>
                  </a:txBody>
                  <a:tcPr marL="91440" marR="91440" marT="36576" marB="36576" anchor="ctr">
                    <a:lnL w="0">
                      <a:noFill/>
                    </a:lnL>
                    <a:lnR w="0">
                      <a:noFill/>
                    </a:lnR>
                    <a:lnT w="0">
                      <a:noFill/>
                    </a:lnT>
                    <a:lnB w="6350">
                      <a:solidFill>
                        <a:srgbClr val="FFFFFF">
                          <a:alpha val="40000"/>
                        </a:srgbClr>
                      </a:solidFill>
                    </a:lnB>
                    <a:noFill/>
                  </a:tcPr>
                </a:tc>
              </a:tr>
              <a:tr h="502920">
                <a:tc>
                  <a:txBody>
                    <a:bodyPr wrap="square"/>
                    <a:lstStyle/>
                    <a:p>
                      <a:pPr algn="l"/>
                      <a:r>
                        <a:rPr sz="1300" b="0">
                          <a:solidFill>
                            <a:srgbClr val="B8C4D9"/>
                          </a:solidFill>
                          <a:latin typeface="DM Sans"/>
                        </a:rPr>
                        <a:t>Empty wake-ups per week, typical scale (20 kg / 6 kg)</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13.5 / 8.5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13.5 / 8.4</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Empty wake-ups linked to picks nearby</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c>
                  <a:txBody>
                    <a:bodyPr wrap="square"/>
                    <a:lstStyle/>
                    <a:p>
                      <a:pPr algn="r"/>
                      <a:r>
                        <a:rPr sz="1300" b="0">
                          <a:solidFill>
                            <a:srgbClr val="B8C4D9"/>
                          </a:solidFill>
                          <a:latin typeface="DM Sans"/>
                        </a:rPr>
                        <a:t>45%</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c>
                  <a:txBody>
                    <a:bodyPr wrap="square"/>
                    <a:lstStyle/>
                    <a:p>
                      <a:pPr algn="r"/>
                      <a:r>
                        <a:rPr sz="1300" b="1">
                          <a:solidFill>
                            <a:srgbClr val="FFFFFF"/>
                          </a:solidFill>
                          <a:latin typeface="DM Sans"/>
                        </a:rPr>
                        <a:t>55%</a:t>
                      </a:r>
                    </a:p>
                  </a:txBody>
                  <a:tcPr marL="91440" marR="91440" marT="36576" marB="36576" anchor="ctr">
                    <a:lnL w="0">
                      <a:noFill/>
                    </a:lnL>
                    <a:lnR w="0">
                      <a:noFill/>
                    </a:lnR>
                    <a:lnT w="0">
                      <a:noFill/>
                    </a:lnT>
                    <a:lnB w="6350">
                      <a:solidFill>
                        <a:srgbClr val="FFFFFF">
                          <a:alpha val="14000"/>
                        </a:srgbClr>
                      </a:solidFill>
                    </a:lnB>
                    <a:solidFill>
                      <a:srgbClr val="5EEAD4">
                        <a:alpha val="10000"/>
                      </a:srgbClr>
                    </a:solidFill>
                  </a:tcPr>
                </a:tc>
              </a:tr>
              <a:tr h="502920">
                <a:tc>
                  <a:txBody>
                    <a:bodyPr wrap="square"/>
                    <a:lstStyle/>
                    <a:p>
                      <a:pPr algn="l"/>
                      <a:r>
                        <a:rPr sz="1300" b="0">
                          <a:solidFill>
                            <a:srgbClr val="B8C4D9"/>
                          </a:solidFill>
                          <a:latin typeface="DM Sans"/>
                        </a:rPr>
                        <a:t>Setting 8 → 7: fewer empty wake-ups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59% / 68%</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52% / 59%</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Our rule: fewer weighings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61% / 55%</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61% / 55%</a:t>
                      </a:r>
                    </a:p>
                  </a:txBody>
                  <a:tcPr marL="91440" marR="91440" marT="36576" marB="36576" anchor="ctr">
                    <a:lnL w="0">
                      <a:noFill/>
                    </a:lnL>
                    <a:lnR w="0">
                      <a:noFill/>
                    </a:lnR>
                    <a:lnT w="0">
                      <a:noFill/>
                    </a:lnT>
                    <a:lnB w="6350">
                      <a:solidFill>
                        <a:srgbClr val="FFFFFF">
                          <a:alpha val="14000"/>
                        </a:srgbClr>
                      </a:solidFill>
                    </a:lnB>
                    <a:noFill/>
                  </a:tcPr>
                </a:tc>
              </a:tr>
              <a:tr h="502920">
                <a:tc>
                  <a:txBody>
                    <a:bodyPr wrap="square"/>
                    <a:lstStyle/>
                    <a:p>
                      <a:pPr algn="l"/>
                      <a:r>
                        <a:rPr sz="1300" b="0">
                          <a:solidFill>
                            <a:srgbClr val="B8C4D9"/>
                          </a:solidFill>
                          <a:latin typeface="DM Sans"/>
                        </a:rPr>
                        <a:t>Our rule: picks missed, typical scale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11% / 12%</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r"/>
                      <a:r>
                        <a:rPr sz="1300" b="0">
                          <a:solidFill>
                            <a:srgbClr val="B8C4D9"/>
                          </a:solidFill>
                          <a:latin typeface="DM Sans"/>
                        </a:rPr>
                        <a:t>11% / 11%</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report/robustness_loops.py · Report Appendix C</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METHODS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Four methods, each answering one question</a:t>
            </a:r>
          </a:p>
        </p:txBody>
      </p:sp>
      <p:sp>
        <p:nvSpPr>
          <p:cNvPr id="5" name="Rounded Rectangle 4"/>
          <p:cNvSpPr/>
          <p:nvPr/>
        </p:nvSpPr>
        <p:spPr>
          <a:xfrm>
            <a:off x="813816" y="15062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p>
        </p:txBody>
      </p:sp>
      <p:sp>
        <p:nvSpPr>
          <p:cNvPr id="6" name="TextBox 5"/>
          <p:cNvSpPr txBox="1"/>
          <p:nvPr/>
        </p:nvSpPr>
        <p:spPr>
          <a:xfrm>
            <a:off x="1042416" y="16891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Does the setting cause the change?</a:t>
            </a:r>
          </a:p>
        </p:txBody>
      </p:sp>
      <p:sp>
        <p:nvSpPr>
          <p:cNvPr id="7" name="TextBox 6"/>
          <p:cNvSpPr txBox="1"/>
          <p:nvPr/>
        </p:nvSpPr>
        <p:spPr>
          <a:xfrm>
            <a:off x="1042416" y="21005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Each scale before and after its change in April, minus the change of scales that kept their setting (difference-in-differences).</a:t>
            </a:r>
          </a:p>
        </p:txBody>
      </p:sp>
      <p:sp>
        <p:nvSpPr>
          <p:cNvPr id="8" name="Rounded Rectangle 7"/>
          <p:cNvSpPr/>
          <p:nvPr/>
        </p:nvSpPr>
        <p:spPr>
          <a:xfrm>
            <a:off x="6236207" y="15062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p>
        </p:txBody>
      </p:sp>
      <p:sp>
        <p:nvSpPr>
          <p:cNvPr id="9" name="TextBox 8"/>
          <p:cNvSpPr txBox="1"/>
          <p:nvPr/>
        </p:nvSpPr>
        <p:spPr>
          <a:xfrm>
            <a:off x="6464807" y="16891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Are empty wake-ups linked to picks?</a:t>
            </a:r>
          </a:p>
        </p:txBody>
      </p:sp>
      <p:sp>
        <p:nvSpPr>
          <p:cNvPr id="10" name="TextBox 9"/>
          <p:cNvSpPr txBox="1"/>
          <p:nvPr/>
        </p:nvSpPr>
        <p:spPr>
          <a:xfrm>
            <a:off x="6464807" y="21005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Count picks at other scales of the same factory within ±14 s, minus the chance level one minute later (event coincidence analysis).</a:t>
            </a:r>
          </a:p>
        </p:txBody>
      </p:sp>
      <p:sp>
        <p:nvSpPr>
          <p:cNvPr id="11" name="Rounded Rectangle 10"/>
          <p:cNvSpPr/>
          <p:nvPr/>
        </p:nvSpPr>
        <p:spPr>
          <a:xfrm>
            <a:off x="813816" y="3335020"/>
            <a:ext cx="5148072" cy="1645920"/>
          </a:xfrm>
          <a:prstGeom prst="roundRect">
            <a:avLst>
              <a:gd name="adj" fmla="val 6666"/>
            </a:avLst>
          </a:prstGeom>
          <a:solidFill>
            <a:srgbClr val="5EEAD4">
              <a:alpha val="8000"/>
            </a:srgbClr>
          </a:solidFill>
          <a:ln w="6350">
            <a:solidFill>
              <a:srgbClr val="5EEAD4">
                <a:alpha val="50000"/>
              </a:srgbClr>
            </a:solidFill>
          </a:ln>
        </p:spPr>
        <p:txBody>
          <a:bodyPr rtlCol="0" anchor="ctr"/>
          <a:lstStyle/>
          <a:p>
            <a:pPr algn="ctr"/>
          </a:p>
        </p:txBody>
      </p:sp>
      <p:sp>
        <p:nvSpPr>
          <p:cNvPr id="12" name="TextBox 11"/>
          <p:cNvSpPr txBox="1"/>
          <p:nvPr/>
        </p:nvSpPr>
        <p:spPr>
          <a:xfrm>
            <a:off x="1042416" y="35179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How small a pick can a scale see?</a:t>
            </a:r>
          </a:p>
        </p:txBody>
      </p:sp>
      <p:sp>
        <p:nvSpPr>
          <p:cNvPr id="13" name="TextBox 12"/>
          <p:cNvSpPr txBox="1"/>
          <p:nvPr/>
        </p:nvSpPr>
        <p:spPr>
          <a:xfrm>
            <a:off x="1042416" y="39293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The weight change behind each label. Below about 23 g (20 kg) or 5 g (6 kg) a pick is invisible.</a:t>
            </a:r>
          </a:p>
        </p:txBody>
      </p:sp>
      <p:sp>
        <p:nvSpPr>
          <p:cNvPr id="14" name="Rounded Rectangle 13"/>
          <p:cNvSpPr/>
          <p:nvPr/>
        </p:nvSpPr>
        <p:spPr>
          <a:xfrm>
            <a:off x="6236207" y="3335020"/>
            <a:ext cx="5148072" cy="1645920"/>
          </a:xfrm>
          <a:prstGeom prst="roundRect">
            <a:avLst>
              <a:gd name="adj" fmla="val 6666"/>
            </a:avLst>
          </a:prstGeom>
          <a:solidFill>
            <a:srgbClr val="8EA2FF">
              <a:alpha val="8000"/>
            </a:srgbClr>
          </a:solidFill>
          <a:ln w="6350">
            <a:solidFill>
              <a:srgbClr val="8EA2FF">
                <a:alpha val="50000"/>
              </a:srgbClr>
            </a:solidFill>
          </a:ln>
        </p:spPr>
        <p:txBody>
          <a:bodyPr rtlCol="0" anchor="ctr"/>
          <a:lstStyle/>
          <a:p>
            <a:pPr algn="ctr"/>
          </a:p>
        </p:txBody>
      </p:sp>
      <p:sp>
        <p:nvSpPr>
          <p:cNvPr id="15" name="TextBox 14"/>
          <p:cNvSpPr txBox="1"/>
          <p:nvPr/>
        </p:nvSpPr>
        <p:spPr>
          <a:xfrm>
            <a:off x="6464807" y="3517900"/>
            <a:ext cx="4690872" cy="320040"/>
          </a:xfrm>
          <a:prstGeom prst="rect">
            <a:avLst/>
          </a:prstGeom>
          <a:noFill/>
        </p:spPr>
        <p:txBody>
          <a:bodyPr wrap="square" lIns="0" rIns="0" tIns="0" bIns="0" anchor="t">
            <a:spAutoFit/>
          </a:bodyPr>
          <a:lstStyle/>
          <a:p>
            <a:pPr algn="l">
              <a:lnSpc>
                <a:spcPct val="112000"/>
              </a:lnSpc>
            </a:pPr>
            <a:r>
              <a:rPr sz="1500" b="1">
                <a:solidFill>
                  <a:srgbClr val="FFFFFF"/>
                </a:solidFill>
                <a:latin typeface="Space Grotesk"/>
              </a:rPr>
              <a:t>Which rule is best?</a:t>
            </a:r>
          </a:p>
        </p:txBody>
      </p:sp>
      <p:sp>
        <p:nvSpPr>
          <p:cNvPr id="16" name="TextBox 15"/>
          <p:cNvSpPr txBox="1"/>
          <p:nvPr/>
        </p:nvSpPr>
        <p:spPr>
          <a:xfrm>
            <a:off x="6464807" y="3929380"/>
            <a:ext cx="4690872" cy="100584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Each scale's own behaviour on setting 8, times the measured effect of each setting. 9 rules, 16 weeks, 5 repeats.</a:t>
            </a:r>
          </a:p>
        </p:txBody>
      </p:sp>
      <p:sp>
        <p:nvSpPr>
          <p:cNvPr id="17" name="TextBox 1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Angrist &amp; Pischke (2009) · Donges et al. (2016) · Green &amp; Swets (1966) · Report Appendix A</a:t>
            </a:r>
          </a:p>
        </p:txBody>
      </p:sp>
      <p:sp>
        <p:nvSpPr>
          <p:cNvPr id="18" name="TextBox 1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PICK SIZE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Small picks need a sensitive setting – or a 6 kg scale</a:t>
            </a:r>
          </a:p>
        </p:txBody>
      </p:sp>
      <p:pic>
        <p:nvPicPr>
          <p:cNvPr id="5" name="Picture 4" descr="k18_pick_heat.png"/>
          <p:cNvPicPr>
            <a:picLocks noChangeAspect="1"/>
          </p:cNvPicPr>
          <p:nvPr/>
        </p:nvPicPr>
        <p:blipFill>
          <a:blip r:embed="rId2"/>
          <a:stretch>
            <a:fillRect/>
          </a:stretch>
        </p:blipFill>
        <p:spPr>
          <a:xfrm>
            <a:off x="676656" y="1414779"/>
            <a:ext cx="7680960" cy="3749040"/>
          </a:xfrm>
          <a:prstGeom prst="rect">
            <a:avLst/>
          </a:prstGeom>
        </p:spPr>
      </p:pic>
      <p:sp>
        <p:nvSpPr>
          <p:cNvPr id="6" name="TextBox 5"/>
          <p:cNvSpPr txBox="1"/>
          <p:nvPr/>
        </p:nvSpPr>
        <p:spPr>
          <a:xfrm>
            <a:off x="8138160" y="1506220"/>
            <a:ext cx="3291840" cy="3657600"/>
          </a:xfrm>
          <a:prstGeom prst="rect">
            <a:avLst/>
          </a:prstGeom>
          <a:noFill/>
        </p:spPr>
        <p:txBody>
          <a:bodyPr wrap="square" lIns="0" rIns="0" tIns="0" bIns="0" anchor="t">
            <a:spAutoFit/>
          </a:bodyPr>
          <a:lstStyle/>
          <a:p>
            <a:pPr algn="l" marL="201168" indent="-201168">
              <a:lnSpc>
                <a:spcPct val="112000"/>
              </a:lnSpc>
              <a:spcAft>
                <a:spcPts val="800"/>
              </a:spcAft>
              <a:buClr>
                <a:srgbClr val="5EEAD4"/>
              </a:buClr>
              <a:buFont typeface="Arial"/>
              <a:buChar char="•"/>
            </a:pPr>
            <a:r>
              <a:rPr sz="1300" b="0">
                <a:solidFill>
                  <a:srgbClr val="B8C4D9"/>
                </a:solidFill>
                <a:latin typeface="DM Sans"/>
              </a:rPr>
              <a:t>Each cell shows the share of picks the scale caught (%).</a:t>
            </a:r>
          </a:p>
          <a:p>
            <a:pPr algn="l" marL="201168" indent="-201168">
              <a:lnSpc>
                <a:spcPct val="112000"/>
              </a:lnSpc>
              <a:spcAft>
                <a:spcPts val="800"/>
              </a:spcAft>
              <a:buClr>
                <a:srgbClr val="5EEAD4"/>
              </a:buClr>
              <a:buFont typeface="Arial"/>
              <a:buChar char="•"/>
            </a:pPr>
            <a:r>
              <a:rPr sz="1300" b="0">
                <a:solidFill>
                  <a:srgbClr val="B8C4D9"/>
                </a:solidFill>
                <a:latin typeface="DM Sans"/>
              </a:rPr>
              <a:t>Settings 1–5 miss too many picks for every pick size.</a:t>
            </a:r>
          </a:p>
          <a:p>
            <a:pPr algn="l" marL="201168" indent="-201168">
              <a:lnSpc>
                <a:spcPct val="112000"/>
              </a:lnSpc>
              <a:spcAft>
                <a:spcPts val="800"/>
              </a:spcAft>
              <a:buClr>
                <a:srgbClr val="5EEAD4"/>
              </a:buClr>
              <a:buFont typeface="Arial"/>
              <a:buChar char="•"/>
            </a:pPr>
            <a:r>
              <a:rPr sz="1300" b="0">
                <a:solidFill>
                  <a:srgbClr val="B8C4D9"/>
                </a:solidFill>
                <a:latin typeface="DM Sans"/>
              </a:rPr>
              <a:t>Picks below about 25 g belong on 6 kg scales.</a:t>
            </a:r>
          </a:p>
        </p:txBody>
      </p:sp>
      <p:sp>
        <p:nvSpPr>
          <p:cNvPr id="7" name="TextBox 6"/>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own analysis of the Bossard SmartBin data, 1 Mar – 20 Jun 2022 · empty cells: too few picks, or below what the scale can see · Report §4.6</a:t>
            </a:r>
          </a:p>
        </p:txBody>
      </p:sp>
      <p:sp>
        <p:nvSpPr>
          <p:cNvPr id="8" name="TextBox 7"/>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628"/>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BACKUP · CODE</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One pipeline from raw data to this deck</a:t>
            </a:r>
          </a:p>
        </p:txBody>
      </p:sp>
      <p:graphicFrame>
        <p:nvGraphicFramePr>
          <p:cNvPr id="5" name="Table 4"/>
          <p:cNvGraphicFramePr>
            <a:graphicFrameLocks noGrp="1"/>
          </p:cNvGraphicFramePr>
          <p:nvPr/>
        </p:nvGraphicFramePr>
        <p:xfrm>
          <a:off x="813816" y="1506220"/>
          <a:ext cx="6949440" cy="3328416"/>
        </p:xfrm>
        <a:graphic>
          <a:graphicData uri="http://schemas.openxmlformats.org/drawingml/2006/table">
            <a:tbl>
              <a:tblPr firstRow="0" bandRow="0"/>
              <a:tblGrid>
                <a:gridCol w="1828800"/>
                <a:gridCol w="5120640"/>
              </a:tblGrid>
              <a:tr h="475488">
                <a:tc>
                  <a:txBody>
                    <a:bodyPr wrap="square"/>
                    <a:lstStyle/>
                    <a:p>
                      <a:pPr algn="l"/>
                      <a:r>
                        <a:rPr sz="1250" b="1">
                          <a:solidFill>
                            <a:srgbClr val="5EEAD4"/>
                          </a:solidFill>
                          <a:latin typeface="Space Grotesk"/>
                        </a:rPr>
                        <a:t>Step</a:t>
                      </a:r>
                    </a:p>
                  </a:txBody>
                  <a:tcPr marL="91440" marR="91440" marT="36576" marB="36576" anchor="ctr">
                    <a:lnL w="0">
                      <a:noFill/>
                    </a:lnL>
                    <a:lnR w="0">
                      <a:noFill/>
                    </a:lnR>
                    <a:lnT w="0">
                      <a:noFill/>
                    </a:lnT>
                    <a:lnB w="6350">
                      <a:solidFill>
                        <a:srgbClr val="FFFFFF">
                          <a:alpha val="40000"/>
                        </a:srgbClr>
                      </a:solidFill>
                    </a:lnB>
                    <a:noFill/>
                  </a:tcPr>
                </a:tc>
                <a:tc>
                  <a:txBody>
                    <a:bodyPr wrap="square"/>
                    <a:lstStyle/>
                    <a:p>
                      <a:pPr algn="l"/>
                      <a:r>
                        <a:rPr sz="1250" b="1">
                          <a:solidFill>
                            <a:srgbClr val="5EEAD4"/>
                          </a:solidFill>
                          <a:latin typeface="Space Grotesk"/>
                        </a:rPr>
                        <a:t>What it does</a:t>
                      </a:r>
                    </a:p>
                  </a:txBody>
                  <a:tcPr marL="91440" marR="91440" marT="36576" marB="36576" anchor="ctr">
                    <a:lnL w="0">
                      <a:noFill/>
                    </a:lnL>
                    <a:lnR w="0">
                      <a:noFill/>
                    </a:lnR>
                    <a:lnT w="0">
                      <a:noFill/>
                    </a:lnT>
                    <a:lnB w="6350">
                      <a:solidFill>
                        <a:srgbClr val="FFFFFF">
                          <a:alpha val="40000"/>
                        </a:srgbClr>
                      </a:solidFill>
                    </a:lnB>
                    <a:noFill/>
                  </a:tcPr>
                </a:tc>
              </a:tr>
              <a:tr h="475488">
                <a:tc>
                  <a:txBody>
                    <a:bodyPr wrap="square"/>
                    <a:lstStyle/>
                    <a:p>
                      <a:pPr algn="l"/>
                      <a:r>
                        <a:rPr sz="1250" b="0">
                          <a:solidFill>
                            <a:srgbClr val="B8C4D9"/>
                          </a:solidFill>
                          <a:latin typeface="DM Sans"/>
                        </a:rPr>
                        <a:t>Load and clean</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load 7.6 M rows into DuckDB, delete broken rows, mark the rest</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Build tables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weight change per weighing; one record per scale and setting</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Analyse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today, the setting, parameters, factories, pick size, picks nearby, simulation</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Validate</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a simulated fleet with known answers – the pipeline must find them first</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Report</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tables for Power BI, figures, the written report and both decks</a:t>
                      </a:r>
                    </a:p>
                  </a:txBody>
                  <a:tcPr marL="91440" marR="91440" marT="36576" marB="36576" anchor="ctr">
                    <a:lnL w="0">
                      <a:noFill/>
                    </a:lnL>
                    <a:lnR w="0">
                      <a:noFill/>
                    </a:lnR>
                    <a:lnT w="0">
                      <a:noFill/>
                    </a:lnT>
                    <a:lnB w="6350">
                      <a:solidFill>
                        <a:srgbClr val="FFFFFF">
                          <a:alpha val="14000"/>
                        </a:srgbClr>
                      </a:solidFill>
                    </a:lnB>
                    <a:noFill/>
                  </a:tcPr>
                </a:tc>
              </a:tr>
              <a:tr h="475488">
                <a:tc>
                  <a:txBody>
                    <a:bodyPr wrap="square"/>
                    <a:lstStyle/>
                    <a:p>
                      <a:pPr algn="l"/>
                      <a:r>
                        <a:rPr sz="1250" b="0">
                          <a:solidFill>
                            <a:srgbClr val="B8C4D9"/>
                          </a:solidFill>
                          <a:latin typeface="DM Sans"/>
                        </a:rPr>
                        <a:t>Robustness</a:t>
                      </a:r>
                    </a:p>
                  </a:txBody>
                  <a:tcPr marL="91440" marR="91440" marT="36576" marB="36576" anchor="ctr">
                    <a:lnL w="0">
                      <a:noFill/>
                    </a:lnL>
                    <a:lnR w="0">
                      <a:noFill/>
                    </a:lnR>
                    <a:lnT w="0">
                      <a:noFill/>
                    </a:lnT>
                    <a:lnB w="6350">
                      <a:solidFill>
                        <a:srgbClr val="FFFFFF">
                          <a:alpha val="14000"/>
                        </a:srgbClr>
                      </a:solidFill>
                    </a:lnB>
                    <a:noFill/>
                  </a:tcPr>
                </a:tc>
                <a:tc>
                  <a:txBody>
                    <a:bodyPr wrap="square"/>
                    <a:lstStyle/>
                    <a:p>
                      <a:pPr algn="l"/>
                      <a:r>
                        <a:rPr sz="1250" b="0">
                          <a:solidFill>
                            <a:srgbClr val="B8C4D9"/>
                          </a:solidFill>
                          <a:latin typeface="DM Sans"/>
                        </a:rPr>
                        <a:t>every key result again without the looping scales</a:t>
                      </a:r>
                    </a:p>
                  </a:txBody>
                  <a:tcPr marL="91440" marR="91440" marT="36576" marB="36576" anchor="ctr">
                    <a:lnL w="0">
                      <a:noFill/>
                    </a:lnL>
                    <a:lnR w="0">
                      <a:noFill/>
                    </a:lnR>
                    <a:lnT w="0">
                      <a:noFill/>
                    </a:lnT>
                    <a:lnB w="6350">
                      <a:solidFill>
                        <a:srgbClr val="FFFFFF">
                          <a:alpha val="14000"/>
                        </a:srgbClr>
                      </a:solidFill>
                    </a:lnB>
                    <a:noFill/>
                  </a:tcPr>
                </a:tc>
              </a:tr>
            </a:tbl>
          </a:graphicData>
        </a:graphic>
      </p:graphicFrame>
      <p:sp>
        <p:nvSpPr>
          <p:cNvPr id="6" name="Rounded Rectangle 5"/>
          <p:cNvSpPr/>
          <p:nvPr/>
        </p:nvSpPr>
        <p:spPr>
          <a:xfrm>
            <a:off x="8046720" y="1506220"/>
            <a:ext cx="3337560" cy="3337560"/>
          </a:xfrm>
          <a:prstGeom prst="roundRect">
            <a:avLst>
              <a:gd name="adj" fmla="val 3287"/>
            </a:avLst>
          </a:prstGeom>
          <a:solidFill>
            <a:srgbClr val="FFFFFF">
              <a:alpha val="5000"/>
            </a:srgbClr>
          </a:solidFill>
          <a:ln w="6350">
            <a:solidFill>
              <a:srgbClr val="FFFFFF">
                <a:alpha val="12000"/>
              </a:srgbClr>
            </a:solidFill>
          </a:ln>
        </p:spPr>
        <p:txBody>
          <a:bodyPr rtlCol="0" anchor="ctr"/>
          <a:lstStyle/>
          <a:p>
            <a:pPr algn="ctr"/>
          </a:p>
        </p:txBody>
      </p:sp>
      <p:sp>
        <p:nvSpPr>
          <p:cNvPr id="7" name="TextBox 6"/>
          <p:cNvSpPr txBox="1"/>
          <p:nvPr/>
        </p:nvSpPr>
        <p:spPr>
          <a:xfrm>
            <a:off x="8229600" y="1689100"/>
            <a:ext cx="3017520" cy="274320"/>
          </a:xfrm>
          <a:prstGeom prst="rect">
            <a:avLst/>
          </a:prstGeom>
          <a:noFill/>
        </p:spPr>
        <p:txBody>
          <a:bodyPr wrap="square" lIns="0" rIns="0" tIns="0" bIns="0" anchor="t">
            <a:spAutoFit/>
          </a:bodyPr>
          <a:lstStyle/>
          <a:p>
            <a:pPr algn="l">
              <a:lnSpc>
                <a:spcPct val="112000"/>
              </a:lnSpc>
            </a:pPr>
            <a:r>
              <a:rPr sz="1050" b="1" spc="120">
                <a:solidFill>
                  <a:srgbClr val="5EEAD4"/>
                </a:solidFill>
                <a:latin typeface="DM Sans"/>
              </a:rPr>
              <a:t>RUN IT</a:t>
            </a:r>
          </a:p>
        </p:txBody>
      </p:sp>
      <p:sp>
        <p:nvSpPr>
          <p:cNvPr id="8" name="TextBox 7"/>
          <p:cNvSpPr txBox="1"/>
          <p:nvPr/>
        </p:nvSpPr>
        <p:spPr>
          <a:xfrm>
            <a:off x="8229600" y="2009139"/>
            <a:ext cx="3017520" cy="2743200"/>
          </a:xfrm>
          <a:prstGeom prst="rect">
            <a:avLst/>
          </a:prstGeom>
          <a:noFill/>
        </p:spPr>
        <p:txBody>
          <a:bodyPr wrap="square" lIns="0" rIns="0" tIns="0" bIns="0" anchor="t">
            <a:spAutoFit/>
          </a:bodyPr>
          <a:lstStyle/>
          <a:p>
            <a:pPr algn="l">
              <a:lnSpc>
                <a:spcPct val="112000"/>
              </a:lnSpc>
              <a:spcAft>
                <a:spcPts val="500"/>
              </a:spcAft>
            </a:pPr>
            <a:r>
              <a:rPr sz="1150" b="0">
                <a:solidFill>
                  <a:srgbClr val="D7DEFF"/>
                </a:solidFill>
                <a:latin typeface="DM Sans"/>
              </a:rPr>
              <a:t>bash run_bossard.sh</a:t>
            </a:r>
          </a:p>
          <a:p>
            <a:pPr algn="l">
              <a:lnSpc>
                <a:spcPct val="112000"/>
              </a:lnSpc>
              <a:spcAft>
                <a:spcPts val="500"/>
              </a:spcAft>
            </a:pPr>
            <a:r>
              <a:rPr sz="1150" b="0">
                <a:solidFill>
                  <a:srgbClr val="D7DEFF"/>
                </a:solidFill>
                <a:latin typeface="DM Sans"/>
              </a:rPr>
              <a:t>python report/build_figures.py</a:t>
            </a:r>
          </a:p>
          <a:p>
            <a:pPr algn="l">
              <a:lnSpc>
                <a:spcPct val="112000"/>
              </a:lnSpc>
              <a:spcAft>
                <a:spcPts val="500"/>
              </a:spcAft>
            </a:pPr>
            <a:r>
              <a:rPr sz="1150" b="0">
                <a:solidFill>
                  <a:srgbClr val="D7DEFF"/>
                </a:solidFill>
                <a:latin typeface="DM Sans"/>
              </a:rPr>
              <a:t>python report/robustness_loops.py</a:t>
            </a:r>
          </a:p>
          <a:p>
            <a:pPr algn="l">
              <a:lnSpc>
                <a:spcPct val="112000"/>
              </a:lnSpc>
              <a:spcAft>
                <a:spcPts val="500"/>
              </a:spcAft>
            </a:pPr>
            <a:r>
              <a:rPr sz="1150" b="0">
                <a:solidFill>
                  <a:srgbClr val="D7DEFF"/>
                </a:solidFill>
                <a:latin typeface="DM Sans"/>
              </a:rPr>
              <a:t>quarto render report/report.qmd</a:t>
            </a:r>
          </a:p>
          <a:p>
            <a:pPr algn="l">
              <a:lnSpc>
                <a:spcPct val="112000"/>
              </a:lnSpc>
              <a:spcAft>
                <a:spcPts val="500"/>
              </a:spcAft>
            </a:pPr>
            <a:r>
              <a:rPr sz="1150" b="0">
                <a:solidFill>
                  <a:srgbClr val="D7DEFF"/>
                </a:solidFill>
                <a:latin typeface="DM Sans"/>
              </a:rPr>
              <a:t>python presentation/build_cto_deck.py</a:t>
            </a:r>
          </a:p>
        </p:txBody>
      </p:sp>
      <p:sp>
        <p:nvSpPr>
          <p:cNvPr id="9" name="TextBox 8"/>
          <p:cNvSpPr txBox="1"/>
          <p:nvPr/>
        </p:nvSpPr>
        <p:spPr>
          <a:xfrm>
            <a:off x="813816" y="5118100"/>
            <a:ext cx="10570464" cy="365760"/>
          </a:xfrm>
          <a:prstGeom prst="rect">
            <a:avLst/>
          </a:prstGeom>
          <a:noFill/>
        </p:spPr>
        <p:txBody>
          <a:bodyPr wrap="square" lIns="0" rIns="0" tIns="0" bIns="0" anchor="t">
            <a:spAutoFit/>
          </a:bodyPr>
          <a:lstStyle/>
          <a:p>
            <a:pPr algn="l">
              <a:lnSpc>
                <a:spcPct val="112000"/>
              </a:lnSpc>
            </a:pPr>
            <a:r>
              <a:rPr sz="1250" b="0">
                <a:solidFill>
                  <a:srgbClr val="B8C4D9"/>
                </a:solidFill>
                <a:latin typeface="DM Sans"/>
              </a:rPr>
              <a:t>Raw data and Power BI files never go into the repository – only summary tables.</a:t>
            </a:r>
          </a:p>
        </p:txBody>
      </p:sp>
      <p:sp>
        <p:nvSpPr>
          <p:cNvPr id="10" name="TextBox 9"/>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Source: project repository (private)</a:t>
            </a:r>
          </a:p>
        </p:txBody>
      </p:sp>
      <p:sp>
        <p:nvSpPr>
          <p:cNvPr id="11" name="TextBox 10"/>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Rectangle 1"/>
          <p:cNvSpPr/>
          <p:nvPr/>
        </p:nvSpPr>
        <p:spPr>
          <a:xfrm>
            <a:off x="6986016" y="0"/>
            <a:ext cx="5202936" cy="4059936"/>
          </a:xfrm>
          <a:prstGeom prst="rect">
            <a:avLst/>
          </a:prstGeom>
          <a:gradFill rotWithShape="1">
            <a:gsLst>
              <a:gs pos="0">
                <a:srgbClr val="8EA2FF">
                  <a:alpha val="18000"/>
                </a:srgbClr>
              </a:gs>
              <a:gs pos="65000">
                <a:srgbClr val="8EA2FF">
                  <a:alpha val="0"/>
                </a:srgbClr>
              </a:gs>
            </a:gsLst>
            <a:path path="circle">
              <a:fillToRect l="70000" t="25000" r="30000" b="75000"/>
            </a:path>
          </a:gradFill>
          <a:ln>
            <a:noFill/>
          </a:ln>
        </p:spPr>
        <p:txBody>
          <a:bodyPr rtlCol="0" anchor="ctr"/>
          <a:lstStyle/>
          <a:p>
            <a:pPr algn="ctr"/>
          </a:p>
        </p:txBody>
      </p:sp>
      <p:sp>
        <p:nvSpPr>
          <p:cNvPr id="3" name="TextBox 2"/>
          <p:cNvSpPr txBox="1"/>
          <p:nvPr/>
        </p:nvSpPr>
        <p:spPr>
          <a:xfrm>
            <a:off x="813816" y="502920"/>
            <a:ext cx="10570464" cy="228600"/>
          </a:xfrm>
          <a:prstGeom prst="rect">
            <a:avLst/>
          </a:prstGeom>
          <a:noFill/>
        </p:spPr>
        <p:txBody>
          <a:bodyPr wrap="square" lIns="0" rIns="0" tIns="0" bIns="0" anchor="t">
            <a:spAutoFit/>
          </a:bodyPr>
          <a:lstStyle/>
          <a:p>
            <a:pPr algn="l">
              <a:lnSpc>
                <a:spcPct val="112000"/>
              </a:lnSpc>
            </a:pPr>
            <a:r>
              <a:rPr sz="1100" b="1" spc="150">
                <a:solidFill>
                  <a:srgbClr val="5EEAD4"/>
                </a:solidFill>
                <a:latin typeface="DM Sans"/>
              </a:rPr>
              <a:t>REFERENCES</a:t>
            </a:r>
          </a:p>
        </p:txBody>
      </p:sp>
      <p:sp>
        <p:nvSpPr>
          <p:cNvPr id="4" name="TextBox 3"/>
          <p:cNvSpPr txBox="1"/>
          <p:nvPr/>
        </p:nvSpPr>
        <p:spPr>
          <a:xfrm>
            <a:off x="813816" y="777240"/>
            <a:ext cx="10570464" cy="408939"/>
          </a:xfrm>
          <a:prstGeom prst="rect">
            <a:avLst/>
          </a:prstGeom>
          <a:noFill/>
        </p:spPr>
        <p:txBody>
          <a:bodyPr wrap="square" lIns="0" rIns="0" tIns="0" bIns="0" anchor="t">
            <a:spAutoFit/>
          </a:bodyPr>
          <a:lstStyle/>
          <a:p>
            <a:pPr algn="l">
              <a:lnSpc>
                <a:spcPct val="100000"/>
              </a:lnSpc>
            </a:pPr>
            <a:r>
              <a:rPr sz="2800" b="1">
                <a:solidFill>
                  <a:srgbClr val="FFFFFF"/>
                </a:solidFill>
                <a:latin typeface="Space Grotesk"/>
              </a:rPr>
              <a:t>Sources</a:t>
            </a:r>
          </a:p>
        </p:txBody>
      </p:sp>
      <p:sp>
        <p:nvSpPr>
          <p:cNvPr id="5" name="TextBox 4"/>
          <p:cNvSpPr txBox="1"/>
          <p:nvPr/>
        </p:nvSpPr>
        <p:spPr>
          <a:xfrm>
            <a:off x="813816" y="1414779"/>
            <a:ext cx="10570464" cy="4480560"/>
          </a:xfrm>
          <a:prstGeom prst="rect">
            <a:avLst/>
          </a:prstGeom>
          <a:noFill/>
        </p:spPr>
        <p:txBody>
          <a:bodyPr wrap="square" lIns="0" rIns="0" tIns="0" bIns="0" anchor="t">
            <a:spAutoFit/>
          </a:bodyPr>
          <a:lstStyle/>
          <a:p>
            <a:pPr algn="l">
              <a:lnSpc>
                <a:spcPct val="108000"/>
              </a:lnSpc>
              <a:spcAft>
                <a:spcPts val="500"/>
              </a:spcAft>
            </a:pPr>
            <a:r>
              <a:rPr sz="1100" b="0">
                <a:solidFill>
                  <a:srgbClr val="B8C4D9"/>
                </a:solidFill>
                <a:latin typeface="DM Sans"/>
              </a:rPr>
              <a:t>Anastasi, G., Conti, M., Di Francesco, M., &amp; Passarella, A. (2009). Energy conservation in wireless sensor networks: A survey. Ad Hoc Networks, 7(3), 537–568. https://doi.org/10.1016/j.adhoc.2008.06.003</a:t>
            </a:r>
          </a:p>
          <a:p>
            <a:pPr algn="l">
              <a:lnSpc>
                <a:spcPct val="108000"/>
              </a:lnSpc>
              <a:spcAft>
                <a:spcPts val="500"/>
              </a:spcAft>
            </a:pPr>
            <a:r>
              <a:rPr sz="1100" b="0">
                <a:solidFill>
                  <a:srgbClr val="B8C4D9"/>
                </a:solidFill>
                <a:latin typeface="DM Sans"/>
              </a:rPr>
              <a:t>Angrist, J. D., &amp; Pischke, J.-S. (2009). Mostly harmless econometrics: An empiricist's companion. Princeton University Press.</a:t>
            </a:r>
          </a:p>
          <a:p>
            <a:pPr algn="l">
              <a:lnSpc>
                <a:spcPct val="108000"/>
              </a:lnSpc>
              <a:spcAft>
                <a:spcPts val="500"/>
              </a:spcAft>
            </a:pPr>
            <a:r>
              <a:rPr sz="1100" b="0">
                <a:solidFill>
                  <a:srgbClr val="B8C4D9"/>
                </a:solidFill>
                <a:latin typeface="DM Sans"/>
              </a:rPr>
              <a:t>Bossard AG. (n.d.). SmartBin Cloud. Retrieved 6 October 2026, from https://www.bossard.com/ch-en/smart-factory-logistics/systems/smartbin-cloud/</a:t>
            </a:r>
          </a:p>
          <a:p>
            <a:pPr algn="l">
              <a:lnSpc>
                <a:spcPct val="108000"/>
              </a:lnSpc>
              <a:spcAft>
                <a:spcPts val="500"/>
              </a:spcAft>
            </a:pPr>
            <a:r>
              <a:rPr sz="1100" b="0">
                <a:solidFill>
                  <a:srgbClr val="B8C4D9"/>
                </a:solidFill>
                <a:latin typeface="DM Sans"/>
              </a:rPr>
              <a:t>Bossard AG &amp; D ONE Solutions AG. (2026). Smart Factory Logistics – SmartBin Cloud [Lecture slides, case description and case data]. HSLU, module Data-driven Supply Chain Management and Logistics. Confidential (NDA).</a:t>
            </a:r>
          </a:p>
          <a:p>
            <a:pPr algn="l">
              <a:lnSpc>
                <a:spcPct val="108000"/>
              </a:lnSpc>
              <a:spcAft>
                <a:spcPts val="500"/>
              </a:spcAft>
            </a:pPr>
            <a:r>
              <a:rPr sz="1100" b="0">
                <a:solidFill>
                  <a:srgbClr val="B8C4D9"/>
                </a:solidFill>
                <a:latin typeface="DM Sans"/>
              </a:rPr>
              <a:t>Chapman, P., Clinton, J., Kerber, R., Khabaza, T., Reinartz, T., Shearer, C., &amp; Wirth, R. (2000). CRISP-DM 1.0: Step-by-step data mining guide. SPSS Inc.</a:t>
            </a:r>
          </a:p>
          <a:p>
            <a:pPr algn="l">
              <a:lnSpc>
                <a:spcPct val="108000"/>
              </a:lnSpc>
              <a:spcAft>
                <a:spcPts val="500"/>
              </a:spcAft>
            </a:pPr>
            <a:r>
              <a:rPr sz="1100" b="0">
                <a:solidFill>
                  <a:srgbClr val="B8C4D9"/>
                </a:solidFill>
                <a:latin typeface="DM Sans"/>
              </a:rPr>
              <a:t>Donges, J. F., Schleussner, C.-F., Siegmund, J. F., &amp; Donner, R. V. (2016). Event coincidence analysis for quantifying statistical interrelationships between event time series. The European Physical Journal Special Topics, 225(3), 471–487. https://doi.org/10.1140/epjst/e2015-50233-y</a:t>
            </a:r>
          </a:p>
          <a:p>
            <a:pPr algn="l">
              <a:lnSpc>
                <a:spcPct val="108000"/>
              </a:lnSpc>
              <a:spcAft>
                <a:spcPts val="500"/>
              </a:spcAft>
            </a:pPr>
            <a:r>
              <a:rPr sz="1100" b="0">
                <a:solidFill>
                  <a:srgbClr val="B8C4D9"/>
                </a:solidFill>
                <a:latin typeface="DM Sans"/>
              </a:rPr>
              <a:t>Green, D. M., &amp; Swets, J. A. (1966). Signal detection theory and psychophysics. Wiley.</a:t>
            </a:r>
          </a:p>
          <a:p>
            <a:pPr algn="l">
              <a:lnSpc>
                <a:spcPct val="108000"/>
              </a:lnSpc>
              <a:spcAft>
                <a:spcPts val="500"/>
              </a:spcAft>
            </a:pPr>
            <a:r>
              <a:rPr sz="1100" b="0">
                <a:solidFill>
                  <a:srgbClr val="B8C4D9"/>
                </a:solidFill>
                <a:latin typeface="DM Sans"/>
              </a:rPr>
              <a:t>Grömping, U. (2006). Relative importance for linear regression in R: The package relaimpo. Journal of Statistical Software, 17(1), 1–27. https://doi.org/10.18637/jss.v017.i01</a:t>
            </a:r>
          </a:p>
          <a:p>
            <a:pPr algn="l">
              <a:lnSpc>
                <a:spcPct val="108000"/>
              </a:lnSpc>
              <a:spcAft>
                <a:spcPts val="500"/>
              </a:spcAft>
            </a:pPr>
            <a:r>
              <a:rPr sz="1100" b="0">
                <a:solidFill>
                  <a:srgbClr val="B8C4D9"/>
                </a:solidFill>
                <a:latin typeface="DM Sans"/>
              </a:rPr>
              <a:t>Shrout, P. E., &amp; Fleiss, J. L. (1979). Intraclass correlations: Uses in assessing rater reliability. Psychological Bulletin, 86(2), 420–428. https://doi.org/10.1037/0033-2909.86.2.420</a:t>
            </a:r>
          </a:p>
          <a:p>
            <a:pPr algn="l">
              <a:lnSpc>
                <a:spcPct val="108000"/>
              </a:lnSpc>
              <a:spcAft>
                <a:spcPts val="500"/>
              </a:spcAft>
            </a:pPr>
            <a:r>
              <a:rPr sz="1100" b="0">
                <a:solidFill>
                  <a:srgbClr val="B8C4D9"/>
                </a:solidFill>
                <a:latin typeface="DM Sans"/>
              </a:rPr>
              <a:t>Strathern, M. (1997). 'Improving ratings': Audit in the British university system. European Review, 5(3), 305–321.</a:t>
            </a:r>
          </a:p>
        </p:txBody>
      </p:sp>
      <p:sp>
        <p:nvSpPr>
          <p:cNvPr id="6" name="TextBox 5"/>
          <p:cNvSpPr txBox="1"/>
          <p:nvPr/>
        </p:nvSpPr>
        <p:spPr>
          <a:xfrm>
            <a:off x="813816" y="6419088"/>
            <a:ext cx="9875520" cy="228600"/>
          </a:xfrm>
          <a:prstGeom prst="rect">
            <a:avLst/>
          </a:prstGeom>
          <a:noFill/>
        </p:spPr>
        <p:txBody>
          <a:bodyPr wrap="square" lIns="0" rIns="0" tIns="0" bIns="0" anchor="t">
            <a:spAutoFit/>
          </a:bodyPr>
          <a:lstStyle/>
          <a:p>
            <a:pPr algn="l">
              <a:lnSpc>
                <a:spcPct val="100000"/>
              </a:lnSpc>
            </a:pPr>
            <a:r>
              <a:rPr sz="900" b="0">
                <a:solidFill>
                  <a:srgbClr val="8D99B0"/>
                </a:solidFill>
                <a:latin typeface="DM Sans"/>
              </a:rPr>
              <a:t/>
            </a:r>
          </a:p>
        </p:txBody>
      </p:sp>
      <p:sp>
        <p:nvSpPr>
          <p:cNvPr id="7" name="TextBox 6"/>
          <p:cNvSpPr txBox="1"/>
          <p:nvPr/>
        </p:nvSpPr>
        <p:spPr>
          <a:xfrm>
            <a:off x="10927080" y="6419088"/>
            <a:ext cx="457200" cy="228600"/>
          </a:xfrm>
          <a:prstGeom prst="rect">
            <a:avLst/>
          </a:prstGeom>
          <a:noFill/>
        </p:spPr>
        <p:txBody>
          <a:bodyPr wrap="square" lIns="0" rIns="0" tIns="0" bIns="0" anchor="t">
            <a:spAutoFit/>
          </a:bodyPr>
          <a:lstStyle/>
          <a:p>
            <a:pPr algn="r">
              <a:lnSpc>
                <a:spcPct val="112000"/>
              </a:lnSpc>
            </a:pPr>
            <a:r>
              <a:rPr sz="900" b="0">
                <a:solidFill>
                  <a:srgbClr val="8D99B0"/>
                </a:solidFill>
                <a:latin typeface="DM Sans"/>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SmartBin Cloud – wake up for picks, not for noise</dc:title>
  <dc:subject>HSLU · Data-driven Supply Chain Management and Logistics · Smart Logistics Service Optimisation</dc:subject>
  <dc:creator>Erenalp Çakıroğlu</dc:creator>
  <cp:keywords>SmartBin; IoT; sensitivity; Bossard; case study</cp:keywords>
  <dc:description/>
  <cp:lastModifiedBy>Erenalp Çakıroğlu</cp:lastModifiedBy>
  <cp:revision>1</cp:revision>
  <dcterms:created xsi:type="dcterms:W3CDTF">2026-10-18T20:29:18Z</dcterms:created>
  <dcterms:modified xsi:type="dcterms:W3CDTF">2026-10-18T20:29:18Z</dcterms:modified>
  <cp:category/>
</cp:coreProperties>
</file>