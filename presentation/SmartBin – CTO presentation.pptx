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for having us. This talk is about the SmartBin scales.</a:t>
            </a:r>
          </a:p>
          <a:p>
            <a:r>
              <a:t>Today most of their weighings find nothing.</a:t>
            </a:r>
          </a:p>
          <a:p>
            <a:r>
              <a:t>We looked at 7.6 million weighings and found out why.</a:t>
            </a:r>
          </a:p>
          <a:p>
            <a:r>
              <a:t>We also found a simple way for every scale to find its own setting.</a:t>
            </a:r>
          </a:p>
          <a:p>
            <a:r>
              <a:t>The three numbers on the right tell the whole story.</a:t>
            </a:r>
          </a:p>
          <a:p>
            <a:r>
              <a:t>We can cut the weighings by more than half.</a:t>
            </a:r>
          </a:p>
          <a:p>
            <a:r>
              <a:t>More than half of the empty wake-ups come from picking nearby.</a:t>
            </a:r>
          </a:p>
          <a:p>
            <a:r>
              <a:t>And a very small group of scales causes a quarter of the load.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SmartBin is a scale under a storage bin.</a:t>
            </a:r>
          </a:p>
          <a:p>
            <a:r>
              <a:t>When a worker takes parts, a sensor feels the vibration and wakes the scale up.</a:t>
            </a:r>
          </a:p>
          <a:p>
            <a:r>
              <a:t>The scale weighs the bin and sends the new stock level to ARIMS. ARIMS then reorders.</a:t>
            </a:r>
          </a:p>
          <a:p>
            <a:r>
              <a:t>The problem is that three out of four of these weighings find nothing.</a:t>
            </a:r>
          </a:p>
          <a:p>
            <a:r>
              <a:t>Each one costs battery, network and cloud capacity.</a:t>
            </a:r>
          </a:p>
          <a:p>
            <a:r>
              <a:t>If we make the sensor less sensitive, it may sleep through a real pick.</a:t>
            </a:r>
          </a:p>
          <a:p>
            <a:r>
              <a:t>Then the stock level is wrong for a while.</a:t>
            </a:r>
          </a:p>
          <a:p>
            <a:r>
              <a:t>So the question is simple. How should the sensor be set?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fleet today, on the factory setting.</a:t>
            </a:r>
          </a:p>
          <a:p>
            <a:r>
              <a:t>Bossard has two targets. At most half of the wake-ups may be empty, and at most two missed picks per week.</a:t>
            </a:r>
          </a:p>
          <a:p>
            <a:r>
              <a:t>The typical 20 kg scale has about ninety percent empty wake-ups. So almost no scale meets the first target.</a:t>
            </a:r>
          </a:p>
          <a:p>
            <a:r>
              <a:t>Missed picks are rare. The typical 20 kg scale misses about one pick every eight weeks. So almost every scale meets the second target.</a:t>
            </a:r>
          </a:p>
          <a:p>
            <a:r>
              <a:t>In numbers, a typical 20 kg scale wakes up for nothing about 14 times a week and sees only one or two real picks.</a:t>
            </a:r>
          </a:p>
          <a:p>
            <a:r>
              <a:t>So the sensor is set too sensitive. There is room to turn it down. The question is how far we can go before we start missing picks.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had 7.6 million weighings from 18,455 scales over 16 weeks. That is all the data we received.</a:t>
            </a:r>
          </a:p>
          <a:p>
            <a:r>
              <a:t>First we checked the data and removed only what was broken.</a:t>
            </a:r>
          </a:p>
          <a:p>
            <a:r>
              <a:t>Then we measured each scale on its own. We use the typical scale, so a few noisy scales cannot distort the picture.</a:t>
            </a:r>
          </a:p>
          <a:p>
            <a:r>
              <a:t>The most useful part of the data is April. Bossard gave 7,846 scales a new setting. So we can compare the same scale before and after.</a:t>
            </a:r>
          </a:p>
          <a:p>
            <a:r>
              <a:t>Finally we simulated nine ways to set the sensor.</a:t>
            </a:r>
          </a:p>
          <a:p>
            <a:r>
              <a:t>The whole analysis can be run again in about one minute.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what we did with the data, in one table.</a:t>
            </a:r>
          </a:p>
          <a:p>
            <a:r>
              <a:t>We deleted only rows that were clearly broken. Duplicate rows and five impossible weights.</a:t>
            </a:r>
          </a:p>
          <a:p>
            <a:r>
              <a:t>Everything else stays in the data, but some rows are not used for the KPIs. For example rows without a sensor setting, or scales we could not find in the scale list.</a:t>
            </a:r>
          </a:p>
          <a:p>
            <a:r>
              <a:t>In the end we work with 69% of all rows, about 5.3 million weighings.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Bossard's KPI is a ratio. Empty wake-ups divided by all wake-ups.</a:t>
            </a:r>
          </a:p>
          <a:p>
            <a:r>
              <a:t>Look at a typical 20 kg scale. On the default setting it wakes up empty about thirteen times a week, and sees one or two real picks. So about ninety percent of its wake-ups are empty.</a:t>
            </a:r>
          </a:p>
          <a:p>
            <a:r>
              <a:t>On setting 1 the sensor barely reacts. Empty wake-ups almost disappear. But the real picks disappear too.</a:t>
            </a:r>
          </a:p>
          <a:p>
            <a:r>
              <a:t>Because both numbers fall together, the ratio stays high. It moves from about ninety to about seventy percent, still far from the target.</a:t>
            </a:r>
          </a:p>
          <a:p>
            <a:r>
              <a:t>So the ratio hides the real progress. It also punishes bins that are rarely used.</a:t>
            </a:r>
          </a:p>
          <a:p>
            <a:r>
              <a:t>We suggest to count what really costs money. Empty wake-ups per week, and the share of picks we miss. We call this KPI 2.0.</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our key finding.</a:t>
            </a:r>
          </a:p>
          <a:p>
            <a:r>
              <a:t>Here is one real moment from the data. A worker takes parts from Bin A. In the same seconds, three bins on the same shelf wake up. They weigh and find nothing.</a:t>
            </a:r>
          </a:p>
          <a:p>
            <a:r>
              <a:t>This is not a rare story. More than half of all empty wake-ups come within 14 seconds of a real pick in the same factory. That is after we remove what would happen by chance.</a:t>
            </a:r>
          </a:p>
          <a:p>
            <a:r>
              <a:t>In this example the neighbours woke up a few seconds before the pick was weighed. In the data it is half before and half after, so the timing has no direction.</a:t>
            </a:r>
          </a:p>
          <a:p>
            <a:r>
              <a:t>So the sensor does not only feel its own bin. It feels the whole shelf.</a:t>
            </a:r>
          </a:p>
          <a:p>
            <a:r>
              <a:t>The small chart shows how often a pick wakes up a neighbour, by the neighbour's setting. On setting 8 and 7 it is about 7 percent for 20 kg scales. Only on setting 5 or lower it drops clearly.</a:t>
            </a:r>
          </a:p>
          <a:p>
            <a:r>
              <a:t>So the setting alone does not fix this part. The direct fix is mechanical. A damping pad under each scale, so the shaking of the shelf does not reach the neighbours.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claim like this needs proof. We checked it in four ways.</a:t>
            </a:r>
          </a:p>
          <a:p>
            <a:r>
              <a:t>First, the left chart. Around an empty wake-up, picks at the other bins jump to about eight times the normal level. Exactly at zero seconds.</a:t>
            </a:r>
          </a:p>
          <a:p>
            <a:r>
              <a:t>Second, we look one minute later, in the same busy hour. The link is gone. So it is not just a busy time of day.</a:t>
            </a:r>
          </a:p>
          <a:p>
            <a:r>
              <a:t>Third, the right chart. We take picks from a different factory at the same second. There is no link. This rules out shift patterns, and it also rules out a timing error in the cloud.</a:t>
            </a:r>
          </a:p>
          <a:p>
            <a:r>
              <a:t>Fourth, we checked every scale on its own. For almost all of them the link is above chance. How strong it is differs. For the middle half of the scales, between 45% and 78% of their empty wake-ups are linked. And the busier the factory, the stronger the link.</a:t>
            </a:r>
          </a:p>
          <a:p>
            <a:r>
              <a:t>What the data cannot tell us is exactly how the shaking travels. A short test on site with a vibration sensor would show that.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third finding was the biggest surprise.</a:t>
            </a:r>
          </a:p>
          <a:p>
            <a:r>
              <a:t>A small group of scales wakes itself up again and again. The top line on the left is one of them. Every line is one wake-up. Below it is a busy but normal scale on the same kind of day.</a:t>
            </a:r>
          </a:p>
          <a:p>
            <a:r>
              <a:t>The looping scale wakes up about every 90 seconds, day and night. Ninety seconds is the shortest pause the scale allows, sixty seconds, plus the thirty seconds it waits before it weighs. So the scale triggers itself as soon as it is allowed to.</a:t>
            </a:r>
          </a:p>
          <a:p>
            <a:r>
              <a:t>The chart on the right compares these scales with normal ones. They wake up at night and at weekends. Half of their wake-ups come about 90 seconds after the last one. And almost none of them come when someone picks nearby. So unlike finding 2, these wake-ups are not caused by people.</a:t>
            </a:r>
          </a:p>
          <a:p>
            <a:r>
              <a:t>Only 1.5 percent of the scales do this. But they cause 27 percent of all weighings. Most of them during a short test of setting 3 in April.</a:t>
            </a:r>
          </a:p>
          <a:p>
            <a:r>
              <a:t>The same scales behave normally on another setting. So the hardware is fine. This looks like a firmware problem.</a:t>
            </a:r>
          </a:p>
          <a:p>
            <a:r>
              <a:t>We removed these scales and repeated all our analyses. The results did not change.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what does the setting really do?</a:t>
            </a:r>
          </a:p>
          <a:p>
            <a:r>
              <a:t>In April Bossard changed the setting of thousands of scales. We compare each scale with itself, before and after.</a:t>
            </a:r>
          </a:p>
          <a:p>
            <a:r>
              <a:t>The first step, from 8 to 7, removes about half of the empty wake-ups. For a typical 20 kg scale that is from about thirteen to about six a week.</a:t>
            </a:r>
          </a:p>
          <a:p>
            <a:r>
              <a:t>The price is small. Missed picks go from about 3 to about 4 percent on 20 kg scales, and from about 7 to about 9 percent on 6 kg scales. Both stay under the 10 percent line.</a:t>
            </a:r>
          </a:p>
          <a:p>
            <a:r>
              <a:t>Below setting 6 the scale starts to miss real picks, and 6 kg scales cross the line first.</a:t>
            </a:r>
          </a:p>
          <a:p>
            <a:r>
              <a:t>So the first step is cheap. The deep steps are expensive.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much a scale misses also depends on the size of the pick.</a:t>
            </a:r>
          </a:p>
          <a:p>
            <a:r>
              <a:t>Each cell shows the share of picks the scale caught, by setting and by the size of the pick.</a:t>
            </a:r>
          </a:p>
          <a:p>
            <a:r>
              <a:t>A 20 kg scale cannot see a pick of a few grams at any setting. Below about 23 grams it is blind. A 6 kg scale sees down to about 5 grams.</a:t>
            </a:r>
          </a:p>
          <a:p>
            <a:r>
              <a:t>Settings 6 to 8 catch almost every pick. From setting 5 down the scale misses more and more, whatever the size.</a:t>
            </a:r>
          </a:p>
          <a:p>
            <a:r>
              <a:t>So parts that are picked in very small amounts belong on 6 kg scales. And this is why our rule starts on setting 7.</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Can we not just pick one good setting for everyone?</a:t>
            </a:r>
          </a:p>
          <a:p>
            <a:r>
              <a:t>No. On the left, every dot is a factory, all on the same setting. Some factories are close to the target, others are far above it.</a:t>
            </a:r>
          </a:p>
          <a:p>
            <a:r>
              <a:t>On the right is what makes the biggest difference. For each factor we compare the best and the worst group. Between the best and the worst factories, the share of empty wake-ups differs by about 34 points on 20 kg scales. How often a bin is used matters about as much.</a:t>
            </a:r>
          </a:p>
          <a:p>
            <a:r>
              <a:t>Box type and item weight matter much less. But those are the only things Bossard knows before a scale is installed.</a:t>
            </a:r>
          </a:p>
          <a:p>
            <a:r>
              <a:t>We also tested a table by pick size. It chose the same setting for almost every scale.</a:t>
            </a:r>
          </a:p>
          <a:p>
            <a:r>
              <a:t>So the best setting cannot be looked up. Each scale has to learn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recommendation has three steps. None of them needs new hardware. Everything runs on data the cloud already has.</a:t>
            </a:r>
          </a:p>
          <a:p>
            <a:r>
              <a:t>Flag. Find the looping scales every day and send them to service.</a:t>
            </a:r>
          </a:p>
          <a:p>
            <a:r>
              <a:t>Tune. Every scale starts on setting 7. Every two weeks it moves one step, or it stays.</a:t>
            </a:r>
          </a:p>
          <a:p>
            <a:r>
              <a:t>Watch. Track the new KPIs. Keep the daily safety check. Look closer at the few scales that miss most picks.</a:t>
            </a:r>
          </a:p>
          <a:p>
            <a:r>
              <a:t>We suggest to start the first part now, and to test the rule in about ten factories for eight weeks.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do we find a looping scale? With two simple numbers.</a:t>
            </a:r>
          </a:p>
          <a:p>
            <a:r>
              <a:t>How often does it wake up again within two minutes? And how many times a day does it wake up?</a:t>
            </a:r>
          </a:p>
          <a:p>
            <a:r>
              <a:t>If more than half of the wake-ups come that fast, and it wakes up more than 20 times a day, it is looping.</a:t>
            </a:r>
          </a:p>
          <a:p>
            <a:r>
              <a:t>The check uses all wake-ups of the scale. We do not need to separate the ones caused by picking nearby, because those never come every 90 seconds all day long.</a:t>
            </a:r>
          </a:p>
          <a:p>
            <a:r>
              <a:t>The chart shows why this is easy. Normal scales sit bottom left. Looping scales sit top right. Even the busiest normal scales stay far from the line.</a:t>
            </a:r>
          </a:p>
          <a:p>
            <a:r>
              <a:t>Then three steps. Set the scale back to 7 from the cloud. If it still loops after two days, send service. And give the list to the firmware team.</a:t>
            </a:r>
          </a:p>
          <a:p>
            <a:r>
              <a:t>We deliver the check as a short script, together with today's list.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heart of the solution, and it is simple.</a:t>
            </a:r>
          </a:p>
          <a:p>
            <a:r>
              <a:t>Every two weeks the cloud looks at each scale.</a:t>
            </a:r>
          </a:p>
          <a:p>
            <a:r>
              <a:t>Did it miss more than 10 percent of its picks? Then it becomes one step more sensitive.</a:t>
            </a:r>
          </a:p>
          <a:p>
            <a:r>
              <a:t>Did it wake up for nothing more than seven times a week, with almost no misses? Then it becomes one step less sensitive.</a:t>
            </a:r>
          </a:p>
          <a:p>
            <a:r>
              <a:t>Otherwise it stays where it is.</a:t>
            </a:r>
          </a:p>
          <a:p>
            <a:r>
              <a:t>Seven empty wake-ups a week is about one a day. It is an absolute number on purpose, because every weighing costs the same, no matter how busy the bin is.</a:t>
            </a:r>
          </a:p>
          <a:p>
            <a:r>
              <a:t>On the right is an example. A busy scale starts on 7 and steps down twice. On 5 it misses a pick, so it goes back up to 6. There it stays.</a:t>
            </a:r>
          </a:p>
          <a:p>
            <a:r>
              <a:t>It ends with about two thirds fewer empty wake-ups.</a:t>
            </a:r>
          </a:p>
          <a:p>
            <a:r>
              <a:t>On average a scale changes its setting about once a month.</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fair question is this. If the sensor sleeps more, does the stock stay wrong for days?</a:t>
            </a:r>
          </a:p>
          <a:p>
            <a:r>
              <a:t>The data says no. A missed pick is found by the next weighing of that bin. That can be the next wake-up, or the daily check. Bossard already weighs every scale that was quiet for 24 hours. Most missed picks are found within one or two days.</a:t>
            </a:r>
          </a:p>
          <a:p>
            <a:r>
              <a:t>A few take longer. We suggest an alarm for any scale that has been silent for two days.</a:t>
            </a:r>
          </a:p>
          <a:p>
            <a:r>
              <a:t>On the right you see that misses are concentrated. The worst ten percent of the scales cause about half of all misses. Those scales get an extra check.</a:t>
            </a:r>
          </a:p>
          <a:p>
            <a:r>
              <a:t>So every week the dashboard shows two numbers per scale. Empty wake-ups and missed picks. That is KPI 2.0 in daily use.</a:t>
            </a:r>
          </a:p>
          <a:p>
            <a:r>
              <a:t>We do not recommend an extra night check for all scales. It would add about seven weighings per scale and week, a third of what our rule saves.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shows how we tested the rule before recommending it.</a:t>
            </a:r>
          </a:p>
          <a:p>
            <a:r>
              <a:t>There is no machine learning here, and we did not invent any scales. We start from every real scale and its real counts per week on the default setting.</a:t>
            </a:r>
          </a:p>
          <a:p>
            <a:r>
              <a:t>From the April change we know what each setting does. For example, setting 7 keeps about 41 percent of the empty wake-ups and about 63 percent of the picks.</a:t>
            </a:r>
          </a:p>
          <a:p>
            <a:r>
              <a:t>Real weeks are not all the same. So we let the counts go up and down at random around each scale's average. This is called a Poisson draw. If a scale sees four picks on average, one fortnight it may see two and another six.</a:t>
            </a:r>
          </a:p>
          <a:p>
            <a:r>
              <a:t>Then we run the rule for eight rounds of two weeks, repeat everything five times, and compare with today.</a:t>
            </a:r>
          </a:p>
          <a:p>
            <a:r>
              <a:t>Here is one round. A scale with twenty three empty wake-ups a week on setting 8 would have about 19 in two weeks on setting 7. The random draw gives seventeen, with no miss. That is more than fourteen, so the rule steps down.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simulated every option on every scale.</a:t>
            </a:r>
          </a:p>
          <a:p>
            <a:r>
              <a:t>One setting for all is the single setting that looks best on Bossard's KPI. It saves a lot, but the typical scale then misses close to half of its picks. Following the KPI every day ends in the same place.</a:t>
            </a:r>
          </a:p>
          <a:p>
            <a:r>
              <a:t>Our rule saves 61 and 55 percent of the weighings. That is less load on the network, the cloud and ARIMS. The typical scale has about 65 and 47 percent fewer empty wake-ups.</a:t>
            </a:r>
          </a:p>
          <a:p>
            <a:r>
              <a:t>On the whole fleet that is about 2 million fewer weighings every week. That is an estimate, not a promise.</a:t>
            </a:r>
          </a:p>
          <a:p>
            <a:r>
              <a:t>The typical scale misses around 11 to 12 percent of its picks, and the daily check finds them. That is just above the 10 percent target.</a:t>
            </a:r>
          </a:p>
          <a:p>
            <a:r>
              <a:t>We also tested a stricter version for the pilot. A scale only steps down after it has seen at least five picks. Then misses fall to about 8 and 11 percent, and the rule still saves about 47 and 51 percent.</a:t>
            </a:r>
          </a:p>
          <a:p>
            <a:r>
              <a:t>Battery life improves less, about 8 percent, because a sleeping scale still uses most of the energy. The calculation is in the backup.</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should Bossard do on Monday?</a:t>
            </a:r>
          </a:p>
          <a:p>
            <a:r>
              <a:t>Two things are safe and can start now. The daily loop check, and the new default setting of 7. We measured both on real scales.</a:t>
            </a:r>
          </a:p>
          <a:p>
            <a:r>
              <a:t>The rule itself goes into an eight-week pilot in about ten factories. We compare them with similar factories that keep the old setting. The pilot also tests the stricter version, where a scale only steps down after it has seen enough picks.</a:t>
            </a:r>
          </a:p>
          <a:p>
            <a:r>
              <a:t>In parallel, damping pads in the factories with the most empty wake-ups, and a firmware fix for the loops.</a:t>
            </a:r>
          </a:p>
          <a:p>
            <a:r>
              <a:t>Our limits are simple. We have one season of data, and the April change was not random. That is why we want a pilot first.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We are happy to take your questions.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also tested the obvious shortcuts.</a:t>
            </a:r>
          </a:p>
          <a:p>
            <a:r>
              <a:t>One setting for all looks good on Bossard's KPI, but it misses many real picks.</a:t>
            </a:r>
          </a:p>
          <a:p>
            <a:r>
              <a:t>Switching the sensor off at quiet hours does not help. Empty wake-ups follow the working day, just like real picks.</a:t>
            </a:r>
          </a:p>
          <a:p>
            <a:r>
              <a:t>An extra night check for every scale costs too much.</a:t>
            </a:r>
          </a:p>
          <a:p>
            <a:r>
              <a:t>A longer wait time was only used in two factories, so we cannot measure it.</a:t>
            </a:r>
          </a:p>
          <a:p>
            <a:r>
              <a:t>Bundling wake-ups is a nice firmware idea for later, but it adds only a little.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removed the looping scales and ran everything again.</a:t>
            </a:r>
          </a:p>
          <a:p>
            <a:r>
              <a:t>The typical scale looks the same. The effect of the setting stays in the same range. Our rule saves the same.</a:t>
            </a:r>
          </a:p>
          <a:p>
            <a:r>
              <a:t>The link to picks nearby gets stronger, because the looping scales wake up when nobody is there.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battery number comes from the assumption in the case description. A weighing takes about two seconds and uses about three thousand times the sleep power.</a:t>
            </a:r>
          </a:p>
          <a:p>
            <a:r>
              <a:t>So one weighing costs as much energy as about one and a half hours of sleep. A typical scale weighs only two or three times a day, so most of the energy goes into sleeping.</a:t>
            </a:r>
          </a:p>
          <a:p>
            <a:r>
              <a:t>That is why cutting weighings by more than half adds only about ten percent battery life. The big gain is on the network, the cloud and ARIMS.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question has its own method.</a:t>
            </a:r>
          </a:p>
          <a:p>
            <a:r>
              <a:t>For the effect of the setting we compare each scale with itself before and after its change, and subtract what happened to scales that kept their setting.</a:t>
            </a:r>
          </a:p>
          <a:p>
            <a:r>
              <a:t>For the link to picks nearby we count picks around every empty wake-up and subtract the chance level.</a:t>
            </a:r>
          </a:p>
          <a:p>
            <a:r>
              <a:t>For pick size we look at the weight change behind every label.</a:t>
            </a:r>
          </a:p>
          <a:p>
            <a:r>
              <a:t>For the rule we simulate every scale from its own numbers.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in this deck can be rebuilt from the three raw files with these five commands.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Case data are confidential and used under the module NDA.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1020"/>
        </a:solidFill>
        <a:effectLst/>
      </p:bgPr>
    </p:bg>
    <p:spTree>
      <p:nvGrpSpPr>
        <p:cNvPr id="1" name=""/>
        <p:cNvGrpSpPr/>
        <p:nvPr/>
      </p:nvGrpSpPr>
      <p:grpSpPr/>
      <p:sp>
        <p:nvSpPr>
          <p:cNvPr id="2" name="Rectangle 1"/>
          <p:cNvSpPr/>
          <p:nvPr/>
        </p:nvSpPr>
        <p:spPr>
          <a:xfrm>
            <a:off x="6986016" y="0"/>
            <a:ext cx="5202936" cy="4059936"/>
          </a:xfrm>
          <a:prstGeom prst="rect">
            <a:avLst/>
          </a:prstGeom>
          <a:gradFill rotWithShape="1">
            <a:gsLst>
              <a:gs pos="0">
                <a:srgbClr val="8EA2FF">
                  <a:alpha val="18000"/>
                </a:srgbClr>
              </a:gs>
              <a:gs pos="65000">
                <a:srgbClr val="8EA2FF">
                  <a:alpha val="0"/>
                </a:srgbClr>
              </a:gs>
            </a:gsLst>
            <a:path path="circle">
              <a:fillToRect l="70000" t="25000" r="30000" b="75000"/>
            </a:path>
          </a:gradFill>
          <a:ln>
            <a:noFill/>
          </a:ln>
        </p:spPr>
        <p:txBody>
          <a:bodyPr rtlCol="0" anchor="ctr"/>
          <a:lstStyle/>
          <a:p>
            <a:pPr algn="ctr"/>
          </a:p>
        </p:txBody>
      </p:sp>
      <p:sp>
        <p:nvSpPr>
          <p:cNvPr id="3" name="TextBox 2"/>
          <p:cNvSpPr txBox="1"/>
          <p:nvPr/>
        </p:nvSpPr>
        <p:spPr>
          <a:xfrm>
            <a:off x="813816" y="822960"/>
            <a:ext cx="6400800" cy="274320"/>
          </a:xfrm>
          <a:prstGeom prst="rect">
            <a:avLst/>
          </a:prstGeom>
          <a:noFill/>
        </p:spPr>
        <p:txBody>
          <a:bodyPr wrap="square" lIns="0" rIns="0" tIns="0" bIns="0" anchor="t">
            <a:spAutoFit/>
          </a:bodyPr>
          <a:lstStyle/>
          <a:p>
            <a:pPr algn="l">
              <a:lnSpc>
                <a:spcPct val="112000"/>
              </a:lnSpc>
            </a:pPr>
            <a:r>
              <a:rPr sz="1100" b="1" spc="150">
                <a:solidFill>
                  <a:srgbClr val="5EEAD4"/>
                </a:solidFill>
                <a:latin typeface="DM Sans"/>
              </a:rPr>
              <a:t>SMARTBIN CLOUD · BOSSARD × D ONE · HSLU CASE STUDY</a:t>
            </a:r>
          </a:p>
        </p:txBody>
      </p:sp>
      <p:sp>
        <p:nvSpPr>
          <p:cNvPr id="4" name="TextBox 3"/>
          <p:cNvSpPr txBox="1"/>
          <p:nvPr/>
        </p:nvSpPr>
        <p:spPr>
          <a:xfrm>
            <a:off x="813816" y="1234440"/>
            <a:ext cx="6583680" cy="2011680"/>
          </a:xfrm>
          <a:prstGeom prst="rect">
            <a:avLst/>
          </a:prstGeom>
          <a:noFill/>
        </p:spPr>
        <p:txBody>
          <a:bodyPr wrap="square" lIns="0" rIns="0" tIns="0" bIns="0" anchor="t">
            <a:spAutoFit/>
          </a:bodyPr>
          <a:lstStyle/>
          <a:p>
            <a:pPr algn="l">
              <a:lnSpc>
                <a:spcPct val="100000"/>
              </a:lnSpc>
            </a:pPr>
            <a:r>
              <a:rPr sz="4600" b="1">
                <a:solidFill>
                  <a:srgbClr val="FFFFFF"/>
                </a:solidFill>
                <a:latin typeface="Space Grotesk"/>
              </a:rPr>
              <a:t>Wake up for picks,</a:t>
            </a:r>
          </a:p>
          <a:p>
            <a:pPr algn="l">
              <a:lnSpc>
                <a:spcPct val="100000"/>
              </a:lnSpc>
            </a:pPr>
            <a:r>
              <a:rPr sz="4600" b="1">
                <a:solidFill>
                  <a:srgbClr val="FFFFFF"/>
                </a:solidFill>
                <a:latin typeface="Space Grotesk"/>
              </a:rPr>
              <a:t>not for noise</a:t>
            </a:r>
          </a:p>
        </p:txBody>
      </p:sp>
      <p:sp>
        <p:nvSpPr>
          <p:cNvPr id="5" name="TextBox 4"/>
          <p:cNvSpPr txBox="1"/>
          <p:nvPr/>
        </p:nvSpPr>
        <p:spPr>
          <a:xfrm>
            <a:off x="813816" y="2880360"/>
            <a:ext cx="6035040" cy="822960"/>
          </a:xfrm>
          <a:prstGeom prst="rect">
            <a:avLst/>
          </a:prstGeom>
          <a:noFill/>
        </p:spPr>
        <p:txBody>
          <a:bodyPr wrap="square" lIns="0" rIns="0" tIns="0" bIns="0" anchor="t">
            <a:spAutoFit/>
          </a:bodyPr>
          <a:lstStyle/>
          <a:p>
            <a:pPr algn="l">
              <a:lnSpc>
                <a:spcPct val="115000"/>
              </a:lnSpc>
            </a:pPr>
            <a:r>
              <a:rPr sz="1900" b="0">
                <a:solidFill>
                  <a:srgbClr val="B8C4D9"/>
                </a:solidFill>
                <a:latin typeface="DM Sans"/>
              </a:rPr>
              <a:t>How each SmartBin scale can find its own sensor setting</a:t>
            </a:r>
          </a:p>
        </p:txBody>
      </p:sp>
      <p:sp>
        <p:nvSpPr>
          <p:cNvPr id="6" name="TextBox 5"/>
          <p:cNvSpPr txBox="1"/>
          <p:nvPr/>
        </p:nvSpPr>
        <p:spPr>
          <a:xfrm>
            <a:off x="813816" y="5760720"/>
            <a:ext cx="6400800" cy="274320"/>
          </a:xfrm>
          <a:prstGeom prst="rect">
            <a:avLst/>
          </a:prstGeom>
          <a:noFill/>
        </p:spPr>
        <p:txBody>
          <a:bodyPr wrap="square" lIns="0" rIns="0" tIns="0" bIns="0" anchor="t">
            <a:spAutoFit/>
          </a:bodyPr>
          <a:lstStyle/>
          <a:p>
            <a:pPr algn="l">
              <a:lnSpc>
                <a:spcPct val="112000"/>
              </a:lnSpc>
            </a:pPr>
            <a:r>
              <a:rPr sz="1500" b="1">
                <a:solidFill>
                  <a:srgbClr val="FFFFFF"/>
                </a:solidFill>
                <a:latin typeface="Space Grotesk"/>
              </a:rPr>
              <a:t>Erenalp Çakıroğlu</a:t>
            </a:r>
          </a:p>
        </p:txBody>
      </p:sp>
      <p:sp>
        <p:nvSpPr>
          <p:cNvPr id="7" name="TextBox 6"/>
          <p:cNvSpPr txBox="1"/>
          <p:nvPr/>
        </p:nvSpPr>
        <p:spPr>
          <a:xfrm>
            <a:off x="813816" y="6053328"/>
            <a:ext cx="6400800" cy="274320"/>
          </a:xfrm>
          <a:prstGeom prst="rect">
            <a:avLst/>
          </a:prstGeom>
          <a:noFill/>
        </p:spPr>
        <p:txBody>
          <a:bodyPr wrap="square" lIns="0" rIns="0" tIns="0" bIns="0" anchor="t">
            <a:spAutoFit/>
          </a:bodyPr>
          <a:lstStyle/>
          <a:p>
            <a:pPr algn="l">
              <a:lnSpc>
                <a:spcPct val="112000"/>
              </a:lnSpc>
            </a:pPr>
            <a:r>
              <a:rPr sz="1250" b="0">
                <a:solidFill>
                  <a:srgbClr val="B8C4D9"/>
                </a:solidFill>
                <a:latin typeface="DM Sans"/>
              </a:rPr>
              <a:t>MSc Applied Information and Data Science · HSLU Lucerne</a:t>
            </a:r>
          </a:p>
        </p:txBody>
      </p:sp>
      <p:sp>
        <p:nvSpPr>
          <p:cNvPr id="8" name="Rounded Rectangle 7"/>
          <p:cNvSpPr/>
          <p:nvPr/>
        </p:nvSpPr>
        <p:spPr>
          <a:xfrm>
            <a:off x="7726679" y="1234440"/>
            <a:ext cx="3657600" cy="1298448"/>
          </a:xfrm>
          <a:prstGeom prst="roundRect">
            <a:avLst>
              <a:gd name="adj" fmla="val 8450"/>
            </a:avLst>
          </a:prstGeom>
          <a:solidFill>
            <a:srgbClr val="5EEAD4">
              <a:alpha val="8000"/>
            </a:srgbClr>
          </a:solidFill>
          <a:ln w="6350">
            <a:solidFill>
              <a:srgbClr val="5EEAD4">
                <a:alpha val="50000"/>
              </a:srgbClr>
            </a:solidFill>
          </a:ln>
        </p:spPr>
        <p:txBody>
          <a:bodyPr rtlCol="0" anchor="ctr"/>
          <a:lstStyle/>
          <a:p>
            <a:pPr algn="ctr"/>
          </a:p>
        </p:txBody>
      </p:sp>
      <p:sp>
        <p:nvSpPr>
          <p:cNvPr id="9" name="TextBox 8"/>
          <p:cNvSpPr txBox="1"/>
          <p:nvPr/>
        </p:nvSpPr>
        <p:spPr>
          <a:xfrm>
            <a:off x="7955279" y="1399032"/>
            <a:ext cx="3291840" cy="548640"/>
          </a:xfrm>
          <a:prstGeom prst="rect">
            <a:avLst/>
          </a:prstGeom>
          <a:noFill/>
        </p:spPr>
        <p:txBody>
          <a:bodyPr wrap="square" lIns="0" rIns="0" tIns="0" bIns="0" anchor="t">
            <a:spAutoFit/>
          </a:bodyPr>
          <a:lstStyle/>
          <a:p>
            <a:pPr algn="l">
              <a:lnSpc>
                <a:spcPct val="112000"/>
              </a:lnSpc>
            </a:pPr>
            <a:r>
              <a:rPr sz="3000" b="1">
                <a:solidFill>
                  <a:srgbClr val="5EEAD4"/>
                </a:solidFill>
                <a:latin typeface="Space Grotesk"/>
              </a:rPr>
              <a:t>−61% / −55%</a:t>
            </a:r>
          </a:p>
        </p:txBody>
      </p:sp>
      <p:sp>
        <p:nvSpPr>
          <p:cNvPr id="10" name="TextBox 9"/>
          <p:cNvSpPr txBox="1"/>
          <p:nvPr/>
        </p:nvSpPr>
        <p:spPr>
          <a:xfrm>
            <a:off x="7955279" y="1984248"/>
            <a:ext cx="3291840" cy="457200"/>
          </a:xfrm>
          <a:prstGeom prst="rect">
            <a:avLst/>
          </a:prstGeom>
          <a:noFill/>
        </p:spPr>
        <p:txBody>
          <a:bodyPr wrap="square" lIns="0" rIns="0" tIns="0" bIns="0" anchor="t">
            <a:spAutoFit/>
          </a:bodyPr>
          <a:lstStyle/>
          <a:p>
            <a:pPr algn="l">
              <a:lnSpc>
                <a:spcPct val="110000"/>
              </a:lnSpc>
            </a:pPr>
            <a:r>
              <a:rPr sz="1250" b="0">
                <a:solidFill>
                  <a:srgbClr val="D7DEFF"/>
                </a:solidFill>
                <a:latin typeface="DM Sans"/>
              </a:rPr>
              <a:t>fewer weighings with our rule</a:t>
            </a:r>
          </a:p>
        </p:txBody>
      </p:sp>
      <p:sp>
        <p:nvSpPr>
          <p:cNvPr id="11" name="Rounded Rectangle 10"/>
          <p:cNvSpPr/>
          <p:nvPr/>
        </p:nvSpPr>
        <p:spPr>
          <a:xfrm>
            <a:off x="7726679" y="2715768"/>
            <a:ext cx="3657600" cy="1298448"/>
          </a:xfrm>
          <a:prstGeom prst="roundRect">
            <a:avLst>
              <a:gd name="adj" fmla="val 8450"/>
            </a:avLst>
          </a:prstGeom>
          <a:solidFill>
            <a:srgbClr val="8EA2FF">
              <a:alpha val="8000"/>
            </a:srgbClr>
          </a:solidFill>
          <a:ln w="6350">
            <a:solidFill>
              <a:srgbClr val="8EA2FF">
                <a:alpha val="50000"/>
              </a:srgbClr>
            </a:solidFill>
          </a:ln>
        </p:spPr>
        <p:txBody>
          <a:bodyPr rtlCol="0" anchor="ctr"/>
          <a:lstStyle/>
          <a:p>
            <a:pPr algn="ctr"/>
          </a:p>
        </p:txBody>
      </p:sp>
      <p:sp>
        <p:nvSpPr>
          <p:cNvPr id="12" name="TextBox 11"/>
          <p:cNvSpPr txBox="1"/>
          <p:nvPr/>
        </p:nvSpPr>
        <p:spPr>
          <a:xfrm>
            <a:off x="7955279" y="2880360"/>
            <a:ext cx="3291840" cy="548640"/>
          </a:xfrm>
          <a:prstGeom prst="rect">
            <a:avLst/>
          </a:prstGeom>
          <a:noFill/>
        </p:spPr>
        <p:txBody>
          <a:bodyPr wrap="square" lIns="0" rIns="0" tIns="0" bIns="0" anchor="t">
            <a:spAutoFit/>
          </a:bodyPr>
          <a:lstStyle/>
          <a:p>
            <a:pPr algn="l">
              <a:lnSpc>
                <a:spcPct val="112000"/>
              </a:lnSpc>
            </a:pPr>
            <a:r>
              <a:rPr sz="3000" b="1">
                <a:solidFill>
                  <a:srgbClr val="8EA2FF"/>
                </a:solidFill>
                <a:latin typeface="Space Grotesk"/>
              </a:rPr>
              <a:t>55%</a:t>
            </a:r>
          </a:p>
        </p:txBody>
      </p:sp>
      <p:sp>
        <p:nvSpPr>
          <p:cNvPr id="13" name="TextBox 12"/>
          <p:cNvSpPr txBox="1"/>
          <p:nvPr/>
        </p:nvSpPr>
        <p:spPr>
          <a:xfrm>
            <a:off x="7955279" y="3465576"/>
            <a:ext cx="3291840" cy="457200"/>
          </a:xfrm>
          <a:prstGeom prst="rect">
            <a:avLst/>
          </a:prstGeom>
          <a:noFill/>
        </p:spPr>
        <p:txBody>
          <a:bodyPr wrap="square" lIns="0" rIns="0" tIns="0" bIns="0" anchor="t">
            <a:spAutoFit/>
          </a:bodyPr>
          <a:lstStyle/>
          <a:p>
            <a:pPr algn="l">
              <a:lnSpc>
                <a:spcPct val="110000"/>
              </a:lnSpc>
            </a:pPr>
            <a:r>
              <a:rPr sz="1250" b="0">
                <a:solidFill>
                  <a:srgbClr val="D7DEFF"/>
                </a:solidFill>
                <a:latin typeface="DM Sans"/>
              </a:rPr>
              <a:t>of empty wake-ups happen when someone picks nearby</a:t>
            </a:r>
          </a:p>
        </p:txBody>
      </p:sp>
      <p:sp>
        <p:nvSpPr>
          <p:cNvPr id="14" name="Rounded Rectangle 13"/>
          <p:cNvSpPr/>
          <p:nvPr/>
        </p:nvSpPr>
        <p:spPr>
          <a:xfrm>
            <a:off x="7726679" y="4197096"/>
            <a:ext cx="3657600" cy="1298448"/>
          </a:xfrm>
          <a:prstGeom prst="roundRect">
            <a:avLst>
              <a:gd name="adj" fmla="val 8450"/>
            </a:avLst>
          </a:prstGeom>
          <a:solidFill>
            <a:srgbClr val="FF8FA3">
              <a:alpha val="8000"/>
            </a:srgbClr>
          </a:solidFill>
          <a:ln w="6350">
            <a:solidFill>
              <a:srgbClr val="FF8FA3">
                <a:alpha val="50000"/>
              </a:srgbClr>
            </a:solidFill>
          </a:ln>
        </p:spPr>
        <p:txBody>
          <a:bodyPr rtlCol="0" anchor="ctr"/>
          <a:lstStyle/>
          <a:p>
            <a:pPr algn="ctr"/>
          </a:p>
        </p:txBody>
      </p:sp>
      <p:sp>
        <p:nvSpPr>
          <p:cNvPr id="15" name="TextBox 14"/>
          <p:cNvSpPr txBox="1"/>
          <p:nvPr/>
        </p:nvSpPr>
        <p:spPr>
          <a:xfrm>
            <a:off x="7955279" y="4361688"/>
            <a:ext cx="3291840" cy="548640"/>
          </a:xfrm>
          <a:prstGeom prst="rect">
            <a:avLst/>
          </a:prstGeom>
          <a:noFill/>
        </p:spPr>
        <p:txBody>
          <a:bodyPr wrap="square" lIns="0" rIns="0" tIns="0" bIns="0" anchor="t">
            <a:spAutoFit/>
          </a:bodyPr>
          <a:lstStyle/>
          <a:p>
            <a:pPr algn="l">
              <a:lnSpc>
                <a:spcPct val="112000"/>
              </a:lnSpc>
            </a:pPr>
            <a:r>
              <a:rPr sz="3000" b="1">
                <a:solidFill>
                  <a:srgbClr val="FF8FA3"/>
                </a:solidFill>
                <a:latin typeface="Space Grotesk"/>
              </a:rPr>
              <a:t>1.5% → 27%</a:t>
            </a:r>
          </a:p>
        </p:txBody>
      </p:sp>
      <p:sp>
        <p:nvSpPr>
          <p:cNvPr id="16" name="TextBox 15"/>
          <p:cNvSpPr txBox="1"/>
          <p:nvPr/>
        </p:nvSpPr>
        <p:spPr>
          <a:xfrm>
            <a:off x="7955279" y="4946904"/>
            <a:ext cx="3291840" cy="457200"/>
          </a:xfrm>
          <a:prstGeom prst="rect">
            <a:avLst/>
          </a:prstGeom>
          <a:noFill/>
        </p:spPr>
        <p:txBody>
          <a:bodyPr wrap="square" lIns="0" rIns="0" tIns="0" bIns="0" anchor="t">
            <a:spAutoFit/>
          </a:bodyPr>
          <a:lstStyle/>
          <a:p>
            <a:pPr algn="l">
              <a:lnSpc>
                <a:spcPct val="110000"/>
              </a:lnSpc>
            </a:pPr>
            <a:r>
              <a:rPr sz="1250" b="0">
                <a:solidFill>
                  <a:srgbClr val="D7DEFF"/>
                </a:solidFill>
                <a:latin typeface="DM Sans"/>
              </a:rPr>
              <a:t>1.5% of the scales cause 27% of all weighings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E1628"/>
        </a:solidFill>
        <a:effectLst/>
      </p:bgPr>
    </p:bg>
    <p:spTree>
      <p:nvGrpSpPr>
        <p:cNvPr id="1" name=""/>
        <p:cNvGrpSpPr/>
        <p:nvPr/>
      </p:nvGrpSpPr>
      <p:grpSpPr/>
      <p:sp>
        <p:nvSpPr>
          <p:cNvPr id="2" name="Rectangle 1"/>
          <p:cNvSpPr/>
          <p:nvPr/>
        </p:nvSpPr>
        <p:spPr>
          <a:xfrm>
            <a:off x="6986016" y="0"/>
            <a:ext cx="5202936" cy="4059936"/>
          </a:xfrm>
          <a:prstGeom prst="rect">
            <a:avLst/>
          </a:prstGeom>
          <a:gradFill rotWithShape="1">
            <a:gsLst>
              <a:gs pos="0">
                <a:srgbClr val="8EA2FF">
                  <a:alpha val="18000"/>
                </a:srgbClr>
              </a:gs>
              <a:gs pos="65000">
                <a:srgbClr val="8EA2FF">
                  <a:alpha val="0"/>
                </a:srgbClr>
              </a:gs>
            </a:gsLst>
            <a:path path="circle">
              <a:fillToRect l="70000" t="25000" r="30000" b="75000"/>
            </a:path>
          </a:gradFill>
          <a:ln>
            <a:noFill/>
          </a:ln>
        </p:spPr>
        <p:txBody>
          <a:bodyPr rtlCol="0" anchor="ctr"/>
          <a:lstStyle/>
          <a:p>
            <a:pPr algn="ctr"/>
          </a:p>
        </p:txBody>
      </p:sp>
      <p:sp>
        <p:nvSpPr>
          <p:cNvPr id="3" name="TextBox 2"/>
          <p:cNvSpPr txBox="1"/>
          <p:nvPr/>
        </p:nvSpPr>
        <p:spPr>
          <a:xfrm>
            <a:off x="813816" y="502920"/>
            <a:ext cx="10570464" cy="228600"/>
          </a:xfrm>
          <a:prstGeom prst="rect">
            <a:avLst/>
          </a:prstGeom>
          <a:noFill/>
        </p:spPr>
        <p:txBody>
          <a:bodyPr wrap="square" lIns="0" rIns="0" tIns="0" bIns="0" anchor="t">
            <a:spAutoFit/>
          </a:bodyPr>
          <a:lstStyle/>
          <a:p>
            <a:pPr algn="l">
              <a:lnSpc>
                <a:spcPct val="112000"/>
              </a:lnSpc>
            </a:pPr>
            <a:r>
              <a:rPr sz="1100" b="1" spc="150">
                <a:solidFill>
                  <a:srgbClr val="5EEAD4"/>
                </a:solidFill>
                <a:latin typeface="DM Sans"/>
              </a:rPr>
              <a:t>THE PROBLEM</a:t>
            </a:r>
          </a:p>
        </p:txBody>
      </p:sp>
      <p:sp>
        <p:nvSpPr>
          <p:cNvPr id="4" name="TextBox 3"/>
          <p:cNvSpPr txBox="1"/>
          <p:nvPr/>
        </p:nvSpPr>
        <p:spPr>
          <a:xfrm>
            <a:off x="813816" y="777240"/>
            <a:ext cx="10570464" cy="408939"/>
          </a:xfrm>
          <a:prstGeom prst="rect">
            <a:avLst/>
          </a:prstGeom>
          <a:noFill/>
        </p:spPr>
        <p:txBody>
          <a:bodyPr wrap="square" lIns="0" rIns="0" tIns="0" bIns="0" anchor="t">
            <a:spAutoFit/>
          </a:bodyPr>
          <a:lstStyle/>
          <a:p>
            <a:pPr algn="l">
              <a:lnSpc>
                <a:spcPct val="100000"/>
              </a:lnSpc>
            </a:pPr>
            <a:r>
              <a:rPr sz="2800" b="1">
                <a:solidFill>
                  <a:srgbClr val="FFFFFF"/>
                </a:solidFill>
                <a:latin typeface="Space Grotesk"/>
              </a:rPr>
              <a:t>3 out of 4 automatic weighings find nothing</a:t>
            </a:r>
          </a:p>
        </p:txBody>
      </p:sp>
      <p:sp>
        <p:nvSpPr>
          <p:cNvPr id="5" name="Rounded Rectangle 4"/>
          <p:cNvSpPr/>
          <p:nvPr/>
        </p:nvSpPr>
        <p:spPr>
          <a:xfrm>
            <a:off x="813816" y="1506220"/>
            <a:ext cx="1572768" cy="1234440"/>
          </a:xfrm>
          <a:prstGeom prst="roundRect">
            <a:avLst>
              <a:gd name="adj" fmla="val 8888"/>
            </a:avLst>
          </a:prstGeom>
          <a:solidFill>
            <a:srgbClr val="5EEAD4">
              <a:alpha val="8000"/>
            </a:srgbClr>
          </a:solidFill>
          <a:ln w="6350">
            <a:solidFill>
              <a:srgbClr val="5EEAD4">
                <a:alpha val="50000"/>
              </a:srgbClr>
            </a:solidFill>
          </a:ln>
        </p:spPr>
        <p:txBody>
          <a:bodyPr rtlCol="0" anchor="ctr"/>
          <a:lstStyle/>
          <a:p>
            <a:pPr algn="ctr"/>
          </a:p>
        </p:txBody>
      </p:sp>
      <p:sp>
        <p:nvSpPr>
          <p:cNvPr id="6" name="Oval 5"/>
          <p:cNvSpPr/>
          <p:nvPr/>
        </p:nvSpPr>
        <p:spPr>
          <a:xfrm>
            <a:off x="950976" y="1652523"/>
            <a:ext cx="274320" cy="274320"/>
          </a:xfrm>
          <a:prstGeom prst="ellipse">
            <a:avLst/>
          </a:prstGeom>
          <a:solidFill>
            <a:srgbClr val="5EEAD4"/>
          </a:solidFill>
          <a:ln>
            <a:noFill/>
          </a:ln>
        </p:spPr>
        <p:txBody>
          <a:bodyPr rtlCol="0" anchor="ctr" lIns="0" rIns="0" tIns="0" bIns="0"/>
          <a:lstStyle/>
          <a:p>
            <a:pPr algn="ctr"/>
            <a:r>
              <a:rPr sz="1100" b="1">
                <a:solidFill>
                  <a:srgbClr val="0A1020"/>
                </a:solidFill>
                <a:latin typeface="Space Grotesk"/>
              </a:rPr>
              <a:t>1</a:t>
            </a:r>
          </a:p>
        </p:txBody>
      </p:sp>
      <p:sp>
        <p:nvSpPr>
          <p:cNvPr id="7" name="TextBox 6"/>
          <p:cNvSpPr txBox="1"/>
          <p:nvPr/>
        </p:nvSpPr>
        <p:spPr>
          <a:xfrm>
            <a:off x="1316736" y="1661667"/>
            <a:ext cx="1024128" cy="274320"/>
          </a:xfrm>
          <a:prstGeom prst="rect">
            <a:avLst/>
          </a:prstGeom>
          <a:noFill/>
        </p:spPr>
        <p:txBody>
          <a:bodyPr wrap="square" lIns="0" rIns="0" tIns="0" bIns="0" anchor="t">
            <a:spAutoFit/>
          </a:bodyPr>
          <a:lstStyle/>
          <a:p>
            <a:pPr algn="l">
              <a:lnSpc>
                <a:spcPct val="112000"/>
              </a:lnSpc>
            </a:pPr>
            <a:r>
              <a:rPr sz="1400" b="1">
                <a:solidFill>
                  <a:srgbClr val="FFFFFF"/>
                </a:solidFill>
                <a:latin typeface="Space Grotesk"/>
              </a:rPr>
              <a:t>Pick</a:t>
            </a:r>
          </a:p>
        </p:txBody>
      </p:sp>
      <p:sp>
        <p:nvSpPr>
          <p:cNvPr id="8" name="TextBox 7"/>
          <p:cNvSpPr txBox="1"/>
          <p:nvPr/>
        </p:nvSpPr>
        <p:spPr>
          <a:xfrm>
            <a:off x="950976" y="2054860"/>
            <a:ext cx="1298448" cy="640080"/>
          </a:xfrm>
          <a:prstGeom prst="rect">
            <a:avLst/>
          </a:prstGeom>
          <a:noFill/>
        </p:spPr>
        <p:txBody>
          <a:bodyPr wrap="square" lIns="0" rIns="0" tIns="0" bIns="0" anchor="t">
            <a:spAutoFit/>
          </a:bodyPr>
          <a:lstStyle/>
          <a:p>
            <a:pPr algn="l">
              <a:lnSpc>
                <a:spcPct val="110000"/>
              </a:lnSpc>
            </a:pPr>
            <a:r>
              <a:rPr sz="1200" b="0">
                <a:solidFill>
                  <a:srgbClr val="B8C4D9"/>
                </a:solidFill>
                <a:latin typeface="DM Sans"/>
              </a:rPr>
              <a:t>A worker takes parts from a bin.</a:t>
            </a:r>
          </a:p>
        </p:txBody>
      </p:sp>
      <p:cxnSp>
        <p:nvCxnSpPr>
          <p:cNvPr id="9" name="Connector 8"/>
          <p:cNvCxnSpPr/>
          <p:nvPr/>
        </p:nvCxnSpPr>
        <p:spPr>
          <a:xfrm>
            <a:off x="2414015" y="2118868"/>
            <a:ext cx="146305" cy="0"/>
          </a:xfrm>
          <a:prstGeom prst="line">
            <a:avLst/>
          </a:prstGeom>
          <a:ln w="22225">
            <a:solidFill>
              <a:srgbClr val="5EEAD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587752" y="1506220"/>
            <a:ext cx="1572768" cy="1234440"/>
          </a:xfrm>
          <a:prstGeom prst="roundRect">
            <a:avLst>
              <a:gd name="adj" fmla="val 8888"/>
            </a:avLst>
          </a:prstGeom>
          <a:solidFill>
            <a:srgbClr val="5EEAD4">
              <a:alpha val="8000"/>
            </a:srgbClr>
          </a:solidFill>
          <a:ln w="6350">
            <a:solidFill>
              <a:srgbClr val="5EEAD4">
                <a:alpha val="50000"/>
              </a:srgbClr>
            </a:solidFill>
          </a:ln>
        </p:spPr>
        <p:txBody>
          <a:bodyPr rtlCol="0" anchor="ctr"/>
          <a:lstStyle/>
          <a:p>
            <a:pPr algn="ctr"/>
          </a:p>
        </p:txBody>
      </p:sp>
      <p:sp>
        <p:nvSpPr>
          <p:cNvPr id="11" name="Oval 10"/>
          <p:cNvSpPr/>
          <p:nvPr/>
        </p:nvSpPr>
        <p:spPr>
          <a:xfrm>
            <a:off x="2724912" y="1652523"/>
            <a:ext cx="274320" cy="274320"/>
          </a:xfrm>
          <a:prstGeom prst="ellipse">
            <a:avLst/>
          </a:prstGeom>
          <a:solidFill>
            <a:srgbClr val="5EEAD4"/>
          </a:solidFill>
          <a:ln>
            <a:noFill/>
          </a:ln>
        </p:spPr>
        <p:txBody>
          <a:bodyPr rtlCol="0" anchor="ctr" lIns="0" rIns="0" tIns="0" bIns="0"/>
          <a:lstStyle/>
          <a:p>
            <a:pPr algn="ctr"/>
            <a:r>
              <a:rPr sz="1100" b="1">
                <a:solidFill>
                  <a:srgbClr val="0A1020"/>
                </a:solidFill>
                <a:latin typeface="Space Grotesk"/>
              </a:rPr>
              <a:t>2</a:t>
            </a:r>
          </a:p>
        </p:txBody>
      </p:sp>
      <p:sp>
        <p:nvSpPr>
          <p:cNvPr id="12" name="TextBox 11"/>
          <p:cNvSpPr txBox="1"/>
          <p:nvPr/>
        </p:nvSpPr>
        <p:spPr>
          <a:xfrm>
            <a:off x="3090672" y="1661667"/>
            <a:ext cx="1024128" cy="274320"/>
          </a:xfrm>
          <a:prstGeom prst="rect">
            <a:avLst/>
          </a:prstGeom>
          <a:noFill/>
        </p:spPr>
        <p:txBody>
          <a:bodyPr wrap="square" lIns="0" rIns="0" tIns="0" bIns="0" anchor="t">
            <a:spAutoFit/>
          </a:bodyPr>
          <a:lstStyle/>
          <a:p>
            <a:pPr algn="l">
              <a:lnSpc>
                <a:spcPct val="112000"/>
              </a:lnSpc>
            </a:pPr>
            <a:r>
              <a:rPr sz="1400" b="1">
                <a:solidFill>
                  <a:srgbClr val="FFFFFF"/>
                </a:solidFill>
                <a:latin typeface="Space Grotesk"/>
              </a:rPr>
              <a:t>Wake up</a:t>
            </a:r>
          </a:p>
        </p:txBody>
      </p:sp>
      <p:sp>
        <p:nvSpPr>
          <p:cNvPr id="13" name="TextBox 12"/>
          <p:cNvSpPr txBox="1"/>
          <p:nvPr/>
        </p:nvSpPr>
        <p:spPr>
          <a:xfrm>
            <a:off x="2724912" y="2054860"/>
            <a:ext cx="1298448" cy="640080"/>
          </a:xfrm>
          <a:prstGeom prst="rect">
            <a:avLst/>
          </a:prstGeom>
          <a:noFill/>
        </p:spPr>
        <p:txBody>
          <a:bodyPr wrap="square" lIns="0" rIns="0" tIns="0" bIns="0" anchor="t">
            <a:spAutoFit/>
          </a:bodyPr>
          <a:lstStyle/>
          <a:p>
            <a:pPr algn="l">
              <a:lnSpc>
                <a:spcPct val="110000"/>
              </a:lnSpc>
            </a:pPr>
            <a:r>
              <a:rPr sz="1200" b="0">
                <a:solidFill>
                  <a:srgbClr val="B8C4D9"/>
                </a:solidFill>
                <a:latin typeface="DM Sans"/>
              </a:rPr>
              <a:t>A vibration sensor wakes the scale.</a:t>
            </a:r>
          </a:p>
        </p:txBody>
      </p:sp>
      <p:cxnSp>
        <p:nvCxnSpPr>
          <p:cNvPr id="14" name="Connector 13"/>
          <p:cNvCxnSpPr/>
          <p:nvPr/>
        </p:nvCxnSpPr>
        <p:spPr>
          <a:xfrm>
            <a:off x="4187952" y="2118868"/>
            <a:ext cx="146303" cy="0"/>
          </a:xfrm>
          <a:prstGeom prst="line">
            <a:avLst/>
          </a:prstGeom>
          <a:ln w="22225">
            <a:solidFill>
              <a:srgbClr val="5EEAD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4361688" y="1506220"/>
            <a:ext cx="1572768" cy="1234440"/>
          </a:xfrm>
          <a:prstGeom prst="roundRect">
            <a:avLst>
              <a:gd name="adj" fmla="val 8888"/>
            </a:avLst>
          </a:prstGeom>
          <a:solidFill>
            <a:srgbClr val="5EEAD4">
              <a:alpha val="8000"/>
            </a:srgbClr>
          </a:solidFill>
          <a:ln w="6350">
            <a:solidFill>
              <a:srgbClr val="5EEAD4">
                <a:alpha val="50000"/>
              </a:srgbClr>
            </a:solidFill>
          </a:ln>
        </p:spPr>
        <p:txBody>
          <a:bodyPr rtlCol="0" anchor="ctr"/>
          <a:lstStyle/>
          <a:p>
            <a:pPr algn="ctr"/>
          </a:p>
        </p:txBody>
      </p:sp>
      <p:sp>
        <p:nvSpPr>
          <p:cNvPr id="16" name="Oval 15"/>
          <p:cNvSpPr/>
          <p:nvPr/>
        </p:nvSpPr>
        <p:spPr>
          <a:xfrm>
            <a:off x="4498848" y="1652523"/>
            <a:ext cx="274320" cy="274320"/>
          </a:xfrm>
          <a:prstGeom prst="ellipse">
            <a:avLst/>
          </a:prstGeom>
          <a:solidFill>
            <a:srgbClr val="5EEAD4"/>
          </a:solidFill>
          <a:ln>
            <a:noFill/>
          </a:ln>
        </p:spPr>
        <p:txBody>
          <a:bodyPr rtlCol="0" anchor="ctr" lIns="0" rIns="0" tIns="0" bIns="0"/>
          <a:lstStyle/>
          <a:p>
            <a:pPr algn="ctr"/>
            <a:r>
              <a:rPr sz="1100" b="1">
                <a:solidFill>
                  <a:srgbClr val="0A1020"/>
                </a:solidFill>
                <a:latin typeface="Space Grotesk"/>
              </a:rPr>
              <a:t>3</a:t>
            </a:r>
          </a:p>
        </p:txBody>
      </p:sp>
      <p:sp>
        <p:nvSpPr>
          <p:cNvPr id="17" name="TextBox 16"/>
          <p:cNvSpPr txBox="1"/>
          <p:nvPr/>
        </p:nvSpPr>
        <p:spPr>
          <a:xfrm>
            <a:off x="4864607" y="1661667"/>
            <a:ext cx="1024128" cy="274320"/>
          </a:xfrm>
          <a:prstGeom prst="rect">
            <a:avLst/>
          </a:prstGeom>
          <a:noFill/>
        </p:spPr>
        <p:txBody>
          <a:bodyPr wrap="square" lIns="0" rIns="0" tIns="0" bIns="0" anchor="t">
            <a:spAutoFit/>
          </a:bodyPr>
          <a:lstStyle/>
          <a:p>
            <a:pPr algn="l">
              <a:lnSpc>
                <a:spcPct val="112000"/>
              </a:lnSpc>
            </a:pPr>
            <a:r>
              <a:rPr sz="1400" b="1">
                <a:solidFill>
                  <a:srgbClr val="FFFFFF"/>
                </a:solidFill>
                <a:latin typeface="Space Grotesk"/>
              </a:rPr>
              <a:t>Weigh</a:t>
            </a:r>
          </a:p>
        </p:txBody>
      </p:sp>
      <p:sp>
        <p:nvSpPr>
          <p:cNvPr id="18" name="TextBox 17"/>
          <p:cNvSpPr txBox="1"/>
          <p:nvPr/>
        </p:nvSpPr>
        <p:spPr>
          <a:xfrm>
            <a:off x="4498848" y="2054860"/>
            <a:ext cx="1298448" cy="640080"/>
          </a:xfrm>
          <a:prstGeom prst="rect">
            <a:avLst/>
          </a:prstGeom>
          <a:noFill/>
        </p:spPr>
        <p:txBody>
          <a:bodyPr wrap="square" lIns="0" rIns="0" tIns="0" bIns="0" anchor="t">
            <a:spAutoFit/>
          </a:bodyPr>
          <a:lstStyle/>
          <a:p>
            <a:pPr algn="l">
              <a:lnSpc>
                <a:spcPct val="110000"/>
              </a:lnSpc>
            </a:pPr>
            <a:r>
              <a:rPr sz="1200" b="0">
                <a:solidFill>
                  <a:srgbClr val="B8C4D9"/>
                </a:solidFill>
                <a:latin typeface="DM Sans"/>
              </a:rPr>
              <a:t>The scale weighs the bin.</a:t>
            </a:r>
          </a:p>
        </p:txBody>
      </p:sp>
      <p:cxnSp>
        <p:nvCxnSpPr>
          <p:cNvPr id="19" name="Connector 18"/>
          <p:cNvCxnSpPr/>
          <p:nvPr/>
        </p:nvCxnSpPr>
        <p:spPr>
          <a:xfrm>
            <a:off x="5961888" y="2118868"/>
            <a:ext cx="146303" cy="0"/>
          </a:xfrm>
          <a:prstGeom prst="line">
            <a:avLst/>
          </a:prstGeom>
          <a:ln w="22225">
            <a:solidFill>
              <a:srgbClr val="5EEAD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135624" y="1506220"/>
            <a:ext cx="1572768" cy="1234440"/>
          </a:xfrm>
          <a:prstGeom prst="roundRect">
            <a:avLst>
              <a:gd name="adj" fmla="val 8888"/>
            </a:avLst>
          </a:prstGeom>
          <a:solidFill>
            <a:srgbClr val="8EA2FF">
              <a:alpha val="8000"/>
            </a:srgbClr>
          </a:solidFill>
          <a:ln w="6350">
            <a:solidFill>
              <a:srgbClr val="8EA2FF">
                <a:alpha val="50000"/>
              </a:srgbClr>
            </a:solidFill>
          </a:ln>
        </p:spPr>
        <p:txBody>
          <a:bodyPr rtlCol="0" anchor="ctr"/>
          <a:lstStyle/>
          <a:p>
            <a:pPr algn="ctr"/>
          </a:p>
        </p:txBody>
      </p:sp>
      <p:sp>
        <p:nvSpPr>
          <p:cNvPr id="21" name="Oval 20"/>
          <p:cNvSpPr/>
          <p:nvPr/>
        </p:nvSpPr>
        <p:spPr>
          <a:xfrm>
            <a:off x="6272784" y="1652523"/>
            <a:ext cx="274320" cy="274320"/>
          </a:xfrm>
          <a:prstGeom prst="ellipse">
            <a:avLst/>
          </a:prstGeom>
          <a:solidFill>
            <a:srgbClr val="8EA2FF"/>
          </a:solidFill>
          <a:ln>
            <a:noFill/>
          </a:ln>
        </p:spPr>
        <p:txBody>
          <a:bodyPr rtlCol="0" anchor="ctr" lIns="0" rIns="0" tIns="0" bIns="0"/>
          <a:lstStyle/>
          <a:p>
            <a:pPr algn="ctr"/>
            <a:r>
              <a:rPr sz="1100" b="1">
                <a:solidFill>
                  <a:srgbClr val="0A1020"/>
                </a:solidFill>
                <a:latin typeface="Space Grotesk"/>
              </a:rPr>
              <a:t>4</a:t>
            </a:r>
          </a:p>
        </p:txBody>
      </p:sp>
      <p:sp>
        <p:nvSpPr>
          <p:cNvPr id="22" name="TextBox 21"/>
          <p:cNvSpPr txBox="1"/>
          <p:nvPr/>
        </p:nvSpPr>
        <p:spPr>
          <a:xfrm>
            <a:off x="6638544" y="1661667"/>
            <a:ext cx="1024128" cy="274320"/>
          </a:xfrm>
          <a:prstGeom prst="rect">
            <a:avLst/>
          </a:prstGeom>
          <a:noFill/>
        </p:spPr>
        <p:txBody>
          <a:bodyPr wrap="square" lIns="0" rIns="0" tIns="0" bIns="0" anchor="t">
            <a:spAutoFit/>
          </a:bodyPr>
          <a:lstStyle/>
          <a:p>
            <a:pPr algn="l">
              <a:lnSpc>
                <a:spcPct val="112000"/>
              </a:lnSpc>
            </a:pPr>
            <a:r>
              <a:rPr sz="1400" b="1">
                <a:solidFill>
                  <a:srgbClr val="FFFFFF"/>
                </a:solidFill>
                <a:latin typeface="Space Grotesk"/>
              </a:rPr>
              <a:t>Reorder</a:t>
            </a:r>
          </a:p>
        </p:txBody>
      </p:sp>
      <p:sp>
        <p:nvSpPr>
          <p:cNvPr id="23" name="TextBox 22"/>
          <p:cNvSpPr txBox="1"/>
          <p:nvPr/>
        </p:nvSpPr>
        <p:spPr>
          <a:xfrm>
            <a:off x="6272784" y="2054860"/>
            <a:ext cx="1298448" cy="640080"/>
          </a:xfrm>
          <a:prstGeom prst="rect">
            <a:avLst/>
          </a:prstGeom>
          <a:noFill/>
        </p:spPr>
        <p:txBody>
          <a:bodyPr wrap="square" lIns="0" rIns="0" tIns="0" bIns="0" anchor="t">
            <a:spAutoFit/>
          </a:bodyPr>
          <a:lstStyle/>
          <a:p>
            <a:pPr algn="l">
              <a:lnSpc>
                <a:spcPct val="110000"/>
              </a:lnSpc>
            </a:pPr>
            <a:r>
              <a:rPr sz="1200" b="0">
                <a:solidFill>
                  <a:srgbClr val="B8C4D9"/>
                </a:solidFill>
                <a:latin typeface="DM Sans"/>
              </a:rPr>
              <a:t>ARIMS gets the new stock and reorders.</a:t>
            </a:r>
          </a:p>
        </p:txBody>
      </p:sp>
      <p:sp>
        <p:nvSpPr>
          <p:cNvPr id="24" name="Rounded Rectangle 23"/>
          <p:cNvSpPr/>
          <p:nvPr/>
        </p:nvSpPr>
        <p:spPr>
          <a:xfrm>
            <a:off x="813816" y="3014980"/>
            <a:ext cx="3332988" cy="1417320"/>
          </a:xfrm>
          <a:prstGeom prst="roundRect">
            <a:avLst>
              <a:gd name="adj" fmla="val 7741"/>
            </a:avLst>
          </a:prstGeom>
          <a:solidFill>
            <a:srgbClr val="FF8FA3">
              <a:alpha val="8000"/>
            </a:srgbClr>
          </a:solidFill>
          <a:ln w="6350">
            <a:solidFill>
              <a:srgbClr val="FF8FA3">
                <a:alpha val="50000"/>
              </a:srgbClr>
            </a:solidFill>
          </a:ln>
        </p:spPr>
        <p:txBody>
          <a:bodyPr rtlCol="0" anchor="ctr"/>
          <a:lstStyle/>
          <a:p>
            <a:pPr algn="ctr"/>
          </a:p>
        </p:txBody>
      </p:sp>
      <p:sp>
        <p:nvSpPr>
          <p:cNvPr id="25" name="TextBox 24"/>
          <p:cNvSpPr txBox="1"/>
          <p:nvPr/>
        </p:nvSpPr>
        <p:spPr>
          <a:xfrm>
            <a:off x="996696" y="3179572"/>
            <a:ext cx="2967228" cy="274320"/>
          </a:xfrm>
          <a:prstGeom prst="rect">
            <a:avLst/>
          </a:prstGeom>
          <a:noFill/>
        </p:spPr>
        <p:txBody>
          <a:bodyPr wrap="square" lIns="0" rIns="0" tIns="0" bIns="0" anchor="t">
            <a:spAutoFit/>
          </a:bodyPr>
          <a:lstStyle/>
          <a:p>
            <a:pPr algn="l">
              <a:lnSpc>
                <a:spcPct val="112000"/>
              </a:lnSpc>
            </a:pPr>
            <a:r>
              <a:rPr sz="1500" b="1">
                <a:solidFill>
                  <a:srgbClr val="FF8FA3"/>
                </a:solidFill>
                <a:latin typeface="Space Grotesk"/>
              </a:rPr>
              <a:t>Too sensitive</a:t>
            </a:r>
          </a:p>
        </p:txBody>
      </p:sp>
      <p:sp>
        <p:nvSpPr>
          <p:cNvPr id="26" name="TextBox 25"/>
          <p:cNvSpPr txBox="1"/>
          <p:nvPr/>
        </p:nvSpPr>
        <p:spPr>
          <a:xfrm>
            <a:off x="996696" y="3545332"/>
            <a:ext cx="2967228" cy="822960"/>
          </a:xfrm>
          <a:prstGeom prst="rect">
            <a:avLst/>
          </a:prstGeom>
          <a:noFill/>
        </p:spPr>
        <p:txBody>
          <a:bodyPr wrap="square" lIns="0" rIns="0" tIns="0" bIns="0" anchor="t">
            <a:spAutoFit/>
          </a:bodyPr>
          <a:lstStyle/>
          <a:p>
            <a:pPr algn="l">
              <a:lnSpc>
                <a:spcPct val="112000"/>
              </a:lnSpc>
            </a:pPr>
            <a:r>
              <a:rPr sz="1250" b="0">
                <a:solidFill>
                  <a:srgbClr val="B8C4D9"/>
                </a:solidFill>
                <a:latin typeface="DM Sans"/>
              </a:rPr>
              <a:t>The scale wakes up, but nothing was taken. This wastes battery, network and cloud capacity.</a:t>
            </a:r>
          </a:p>
        </p:txBody>
      </p:sp>
      <p:sp>
        <p:nvSpPr>
          <p:cNvPr id="27" name="Rounded Rectangle 26"/>
          <p:cNvSpPr/>
          <p:nvPr/>
        </p:nvSpPr>
        <p:spPr>
          <a:xfrm>
            <a:off x="4375404" y="3014980"/>
            <a:ext cx="3332988" cy="1417320"/>
          </a:xfrm>
          <a:prstGeom prst="roundRect">
            <a:avLst>
              <a:gd name="adj" fmla="val 7741"/>
            </a:avLst>
          </a:prstGeom>
          <a:solidFill>
            <a:srgbClr val="FFC56E">
              <a:alpha val="8000"/>
            </a:srgbClr>
          </a:solidFill>
          <a:ln w="6350">
            <a:solidFill>
              <a:srgbClr val="FFC56E">
                <a:alpha val="50000"/>
              </a:srgbClr>
            </a:solidFill>
          </a:ln>
        </p:spPr>
        <p:txBody>
          <a:bodyPr rtlCol="0" anchor="ctr"/>
          <a:lstStyle/>
          <a:p>
            <a:pPr algn="ctr"/>
          </a:p>
        </p:txBody>
      </p:sp>
      <p:sp>
        <p:nvSpPr>
          <p:cNvPr id="28" name="TextBox 27"/>
          <p:cNvSpPr txBox="1"/>
          <p:nvPr/>
        </p:nvSpPr>
        <p:spPr>
          <a:xfrm>
            <a:off x="4558284" y="3179572"/>
            <a:ext cx="2967228" cy="274320"/>
          </a:xfrm>
          <a:prstGeom prst="rect">
            <a:avLst/>
          </a:prstGeom>
          <a:noFill/>
        </p:spPr>
        <p:txBody>
          <a:bodyPr wrap="square" lIns="0" rIns="0" tIns="0" bIns="0" anchor="t">
            <a:spAutoFit/>
          </a:bodyPr>
          <a:lstStyle/>
          <a:p>
            <a:pPr algn="l">
              <a:lnSpc>
                <a:spcPct val="112000"/>
              </a:lnSpc>
            </a:pPr>
            <a:r>
              <a:rPr sz="1500" b="1">
                <a:solidFill>
                  <a:srgbClr val="FFC56E"/>
                </a:solidFill>
                <a:latin typeface="Space Grotesk"/>
              </a:rPr>
              <a:t>Not sensitive enough</a:t>
            </a:r>
          </a:p>
        </p:txBody>
      </p:sp>
      <p:sp>
        <p:nvSpPr>
          <p:cNvPr id="29" name="TextBox 28"/>
          <p:cNvSpPr txBox="1"/>
          <p:nvPr/>
        </p:nvSpPr>
        <p:spPr>
          <a:xfrm>
            <a:off x="4558284" y="3545332"/>
            <a:ext cx="2967228" cy="822960"/>
          </a:xfrm>
          <a:prstGeom prst="rect">
            <a:avLst/>
          </a:prstGeom>
          <a:noFill/>
        </p:spPr>
        <p:txBody>
          <a:bodyPr wrap="square" lIns="0" rIns="0" tIns="0" bIns="0" anchor="t">
            <a:spAutoFit/>
          </a:bodyPr>
          <a:lstStyle/>
          <a:p>
            <a:pPr algn="l">
              <a:lnSpc>
                <a:spcPct val="112000"/>
              </a:lnSpc>
            </a:pPr>
            <a:r>
              <a:rPr sz="1250" b="0">
                <a:solidFill>
                  <a:srgbClr val="B8C4D9"/>
                </a:solidFill>
                <a:latin typeface="DM Sans"/>
              </a:rPr>
              <a:t>The scale sleeps through a pick. The stock level is wrong until the next weighing.</a:t>
            </a:r>
          </a:p>
        </p:txBody>
      </p:sp>
      <p:sp>
        <p:nvSpPr>
          <p:cNvPr id="30" name="TextBox 29"/>
          <p:cNvSpPr txBox="1"/>
          <p:nvPr/>
        </p:nvSpPr>
        <p:spPr>
          <a:xfrm>
            <a:off x="813816" y="4706620"/>
            <a:ext cx="6858000" cy="548640"/>
          </a:xfrm>
          <a:prstGeom prst="rect">
            <a:avLst/>
          </a:prstGeom>
          <a:noFill/>
        </p:spPr>
        <p:txBody>
          <a:bodyPr wrap="square" lIns="0" rIns="0" tIns="0" bIns="0" anchor="t">
            <a:spAutoFit/>
          </a:bodyPr>
          <a:lstStyle/>
          <a:p>
            <a:pPr algn="l">
              <a:lnSpc>
                <a:spcPct val="112000"/>
              </a:lnSpc>
            </a:pPr>
            <a:r>
              <a:rPr sz="1250" b="0">
                <a:solidFill>
                  <a:srgbClr val="D7DEFF"/>
                </a:solidFill>
                <a:latin typeface="DM Sans"/>
              </a:rPr>
              <a:t>Every weighing costs energy. It uses about 3,000 times more power than sleeping.</a:t>
            </a:r>
          </a:p>
        </p:txBody>
      </p:sp>
      <p:pic>
        <p:nvPicPr>
          <p:cNvPr id="31" name="Picture 30" descr="k01_donut.png"/>
          <p:cNvPicPr>
            <a:picLocks noChangeAspect="1"/>
          </p:cNvPicPr>
          <p:nvPr/>
        </p:nvPicPr>
        <p:blipFill>
          <a:blip r:embed="rId2"/>
          <a:stretch>
            <a:fillRect/>
          </a:stretch>
        </p:blipFill>
        <p:spPr>
          <a:xfrm>
            <a:off x="8183879" y="1460500"/>
            <a:ext cx="3291840" cy="3291840"/>
          </a:xfrm>
          <a:prstGeom prst="rect">
            <a:avLst/>
          </a:prstGeom>
        </p:spPr>
      </p:pic>
      <p:sp>
        <p:nvSpPr>
          <p:cNvPr id="32" name="TextBox 31"/>
          <p:cNvSpPr txBox="1"/>
          <p:nvPr/>
        </p:nvSpPr>
        <p:spPr>
          <a:xfrm>
            <a:off x="7863840" y="4889500"/>
            <a:ext cx="3931920" cy="548640"/>
          </a:xfrm>
          <a:prstGeom prst="rect">
            <a:avLst/>
          </a:prstGeom>
          <a:noFill/>
        </p:spPr>
        <p:txBody>
          <a:bodyPr wrap="square" lIns="0" rIns="0" tIns="0" bIns="0" anchor="t">
            <a:spAutoFit/>
          </a:bodyPr>
          <a:lstStyle/>
          <a:p>
            <a:pPr algn="ctr">
              <a:lnSpc>
                <a:spcPct val="112000"/>
              </a:lnSpc>
            </a:pPr>
            <a:r>
              <a:rPr sz="1200" b="0">
                <a:solidFill>
                  <a:srgbClr val="B8C4D9"/>
                </a:solidFill>
                <a:latin typeface="DM Sans"/>
              </a:rPr>
              <a:t>7.1 million automatic weighings, March to June 2022</a:t>
            </a:r>
          </a:p>
        </p:txBody>
      </p:sp>
      <p:sp>
        <p:nvSpPr>
          <p:cNvPr id="33" name="TextBox 32"/>
          <p:cNvSpPr txBox="1"/>
          <p:nvPr/>
        </p:nvSpPr>
        <p:spPr>
          <a:xfrm>
            <a:off x="813816" y="6419088"/>
            <a:ext cx="9875520" cy="228600"/>
          </a:xfrm>
          <a:prstGeom prst="rect">
            <a:avLst/>
          </a:prstGeom>
          <a:noFill/>
        </p:spPr>
        <p:txBody>
          <a:bodyPr wrap="square" lIns="0" rIns="0" tIns="0" bIns="0" anchor="t">
            <a:spAutoFit/>
          </a:bodyPr>
          <a:lstStyle/>
          <a:p>
            <a:pPr algn="l">
              <a:lnSpc>
                <a:spcPct val="100000"/>
              </a:lnSpc>
            </a:pPr>
            <a:r>
              <a:rPr sz="900" b="0">
                <a:solidFill>
                  <a:srgbClr val="8D99B0"/>
                </a:solidFill>
                <a:latin typeface="DM Sans"/>
              </a:rPr>
              <a:t>Source: own analysis of the Bossard SmartBin data, 1 Mar to 20 Jun 2022 · case description Bossard / D ONE (2026) · Report §2, §4.1</a:t>
            </a:r>
          </a:p>
        </p:txBody>
      </p:sp>
      <p:sp>
        <p:nvSpPr>
          <p:cNvPr id="34" name="TextBox 33"/>
          <p:cNvSpPr txBox="1"/>
          <p:nvPr/>
        </p:nvSpPr>
        <p:spPr>
          <a:xfrm>
            <a:off x="10927080" y="6419088"/>
            <a:ext cx="457200" cy="228600"/>
          </a:xfrm>
          <a:prstGeom prst="rect">
            <a:avLst/>
          </a:prstGeom>
          <a:noFill/>
        </p:spPr>
        <p:txBody>
          <a:bodyPr wrap="square" lIns="0" rIns="0" tIns="0" bIns="0" anchor="t">
            <a:spAutoFit/>
          </a:bodyPr>
          <a:lstStyle/>
          <a:p>
            <a:pPr algn="r">
              <a:lnSpc>
                <a:spcPct val="112000"/>
              </a:lnSpc>
            </a:pPr>
            <a:r>
              <a:rPr sz="900" b="0">
                <a:solidFill>
                  <a:srgbClr val="8D99B0"/>
                </a:solidFill>
                <a:latin typeface="DM San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1020"/>
        </a:solidFill>
        <a:effectLst/>
      </p:bgPr>
    </p:bg>
    <p:spTree>
      <p:nvGrpSpPr>
        <p:cNvPr id="1" name=""/>
        <p:cNvGrpSpPr/>
        <p:nvPr/>
      </p:nvGrpSpPr>
      <p:grpSpPr/>
      <p:sp>
        <p:nvSpPr>
          <p:cNvPr id="2" name="Rectangle 1"/>
          <p:cNvSpPr/>
          <p:nvPr/>
        </p:nvSpPr>
        <p:spPr>
          <a:xfrm>
            <a:off x="6986016" y="0"/>
            <a:ext cx="5202936" cy="4059936"/>
          </a:xfrm>
          <a:prstGeom prst="rect">
            <a:avLst/>
          </a:prstGeom>
          <a:gradFill rotWithShape="1">
            <a:gsLst>
              <a:gs pos="0">
                <a:srgbClr val="8EA2FF">
                  <a:alpha val="18000"/>
                </a:srgbClr>
              </a:gs>
              <a:gs pos="65000">
                <a:srgbClr val="8EA2FF">
                  <a:alpha val="0"/>
                </a:srgbClr>
              </a:gs>
            </a:gsLst>
            <a:path path="circle">
              <a:fillToRect l="70000" t="25000" r="30000" b="75000"/>
            </a:path>
          </a:gradFill>
          <a:ln>
            <a:noFill/>
          </a:ln>
        </p:spPr>
        <p:txBody>
          <a:bodyPr rtlCol="0" anchor="ctr"/>
          <a:lstStyle/>
          <a:p>
            <a:pPr algn="ctr"/>
          </a:p>
        </p:txBody>
      </p:sp>
      <p:sp>
        <p:nvSpPr>
          <p:cNvPr id="3" name="TextBox 2"/>
          <p:cNvSpPr txBox="1"/>
          <p:nvPr/>
        </p:nvSpPr>
        <p:spPr>
          <a:xfrm>
            <a:off x="813816" y="502920"/>
            <a:ext cx="10570464" cy="228600"/>
          </a:xfrm>
          <a:prstGeom prst="rect">
            <a:avLst/>
          </a:prstGeom>
          <a:noFill/>
        </p:spPr>
        <p:txBody>
          <a:bodyPr wrap="square" lIns="0" rIns="0" tIns="0" bIns="0" anchor="t">
            <a:spAutoFit/>
          </a:bodyPr>
          <a:lstStyle/>
          <a:p>
            <a:pPr algn="l">
              <a:lnSpc>
                <a:spcPct val="112000"/>
              </a:lnSpc>
            </a:pPr>
            <a:r>
              <a:rPr sz="1100" b="1" spc="150">
                <a:solidFill>
                  <a:srgbClr val="5EEAD4"/>
                </a:solidFill>
                <a:latin typeface="DM Sans"/>
              </a:rPr>
              <a:t>TODAY</a:t>
            </a:r>
          </a:p>
        </p:txBody>
      </p:sp>
      <p:sp>
        <p:nvSpPr>
          <p:cNvPr id="4" name="TextBox 3"/>
          <p:cNvSpPr txBox="1"/>
          <p:nvPr/>
        </p:nvSpPr>
        <p:spPr>
          <a:xfrm>
            <a:off x="813816" y="777240"/>
            <a:ext cx="10570464" cy="817879"/>
          </a:xfrm>
          <a:prstGeom prst="rect">
            <a:avLst/>
          </a:prstGeom>
          <a:noFill/>
        </p:spPr>
        <p:txBody>
          <a:bodyPr wrap="square" lIns="0" rIns="0" tIns="0" bIns="0" anchor="t">
            <a:spAutoFit/>
          </a:bodyPr>
          <a:lstStyle/>
          <a:p>
            <a:pPr algn="l">
              <a:lnSpc>
                <a:spcPct val="100000"/>
              </a:lnSpc>
            </a:pPr>
            <a:r>
              <a:rPr sz="2800" b="1">
                <a:solidFill>
                  <a:srgbClr val="FFFFFF"/>
                </a:solidFill>
                <a:latin typeface="Space Grotesk"/>
              </a:rPr>
              <a:t>Almost no scale misses picks. But almost every scale wakes up too often.</a:t>
            </a:r>
          </a:p>
        </p:txBody>
      </p:sp>
      <p:pic>
        <p:nvPicPr>
          <p:cNvPr id="5" name="Picture 4" descr="k02_one_sided.png"/>
          <p:cNvPicPr>
            <a:picLocks noChangeAspect="1"/>
          </p:cNvPicPr>
          <p:nvPr/>
        </p:nvPicPr>
        <p:blipFill>
          <a:blip r:embed="rId2"/>
          <a:stretch>
            <a:fillRect/>
          </a:stretch>
        </p:blipFill>
        <p:spPr>
          <a:xfrm>
            <a:off x="676656" y="1869440"/>
            <a:ext cx="6126480" cy="3108960"/>
          </a:xfrm>
          <a:prstGeom prst="rect">
            <a:avLst/>
          </a:prstGeom>
        </p:spPr>
      </p:pic>
      <p:sp>
        <p:nvSpPr>
          <p:cNvPr id="6" name="Rounded Rectangle 5"/>
          <p:cNvSpPr/>
          <p:nvPr/>
        </p:nvSpPr>
        <p:spPr>
          <a:xfrm>
            <a:off x="7086600" y="1869440"/>
            <a:ext cx="4297680" cy="1554480"/>
          </a:xfrm>
          <a:prstGeom prst="roundRect">
            <a:avLst>
              <a:gd name="adj" fmla="val 7058"/>
            </a:avLst>
          </a:prstGeom>
          <a:solidFill>
            <a:srgbClr val="FF8FA3">
              <a:alpha val="8000"/>
            </a:srgbClr>
          </a:solidFill>
          <a:ln w="6350">
            <a:solidFill>
              <a:srgbClr val="FF8FA3">
                <a:alpha val="50000"/>
              </a:srgbClr>
            </a:solidFill>
          </a:ln>
        </p:spPr>
        <p:txBody>
          <a:bodyPr rtlCol="0" anchor="ctr"/>
          <a:lstStyle/>
          <a:p>
            <a:pPr algn="ctr"/>
          </a:p>
        </p:txBody>
      </p:sp>
      <p:sp>
        <p:nvSpPr>
          <p:cNvPr id="7" name="TextBox 6"/>
          <p:cNvSpPr txBox="1"/>
          <p:nvPr/>
        </p:nvSpPr>
        <p:spPr>
          <a:xfrm>
            <a:off x="7287768" y="2006600"/>
            <a:ext cx="3931920" cy="274320"/>
          </a:xfrm>
          <a:prstGeom prst="rect">
            <a:avLst/>
          </a:prstGeom>
          <a:noFill/>
        </p:spPr>
        <p:txBody>
          <a:bodyPr wrap="square" lIns="0" rIns="0" tIns="0" bIns="0" anchor="t">
            <a:spAutoFit/>
          </a:bodyPr>
          <a:lstStyle/>
          <a:p>
            <a:pPr algn="l">
              <a:lnSpc>
                <a:spcPct val="112000"/>
              </a:lnSpc>
            </a:pPr>
            <a:r>
              <a:rPr sz="1050" b="1" spc="100">
                <a:solidFill>
                  <a:srgbClr val="FF8FA3"/>
                </a:solidFill>
                <a:latin typeface="DM Sans"/>
              </a:rPr>
              <a:t>BOSSARD TARGET 1</a:t>
            </a:r>
          </a:p>
        </p:txBody>
      </p:sp>
      <p:sp>
        <p:nvSpPr>
          <p:cNvPr id="8" name="TextBox 7"/>
          <p:cNvSpPr txBox="1"/>
          <p:nvPr/>
        </p:nvSpPr>
        <p:spPr>
          <a:xfrm>
            <a:off x="7287768" y="2280920"/>
            <a:ext cx="3931920" cy="365760"/>
          </a:xfrm>
          <a:prstGeom prst="rect">
            <a:avLst/>
          </a:prstGeom>
          <a:noFill/>
        </p:spPr>
        <p:txBody>
          <a:bodyPr wrap="square" lIns="0" rIns="0" tIns="0" bIns="0" anchor="t">
            <a:spAutoFit/>
          </a:bodyPr>
          <a:lstStyle/>
          <a:p>
            <a:pPr algn="l">
              <a:lnSpc>
                <a:spcPct val="112000"/>
              </a:lnSpc>
            </a:pPr>
            <a:r>
              <a:rPr sz="1400" b="1">
                <a:solidFill>
                  <a:srgbClr val="FFFFFF"/>
                </a:solidFill>
                <a:latin typeface="Space Grotesk"/>
              </a:rPr>
              <a:t>At most half of the wake-ups may be empty</a:t>
            </a:r>
          </a:p>
        </p:txBody>
      </p:sp>
      <p:sp>
        <p:nvSpPr>
          <p:cNvPr id="9" name="TextBox 8"/>
          <p:cNvSpPr txBox="1"/>
          <p:nvPr/>
        </p:nvSpPr>
        <p:spPr>
          <a:xfrm>
            <a:off x="7287768" y="2692400"/>
            <a:ext cx="3931920" cy="640080"/>
          </a:xfrm>
          <a:prstGeom prst="rect">
            <a:avLst/>
          </a:prstGeom>
          <a:noFill/>
        </p:spPr>
        <p:txBody>
          <a:bodyPr wrap="square" lIns="0" rIns="0" tIns="0" bIns="0" anchor="t">
            <a:spAutoFit/>
          </a:bodyPr>
          <a:lstStyle/>
          <a:p>
            <a:pPr algn="l">
              <a:lnSpc>
                <a:spcPct val="112000"/>
              </a:lnSpc>
            </a:pPr>
            <a:r>
              <a:rPr sz="1250" b="0">
                <a:solidFill>
                  <a:srgbClr val="D7DEFF"/>
                </a:solidFill>
                <a:latin typeface="DM Sans"/>
              </a:rPr>
              <a:t>Typical scale today: </a:t>
            </a:r>
            <a:r>
              <a:rPr sz="1250" b="1">
                <a:solidFill>
                  <a:srgbClr val="FFFFFF"/>
                </a:solidFill>
                <a:latin typeface="DM Sans"/>
              </a:rPr>
              <a:t>92% empty</a:t>
            </a:r>
            <a:r>
              <a:rPr sz="1250" b="0">
                <a:solidFill>
                  <a:srgbClr val="D7DEFF"/>
                </a:solidFill>
                <a:latin typeface="DM Sans"/>
              </a:rPr>
              <a:t> (20 kg), 74% (6 kg)</a:t>
            </a:r>
          </a:p>
        </p:txBody>
      </p:sp>
      <p:sp>
        <p:nvSpPr>
          <p:cNvPr id="10" name="Rounded Rectangle 9"/>
          <p:cNvSpPr/>
          <p:nvPr/>
        </p:nvSpPr>
        <p:spPr>
          <a:xfrm>
            <a:off x="7086600" y="3561080"/>
            <a:ext cx="4297680" cy="1554480"/>
          </a:xfrm>
          <a:prstGeom prst="roundRect">
            <a:avLst>
              <a:gd name="adj" fmla="val 7058"/>
            </a:avLst>
          </a:prstGeom>
          <a:solidFill>
            <a:srgbClr val="5EEAD4">
              <a:alpha val="8000"/>
            </a:srgbClr>
          </a:solidFill>
          <a:ln w="6350">
            <a:solidFill>
              <a:srgbClr val="5EEAD4">
                <a:alpha val="50000"/>
              </a:srgbClr>
            </a:solidFill>
          </a:ln>
        </p:spPr>
        <p:txBody>
          <a:bodyPr rtlCol="0" anchor="ctr"/>
          <a:lstStyle/>
          <a:p>
            <a:pPr algn="ctr"/>
          </a:p>
        </p:txBody>
      </p:sp>
      <p:sp>
        <p:nvSpPr>
          <p:cNvPr id="11" name="TextBox 10"/>
          <p:cNvSpPr txBox="1"/>
          <p:nvPr/>
        </p:nvSpPr>
        <p:spPr>
          <a:xfrm>
            <a:off x="7287768" y="3698240"/>
            <a:ext cx="3931920" cy="274320"/>
          </a:xfrm>
          <a:prstGeom prst="rect">
            <a:avLst/>
          </a:prstGeom>
          <a:noFill/>
        </p:spPr>
        <p:txBody>
          <a:bodyPr wrap="square" lIns="0" rIns="0" tIns="0" bIns="0" anchor="t">
            <a:spAutoFit/>
          </a:bodyPr>
          <a:lstStyle/>
          <a:p>
            <a:pPr algn="l">
              <a:lnSpc>
                <a:spcPct val="112000"/>
              </a:lnSpc>
            </a:pPr>
            <a:r>
              <a:rPr sz="1050" b="1" spc="100">
                <a:solidFill>
                  <a:srgbClr val="5EEAD4"/>
                </a:solidFill>
                <a:latin typeface="DM Sans"/>
              </a:rPr>
              <a:t>BOSSARD TARGET 2</a:t>
            </a:r>
          </a:p>
        </p:txBody>
      </p:sp>
      <p:sp>
        <p:nvSpPr>
          <p:cNvPr id="12" name="TextBox 11"/>
          <p:cNvSpPr txBox="1"/>
          <p:nvPr/>
        </p:nvSpPr>
        <p:spPr>
          <a:xfrm>
            <a:off x="7287768" y="3972560"/>
            <a:ext cx="3931920" cy="365760"/>
          </a:xfrm>
          <a:prstGeom prst="rect">
            <a:avLst/>
          </a:prstGeom>
          <a:noFill/>
        </p:spPr>
        <p:txBody>
          <a:bodyPr wrap="square" lIns="0" rIns="0" tIns="0" bIns="0" anchor="t">
            <a:spAutoFit/>
          </a:bodyPr>
          <a:lstStyle/>
          <a:p>
            <a:pPr algn="l">
              <a:lnSpc>
                <a:spcPct val="112000"/>
              </a:lnSpc>
            </a:pPr>
            <a:r>
              <a:rPr sz="1400" b="1">
                <a:solidFill>
                  <a:srgbClr val="FFFFFF"/>
                </a:solidFill>
                <a:latin typeface="Space Grotesk"/>
              </a:rPr>
              <a:t>At most 2 missed picks per week</a:t>
            </a:r>
          </a:p>
        </p:txBody>
      </p:sp>
      <p:sp>
        <p:nvSpPr>
          <p:cNvPr id="13" name="TextBox 12"/>
          <p:cNvSpPr txBox="1"/>
          <p:nvPr/>
        </p:nvSpPr>
        <p:spPr>
          <a:xfrm>
            <a:off x="7287768" y="4384040"/>
            <a:ext cx="3931920" cy="640080"/>
          </a:xfrm>
          <a:prstGeom prst="rect">
            <a:avLst/>
          </a:prstGeom>
          <a:noFill/>
        </p:spPr>
        <p:txBody>
          <a:bodyPr wrap="square" lIns="0" rIns="0" tIns="0" bIns="0" anchor="t">
            <a:spAutoFit/>
          </a:bodyPr>
          <a:lstStyle/>
          <a:p>
            <a:pPr algn="l">
              <a:lnSpc>
                <a:spcPct val="112000"/>
              </a:lnSpc>
            </a:pPr>
            <a:r>
              <a:rPr sz="1250" b="0">
                <a:solidFill>
                  <a:srgbClr val="D7DEFF"/>
                </a:solidFill>
                <a:latin typeface="DM Sans"/>
              </a:rPr>
              <a:t>Typical scale today: </a:t>
            </a:r>
            <a:r>
              <a:rPr sz="1250" b="1">
                <a:solidFill>
                  <a:srgbClr val="FFFFFF"/>
                </a:solidFill>
                <a:latin typeface="DM Sans"/>
              </a:rPr>
              <a:t>0.1 a week</a:t>
            </a:r>
            <a:r>
              <a:rPr sz="1250" b="0">
                <a:solidFill>
                  <a:srgbClr val="D7DEFF"/>
                </a:solidFill>
                <a:latin typeface="DM Sans"/>
              </a:rPr>
              <a:t> (20 kg, about 1 every 8 weeks), 0.4 (6 kg, about 1 every 3 weeks)</a:t>
            </a:r>
          </a:p>
        </p:txBody>
      </p:sp>
      <p:sp>
        <p:nvSpPr>
          <p:cNvPr id="14" name="TextBox 13"/>
          <p:cNvSpPr txBox="1"/>
          <p:nvPr/>
        </p:nvSpPr>
        <p:spPr>
          <a:xfrm>
            <a:off x="813816" y="5344160"/>
            <a:ext cx="10515600" cy="457200"/>
          </a:xfrm>
          <a:prstGeom prst="rect">
            <a:avLst/>
          </a:prstGeom>
          <a:noFill/>
        </p:spPr>
        <p:txBody>
          <a:bodyPr wrap="square" lIns="0" rIns="0" tIns="0" bIns="0" anchor="t">
            <a:spAutoFit/>
          </a:bodyPr>
          <a:lstStyle/>
          <a:p>
            <a:pPr algn="l">
              <a:lnSpc>
                <a:spcPct val="112000"/>
              </a:lnSpc>
            </a:pPr>
            <a:r>
              <a:rPr sz="1400" b="1">
                <a:solidFill>
                  <a:srgbClr val="FFFFFF"/>
                </a:solidFill>
                <a:latin typeface="Space Grotesk"/>
              </a:rPr>
              <a:t>A typical 20 kg scale wakes up empty 13.5 times a week and sees 1.5 real picks. There is room to turn the sensor down.</a:t>
            </a:r>
          </a:p>
        </p:txBody>
      </p:sp>
      <p:sp>
        <p:nvSpPr>
          <p:cNvPr id="15" name="TextBox 14"/>
          <p:cNvSpPr txBox="1"/>
          <p:nvPr/>
        </p:nvSpPr>
        <p:spPr>
          <a:xfrm>
            <a:off x="813816" y="6419088"/>
            <a:ext cx="9875520" cy="228600"/>
          </a:xfrm>
          <a:prstGeom prst="rect">
            <a:avLst/>
          </a:prstGeom>
          <a:noFill/>
        </p:spPr>
        <p:txBody>
          <a:bodyPr wrap="square" lIns="0" rIns="0" tIns="0" bIns="0" anchor="t">
            <a:spAutoFit/>
          </a:bodyPr>
          <a:lstStyle/>
          <a:p>
            <a:pPr algn="l">
              <a:lnSpc>
                <a:spcPct val="100000"/>
              </a:lnSpc>
            </a:pPr>
            <a:r>
              <a:rPr sz="900" b="0">
                <a:solidFill>
                  <a:srgbClr val="8D99B0"/>
                </a:solidFill>
                <a:latin typeface="DM Sans"/>
              </a:rPr>
              <a:t>Source: own analysis of the Bossard SmartBin data, 1 Mar to 20 Jun 2022 · scales on the default setting (8) · Report §4.1</a:t>
            </a:r>
          </a:p>
        </p:txBody>
      </p:sp>
      <p:sp>
        <p:nvSpPr>
          <p:cNvPr id="16" name="TextBox 15"/>
          <p:cNvSpPr txBox="1"/>
          <p:nvPr/>
        </p:nvSpPr>
        <p:spPr>
          <a:xfrm>
            <a:off x="10927080" y="6419088"/>
            <a:ext cx="457200" cy="228600"/>
          </a:xfrm>
          <a:prstGeom prst="rect">
            <a:avLst/>
          </a:prstGeom>
          <a:noFill/>
        </p:spPr>
        <p:txBody>
          <a:bodyPr wrap="square" lIns="0" rIns="0" tIns="0" bIns="0" anchor="t">
            <a:spAutoFit/>
          </a:bodyPr>
          <a:lstStyle/>
          <a:p>
            <a:pPr algn="r">
              <a:lnSpc>
                <a:spcPct val="112000"/>
              </a:lnSpc>
            </a:pPr>
            <a:r>
              <a:rPr sz="900" b="0">
                <a:solidFill>
                  <a:srgbClr val="8D99B0"/>
                </a:solidFill>
                <a:latin typeface="DM San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E1628"/>
        </a:solidFill>
        <a:effectLst/>
      </p:bgPr>
    </p:bg>
    <p:spTree>
      <p:nvGrpSpPr>
        <p:cNvPr id="1" name=""/>
        <p:cNvGrpSpPr/>
        <p:nvPr/>
      </p:nvGrpSpPr>
      <p:grpSpPr/>
      <p:sp>
        <p:nvSpPr>
          <p:cNvPr id="2" name="Rectangle 1"/>
          <p:cNvSpPr/>
          <p:nvPr/>
        </p:nvSpPr>
        <p:spPr>
          <a:xfrm>
            <a:off x="6986016" y="0"/>
            <a:ext cx="5202936" cy="4059936"/>
          </a:xfrm>
          <a:prstGeom prst="rect">
            <a:avLst/>
          </a:prstGeom>
          <a:gradFill rotWithShape="1">
            <a:gsLst>
              <a:gs pos="0">
                <a:srgbClr val="8EA2FF">
                  <a:alpha val="18000"/>
                </a:srgbClr>
              </a:gs>
              <a:gs pos="65000">
                <a:srgbClr val="8EA2FF">
                  <a:alpha val="0"/>
                </a:srgbClr>
              </a:gs>
            </a:gsLst>
            <a:path path="circle">
              <a:fillToRect l="70000" t="25000" r="30000" b="75000"/>
            </a:path>
          </a:gradFill>
          <a:ln>
            <a:noFill/>
          </a:ln>
        </p:spPr>
        <p:txBody>
          <a:bodyPr rtlCol="0" anchor="ctr"/>
          <a:lstStyle/>
          <a:p>
            <a:pPr algn="ctr"/>
          </a:p>
        </p:txBody>
      </p:sp>
      <p:sp>
        <p:nvSpPr>
          <p:cNvPr id="3" name="TextBox 2"/>
          <p:cNvSpPr txBox="1"/>
          <p:nvPr/>
        </p:nvSpPr>
        <p:spPr>
          <a:xfrm>
            <a:off x="813816" y="502920"/>
            <a:ext cx="10570464" cy="228600"/>
          </a:xfrm>
          <a:prstGeom prst="rect">
            <a:avLst/>
          </a:prstGeom>
          <a:noFill/>
        </p:spPr>
        <p:txBody>
          <a:bodyPr wrap="square" lIns="0" rIns="0" tIns="0" bIns="0" anchor="t">
            <a:spAutoFit/>
          </a:bodyPr>
          <a:lstStyle/>
          <a:p>
            <a:pPr algn="l">
              <a:lnSpc>
                <a:spcPct val="112000"/>
              </a:lnSpc>
            </a:pPr>
            <a:r>
              <a:rPr sz="1100" b="1" spc="150">
                <a:solidFill>
                  <a:srgbClr val="5EEAD4"/>
                </a:solidFill>
                <a:latin typeface="DM Sans"/>
              </a:rPr>
              <a:t>DATA AND APPROACH</a:t>
            </a:r>
          </a:p>
        </p:txBody>
      </p:sp>
      <p:sp>
        <p:nvSpPr>
          <p:cNvPr id="4" name="TextBox 3"/>
          <p:cNvSpPr txBox="1"/>
          <p:nvPr/>
        </p:nvSpPr>
        <p:spPr>
          <a:xfrm>
            <a:off x="813816" y="777240"/>
            <a:ext cx="10570464" cy="817879"/>
          </a:xfrm>
          <a:prstGeom prst="rect">
            <a:avLst/>
          </a:prstGeom>
          <a:noFill/>
        </p:spPr>
        <p:txBody>
          <a:bodyPr wrap="square" lIns="0" rIns="0" tIns="0" bIns="0" anchor="t">
            <a:spAutoFit/>
          </a:bodyPr>
          <a:lstStyle/>
          <a:p>
            <a:pPr algn="l">
              <a:lnSpc>
                <a:spcPct val="100000"/>
              </a:lnSpc>
            </a:pPr>
            <a:r>
              <a:rPr sz="2800" b="1">
                <a:solidFill>
                  <a:srgbClr val="FFFFFF"/>
                </a:solidFill>
                <a:latin typeface="Space Grotesk"/>
              </a:rPr>
              <a:t>We checked 7.6 million weighings and looked at every scale on its own</a:t>
            </a:r>
          </a:p>
        </p:txBody>
      </p:sp>
      <p:sp>
        <p:nvSpPr>
          <p:cNvPr id="5" name="TextBox 4"/>
          <p:cNvSpPr txBox="1"/>
          <p:nvPr/>
        </p:nvSpPr>
        <p:spPr>
          <a:xfrm>
            <a:off x="813816" y="1823720"/>
            <a:ext cx="2459736" cy="474980"/>
          </a:xfrm>
          <a:prstGeom prst="rect">
            <a:avLst/>
          </a:prstGeom>
          <a:noFill/>
        </p:spPr>
        <p:txBody>
          <a:bodyPr wrap="square" lIns="0" rIns="0" tIns="0" bIns="0" anchor="t">
            <a:spAutoFit/>
          </a:bodyPr>
          <a:lstStyle/>
          <a:p>
            <a:pPr algn="l">
              <a:lnSpc>
                <a:spcPct val="95000"/>
              </a:lnSpc>
            </a:pPr>
            <a:r>
              <a:rPr sz="3400" b="1">
                <a:solidFill>
                  <a:srgbClr val="5EEAD4"/>
                </a:solidFill>
                <a:latin typeface="Space Grotesk"/>
              </a:rPr>
              <a:t>7.6 M</a:t>
            </a:r>
          </a:p>
        </p:txBody>
      </p:sp>
      <p:sp>
        <p:nvSpPr>
          <p:cNvPr id="6" name="TextBox 5"/>
          <p:cNvSpPr txBox="1"/>
          <p:nvPr/>
        </p:nvSpPr>
        <p:spPr>
          <a:xfrm>
            <a:off x="813816" y="2335276"/>
            <a:ext cx="2459736" cy="274320"/>
          </a:xfrm>
          <a:prstGeom prst="rect">
            <a:avLst/>
          </a:prstGeom>
          <a:noFill/>
        </p:spPr>
        <p:txBody>
          <a:bodyPr wrap="square" lIns="0" rIns="0" tIns="0" bIns="0" anchor="t">
            <a:spAutoFit/>
          </a:bodyPr>
          <a:lstStyle/>
          <a:p>
            <a:pPr algn="l">
              <a:lnSpc>
                <a:spcPct val="112000"/>
              </a:lnSpc>
            </a:pPr>
            <a:r>
              <a:rPr sz="1300" b="0">
                <a:solidFill>
                  <a:srgbClr val="B8C4D9"/>
                </a:solidFill>
                <a:latin typeface="DM Sans"/>
              </a:rPr>
              <a:t>weighings</a:t>
            </a:r>
          </a:p>
        </p:txBody>
      </p:sp>
      <p:sp>
        <p:nvSpPr>
          <p:cNvPr id="7" name="TextBox 6"/>
          <p:cNvSpPr txBox="1"/>
          <p:nvPr/>
        </p:nvSpPr>
        <p:spPr>
          <a:xfrm>
            <a:off x="3456432" y="1823720"/>
            <a:ext cx="2459736" cy="474980"/>
          </a:xfrm>
          <a:prstGeom prst="rect">
            <a:avLst/>
          </a:prstGeom>
          <a:noFill/>
        </p:spPr>
        <p:txBody>
          <a:bodyPr wrap="square" lIns="0" rIns="0" tIns="0" bIns="0" anchor="t">
            <a:spAutoFit/>
          </a:bodyPr>
          <a:lstStyle/>
          <a:p>
            <a:pPr algn="l">
              <a:lnSpc>
                <a:spcPct val="95000"/>
              </a:lnSpc>
            </a:pPr>
            <a:r>
              <a:rPr sz="3400" b="1">
                <a:solidFill>
                  <a:srgbClr val="5EEAD4"/>
                </a:solidFill>
                <a:latin typeface="Space Grotesk"/>
              </a:rPr>
              <a:t>18,455</a:t>
            </a:r>
          </a:p>
        </p:txBody>
      </p:sp>
      <p:sp>
        <p:nvSpPr>
          <p:cNvPr id="8" name="TextBox 7"/>
          <p:cNvSpPr txBox="1"/>
          <p:nvPr/>
        </p:nvSpPr>
        <p:spPr>
          <a:xfrm>
            <a:off x="3456432" y="2335276"/>
            <a:ext cx="2459736" cy="274320"/>
          </a:xfrm>
          <a:prstGeom prst="rect">
            <a:avLst/>
          </a:prstGeom>
          <a:noFill/>
        </p:spPr>
        <p:txBody>
          <a:bodyPr wrap="square" lIns="0" rIns="0" tIns="0" bIns="0" anchor="t">
            <a:spAutoFit/>
          </a:bodyPr>
          <a:lstStyle/>
          <a:p>
            <a:pPr algn="l">
              <a:lnSpc>
                <a:spcPct val="112000"/>
              </a:lnSpc>
            </a:pPr>
            <a:r>
              <a:rPr sz="1300" b="0">
                <a:solidFill>
                  <a:srgbClr val="B8C4D9"/>
                </a:solidFill>
                <a:latin typeface="DM Sans"/>
              </a:rPr>
              <a:t>scales</a:t>
            </a:r>
          </a:p>
        </p:txBody>
      </p:sp>
      <p:sp>
        <p:nvSpPr>
          <p:cNvPr id="9" name="TextBox 8"/>
          <p:cNvSpPr txBox="1"/>
          <p:nvPr/>
        </p:nvSpPr>
        <p:spPr>
          <a:xfrm>
            <a:off x="6099048" y="1823720"/>
            <a:ext cx="2459736" cy="474980"/>
          </a:xfrm>
          <a:prstGeom prst="rect">
            <a:avLst/>
          </a:prstGeom>
          <a:noFill/>
        </p:spPr>
        <p:txBody>
          <a:bodyPr wrap="square" lIns="0" rIns="0" tIns="0" bIns="0" anchor="t">
            <a:spAutoFit/>
          </a:bodyPr>
          <a:lstStyle/>
          <a:p>
            <a:pPr algn="l">
              <a:lnSpc>
                <a:spcPct val="95000"/>
              </a:lnSpc>
            </a:pPr>
            <a:r>
              <a:rPr sz="3400" b="1">
                <a:solidFill>
                  <a:srgbClr val="5EEAD4"/>
                </a:solidFill>
                <a:latin typeface="Space Grotesk"/>
              </a:rPr>
              <a:t>16 weeks</a:t>
            </a:r>
          </a:p>
        </p:txBody>
      </p:sp>
      <p:sp>
        <p:nvSpPr>
          <p:cNvPr id="10" name="TextBox 9"/>
          <p:cNvSpPr txBox="1"/>
          <p:nvPr/>
        </p:nvSpPr>
        <p:spPr>
          <a:xfrm>
            <a:off x="6099048" y="2335276"/>
            <a:ext cx="2459736" cy="274320"/>
          </a:xfrm>
          <a:prstGeom prst="rect">
            <a:avLst/>
          </a:prstGeom>
          <a:noFill/>
        </p:spPr>
        <p:txBody>
          <a:bodyPr wrap="square" lIns="0" rIns="0" tIns="0" bIns="0" anchor="t">
            <a:spAutoFit/>
          </a:bodyPr>
          <a:lstStyle/>
          <a:p>
            <a:pPr algn="l">
              <a:lnSpc>
                <a:spcPct val="112000"/>
              </a:lnSpc>
            </a:pPr>
            <a:r>
              <a:rPr sz="1300" b="0">
                <a:solidFill>
                  <a:srgbClr val="B8C4D9"/>
                </a:solidFill>
                <a:latin typeface="DM Sans"/>
              </a:rPr>
              <a:t>March to June 2022</a:t>
            </a:r>
          </a:p>
        </p:txBody>
      </p:sp>
      <p:sp>
        <p:nvSpPr>
          <p:cNvPr id="11" name="TextBox 10"/>
          <p:cNvSpPr txBox="1"/>
          <p:nvPr/>
        </p:nvSpPr>
        <p:spPr>
          <a:xfrm>
            <a:off x="8741664" y="1823720"/>
            <a:ext cx="2459736" cy="474980"/>
          </a:xfrm>
          <a:prstGeom prst="rect">
            <a:avLst/>
          </a:prstGeom>
          <a:noFill/>
        </p:spPr>
        <p:txBody>
          <a:bodyPr wrap="square" lIns="0" rIns="0" tIns="0" bIns="0" anchor="t">
            <a:spAutoFit/>
          </a:bodyPr>
          <a:lstStyle/>
          <a:p>
            <a:pPr algn="l">
              <a:lnSpc>
                <a:spcPct val="95000"/>
              </a:lnSpc>
            </a:pPr>
            <a:r>
              <a:rPr sz="3400" b="1">
                <a:solidFill>
                  <a:srgbClr val="5EEAD4"/>
                </a:solidFill>
                <a:latin typeface="Space Grotesk"/>
              </a:rPr>
              <a:t>7,846</a:t>
            </a:r>
          </a:p>
        </p:txBody>
      </p:sp>
      <p:sp>
        <p:nvSpPr>
          <p:cNvPr id="12" name="TextBox 11"/>
          <p:cNvSpPr txBox="1"/>
          <p:nvPr/>
        </p:nvSpPr>
        <p:spPr>
          <a:xfrm>
            <a:off x="8741664" y="2335276"/>
            <a:ext cx="2459736" cy="274320"/>
          </a:xfrm>
          <a:prstGeom prst="rect">
            <a:avLst/>
          </a:prstGeom>
          <a:noFill/>
        </p:spPr>
        <p:txBody>
          <a:bodyPr wrap="square" lIns="0" rIns="0" tIns="0" bIns="0" anchor="t">
            <a:spAutoFit/>
          </a:bodyPr>
          <a:lstStyle/>
          <a:p>
            <a:pPr algn="l">
              <a:lnSpc>
                <a:spcPct val="112000"/>
              </a:lnSpc>
            </a:pPr>
            <a:r>
              <a:rPr sz="1300" b="0">
                <a:solidFill>
                  <a:srgbClr val="B8C4D9"/>
                </a:solidFill>
                <a:latin typeface="DM Sans"/>
              </a:rPr>
              <a:t>scales got a new setting in April</a:t>
            </a:r>
          </a:p>
        </p:txBody>
      </p:sp>
      <p:sp>
        <p:nvSpPr>
          <p:cNvPr id="13" name="Rounded Rectangle 12"/>
          <p:cNvSpPr/>
          <p:nvPr/>
        </p:nvSpPr>
        <p:spPr>
          <a:xfrm>
            <a:off x="813816" y="3103880"/>
            <a:ext cx="2491740" cy="2240280"/>
          </a:xfrm>
          <a:prstGeom prst="roundRect">
            <a:avLst>
              <a:gd name="adj" fmla="val 4897"/>
            </a:avLst>
          </a:prstGeom>
          <a:solidFill>
            <a:srgbClr val="5EEAD4">
              <a:alpha val="8000"/>
            </a:srgbClr>
          </a:solidFill>
          <a:ln w="6350">
            <a:solidFill>
              <a:srgbClr val="5EEAD4">
                <a:alpha val="50000"/>
              </a:srgbClr>
            </a:solidFill>
          </a:ln>
        </p:spPr>
        <p:txBody>
          <a:bodyPr rtlCol="0" anchor="ctr"/>
          <a:lstStyle/>
          <a:p>
            <a:pPr algn="ctr"/>
          </a:p>
        </p:txBody>
      </p:sp>
      <p:sp>
        <p:nvSpPr>
          <p:cNvPr id="14" name="Oval 13"/>
          <p:cNvSpPr/>
          <p:nvPr/>
        </p:nvSpPr>
        <p:spPr>
          <a:xfrm>
            <a:off x="996696" y="3286760"/>
            <a:ext cx="329184" cy="329184"/>
          </a:xfrm>
          <a:prstGeom prst="ellipse">
            <a:avLst/>
          </a:prstGeom>
          <a:solidFill>
            <a:srgbClr val="5EEAD4"/>
          </a:solidFill>
          <a:ln>
            <a:noFill/>
          </a:ln>
        </p:spPr>
        <p:txBody>
          <a:bodyPr rtlCol="0" anchor="ctr" lIns="0" rIns="0" tIns="0" bIns="0"/>
          <a:lstStyle/>
          <a:p>
            <a:pPr algn="ctr"/>
            <a:r>
              <a:rPr sz="1300" b="1">
                <a:solidFill>
                  <a:srgbClr val="0A1020"/>
                </a:solidFill>
                <a:latin typeface="Space Grotesk"/>
              </a:rPr>
              <a:t>1</a:t>
            </a:r>
          </a:p>
        </p:txBody>
      </p:sp>
      <p:sp>
        <p:nvSpPr>
          <p:cNvPr id="15" name="TextBox 14"/>
          <p:cNvSpPr txBox="1"/>
          <p:nvPr/>
        </p:nvSpPr>
        <p:spPr>
          <a:xfrm>
            <a:off x="1435608" y="3305048"/>
            <a:ext cx="1760220" cy="320040"/>
          </a:xfrm>
          <a:prstGeom prst="rect">
            <a:avLst/>
          </a:prstGeom>
          <a:noFill/>
        </p:spPr>
        <p:txBody>
          <a:bodyPr wrap="square" lIns="0" rIns="0" tIns="0" bIns="0" anchor="t">
            <a:spAutoFit/>
          </a:bodyPr>
          <a:lstStyle/>
          <a:p>
            <a:pPr algn="l">
              <a:lnSpc>
                <a:spcPct val="112000"/>
              </a:lnSpc>
            </a:pPr>
            <a:r>
              <a:rPr sz="1600" b="1">
                <a:solidFill>
                  <a:srgbClr val="FFFFFF"/>
                </a:solidFill>
                <a:latin typeface="Space Grotesk"/>
              </a:rPr>
              <a:t>Check</a:t>
            </a:r>
          </a:p>
        </p:txBody>
      </p:sp>
      <p:sp>
        <p:nvSpPr>
          <p:cNvPr id="16" name="TextBox 15"/>
          <p:cNvSpPr txBox="1"/>
          <p:nvPr/>
        </p:nvSpPr>
        <p:spPr>
          <a:xfrm>
            <a:off x="996696" y="3835400"/>
            <a:ext cx="2125980" cy="1463040"/>
          </a:xfrm>
          <a:prstGeom prst="rect">
            <a:avLst/>
          </a:prstGeom>
          <a:noFill/>
        </p:spPr>
        <p:txBody>
          <a:bodyPr wrap="square" lIns="0" rIns="0" tIns="0" bIns="0" anchor="t">
            <a:spAutoFit/>
          </a:bodyPr>
          <a:lstStyle/>
          <a:p>
            <a:pPr algn="l">
              <a:lnSpc>
                <a:spcPct val="113000"/>
              </a:lnSpc>
            </a:pPr>
            <a:r>
              <a:rPr sz="1250" b="0">
                <a:solidFill>
                  <a:srgbClr val="B8C4D9"/>
                </a:solidFill>
                <a:latin typeface="DM Sans"/>
              </a:rPr>
              <a:t>We removed only broken rows. 69% of all rows are used for the KPIs. Details on the next slide.</a:t>
            </a:r>
          </a:p>
        </p:txBody>
      </p:sp>
      <p:cxnSp>
        <p:nvCxnSpPr>
          <p:cNvPr id="17" name="Connector 16"/>
          <p:cNvCxnSpPr/>
          <p:nvPr/>
        </p:nvCxnSpPr>
        <p:spPr>
          <a:xfrm>
            <a:off x="3323844" y="3451352"/>
            <a:ext cx="164592" cy="0"/>
          </a:xfrm>
          <a:prstGeom prst="line">
            <a:avLst/>
          </a:prstGeom>
          <a:ln w="22225">
            <a:solidFill>
              <a:srgbClr val="5EEAD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3506724" y="3103880"/>
            <a:ext cx="2491740" cy="2240280"/>
          </a:xfrm>
          <a:prstGeom prst="roundRect">
            <a:avLst>
              <a:gd name="adj" fmla="val 4897"/>
            </a:avLst>
          </a:prstGeom>
          <a:solidFill>
            <a:srgbClr val="5EEAD4">
              <a:alpha val="8000"/>
            </a:srgbClr>
          </a:solidFill>
          <a:ln w="6350">
            <a:solidFill>
              <a:srgbClr val="5EEAD4">
                <a:alpha val="50000"/>
              </a:srgbClr>
            </a:solidFill>
          </a:ln>
        </p:spPr>
        <p:txBody>
          <a:bodyPr rtlCol="0" anchor="ctr"/>
          <a:lstStyle/>
          <a:p>
            <a:pPr algn="ctr"/>
          </a:p>
        </p:txBody>
      </p:sp>
      <p:sp>
        <p:nvSpPr>
          <p:cNvPr id="19" name="Oval 18"/>
          <p:cNvSpPr/>
          <p:nvPr/>
        </p:nvSpPr>
        <p:spPr>
          <a:xfrm>
            <a:off x="3689604" y="3286760"/>
            <a:ext cx="329184" cy="329184"/>
          </a:xfrm>
          <a:prstGeom prst="ellipse">
            <a:avLst/>
          </a:prstGeom>
          <a:solidFill>
            <a:srgbClr val="5EEAD4"/>
          </a:solidFill>
          <a:ln>
            <a:noFill/>
          </a:ln>
        </p:spPr>
        <p:txBody>
          <a:bodyPr rtlCol="0" anchor="ctr" lIns="0" rIns="0" tIns="0" bIns="0"/>
          <a:lstStyle/>
          <a:p>
            <a:pPr algn="ctr"/>
            <a:r>
              <a:rPr sz="1300" b="1">
                <a:solidFill>
                  <a:srgbClr val="0A1020"/>
                </a:solidFill>
                <a:latin typeface="Space Grotesk"/>
              </a:rPr>
              <a:t>2</a:t>
            </a:r>
          </a:p>
        </p:txBody>
      </p:sp>
      <p:sp>
        <p:nvSpPr>
          <p:cNvPr id="20" name="TextBox 19"/>
          <p:cNvSpPr txBox="1"/>
          <p:nvPr/>
        </p:nvSpPr>
        <p:spPr>
          <a:xfrm>
            <a:off x="4128516" y="3305048"/>
            <a:ext cx="1760220" cy="320040"/>
          </a:xfrm>
          <a:prstGeom prst="rect">
            <a:avLst/>
          </a:prstGeom>
          <a:noFill/>
        </p:spPr>
        <p:txBody>
          <a:bodyPr wrap="square" lIns="0" rIns="0" tIns="0" bIns="0" anchor="t">
            <a:spAutoFit/>
          </a:bodyPr>
          <a:lstStyle/>
          <a:p>
            <a:pPr algn="l">
              <a:lnSpc>
                <a:spcPct val="112000"/>
              </a:lnSpc>
            </a:pPr>
            <a:r>
              <a:rPr sz="1600" b="1">
                <a:solidFill>
                  <a:srgbClr val="FFFFFF"/>
                </a:solidFill>
                <a:latin typeface="Space Grotesk"/>
              </a:rPr>
              <a:t>Measure</a:t>
            </a:r>
          </a:p>
        </p:txBody>
      </p:sp>
      <p:sp>
        <p:nvSpPr>
          <p:cNvPr id="21" name="TextBox 20"/>
          <p:cNvSpPr txBox="1"/>
          <p:nvPr/>
        </p:nvSpPr>
        <p:spPr>
          <a:xfrm>
            <a:off x="3689604" y="3835400"/>
            <a:ext cx="2125980" cy="1463040"/>
          </a:xfrm>
          <a:prstGeom prst="rect">
            <a:avLst/>
          </a:prstGeom>
          <a:noFill/>
        </p:spPr>
        <p:txBody>
          <a:bodyPr wrap="square" lIns="0" rIns="0" tIns="0" bIns="0" anchor="t">
            <a:spAutoFit/>
          </a:bodyPr>
          <a:lstStyle/>
          <a:p>
            <a:pPr algn="l">
              <a:lnSpc>
                <a:spcPct val="113000"/>
              </a:lnSpc>
            </a:pPr>
            <a:r>
              <a:rPr sz="1250" b="0">
                <a:solidFill>
                  <a:srgbClr val="B8C4D9"/>
                </a:solidFill>
                <a:latin typeface="DM Sans"/>
              </a:rPr>
              <a:t>One result per scale and setting. We use the typical scale (the median), so a few noisy scales cannot distort the result.</a:t>
            </a:r>
          </a:p>
        </p:txBody>
      </p:sp>
      <p:cxnSp>
        <p:nvCxnSpPr>
          <p:cNvPr id="22" name="Connector 21"/>
          <p:cNvCxnSpPr/>
          <p:nvPr/>
        </p:nvCxnSpPr>
        <p:spPr>
          <a:xfrm>
            <a:off x="6016752" y="3451352"/>
            <a:ext cx="164592" cy="0"/>
          </a:xfrm>
          <a:prstGeom prst="line">
            <a:avLst/>
          </a:prstGeom>
          <a:ln w="22225">
            <a:solidFill>
              <a:srgbClr val="5EEAD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6199632" y="3103880"/>
            <a:ext cx="2491740" cy="2240280"/>
          </a:xfrm>
          <a:prstGeom prst="roundRect">
            <a:avLst>
              <a:gd name="adj" fmla="val 4897"/>
            </a:avLst>
          </a:prstGeom>
          <a:solidFill>
            <a:srgbClr val="5EEAD4">
              <a:alpha val="8000"/>
            </a:srgbClr>
          </a:solidFill>
          <a:ln w="6350">
            <a:solidFill>
              <a:srgbClr val="5EEAD4">
                <a:alpha val="50000"/>
              </a:srgbClr>
            </a:solidFill>
          </a:ln>
        </p:spPr>
        <p:txBody>
          <a:bodyPr rtlCol="0" anchor="ctr"/>
          <a:lstStyle/>
          <a:p>
            <a:pPr algn="ctr"/>
          </a:p>
        </p:txBody>
      </p:sp>
      <p:sp>
        <p:nvSpPr>
          <p:cNvPr id="24" name="Oval 23"/>
          <p:cNvSpPr/>
          <p:nvPr/>
        </p:nvSpPr>
        <p:spPr>
          <a:xfrm>
            <a:off x="6382512" y="3286760"/>
            <a:ext cx="329184" cy="329184"/>
          </a:xfrm>
          <a:prstGeom prst="ellipse">
            <a:avLst/>
          </a:prstGeom>
          <a:solidFill>
            <a:srgbClr val="5EEAD4"/>
          </a:solidFill>
          <a:ln>
            <a:noFill/>
          </a:ln>
        </p:spPr>
        <p:txBody>
          <a:bodyPr rtlCol="0" anchor="ctr" lIns="0" rIns="0" tIns="0" bIns="0"/>
          <a:lstStyle/>
          <a:p>
            <a:pPr algn="ctr"/>
            <a:r>
              <a:rPr sz="1300" b="1">
                <a:solidFill>
                  <a:srgbClr val="0A1020"/>
                </a:solidFill>
                <a:latin typeface="Space Grotesk"/>
              </a:rPr>
              <a:t>3</a:t>
            </a:r>
          </a:p>
        </p:txBody>
      </p:sp>
      <p:sp>
        <p:nvSpPr>
          <p:cNvPr id="25" name="TextBox 24"/>
          <p:cNvSpPr txBox="1"/>
          <p:nvPr/>
        </p:nvSpPr>
        <p:spPr>
          <a:xfrm>
            <a:off x="6821424" y="3305048"/>
            <a:ext cx="1760220" cy="320040"/>
          </a:xfrm>
          <a:prstGeom prst="rect">
            <a:avLst/>
          </a:prstGeom>
          <a:noFill/>
        </p:spPr>
        <p:txBody>
          <a:bodyPr wrap="square" lIns="0" rIns="0" tIns="0" bIns="0" anchor="t">
            <a:spAutoFit/>
          </a:bodyPr>
          <a:lstStyle/>
          <a:p>
            <a:pPr algn="l">
              <a:lnSpc>
                <a:spcPct val="112000"/>
              </a:lnSpc>
            </a:pPr>
            <a:r>
              <a:rPr sz="1600" b="1">
                <a:solidFill>
                  <a:srgbClr val="FFFFFF"/>
                </a:solidFill>
                <a:latin typeface="Space Grotesk"/>
              </a:rPr>
              <a:t>Compare</a:t>
            </a:r>
          </a:p>
        </p:txBody>
      </p:sp>
      <p:sp>
        <p:nvSpPr>
          <p:cNvPr id="26" name="TextBox 25"/>
          <p:cNvSpPr txBox="1"/>
          <p:nvPr/>
        </p:nvSpPr>
        <p:spPr>
          <a:xfrm>
            <a:off x="6382512" y="3835400"/>
            <a:ext cx="2125980" cy="1463040"/>
          </a:xfrm>
          <a:prstGeom prst="rect">
            <a:avLst/>
          </a:prstGeom>
          <a:noFill/>
        </p:spPr>
        <p:txBody>
          <a:bodyPr wrap="square" lIns="0" rIns="0" tIns="0" bIns="0" anchor="t">
            <a:spAutoFit/>
          </a:bodyPr>
          <a:lstStyle/>
          <a:p>
            <a:pPr algn="l">
              <a:lnSpc>
                <a:spcPct val="113000"/>
              </a:lnSpc>
            </a:pPr>
            <a:r>
              <a:rPr sz="1250" b="0">
                <a:solidFill>
                  <a:srgbClr val="B8C4D9"/>
                </a:solidFill>
                <a:latin typeface="DM Sans"/>
              </a:rPr>
              <a:t>In April, 7,846 scales got a new setting. We compare each one with itself before the change.</a:t>
            </a:r>
          </a:p>
        </p:txBody>
      </p:sp>
      <p:cxnSp>
        <p:nvCxnSpPr>
          <p:cNvPr id="27" name="Connector 26"/>
          <p:cNvCxnSpPr/>
          <p:nvPr/>
        </p:nvCxnSpPr>
        <p:spPr>
          <a:xfrm>
            <a:off x="8709660" y="3451352"/>
            <a:ext cx="164592" cy="0"/>
          </a:xfrm>
          <a:prstGeom prst="line">
            <a:avLst/>
          </a:prstGeom>
          <a:ln w="22225">
            <a:solidFill>
              <a:srgbClr val="5EEAD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8892540" y="3103880"/>
            <a:ext cx="2491740" cy="2240280"/>
          </a:xfrm>
          <a:prstGeom prst="roundRect">
            <a:avLst>
              <a:gd name="adj" fmla="val 4897"/>
            </a:avLst>
          </a:prstGeom>
          <a:solidFill>
            <a:srgbClr val="8EA2FF">
              <a:alpha val="8000"/>
            </a:srgbClr>
          </a:solidFill>
          <a:ln w="6350">
            <a:solidFill>
              <a:srgbClr val="8EA2FF">
                <a:alpha val="50000"/>
              </a:srgbClr>
            </a:solidFill>
          </a:ln>
        </p:spPr>
        <p:txBody>
          <a:bodyPr rtlCol="0" anchor="ctr"/>
          <a:lstStyle/>
          <a:p>
            <a:pPr algn="ctr"/>
          </a:p>
        </p:txBody>
      </p:sp>
      <p:sp>
        <p:nvSpPr>
          <p:cNvPr id="29" name="Oval 28"/>
          <p:cNvSpPr/>
          <p:nvPr/>
        </p:nvSpPr>
        <p:spPr>
          <a:xfrm>
            <a:off x="9075420" y="3286760"/>
            <a:ext cx="329184" cy="329184"/>
          </a:xfrm>
          <a:prstGeom prst="ellipse">
            <a:avLst/>
          </a:prstGeom>
          <a:solidFill>
            <a:srgbClr val="8EA2FF"/>
          </a:solidFill>
          <a:ln>
            <a:noFill/>
          </a:ln>
        </p:spPr>
        <p:txBody>
          <a:bodyPr rtlCol="0" anchor="ctr" lIns="0" rIns="0" tIns="0" bIns="0"/>
          <a:lstStyle/>
          <a:p>
            <a:pPr algn="ctr"/>
            <a:r>
              <a:rPr sz="1300" b="1">
                <a:solidFill>
                  <a:srgbClr val="0A1020"/>
                </a:solidFill>
                <a:latin typeface="Space Grotesk"/>
              </a:rPr>
              <a:t>4</a:t>
            </a:r>
          </a:p>
        </p:txBody>
      </p:sp>
      <p:sp>
        <p:nvSpPr>
          <p:cNvPr id="30" name="TextBox 29"/>
          <p:cNvSpPr txBox="1"/>
          <p:nvPr/>
        </p:nvSpPr>
        <p:spPr>
          <a:xfrm>
            <a:off x="9514332" y="3305048"/>
            <a:ext cx="1760220" cy="320040"/>
          </a:xfrm>
          <a:prstGeom prst="rect">
            <a:avLst/>
          </a:prstGeom>
          <a:noFill/>
        </p:spPr>
        <p:txBody>
          <a:bodyPr wrap="square" lIns="0" rIns="0" tIns="0" bIns="0" anchor="t">
            <a:spAutoFit/>
          </a:bodyPr>
          <a:lstStyle/>
          <a:p>
            <a:pPr algn="l">
              <a:lnSpc>
                <a:spcPct val="112000"/>
              </a:lnSpc>
            </a:pPr>
            <a:r>
              <a:rPr sz="1600" b="1">
                <a:solidFill>
                  <a:srgbClr val="FFFFFF"/>
                </a:solidFill>
                <a:latin typeface="Space Grotesk"/>
              </a:rPr>
              <a:t>Simulate</a:t>
            </a:r>
          </a:p>
        </p:txBody>
      </p:sp>
      <p:sp>
        <p:nvSpPr>
          <p:cNvPr id="31" name="TextBox 30"/>
          <p:cNvSpPr txBox="1"/>
          <p:nvPr/>
        </p:nvSpPr>
        <p:spPr>
          <a:xfrm>
            <a:off x="9075420" y="3835400"/>
            <a:ext cx="2125980" cy="1463040"/>
          </a:xfrm>
          <a:prstGeom prst="rect">
            <a:avLst/>
          </a:prstGeom>
          <a:noFill/>
        </p:spPr>
        <p:txBody>
          <a:bodyPr wrap="square" lIns="0" rIns="0" tIns="0" bIns="0" anchor="t">
            <a:spAutoFit/>
          </a:bodyPr>
          <a:lstStyle/>
          <a:p>
            <a:pPr algn="l">
              <a:lnSpc>
                <a:spcPct val="113000"/>
              </a:lnSpc>
            </a:pPr>
            <a:r>
              <a:rPr sz="1250" b="0">
                <a:solidFill>
                  <a:srgbClr val="B8C4D9"/>
                </a:solidFill>
                <a:latin typeface="DM Sans"/>
              </a:rPr>
              <a:t>We tested 9 ways to set the sensor on every scale and compared the results.</a:t>
            </a:r>
          </a:p>
        </p:txBody>
      </p:sp>
      <p:sp>
        <p:nvSpPr>
          <p:cNvPr id="32" name="Rounded Rectangle 31"/>
          <p:cNvSpPr/>
          <p:nvPr/>
        </p:nvSpPr>
        <p:spPr>
          <a:xfrm>
            <a:off x="813816" y="5618480"/>
            <a:ext cx="898564" cy="310896"/>
          </a:xfrm>
          <a:prstGeom prst="roundRect">
            <a:avLst>
              <a:gd name="adj" fmla="val 50000"/>
            </a:avLst>
          </a:prstGeom>
          <a:solidFill>
            <a:srgbClr val="5EEAD4">
              <a:alpha val="16000"/>
            </a:srgbClr>
          </a:solidFill>
          <a:ln w="6350">
            <a:solidFill>
              <a:srgbClr val="5EEAD4">
                <a:alpha val="45000"/>
              </a:srgbClr>
            </a:solidFill>
          </a:ln>
        </p:spPr>
        <p:txBody>
          <a:bodyPr rtlCol="0" anchor="ctr" lIns="45720" rIns="45720" tIns="0" bIns="0" wrap="none"/>
          <a:lstStyle/>
          <a:p>
            <a:pPr algn="ctr"/>
            <a:r>
              <a:rPr sz="1200" b="1">
                <a:solidFill>
                  <a:srgbClr val="5EEAD4"/>
                </a:solidFill>
                <a:latin typeface="DM Sans"/>
              </a:rPr>
              <a:t>Python</a:t>
            </a:r>
          </a:p>
        </p:txBody>
      </p:sp>
      <p:sp>
        <p:nvSpPr>
          <p:cNvPr id="33" name="Rounded Rectangle 32"/>
          <p:cNvSpPr/>
          <p:nvPr/>
        </p:nvSpPr>
        <p:spPr>
          <a:xfrm>
            <a:off x="1822108" y="5618480"/>
            <a:ext cx="952976" cy="310896"/>
          </a:xfrm>
          <a:prstGeom prst="roundRect">
            <a:avLst>
              <a:gd name="adj" fmla="val 50000"/>
            </a:avLst>
          </a:prstGeom>
          <a:solidFill>
            <a:srgbClr val="5EEAD4">
              <a:alpha val="16000"/>
            </a:srgbClr>
          </a:solidFill>
          <a:ln w="6350">
            <a:solidFill>
              <a:srgbClr val="5EEAD4">
                <a:alpha val="45000"/>
              </a:srgbClr>
            </a:solidFill>
          </a:ln>
        </p:spPr>
        <p:txBody>
          <a:bodyPr rtlCol="0" anchor="ctr" lIns="45720" rIns="45720" tIns="0" bIns="0" wrap="none"/>
          <a:lstStyle/>
          <a:p>
            <a:pPr algn="ctr"/>
            <a:r>
              <a:rPr sz="1200" b="1">
                <a:solidFill>
                  <a:srgbClr val="5EEAD4"/>
                </a:solidFill>
                <a:latin typeface="DM Sans"/>
              </a:rPr>
              <a:t>DuckDB</a:t>
            </a:r>
          </a:p>
        </p:txBody>
      </p:sp>
      <p:sp>
        <p:nvSpPr>
          <p:cNvPr id="34" name="Rounded Rectangle 33"/>
          <p:cNvSpPr/>
          <p:nvPr/>
        </p:nvSpPr>
        <p:spPr>
          <a:xfrm>
            <a:off x="2884812" y="5618480"/>
            <a:ext cx="887710" cy="310896"/>
          </a:xfrm>
          <a:prstGeom prst="roundRect">
            <a:avLst>
              <a:gd name="adj" fmla="val 50000"/>
            </a:avLst>
          </a:prstGeom>
          <a:solidFill>
            <a:srgbClr val="5EEAD4">
              <a:alpha val="16000"/>
            </a:srgbClr>
          </a:solidFill>
          <a:ln w="6350">
            <a:solidFill>
              <a:srgbClr val="5EEAD4">
                <a:alpha val="45000"/>
              </a:srgbClr>
            </a:solidFill>
          </a:ln>
        </p:spPr>
        <p:txBody>
          <a:bodyPr rtlCol="0" anchor="ctr" lIns="45720" rIns="45720" tIns="0" bIns="0" wrap="none"/>
          <a:lstStyle/>
          <a:p>
            <a:pPr algn="ctr"/>
            <a:r>
              <a:rPr sz="1200" b="1">
                <a:solidFill>
                  <a:srgbClr val="5EEAD4"/>
                </a:solidFill>
                <a:latin typeface="DM Sans"/>
              </a:rPr>
              <a:t>Quarto</a:t>
            </a:r>
          </a:p>
        </p:txBody>
      </p:sp>
      <p:sp>
        <p:nvSpPr>
          <p:cNvPr id="35" name="Rounded Rectangle 34"/>
          <p:cNvSpPr/>
          <p:nvPr/>
        </p:nvSpPr>
        <p:spPr>
          <a:xfrm>
            <a:off x="3882251" y="5618480"/>
            <a:ext cx="2587704" cy="310896"/>
          </a:xfrm>
          <a:prstGeom prst="roundRect">
            <a:avLst>
              <a:gd name="adj" fmla="val 50000"/>
            </a:avLst>
          </a:prstGeom>
          <a:solidFill>
            <a:srgbClr val="8EA2FF">
              <a:alpha val="16000"/>
            </a:srgbClr>
          </a:solidFill>
          <a:ln w="6350">
            <a:solidFill>
              <a:srgbClr val="8EA2FF">
                <a:alpha val="45000"/>
              </a:srgbClr>
            </a:solidFill>
          </a:ln>
        </p:spPr>
        <p:txBody>
          <a:bodyPr rtlCol="0" anchor="ctr" lIns="45720" rIns="45720" tIns="0" bIns="0" wrap="none"/>
          <a:lstStyle/>
          <a:p>
            <a:pPr algn="ctr"/>
            <a:r>
              <a:rPr sz="1200" b="1">
                <a:solidFill>
                  <a:srgbClr val="8EA2FF"/>
                </a:solidFill>
                <a:latin typeface="DM Sans"/>
              </a:rPr>
              <a:t>Tested on simulated data first</a:t>
            </a:r>
          </a:p>
        </p:txBody>
      </p:sp>
      <p:sp>
        <p:nvSpPr>
          <p:cNvPr id="36" name="TextBox 35"/>
          <p:cNvSpPr txBox="1"/>
          <p:nvPr/>
        </p:nvSpPr>
        <p:spPr>
          <a:xfrm>
            <a:off x="813816" y="6419088"/>
            <a:ext cx="9875520" cy="228600"/>
          </a:xfrm>
          <a:prstGeom prst="rect">
            <a:avLst/>
          </a:prstGeom>
          <a:noFill/>
        </p:spPr>
        <p:txBody>
          <a:bodyPr wrap="square" lIns="0" rIns="0" tIns="0" bIns="0" anchor="t">
            <a:spAutoFit/>
          </a:bodyPr>
          <a:lstStyle/>
          <a:p>
            <a:pPr algn="l">
              <a:lnSpc>
                <a:spcPct val="100000"/>
              </a:lnSpc>
            </a:pPr>
            <a:r>
              <a:rPr sz="900" b="0">
                <a:solidFill>
                  <a:srgbClr val="8D99B0"/>
                </a:solidFill>
                <a:latin typeface="DM Sans"/>
              </a:rPr>
              <a:t>Source: own analysis of the Bossard SmartBin data, 1 Mar to 20 Jun 2022 · Report §2 and §3, Appendix A</a:t>
            </a:r>
          </a:p>
        </p:txBody>
      </p:sp>
      <p:sp>
        <p:nvSpPr>
          <p:cNvPr id="37" name="TextBox 36"/>
          <p:cNvSpPr txBox="1"/>
          <p:nvPr/>
        </p:nvSpPr>
        <p:spPr>
          <a:xfrm>
            <a:off x="10927080" y="6419088"/>
            <a:ext cx="457200" cy="228600"/>
          </a:xfrm>
          <a:prstGeom prst="rect">
            <a:avLst/>
          </a:prstGeom>
          <a:noFill/>
        </p:spPr>
        <p:txBody>
          <a:bodyPr wrap="square" lIns="0" rIns="0" tIns="0" bIns="0" anchor="t">
            <a:spAutoFit/>
          </a:bodyPr>
          <a:lstStyle/>
          <a:p>
            <a:pPr algn="r">
              <a:lnSpc>
                <a:spcPct val="112000"/>
              </a:lnSpc>
            </a:pPr>
            <a:r>
              <a:rPr sz="900" b="0">
                <a:solidFill>
                  <a:srgbClr val="8D99B0"/>
                </a:solidFill>
                <a:latin typeface="DM Sans"/>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A1020"/>
        </a:solidFill>
        <a:effectLst/>
      </p:bgPr>
    </p:bg>
    <p:spTree>
      <p:nvGrpSpPr>
        <p:cNvPr id="1" name=""/>
        <p:cNvGrpSpPr/>
        <p:nvPr/>
      </p:nvGrpSpPr>
      <p:grpSpPr/>
      <p:sp>
        <p:nvSpPr>
          <p:cNvPr id="2" name="Rectangle 1"/>
          <p:cNvSpPr/>
          <p:nvPr/>
        </p:nvSpPr>
        <p:spPr>
          <a:xfrm>
            <a:off x="6986016" y="0"/>
            <a:ext cx="5202936" cy="4059936"/>
          </a:xfrm>
          <a:prstGeom prst="rect">
            <a:avLst/>
          </a:prstGeom>
          <a:gradFill rotWithShape="1">
            <a:gsLst>
              <a:gs pos="0">
                <a:srgbClr val="8EA2FF">
                  <a:alpha val="18000"/>
                </a:srgbClr>
              </a:gs>
              <a:gs pos="65000">
                <a:srgbClr val="8EA2FF">
                  <a:alpha val="0"/>
                </a:srgbClr>
              </a:gs>
            </a:gsLst>
            <a:path path="circle">
              <a:fillToRect l="70000" t="25000" r="30000" b="75000"/>
            </a:path>
          </a:gradFill>
          <a:ln>
            <a:noFill/>
          </a:ln>
        </p:spPr>
        <p:txBody>
          <a:bodyPr rtlCol="0" anchor="ctr"/>
          <a:lstStyle/>
          <a:p>
            <a:pPr algn="ctr"/>
          </a:p>
        </p:txBody>
      </p:sp>
      <p:sp>
        <p:nvSpPr>
          <p:cNvPr id="3" name="TextBox 2"/>
          <p:cNvSpPr txBox="1"/>
          <p:nvPr/>
        </p:nvSpPr>
        <p:spPr>
          <a:xfrm>
            <a:off x="813816" y="502920"/>
            <a:ext cx="10570464" cy="228600"/>
          </a:xfrm>
          <a:prstGeom prst="rect">
            <a:avLst/>
          </a:prstGeom>
          <a:noFill/>
        </p:spPr>
        <p:txBody>
          <a:bodyPr wrap="square" lIns="0" rIns="0" tIns="0" bIns="0" anchor="t">
            <a:spAutoFit/>
          </a:bodyPr>
          <a:lstStyle/>
          <a:p>
            <a:pPr algn="l">
              <a:lnSpc>
                <a:spcPct val="112000"/>
              </a:lnSpc>
            </a:pPr>
            <a:r>
              <a:rPr sz="1100" b="1" spc="150">
                <a:solidFill>
                  <a:srgbClr val="5EEAD4"/>
                </a:solidFill>
                <a:latin typeface="DM Sans"/>
              </a:rPr>
              <a:t>DATA AND APPROACH · CHECKS</a:t>
            </a:r>
          </a:p>
        </p:txBody>
      </p:sp>
      <p:sp>
        <p:nvSpPr>
          <p:cNvPr id="4" name="TextBox 3"/>
          <p:cNvSpPr txBox="1"/>
          <p:nvPr/>
        </p:nvSpPr>
        <p:spPr>
          <a:xfrm>
            <a:off x="813816" y="777240"/>
            <a:ext cx="10570464" cy="408939"/>
          </a:xfrm>
          <a:prstGeom prst="rect">
            <a:avLst/>
          </a:prstGeom>
          <a:noFill/>
        </p:spPr>
        <p:txBody>
          <a:bodyPr wrap="square" lIns="0" rIns="0" tIns="0" bIns="0" anchor="t">
            <a:spAutoFit/>
          </a:bodyPr>
          <a:lstStyle/>
          <a:p>
            <a:pPr algn="l">
              <a:lnSpc>
                <a:spcPct val="100000"/>
              </a:lnSpc>
            </a:pPr>
            <a:r>
              <a:rPr sz="2800" b="1">
                <a:solidFill>
                  <a:srgbClr val="FFFFFF"/>
                </a:solidFill>
                <a:latin typeface="Space Grotesk"/>
              </a:rPr>
              <a:t>What we removed, and what we kept</a:t>
            </a:r>
          </a:p>
        </p:txBody>
      </p:sp>
      <p:graphicFrame>
        <p:nvGraphicFramePr>
          <p:cNvPr id="5" name="Table 4"/>
          <p:cNvGraphicFramePr>
            <a:graphicFrameLocks noGrp="1"/>
          </p:cNvGraphicFramePr>
          <p:nvPr/>
        </p:nvGraphicFramePr>
        <p:xfrm>
          <a:off x="813816" y="1460500"/>
          <a:ext cx="10570461" cy="4023360"/>
        </p:xfrm>
        <a:graphic>
          <a:graphicData uri="http://schemas.openxmlformats.org/drawingml/2006/table">
            <a:tbl>
              <a:tblPr firstRow="0" bandRow="0"/>
              <a:tblGrid>
                <a:gridCol w="2562536"/>
                <a:gridCol w="1143989"/>
                <a:gridCol w="4758996"/>
                <a:gridCol w="2104940"/>
              </a:tblGrid>
              <a:tr h="365760">
                <a:tc>
                  <a:txBody>
                    <a:bodyPr wrap="square"/>
                    <a:lstStyle/>
                    <a:p>
                      <a:pPr algn="l"/>
                      <a:r>
                        <a:rPr sz="1200" b="1">
                          <a:solidFill>
                            <a:srgbClr val="5EEAD4"/>
                          </a:solidFill>
                          <a:latin typeface="Space Grotesk"/>
                        </a:rPr>
                        <a:t>Check</a:t>
                      </a:r>
                    </a:p>
                  </a:txBody>
                  <a:tcPr marL="91440" marR="91440" marT="36576" marB="36576" anchor="ctr">
                    <a:lnL w="0">
                      <a:noFill/>
                    </a:lnL>
                    <a:lnR w="0">
                      <a:noFill/>
                    </a:lnR>
                    <a:lnT w="0">
                      <a:noFill/>
                    </a:lnT>
                    <a:lnB w="6350">
                      <a:solidFill>
                        <a:srgbClr val="FFFFFF">
                          <a:alpha val="40000"/>
                        </a:srgbClr>
                      </a:solidFill>
                    </a:lnB>
                    <a:noFill/>
                  </a:tcPr>
                </a:tc>
                <a:tc>
                  <a:txBody>
                    <a:bodyPr wrap="square"/>
                    <a:lstStyle/>
                    <a:p>
                      <a:pPr algn="r"/>
                      <a:r>
                        <a:rPr sz="1200" b="1">
                          <a:solidFill>
                            <a:srgbClr val="5EEAD4"/>
                          </a:solidFill>
                          <a:latin typeface="Space Grotesk"/>
                        </a:rPr>
                        <a:t>Rows</a:t>
                      </a:r>
                    </a:p>
                  </a:txBody>
                  <a:tcPr marL="91440" marR="91440" marT="36576" marB="36576" anchor="ctr">
                    <a:lnL w="0">
                      <a:noFill/>
                    </a:lnL>
                    <a:lnR w="0">
                      <a:noFill/>
                    </a:lnR>
                    <a:lnT w="0">
                      <a:noFill/>
                    </a:lnT>
                    <a:lnB w="6350">
                      <a:solidFill>
                        <a:srgbClr val="FFFFFF">
                          <a:alpha val="40000"/>
                        </a:srgbClr>
                      </a:solidFill>
                    </a:lnB>
                    <a:noFill/>
                  </a:tcPr>
                </a:tc>
                <a:tc>
                  <a:txBody>
                    <a:bodyPr wrap="square"/>
                    <a:lstStyle/>
                    <a:p>
                      <a:pPr algn="l"/>
                      <a:r>
                        <a:rPr sz="1200" b="1">
                          <a:solidFill>
                            <a:srgbClr val="5EEAD4"/>
                          </a:solidFill>
                          <a:latin typeface="Space Grotesk"/>
                        </a:rPr>
                        <a:t>What it means</a:t>
                      </a:r>
                    </a:p>
                  </a:txBody>
                  <a:tcPr marL="91440" marR="91440" marT="36576" marB="36576" anchor="ctr">
                    <a:lnL w="0">
                      <a:noFill/>
                    </a:lnL>
                    <a:lnR w="0">
                      <a:noFill/>
                    </a:lnR>
                    <a:lnT w="0">
                      <a:noFill/>
                    </a:lnT>
                    <a:lnB w="6350">
                      <a:solidFill>
                        <a:srgbClr val="FFFFFF">
                          <a:alpha val="40000"/>
                        </a:srgbClr>
                      </a:solidFill>
                    </a:lnB>
                    <a:noFill/>
                  </a:tcPr>
                </a:tc>
                <a:tc>
                  <a:txBody>
                    <a:bodyPr wrap="square"/>
                    <a:lstStyle/>
                    <a:p>
                      <a:pPr algn="l"/>
                      <a:r>
                        <a:rPr sz="1200" b="1">
                          <a:solidFill>
                            <a:srgbClr val="5EEAD4"/>
                          </a:solidFill>
                          <a:latin typeface="Space Grotesk"/>
                        </a:rPr>
                        <a:t>Action</a:t>
                      </a:r>
                    </a:p>
                  </a:txBody>
                  <a:tcPr marL="91440" marR="91440" marT="36576" marB="36576" anchor="ctr">
                    <a:lnL w="0">
                      <a:noFill/>
                    </a:lnL>
                    <a:lnR w="0">
                      <a:noFill/>
                    </a:lnR>
                    <a:lnT w="0">
                      <a:noFill/>
                    </a:lnT>
                    <a:lnB w="6350">
                      <a:solidFill>
                        <a:srgbClr val="FFFFFF">
                          <a:alpha val="40000"/>
                        </a:srgbClr>
                      </a:solidFill>
                    </a:lnB>
                    <a:noFill/>
                  </a:tcPr>
                </a:tc>
              </a:tr>
              <a:tr h="365760">
                <a:tc>
                  <a:txBody>
                    <a:bodyPr wrap="square"/>
                    <a:lstStyle/>
                    <a:p>
                      <a:pPr algn="l"/>
                      <a:r>
                        <a:rPr sz="1200" b="0">
                          <a:solidFill>
                            <a:srgbClr val="FFFFFF"/>
                          </a:solidFill>
                          <a:latin typeface="DM Sans"/>
                        </a:rPr>
                        <a:t>Duplicate rows</a:t>
                      </a:r>
                    </a:p>
                  </a:txBody>
                  <a:tcPr marL="91440" marR="91440" marT="36576" marB="36576" anchor="ctr">
                    <a:lnL w="0">
                      <a:noFill/>
                    </a:lnL>
                    <a:lnR w="0">
                      <a:noFill/>
                    </a:lnR>
                    <a:lnT w="0">
                      <a:noFill/>
                    </a:lnT>
                    <a:lnB w="6350">
                      <a:solidFill>
                        <a:srgbClr val="FFFFFF">
                          <a:alpha val="14000"/>
                        </a:srgbClr>
                      </a:solidFill>
                    </a:lnB>
                    <a:noFill/>
                  </a:tcPr>
                </a:tc>
                <a:tc>
                  <a:txBody>
                    <a:bodyPr wrap="square"/>
                    <a:lstStyle/>
                    <a:p>
                      <a:pPr algn="r"/>
                      <a:r>
                        <a:rPr sz="1200" b="0">
                          <a:solidFill>
                            <a:srgbClr val="5EEAD4"/>
                          </a:solidFill>
                          <a:latin typeface="DM Sans"/>
                        </a:rPr>
                        <a:t>5,733</a:t>
                      </a:r>
                    </a:p>
                  </a:txBody>
                  <a:tcPr marL="91440" marR="91440" marT="36576" marB="36576" anchor="ctr">
                    <a:lnL w="0">
                      <a:noFill/>
                    </a:lnL>
                    <a:lnR w="0">
                      <a:noFill/>
                    </a:lnR>
                    <a:lnT w="0">
                      <a:noFill/>
                    </a:lnT>
                    <a:lnB w="6350">
                      <a:solidFill>
                        <a:srgbClr val="FFFFFF">
                          <a:alpha val="14000"/>
                        </a:srgbClr>
                      </a:solidFill>
                    </a:lnB>
                    <a:noFill/>
                  </a:tcPr>
                </a:tc>
                <a:tc>
                  <a:txBody>
                    <a:bodyPr wrap="square"/>
                    <a:lstStyle/>
                    <a:p>
                      <a:pPr algn="l"/>
                      <a:r>
                        <a:rPr sz="1200" b="0">
                          <a:solidFill>
                            <a:srgbClr val="B8C4D9"/>
                          </a:solidFill>
                          <a:latin typeface="DM Sans"/>
                        </a:rPr>
                        <a:t>Same scale, same time to the millisecond</a:t>
                      </a:r>
                    </a:p>
                  </a:txBody>
                  <a:tcPr marL="91440" marR="91440" marT="36576" marB="36576" anchor="ctr">
                    <a:lnL w="0">
                      <a:noFill/>
                    </a:lnL>
                    <a:lnR w="0">
                      <a:noFill/>
                    </a:lnR>
                    <a:lnT w="0">
                      <a:noFill/>
                    </a:lnT>
                    <a:lnB w="6350">
                      <a:solidFill>
                        <a:srgbClr val="FFFFFF">
                          <a:alpha val="14000"/>
                        </a:srgbClr>
                      </a:solidFill>
                    </a:lnB>
                    <a:noFill/>
                  </a:tcPr>
                </a:tc>
                <a:tc>
                  <a:txBody>
                    <a:bodyPr wrap="square"/>
                    <a:lstStyle/>
                    <a:p>
                      <a:pPr algn="l"/>
                      <a:r>
                        <a:rPr sz="1200" b="0">
                          <a:solidFill>
                            <a:srgbClr val="D7DEFF"/>
                          </a:solidFill>
                          <a:latin typeface="DM Sans"/>
                        </a:rPr>
                        <a:t>deleted</a:t>
                      </a:r>
                    </a:p>
                  </a:txBody>
                  <a:tcPr marL="91440" marR="91440" marT="36576" marB="36576" anchor="ctr">
                    <a:lnL w="0">
                      <a:noFill/>
                    </a:lnL>
                    <a:lnR w="0">
                      <a:noFill/>
                    </a:lnR>
                    <a:lnT w="0">
                      <a:noFill/>
                    </a:lnT>
                    <a:lnB w="6350">
                      <a:solidFill>
                        <a:srgbClr val="FFFFFF">
                          <a:alpha val="14000"/>
                        </a:srgbClr>
                      </a:solidFill>
                    </a:lnB>
                    <a:noFill/>
                  </a:tcPr>
                </a:tc>
              </a:tr>
              <a:tr h="365760">
                <a:tc>
                  <a:txBody>
                    <a:bodyPr wrap="square"/>
                    <a:lstStyle/>
                    <a:p>
                      <a:pPr algn="l"/>
                      <a:r>
                        <a:rPr sz="1200" b="0">
                          <a:solidFill>
                            <a:srgbClr val="FFFFFF"/>
                          </a:solidFill>
                          <a:latin typeface="DM Sans"/>
                        </a:rPr>
                        <a:t>Impossible weights</a:t>
                      </a:r>
                    </a:p>
                  </a:txBody>
                  <a:tcPr marL="91440" marR="91440" marT="36576" marB="36576" anchor="ctr">
                    <a:lnL w="0">
                      <a:noFill/>
                    </a:lnL>
                    <a:lnR w="0">
                      <a:noFill/>
                    </a:lnR>
                    <a:lnT w="0">
                      <a:noFill/>
                    </a:lnT>
                    <a:lnB w="6350">
                      <a:solidFill>
                        <a:srgbClr val="FFFFFF">
                          <a:alpha val="14000"/>
                        </a:srgbClr>
                      </a:solidFill>
                    </a:lnB>
                    <a:noFill/>
                  </a:tcPr>
                </a:tc>
                <a:tc>
                  <a:txBody>
                    <a:bodyPr wrap="square"/>
                    <a:lstStyle/>
                    <a:p>
                      <a:pPr algn="r"/>
                      <a:r>
                        <a:rPr sz="1200" b="0">
                          <a:solidFill>
                            <a:srgbClr val="5EEAD4"/>
                          </a:solidFill>
                          <a:latin typeface="DM Sans"/>
                        </a:rPr>
                        <a:t>5</a:t>
                      </a:r>
                    </a:p>
                  </a:txBody>
                  <a:tcPr marL="91440" marR="91440" marT="36576" marB="36576" anchor="ctr">
                    <a:lnL w="0">
                      <a:noFill/>
                    </a:lnL>
                    <a:lnR w="0">
                      <a:noFill/>
                    </a:lnR>
                    <a:lnT w="0">
                      <a:noFill/>
                    </a:lnT>
                    <a:lnB w="6350">
                      <a:solidFill>
                        <a:srgbClr val="FFFFFF">
                          <a:alpha val="14000"/>
                        </a:srgbClr>
                      </a:solidFill>
                    </a:lnB>
                    <a:noFill/>
                  </a:tcPr>
                </a:tc>
                <a:tc>
                  <a:txBody>
                    <a:bodyPr wrap="square"/>
                    <a:lstStyle/>
                    <a:p>
                      <a:pPr algn="l"/>
                      <a:r>
                        <a:rPr sz="1200" b="0">
                          <a:solidFill>
                            <a:srgbClr val="B8C4D9"/>
                          </a:solidFill>
                          <a:latin typeface="DM Sans"/>
                        </a:rPr>
                        <a:t>144 kg to 50 t on a 20 kg scale</a:t>
                      </a:r>
                    </a:p>
                  </a:txBody>
                  <a:tcPr marL="91440" marR="91440" marT="36576" marB="36576" anchor="ctr">
                    <a:lnL w="0">
                      <a:noFill/>
                    </a:lnL>
                    <a:lnR w="0">
                      <a:noFill/>
                    </a:lnR>
                    <a:lnT w="0">
                      <a:noFill/>
                    </a:lnT>
                    <a:lnB w="6350">
                      <a:solidFill>
                        <a:srgbClr val="FFFFFF">
                          <a:alpha val="14000"/>
                        </a:srgbClr>
                      </a:solidFill>
                    </a:lnB>
                    <a:noFill/>
                  </a:tcPr>
                </a:tc>
                <a:tc>
                  <a:txBody>
                    <a:bodyPr wrap="square"/>
                    <a:lstStyle/>
                    <a:p>
                      <a:pPr algn="l"/>
                      <a:r>
                        <a:rPr sz="1200" b="0">
                          <a:solidFill>
                            <a:srgbClr val="D7DEFF"/>
                          </a:solidFill>
                          <a:latin typeface="DM Sans"/>
                        </a:rPr>
                        <a:t>deleted</a:t>
                      </a:r>
                    </a:p>
                  </a:txBody>
                  <a:tcPr marL="91440" marR="91440" marT="36576" marB="36576" anchor="ctr">
                    <a:lnL w="0">
                      <a:noFill/>
                    </a:lnL>
                    <a:lnR w="0">
                      <a:noFill/>
                    </a:lnR>
                    <a:lnT w="0">
                      <a:noFill/>
                    </a:lnT>
                    <a:lnB w="6350">
                      <a:solidFill>
                        <a:srgbClr val="FFFFFF">
                          <a:alpha val="14000"/>
                        </a:srgbClr>
                      </a:solidFill>
                    </a:lnB>
                    <a:noFill/>
                  </a:tcPr>
                </a:tc>
              </a:tr>
              <a:tr h="365760">
                <a:tc>
                  <a:txBody>
                    <a:bodyPr wrap="square"/>
                    <a:lstStyle/>
                    <a:p>
                      <a:pPr algn="l"/>
                      <a:r>
                        <a:rPr sz="1200" b="0">
                          <a:solidFill>
                            <a:srgbClr val="FFFFFF"/>
                          </a:solidFill>
                          <a:latin typeface="DM Sans"/>
                        </a:rPr>
                        <a:t>Duplicates with two labels</a:t>
                      </a:r>
                    </a:p>
                  </a:txBody>
                  <a:tcPr marL="91440" marR="91440" marT="36576" marB="36576" anchor="ctr">
                    <a:lnL w="0">
                      <a:noFill/>
                    </a:lnL>
                    <a:lnR w="0">
                      <a:noFill/>
                    </a:lnR>
                    <a:lnT w="0">
                      <a:noFill/>
                    </a:lnT>
                    <a:lnB w="6350">
                      <a:solidFill>
                        <a:srgbClr val="FFFFFF">
                          <a:alpha val="14000"/>
                        </a:srgbClr>
                      </a:solidFill>
                    </a:lnB>
                    <a:noFill/>
                  </a:tcPr>
                </a:tc>
                <a:tc>
                  <a:txBody>
                    <a:bodyPr wrap="square"/>
                    <a:lstStyle/>
                    <a:p>
                      <a:pPr algn="r"/>
                      <a:r>
                        <a:rPr sz="1200" b="0">
                          <a:solidFill>
                            <a:srgbClr val="5EEAD4"/>
                          </a:solidFill>
                          <a:latin typeface="DM Sans"/>
                        </a:rPr>
                        <a:t>1,300</a:t>
                      </a:r>
                    </a:p>
                  </a:txBody>
                  <a:tcPr marL="91440" marR="91440" marT="36576" marB="36576" anchor="ctr">
                    <a:lnL w="0">
                      <a:noFill/>
                    </a:lnL>
                    <a:lnR w="0">
                      <a:noFill/>
                    </a:lnR>
                    <a:lnT w="0">
                      <a:noFill/>
                    </a:lnT>
                    <a:lnB w="6350">
                      <a:solidFill>
                        <a:srgbClr val="FFFFFF">
                          <a:alpha val="14000"/>
                        </a:srgbClr>
                      </a:solidFill>
                    </a:lnB>
                    <a:noFill/>
                  </a:tcPr>
                </a:tc>
                <a:tc>
                  <a:txBody>
                    <a:bodyPr wrap="square"/>
                    <a:lstStyle/>
                    <a:p>
                      <a:pPr algn="l"/>
                      <a:r>
                        <a:rPr sz="1200" b="0">
                          <a:solidFill>
                            <a:srgbClr val="B8C4D9"/>
                          </a:solidFill>
                          <a:latin typeface="DM Sans"/>
                        </a:rPr>
                        <a:t>One copy says missed, the other OK</a:t>
                      </a:r>
                    </a:p>
                  </a:txBody>
                  <a:tcPr marL="91440" marR="91440" marT="36576" marB="36576" anchor="ctr">
                    <a:lnL w="0">
                      <a:noFill/>
                    </a:lnL>
                    <a:lnR w="0">
                      <a:noFill/>
                    </a:lnR>
                    <a:lnT w="0">
                      <a:noFill/>
                    </a:lnT>
                    <a:lnB w="6350">
                      <a:solidFill>
                        <a:srgbClr val="FFFFFF">
                          <a:alpha val="14000"/>
                        </a:srgbClr>
                      </a:solidFill>
                    </a:lnB>
                    <a:noFill/>
                  </a:tcPr>
                </a:tc>
                <a:tc>
                  <a:txBody>
                    <a:bodyPr wrap="square"/>
                    <a:lstStyle/>
                    <a:p>
                      <a:pPr algn="l"/>
                      <a:r>
                        <a:rPr sz="1200" b="0">
                          <a:solidFill>
                            <a:srgbClr val="D7DEFF"/>
                          </a:solidFill>
                          <a:latin typeface="DM Sans"/>
                        </a:rPr>
                        <a:t>kept, label not used</a:t>
                      </a:r>
                    </a:p>
                  </a:txBody>
                  <a:tcPr marL="91440" marR="91440" marT="36576" marB="36576" anchor="ctr">
                    <a:lnL w="0">
                      <a:noFill/>
                    </a:lnL>
                    <a:lnR w="0">
                      <a:noFill/>
                    </a:lnR>
                    <a:lnT w="0">
                      <a:noFill/>
                    </a:lnT>
                    <a:lnB w="6350">
                      <a:solidFill>
                        <a:srgbClr val="FFFFFF">
                          <a:alpha val="14000"/>
                        </a:srgbClr>
                      </a:solidFill>
                    </a:lnB>
                    <a:noFill/>
                  </a:tcPr>
                </a:tc>
              </a:tr>
              <a:tr h="365760">
                <a:tc>
                  <a:txBody>
                    <a:bodyPr wrap="square"/>
                    <a:lstStyle/>
                    <a:p>
                      <a:pPr algn="l"/>
                      <a:r>
                        <a:rPr sz="1200" b="0">
                          <a:solidFill>
                            <a:srgbClr val="FFFFFF"/>
                          </a:solidFill>
                          <a:latin typeface="DM Sans"/>
                        </a:rPr>
                        <a:t>Label missing</a:t>
                      </a:r>
                    </a:p>
                  </a:txBody>
                  <a:tcPr marL="91440" marR="91440" marT="36576" marB="36576" anchor="ctr">
                    <a:lnL w="0">
                      <a:noFill/>
                    </a:lnL>
                    <a:lnR w="0">
                      <a:noFill/>
                    </a:lnR>
                    <a:lnT w="0">
                      <a:noFill/>
                    </a:lnT>
                    <a:lnB w="6350">
                      <a:solidFill>
                        <a:srgbClr val="FFFFFF">
                          <a:alpha val="14000"/>
                        </a:srgbClr>
                      </a:solidFill>
                    </a:lnB>
                    <a:noFill/>
                  </a:tcPr>
                </a:tc>
                <a:tc>
                  <a:txBody>
                    <a:bodyPr wrap="square"/>
                    <a:lstStyle/>
                    <a:p>
                      <a:pPr algn="r"/>
                      <a:r>
                        <a:rPr sz="1200" b="0">
                          <a:solidFill>
                            <a:srgbClr val="5EEAD4"/>
                          </a:solidFill>
                          <a:latin typeface="DM Sans"/>
                        </a:rPr>
                        <a:t>9,886</a:t>
                      </a:r>
                    </a:p>
                  </a:txBody>
                  <a:tcPr marL="91440" marR="91440" marT="36576" marB="36576" anchor="ctr">
                    <a:lnL w="0">
                      <a:noFill/>
                    </a:lnL>
                    <a:lnR w="0">
                      <a:noFill/>
                    </a:lnR>
                    <a:lnT w="0">
                      <a:noFill/>
                    </a:lnT>
                    <a:lnB w="6350">
                      <a:solidFill>
                        <a:srgbClr val="FFFFFF">
                          <a:alpha val="14000"/>
                        </a:srgbClr>
                      </a:solidFill>
                    </a:lnB>
                    <a:noFill/>
                  </a:tcPr>
                </a:tc>
                <a:tc>
                  <a:txBody>
                    <a:bodyPr wrap="square"/>
                    <a:lstStyle/>
                    <a:p>
                      <a:pPr algn="l"/>
                      <a:r>
                        <a:rPr sz="1200" b="0">
                          <a:solidFill>
                            <a:srgbClr val="B8C4D9"/>
                          </a:solidFill>
                          <a:latin typeface="DM Sans"/>
                        </a:rPr>
                        <a:t>No OK, empty or missed label</a:t>
                      </a:r>
                    </a:p>
                  </a:txBody>
                  <a:tcPr marL="91440" marR="91440" marT="36576" marB="36576" anchor="ctr">
                    <a:lnL w="0">
                      <a:noFill/>
                    </a:lnL>
                    <a:lnR w="0">
                      <a:noFill/>
                    </a:lnR>
                    <a:lnT w="0">
                      <a:noFill/>
                    </a:lnT>
                    <a:lnB w="6350">
                      <a:solidFill>
                        <a:srgbClr val="FFFFFF">
                          <a:alpha val="14000"/>
                        </a:srgbClr>
                      </a:solidFill>
                    </a:lnB>
                    <a:noFill/>
                  </a:tcPr>
                </a:tc>
                <a:tc>
                  <a:txBody>
                    <a:bodyPr wrap="square"/>
                    <a:lstStyle/>
                    <a:p>
                      <a:pPr algn="l"/>
                      <a:r>
                        <a:rPr sz="1200" b="0">
                          <a:solidFill>
                            <a:srgbClr val="D7DEFF"/>
                          </a:solidFill>
                          <a:latin typeface="DM Sans"/>
                        </a:rPr>
                        <a:t>kept, not in KPIs</a:t>
                      </a:r>
                    </a:p>
                  </a:txBody>
                  <a:tcPr marL="91440" marR="91440" marT="36576" marB="36576" anchor="ctr">
                    <a:lnL w="0">
                      <a:noFill/>
                    </a:lnL>
                    <a:lnR w="0">
                      <a:noFill/>
                    </a:lnR>
                    <a:lnT w="0">
                      <a:noFill/>
                    </a:lnT>
                    <a:lnB w="6350">
                      <a:solidFill>
                        <a:srgbClr val="FFFFFF">
                          <a:alpha val="14000"/>
                        </a:srgbClr>
                      </a:solidFill>
                    </a:lnB>
                    <a:noFill/>
                  </a:tcPr>
                </a:tc>
              </a:tr>
              <a:tr h="365760">
                <a:tc>
                  <a:txBody>
                    <a:bodyPr wrap="square"/>
                    <a:lstStyle/>
                    <a:p>
                      <a:pPr algn="l"/>
                      <a:r>
                        <a:rPr sz="1200" b="0">
                          <a:solidFill>
                            <a:srgbClr val="FFFFFF"/>
                          </a:solidFill>
                          <a:latin typeface="DM Sans"/>
                        </a:rPr>
                        <a:t>Setting missing</a:t>
                      </a:r>
                    </a:p>
                  </a:txBody>
                  <a:tcPr marL="91440" marR="91440" marT="36576" marB="36576" anchor="ctr">
                    <a:lnL w="0">
                      <a:noFill/>
                    </a:lnL>
                    <a:lnR w="0">
                      <a:noFill/>
                    </a:lnR>
                    <a:lnT w="0">
                      <a:noFill/>
                    </a:lnT>
                    <a:lnB w="6350">
                      <a:solidFill>
                        <a:srgbClr val="FFFFFF">
                          <a:alpha val="14000"/>
                        </a:srgbClr>
                      </a:solidFill>
                    </a:lnB>
                    <a:noFill/>
                  </a:tcPr>
                </a:tc>
                <a:tc>
                  <a:txBody>
                    <a:bodyPr wrap="square"/>
                    <a:lstStyle/>
                    <a:p>
                      <a:pPr algn="r"/>
                      <a:r>
                        <a:rPr sz="1200" b="0">
                          <a:solidFill>
                            <a:srgbClr val="5EEAD4"/>
                          </a:solidFill>
                          <a:latin typeface="DM Sans"/>
                        </a:rPr>
                        <a:t>399,956</a:t>
                      </a:r>
                    </a:p>
                  </a:txBody>
                  <a:tcPr marL="91440" marR="91440" marT="36576" marB="36576" anchor="ctr">
                    <a:lnL w="0">
                      <a:noFill/>
                    </a:lnL>
                    <a:lnR w="0">
                      <a:noFill/>
                    </a:lnR>
                    <a:lnT w="0">
                      <a:noFill/>
                    </a:lnT>
                    <a:lnB w="6350">
                      <a:solidFill>
                        <a:srgbClr val="FFFFFF">
                          <a:alpha val="14000"/>
                        </a:srgbClr>
                      </a:solidFill>
                    </a:lnB>
                    <a:noFill/>
                  </a:tcPr>
                </a:tc>
                <a:tc>
                  <a:txBody>
                    <a:bodyPr wrap="square"/>
                    <a:lstStyle/>
                    <a:p>
                      <a:pPr algn="l"/>
                      <a:r>
                        <a:rPr sz="1200" b="0">
                          <a:solidFill>
                            <a:srgbClr val="B8C4D9"/>
                          </a:solidFill>
                          <a:latin typeface="DM Sans"/>
                        </a:rPr>
                        <a:t>The sensor setting is empty</a:t>
                      </a:r>
                    </a:p>
                  </a:txBody>
                  <a:tcPr marL="91440" marR="91440" marT="36576" marB="36576" anchor="ctr">
                    <a:lnL w="0">
                      <a:noFill/>
                    </a:lnL>
                    <a:lnR w="0">
                      <a:noFill/>
                    </a:lnR>
                    <a:lnT w="0">
                      <a:noFill/>
                    </a:lnT>
                    <a:lnB w="6350">
                      <a:solidFill>
                        <a:srgbClr val="FFFFFF">
                          <a:alpha val="14000"/>
                        </a:srgbClr>
                      </a:solidFill>
                    </a:lnB>
                    <a:noFill/>
                  </a:tcPr>
                </a:tc>
                <a:tc>
                  <a:txBody>
                    <a:bodyPr wrap="square"/>
                    <a:lstStyle/>
                    <a:p>
                      <a:pPr algn="l"/>
                      <a:r>
                        <a:rPr sz="1200" b="0">
                          <a:solidFill>
                            <a:srgbClr val="D7DEFF"/>
                          </a:solidFill>
                          <a:latin typeface="DM Sans"/>
                        </a:rPr>
                        <a:t>kept, not in KPIs</a:t>
                      </a:r>
                    </a:p>
                  </a:txBody>
                  <a:tcPr marL="91440" marR="91440" marT="36576" marB="36576" anchor="ctr">
                    <a:lnL w="0">
                      <a:noFill/>
                    </a:lnL>
                    <a:lnR w="0">
                      <a:noFill/>
                    </a:lnR>
                    <a:lnT w="0">
                      <a:noFill/>
                    </a:lnT>
                    <a:lnB w="6350">
                      <a:solidFill>
                        <a:srgbClr val="FFFFFF">
                          <a:alpha val="14000"/>
                        </a:srgbClr>
                      </a:solidFill>
                    </a:lnB>
                    <a:noFill/>
                  </a:tcPr>
                </a:tc>
              </a:tr>
              <a:tr h="365760">
                <a:tc>
                  <a:txBody>
                    <a:bodyPr wrap="square"/>
                    <a:lstStyle/>
                    <a:p>
                      <a:pPr algn="l"/>
                      <a:r>
                        <a:rPr sz="1200" b="0">
                          <a:solidFill>
                            <a:srgbClr val="FFFFFF"/>
                          </a:solidFill>
                          <a:latin typeface="DM Sans"/>
                        </a:rPr>
                        <a:t>Other wait time or delay</a:t>
                      </a:r>
                    </a:p>
                  </a:txBody>
                  <a:tcPr marL="91440" marR="91440" marT="36576" marB="36576" anchor="ctr">
                    <a:lnL w="0">
                      <a:noFill/>
                    </a:lnL>
                    <a:lnR w="0">
                      <a:noFill/>
                    </a:lnR>
                    <a:lnT w="0">
                      <a:noFill/>
                    </a:lnT>
                    <a:lnB w="6350">
                      <a:solidFill>
                        <a:srgbClr val="FFFFFF">
                          <a:alpha val="14000"/>
                        </a:srgbClr>
                      </a:solidFill>
                    </a:lnB>
                    <a:noFill/>
                  </a:tcPr>
                </a:tc>
                <a:tc>
                  <a:txBody>
                    <a:bodyPr wrap="square"/>
                    <a:lstStyle/>
                    <a:p>
                      <a:pPr algn="r"/>
                      <a:r>
                        <a:rPr sz="1200" b="0">
                          <a:solidFill>
                            <a:srgbClr val="5EEAD4"/>
                          </a:solidFill>
                          <a:latin typeface="DM Sans"/>
                        </a:rPr>
                        <a:t>57,400</a:t>
                      </a:r>
                    </a:p>
                  </a:txBody>
                  <a:tcPr marL="91440" marR="91440" marT="36576" marB="36576" anchor="ctr">
                    <a:lnL w="0">
                      <a:noFill/>
                    </a:lnL>
                    <a:lnR w="0">
                      <a:noFill/>
                    </a:lnR>
                    <a:lnT w="0">
                      <a:noFill/>
                    </a:lnT>
                    <a:lnB w="6350">
                      <a:solidFill>
                        <a:srgbClr val="FFFFFF">
                          <a:alpha val="14000"/>
                        </a:srgbClr>
                      </a:solidFill>
                    </a:lnB>
                    <a:noFill/>
                  </a:tcPr>
                </a:tc>
                <a:tc>
                  <a:txBody>
                    <a:bodyPr wrap="square"/>
                    <a:lstStyle/>
                    <a:p>
                      <a:pPr algn="l"/>
                      <a:r>
                        <a:rPr sz="1200" b="0">
                          <a:solidFill>
                            <a:srgbClr val="B8C4D9"/>
                          </a:solidFill>
                          <a:latin typeface="DM Sans"/>
                        </a:rPr>
                        <a:t>Non-standard trigger settings, e.g. a 60 min wait</a:t>
                      </a:r>
                    </a:p>
                  </a:txBody>
                  <a:tcPr marL="91440" marR="91440" marT="36576" marB="36576" anchor="ctr">
                    <a:lnL w="0">
                      <a:noFill/>
                    </a:lnL>
                    <a:lnR w="0">
                      <a:noFill/>
                    </a:lnR>
                    <a:lnT w="0">
                      <a:noFill/>
                    </a:lnT>
                    <a:lnB w="6350">
                      <a:solidFill>
                        <a:srgbClr val="FFFFFF">
                          <a:alpha val="14000"/>
                        </a:srgbClr>
                      </a:solidFill>
                    </a:lnB>
                    <a:noFill/>
                  </a:tcPr>
                </a:tc>
                <a:tc>
                  <a:txBody>
                    <a:bodyPr wrap="square"/>
                    <a:lstStyle/>
                    <a:p>
                      <a:pPr algn="l"/>
                      <a:r>
                        <a:rPr sz="1200" b="0">
                          <a:solidFill>
                            <a:srgbClr val="D7DEFF"/>
                          </a:solidFill>
                          <a:latin typeface="DM Sans"/>
                        </a:rPr>
                        <a:t>kept, not in KPIs</a:t>
                      </a:r>
                    </a:p>
                  </a:txBody>
                  <a:tcPr marL="91440" marR="91440" marT="36576" marB="36576" anchor="ctr">
                    <a:lnL w="0">
                      <a:noFill/>
                    </a:lnL>
                    <a:lnR w="0">
                      <a:noFill/>
                    </a:lnR>
                    <a:lnT w="0">
                      <a:noFill/>
                    </a:lnT>
                    <a:lnB w="6350">
                      <a:solidFill>
                        <a:srgbClr val="FFFFFF">
                          <a:alpha val="14000"/>
                        </a:srgbClr>
                      </a:solidFill>
                    </a:lnB>
                    <a:noFill/>
                  </a:tcPr>
                </a:tc>
              </a:tr>
              <a:tr h="365760">
                <a:tc>
                  <a:txBody>
                    <a:bodyPr wrap="square"/>
                    <a:lstStyle/>
                    <a:p>
                      <a:pPr algn="l"/>
                      <a:r>
                        <a:rPr sz="1200" b="0">
                          <a:solidFill>
                            <a:srgbClr val="FFFFFF"/>
                          </a:solidFill>
                          <a:latin typeface="DM Sans"/>
                        </a:rPr>
                        <a:t>Scale type or site unknown</a:t>
                      </a:r>
                    </a:p>
                  </a:txBody>
                  <a:tcPr marL="91440" marR="91440" marT="36576" marB="36576" anchor="ctr">
                    <a:lnL w="0">
                      <a:noFill/>
                    </a:lnL>
                    <a:lnR w="0">
                      <a:noFill/>
                    </a:lnR>
                    <a:lnT w="0">
                      <a:noFill/>
                    </a:lnT>
                    <a:lnB w="6350">
                      <a:solidFill>
                        <a:srgbClr val="FFFFFF">
                          <a:alpha val="14000"/>
                        </a:srgbClr>
                      </a:solidFill>
                    </a:lnB>
                    <a:noFill/>
                  </a:tcPr>
                </a:tc>
                <a:tc>
                  <a:txBody>
                    <a:bodyPr wrap="square"/>
                    <a:lstStyle/>
                    <a:p>
                      <a:pPr algn="r"/>
                      <a:r>
                        <a:rPr sz="1200" b="0">
                          <a:solidFill>
                            <a:srgbClr val="5EEAD4"/>
                          </a:solidFill>
                          <a:latin typeface="DM Sans"/>
                        </a:rPr>
                        <a:t>212,758</a:t>
                      </a:r>
                    </a:p>
                  </a:txBody>
                  <a:tcPr marL="91440" marR="91440" marT="36576" marB="36576" anchor="ctr">
                    <a:lnL w="0">
                      <a:noFill/>
                    </a:lnL>
                    <a:lnR w="0">
                      <a:noFill/>
                    </a:lnR>
                    <a:lnT w="0">
                      <a:noFill/>
                    </a:lnT>
                    <a:lnB w="6350">
                      <a:solidFill>
                        <a:srgbClr val="FFFFFF">
                          <a:alpha val="14000"/>
                        </a:srgbClr>
                      </a:solidFill>
                    </a:lnB>
                    <a:noFill/>
                  </a:tcPr>
                </a:tc>
                <a:tc>
                  <a:txBody>
                    <a:bodyPr wrap="square"/>
                    <a:lstStyle/>
                    <a:p>
                      <a:pPr algn="l"/>
                      <a:r>
                        <a:rPr sz="1200" b="0">
                          <a:solidFill>
                            <a:srgbClr val="B8C4D9"/>
                          </a:solidFill>
                          <a:latin typeface="DM Sans"/>
                        </a:rPr>
                        <a:t>Not in the scale list, cannot tell 6 kg from 20 kg</a:t>
                      </a:r>
                    </a:p>
                  </a:txBody>
                  <a:tcPr marL="91440" marR="91440" marT="36576" marB="36576" anchor="ctr">
                    <a:lnL w="0">
                      <a:noFill/>
                    </a:lnL>
                    <a:lnR w="0">
                      <a:noFill/>
                    </a:lnR>
                    <a:lnT w="0">
                      <a:noFill/>
                    </a:lnT>
                    <a:lnB w="6350">
                      <a:solidFill>
                        <a:srgbClr val="FFFFFF">
                          <a:alpha val="14000"/>
                        </a:srgbClr>
                      </a:solidFill>
                    </a:lnB>
                    <a:noFill/>
                  </a:tcPr>
                </a:tc>
                <a:tc>
                  <a:txBody>
                    <a:bodyPr wrap="square"/>
                    <a:lstStyle/>
                    <a:p>
                      <a:pPr algn="l"/>
                      <a:r>
                        <a:rPr sz="1200" b="0">
                          <a:solidFill>
                            <a:srgbClr val="D7DEFF"/>
                          </a:solidFill>
                          <a:latin typeface="DM Sans"/>
                        </a:rPr>
                        <a:t>kept, not in KPIs</a:t>
                      </a:r>
                    </a:p>
                  </a:txBody>
                  <a:tcPr marL="91440" marR="91440" marT="36576" marB="36576" anchor="ctr">
                    <a:lnL w="0">
                      <a:noFill/>
                    </a:lnL>
                    <a:lnR w="0">
                      <a:noFill/>
                    </a:lnR>
                    <a:lnT w="0">
                      <a:noFill/>
                    </a:lnT>
                    <a:lnB w="6350">
                      <a:solidFill>
                        <a:srgbClr val="FFFFFF">
                          <a:alpha val="14000"/>
                        </a:srgbClr>
                      </a:solidFill>
                    </a:lnB>
                    <a:noFill/>
                  </a:tcPr>
                </a:tc>
              </a:tr>
              <a:tr h="365760">
                <a:tc>
                  <a:txBody>
                    <a:bodyPr wrap="square"/>
                    <a:lstStyle/>
                    <a:p>
                      <a:pPr algn="l"/>
                      <a:r>
                        <a:rPr sz="1200" b="0">
                          <a:solidFill>
                            <a:srgbClr val="FFFFFF"/>
                          </a:solidFill>
                          <a:latin typeface="DM Sans"/>
                        </a:rPr>
                        <a:t>Too short periods</a:t>
                      </a:r>
                    </a:p>
                  </a:txBody>
                  <a:tcPr marL="91440" marR="91440" marT="36576" marB="36576" anchor="ctr">
                    <a:lnL w="0">
                      <a:noFill/>
                    </a:lnL>
                    <a:lnR w="0">
                      <a:noFill/>
                    </a:lnR>
                    <a:lnT w="0">
                      <a:noFill/>
                    </a:lnT>
                    <a:lnB w="6350">
                      <a:solidFill>
                        <a:srgbClr val="FFFFFF">
                          <a:alpha val="14000"/>
                        </a:srgbClr>
                      </a:solidFill>
                    </a:lnB>
                    <a:noFill/>
                  </a:tcPr>
                </a:tc>
                <a:tc>
                  <a:txBody>
                    <a:bodyPr wrap="square"/>
                    <a:lstStyle/>
                    <a:p>
                      <a:pPr algn="r"/>
                      <a:r>
                        <a:rPr sz="1200" b="0">
                          <a:solidFill>
                            <a:srgbClr val="5EEAD4"/>
                          </a:solidFill>
                          <a:latin typeface="DM Sans"/>
                        </a:rPr>
                        <a:t>325,938</a:t>
                      </a:r>
                    </a:p>
                  </a:txBody>
                  <a:tcPr marL="91440" marR="91440" marT="36576" marB="36576" anchor="ctr">
                    <a:lnL w="0">
                      <a:noFill/>
                    </a:lnL>
                    <a:lnR w="0">
                      <a:noFill/>
                    </a:lnR>
                    <a:lnT w="0">
                      <a:noFill/>
                    </a:lnT>
                    <a:lnB w="6350">
                      <a:solidFill>
                        <a:srgbClr val="FFFFFF">
                          <a:alpha val="14000"/>
                        </a:srgbClr>
                      </a:solidFill>
                    </a:lnB>
                    <a:noFill/>
                  </a:tcPr>
                </a:tc>
                <a:tc>
                  <a:txBody>
                    <a:bodyPr wrap="square"/>
                    <a:lstStyle/>
                    <a:p>
                      <a:pPr algn="l"/>
                      <a:r>
                        <a:rPr sz="1200" b="0">
                          <a:solidFill>
                            <a:srgbClr val="B8C4D9"/>
                          </a:solidFill>
                          <a:latin typeface="DM Sans"/>
                        </a:rPr>
                        <a:t>Under 5 days or 20 weighings on one setting (D ONE rule)</a:t>
                      </a:r>
                    </a:p>
                  </a:txBody>
                  <a:tcPr marL="91440" marR="91440" marT="36576" marB="36576" anchor="ctr">
                    <a:lnL w="0">
                      <a:noFill/>
                    </a:lnL>
                    <a:lnR w="0">
                      <a:noFill/>
                    </a:lnR>
                    <a:lnT w="0">
                      <a:noFill/>
                    </a:lnT>
                    <a:lnB w="6350">
                      <a:solidFill>
                        <a:srgbClr val="FFFFFF">
                          <a:alpha val="14000"/>
                        </a:srgbClr>
                      </a:solidFill>
                    </a:lnB>
                    <a:noFill/>
                  </a:tcPr>
                </a:tc>
                <a:tc>
                  <a:txBody>
                    <a:bodyPr wrap="square"/>
                    <a:lstStyle/>
                    <a:p>
                      <a:pPr algn="l"/>
                      <a:r>
                        <a:rPr sz="1200" b="0">
                          <a:solidFill>
                            <a:srgbClr val="D7DEFF"/>
                          </a:solidFill>
                          <a:latin typeface="DM Sans"/>
                        </a:rPr>
                        <a:t>kept, not in KPIs</a:t>
                      </a:r>
                    </a:p>
                  </a:txBody>
                  <a:tcPr marL="91440" marR="91440" marT="36576" marB="36576" anchor="ctr">
                    <a:lnL w="0">
                      <a:noFill/>
                    </a:lnL>
                    <a:lnR w="0">
                      <a:noFill/>
                    </a:lnR>
                    <a:lnT w="0">
                      <a:noFill/>
                    </a:lnT>
                    <a:lnB w="6350">
                      <a:solidFill>
                        <a:srgbClr val="FFFFFF">
                          <a:alpha val="14000"/>
                        </a:srgbClr>
                      </a:solidFill>
                    </a:lnB>
                    <a:noFill/>
                  </a:tcPr>
                </a:tc>
              </a:tr>
              <a:tr h="365760">
                <a:tc>
                  <a:txBody>
                    <a:bodyPr wrap="square"/>
                    <a:lstStyle/>
                    <a:p>
                      <a:pPr algn="l"/>
                      <a:r>
                        <a:rPr sz="1200" b="0">
                          <a:solidFill>
                            <a:srgbClr val="FFFFFF"/>
                          </a:solidFill>
                          <a:latin typeface="DM Sans"/>
                        </a:rPr>
                        <a:t>Setting 3</a:t>
                      </a:r>
                    </a:p>
                  </a:txBody>
                  <a:tcPr marL="91440" marR="91440" marT="36576" marB="36576" anchor="ctr">
                    <a:lnL w="0">
                      <a:noFill/>
                    </a:lnL>
                    <a:lnR w="0">
                      <a:noFill/>
                    </a:lnR>
                    <a:lnT w="0">
                      <a:noFill/>
                    </a:lnT>
                    <a:lnB w="6350">
                      <a:solidFill>
                        <a:srgbClr val="FFFFFF">
                          <a:alpha val="14000"/>
                        </a:srgbClr>
                      </a:solidFill>
                    </a:lnB>
                    <a:noFill/>
                  </a:tcPr>
                </a:tc>
                <a:tc>
                  <a:txBody>
                    <a:bodyPr wrap="square"/>
                    <a:lstStyle/>
                    <a:p>
                      <a:pPr algn="r"/>
                      <a:r>
                        <a:rPr sz="1200" b="0">
                          <a:solidFill>
                            <a:srgbClr val="5EEAD4"/>
                          </a:solidFill>
                          <a:latin typeface="DM Sans"/>
                        </a:rPr>
                        <a:t>1,327,327</a:t>
                      </a:r>
                    </a:p>
                  </a:txBody>
                  <a:tcPr marL="91440" marR="91440" marT="36576" marB="36576" anchor="ctr">
                    <a:lnL w="0">
                      <a:noFill/>
                    </a:lnL>
                    <a:lnR w="0">
                      <a:noFill/>
                    </a:lnR>
                    <a:lnT w="0">
                      <a:noFill/>
                    </a:lnT>
                    <a:lnB w="6350">
                      <a:solidFill>
                        <a:srgbClr val="FFFFFF">
                          <a:alpha val="14000"/>
                        </a:srgbClr>
                      </a:solidFill>
                    </a:lnB>
                    <a:noFill/>
                  </a:tcPr>
                </a:tc>
                <a:tc>
                  <a:txBody>
                    <a:bodyPr wrap="square"/>
                    <a:lstStyle/>
                    <a:p>
                      <a:pPr algn="l"/>
                      <a:r>
                        <a:rPr sz="1200" b="0">
                          <a:solidFill>
                            <a:srgbClr val="B8C4D9"/>
                          </a:solidFill>
                          <a:latin typeface="DM Sans"/>
                        </a:rPr>
                        <a:t>Four-week trial in April, studied apart</a:t>
                      </a:r>
                    </a:p>
                  </a:txBody>
                  <a:tcPr marL="91440" marR="91440" marT="36576" marB="36576" anchor="ctr">
                    <a:lnL w="0">
                      <a:noFill/>
                    </a:lnL>
                    <a:lnR w="0">
                      <a:noFill/>
                    </a:lnR>
                    <a:lnT w="0">
                      <a:noFill/>
                    </a:lnT>
                    <a:lnB w="6350">
                      <a:solidFill>
                        <a:srgbClr val="FFFFFF">
                          <a:alpha val="14000"/>
                        </a:srgbClr>
                      </a:solidFill>
                    </a:lnB>
                    <a:noFill/>
                  </a:tcPr>
                </a:tc>
                <a:tc>
                  <a:txBody>
                    <a:bodyPr wrap="square"/>
                    <a:lstStyle/>
                    <a:p>
                      <a:pPr algn="l"/>
                      <a:r>
                        <a:rPr sz="1200" b="0">
                          <a:solidFill>
                            <a:srgbClr val="D7DEFF"/>
                          </a:solidFill>
                          <a:latin typeface="DM Sans"/>
                        </a:rPr>
                        <a:t>studied apart</a:t>
                      </a:r>
                    </a:p>
                  </a:txBody>
                  <a:tcPr marL="91440" marR="91440" marT="36576" marB="36576" anchor="ctr">
                    <a:lnL w="0">
                      <a:noFill/>
                    </a:lnL>
                    <a:lnR w="0">
                      <a:noFill/>
                    </a:lnR>
                    <a:lnT w="0">
                      <a:noFill/>
                    </a:lnT>
                    <a:lnB w="6350">
                      <a:solidFill>
                        <a:srgbClr val="FFFFFF">
                          <a:alpha val="14000"/>
                        </a:srgbClr>
                      </a:solidFill>
                    </a:lnB>
                    <a:noFill/>
                  </a:tcPr>
                </a:tc>
              </a:tr>
              <a:tr h="365760">
                <a:tc>
                  <a:txBody>
                    <a:bodyPr wrap="square"/>
                    <a:lstStyle/>
                    <a:p>
                      <a:pPr algn="l"/>
                      <a:r>
                        <a:rPr sz="1200" b="0">
                          <a:solidFill>
                            <a:srgbClr val="FFFFFF"/>
                          </a:solidFill>
                          <a:latin typeface="DM Sans"/>
                        </a:rPr>
                        <a:t>Rare settings</a:t>
                      </a:r>
                    </a:p>
                  </a:txBody>
                  <a:tcPr marL="91440" marR="91440" marT="36576" marB="36576" anchor="ctr">
                    <a:lnL w="0">
                      <a:noFill/>
                    </a:lnL>
                    <a:lnR w="0">
                      <a:noFill/>
                    </a:lnR>
                    <a:lnT w="0">
                      <a:noFill/>
                    </a:lnT>
                    <a:lnB w="6350">
                      <a:solidFill>
                        <a:srgbClr val="FFFFFF">
                          <a:alpha val="14000"/>
                        </a:srgbClr>
                      </a:solidFill>
                    </a:lnB>
                    <a:noFill/>
                  </a:tcPr>
                </a:tc>
                <a:tc>
                  <a:txBody>
                    <a:bodyPr wrap="square"/>
                    <a:lstStyle/>
                    <a:p>
                      <a:pPr algn="r"/>
                      <a:r>
                        <a:rPr sz="1200" b="0">
                          <a:solidFill>
                            <a:srgbClr val="5EEAD4"/>
                          </a:solidFill>
                          <a:latin typeface="DM Sans"/>
                        </a:rPr>
                        <a:t>287</a:t>
                      </a:r>
                    </a:p>
                  </a:txBody>
                  <a:tcPr marL="91440" marR="91440" marT="36576" marB="36576" anchor="ctr">
                    <a:lnL w="0">
                      <a:noFill/>
                    </a:lnL>
                    <a:lnR w="0">
                      <a:noFill/>
                    </a:lnR>
                    <a:lnT w="0">
                      <a:noFill/>
                    </a:lnT>
                    <a:lnB w="6350">
                      <a:solidFill>
                        <a:srgbClr val="FFFFFF">
                          <a:alpha val="14000"/>
                        </a:srgbClr>
                      </a:solidFill>
                    </a:lnB>
                    <a:noFill/>
                  </a:tcPr>
                </a:tc>
                <a:tc>
                  <a:txBody>
                    <a:bodyPr wrap="square"/>
                    <a:lstStyle/>
                    <a:p>
                      <a:pPr algn="l"/>
                      <a:r>
                        <a:rPr sz="1200" b="0">
                          <a:solidFill>
                            <a:srgbClr val="B8C4D9"/>
                          </a:solidFill>
                          <a:latin typeface="DM Sans"/>
                        </a:rPr>
                        <a:t>Used by fewer than 30 scales of a type</a:t>
                      </a:r>
                    </a:p>
                  </a:txBody>
                  <a:tcPr marL="91440" marR="91440" marT="36576" marB="36576" anchor="ctr">
                    <a:lnL w="0">
                      <a:noFill/>
                    </a:lnL>
                    <a:lnR w="0">
                      <a:noFill/>
                    </a:lnR>
                    <a:lnT w="0">
                      <a:noFill/>
                    </a:lnT>
                    <a:lnB w="6350">
                      <a:solidFill>
                        <a:srgbClr val="FFFFFF">
                          <a:alpha val="14000"/>
                        </a:srgbClr>
                      </a:solidFill>
                    </a:lnB>
                    <a:noFill/>
                  </a:tcPr>
                </a:tc>
                <a:tc>
                  <a:txBody>
                    <a:bodyPr wrap="square"/>
                    <a:lstStyle/>
                    <a:p>
                      <a:pPr algn="l"/>
                      <a:r>
                        <a:rPr sz="1200" b="0">
                          <a:solidFill>
                            <a:srgbClr val="D7DEFF"/>
                          </a:solidFill>
                          <a:latin typeface="DM Sans"/>
                        </a:rPr>
                        <a:t>kept, not in KPIs</a:t>
                      </a:r>
                    </a:p>
                  </a:txBody>
                  <a:tcPr marL="91440" marR="91440" marT="36576" marB="36576" anchor="ctr">
                    <a:lnL w="0">
                      <a:noFill/>
                    </a:lnL>
                    <a:lnR w="0">
                      <a:noFill/>
                    </a:lnR>
                    <a:lnT w="0">
                      <a:noFill/>
                    </a:lnT>
                    <a:lnB w="6350">
                      <a:solidFill>
                        <a:srgbClr val="FFFFFF">
                          <a:alpha val="14000"/>
                        </a:srgbClr>
                      </a:solidFill>
                    </a:lnB>
                    <a:noFill/>
                  </a:tcPr>
                </a:tc>
              </a:tr>
            </a:tbl>
          </a:graphicData>
        </a:graphic>
      </p:graphicFrame>
      <p:sp>
        <p:nvSpPr>
          <p:cNvPr id="6" name="Rounded Rectangle 5"/>
          <p:cNvSpPr/>
          <p:nvPr/>
        </p:nvSpPr>
        <p:spPr>
          <a:xfrm>
            <a:off x="813816" y="5440680"/>
            <a:ext cx="10570464" cy="685800"/>
          </a:xfrm>
          <a:prstGeom prst="roundRect">
            <a:avLst>
              <a:gd name="adj" fmla="val 16000"/>
            </a:avLst>
          </a:prstGeom>
          <a:solidFill>
            <a:srgbClr val="5EEAD4">
              <a:alpha val="13000"/>
            </a:srgbClr>
          </a:solidFill>
          <a:ln w="6350">
            <a:solidFill>
              <a:srgbClr val="5EEAD4">
                <a:alpha val="50000"/>
              </a:srgbClr>
            </a:solidFill>
          </a:ln>
        </p:spPr>
        <p:txBody>
          <a:bodyPr rtlCol="0" anchor="ctr"/>
          <a:lstStyle/>
          <a:p>
            <a:pPr algn="ctr"/>
          </a:p>
        </p:txBody>
      </p:sp>
      <p:sp>
        <p:nvSpPr>
          <p:cNvPr id="7" name="TextBox 6"/>
          <p:cNvSpPr txBox="1"/>
          <p:nvPr/>
        </p:nvSpPr>
        <p:spPr>
          <a:xfrm>
            <a:off x="1042416" y="5440680"/>
            <a:ext cx="10113264" cy="685800"/>
          </a:xfrm>
          <a:prstGeom prst="rect">
            <a:avLst/>
          </a:prstGeom>
          <a:noFill/>
        </p:spPr>
        <p:txBody>
          <a:bodyPr wrap="square" lIns="0" rIns="0" tIns="0" bIns="0" anchor="ctr">
            <a:spAutoFit/>
          </a:bodyPr>
          <a:lstStyle/>
          <a:p>
            <a:pPr algn="l">
              <a:lnSpc>
                <a:spcPct val="112000"/>
              </a:lnSpc>
            </a:pPr>
            <a:r>
              <a:rPr sz="1300" b="1">
                <a:solidFill>
                  <a:srgbClr val="FFFFFF"/>
                </a:solidFill>
                <a:latin typeface="DM Sans"/>
              </a:rPr>
              <a:t>5.26 M of 7.60 M rows (69%) are used for the KPIs.</a:t>
            </a:r>
            <a:r>
              <a:rPr sz="1300" b="0">
                <a:solidFill>
                  <a:srgbClr val="D7DEFF"/>
                </a:solidFill>
                <a:latin typeface="DM Sans"/>
              </a:rPr>
              <a:t> Only 5,738 rows were deleted. The rest stay in the data, because the next weighing needs them to compute its weight change.</a:t>
            </a:r>
          </a:p>
        </p:txBody>
      </p:sp>
      <p:sp>
        <p:nvSpPr>
          <p:cNvPr id="8" name="TextBox 7"/>
          <p:cNvSpPr txBox="1"/>
          <p:nvPr/>
        </p:nvSpPr>
        <p:spPr>
          <a:xfrm>
            <a:off x="813816" y="6419088"/>
            <a:ext cx="9875520" cy="228600"/>
          </a:xfrm>
          <a:prstGeom prst="rect">
            <a:avLst/>
          </a:prstGeom>
          <a:noFill/>
        </p:spPr>
        <p:txBody>
          <a:bodyPr wrap="square" lIns="0" rIns="0" tIns="0" bIns="0" anchor="t">
            <a:spAutoFit/>
          </a:bodyPr>
          <a:lstStyle/>
          <a:p>
            <a:pPr algn="l">
              <a:lnSpc>
                <a:spcPct val="100000"/>
              </a:lnSpc>
            </a:pPr>
            <a:r>
              <a:rPr sz="900" b="0">
                <a:solidFill>
                  <a:srgbClr val="8D99B0"/>
                </a:solidFill>
                <a:latin typeface="DM Sans"/>
              </a:rPr>
              <a:t>Source: own analysis of the Bossard SmartBin data, 1 Mar to 20 Jun 2022 · Report §3, Appendix A</a:t>
            </a:r>
          </a:p>
        </p:txBody>
      </p:sp>
      <p:sp>
        <p:nvSpPr>
          <p:cNvPr id="9" name="TextBox 8"/>
          <p:cNvSpPr txBox="1"/>
          <p:nvPr/>
        </p:nvSpPr>
        <p:spPr>
          <a:xfrm>
            <a:off x="10927080" y="6419088"/>
            <a:ext cx="457200" cy="228600"/>
          </a:xfrm>
          <a:prstGeom prst="rect">
            <a:avLst/>
          </a:prstGeom>
          <a:noFill/>
        </p:spPr>
        <p:txBody>
          <a:bodyPr wrap="square" lIns="0" rIns="0" tIns="0" bIns="0" anchor="t">
            <a:spAutoFit/>
          </a:bodyPr>
          <a:lstStyle/>
          <a:p>
            <a:pPr algn="r">
              <a:lnSpc>
                <a:spcPct val="112000"/>
              </a:lnSpc>
            </a:pPr>
            <a:r>
              <a:rPr sz="900" b="0">
                <a:solidFill>
                  <a:srgbClr val="8D99B0"/>
                </a:solidFill>
                <a:latin typeface="DM Sans"/>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E1628"/>
        </a:solidFill>
        <a:effectLst/>
      </p:bgPr>
    </p:bg>
    <p:spTree>
      <p:nvGrpSpPr>
        <p:cNvPr id="1" name=""/>
        <p:cNvGrpSpPr/>
        <p:nvPr/>
      </p:nvGrpSpPr>
      <p:grpSpPr/>
      <p:sp>
        <p:nvSpPr>
          <p:cNvPr id="2" name="Rectangle 1"/>
          <p:cNvSpPr/>
          <p:nvPr/>
        </p:nvSpPr>
        <p:spPr>
          <a:xfrm>
            <a:off x="6986016" y="0"/>
            <a:ext cx="5202936" cy="4059936"/>
          </a:xfrm>
          <a:prstGeom prst="rect">
            <a:avLst/>
          </a:prstGeom>
          <a:gradFill rotWithShape="1">
            <a:gsLst>
              <a:gs pos="0">
                <a:srgbClr val="8EA2FF">
                  <a:alpha val="18000"/>
                </a:srgbClr>
              </a:gs>
              <a:gs pos="65000">
                <a:srgbClr val="8EA2FF">
                  <a:alpha val="0"/>
                </a:srgbClr>
              </a:gs>
            </a:gsLst>
            <a:path path="circle">
              <a:fillToRect l="70000" t="25000" r="30000" b="75000"/>
            </a:path>
          </a:gradFill>
          <a:ln>
            <a:noFill/>
          </a:ln>
        </p:spPr>
        <p:txBody>
          <a:bodyPr rtlCol="0" anchor="ctr"/>
          <a:lstStyle/>
          <a:p>
            <a:pPr algn="ctr"/>
          </a:p>
        </p:txBody>
      </p:sp>
      <p:sp>
        <p:nvSpPr>
          <p:cNvPr id="3" name="TextBox 2"/>
          <p:cNvSpPr txBox="1"/>
          <p:nvPr/>
        </p:nvSpPr>
        <p:spPr>
          <a:xfrm>
            <a:off x="813816" y="502920"/>
            <a:ext cx="10570464" cy="228600"/>
          </a:xfrm>
          <a:prstGeom prst="rect">
            <a:avLst/>
          </a:prstGeom>
          <a:noFill/>
        </p:spPr>
        <p:txBody>
          <a:bodyPr wrap="square" lIns="0" rIns="0" tIns="0" bIns="0" anchor="t">
            <a:spAutoFit/>
          </a:bodyPr>
          <a:lstStyle/>
          <a:p>
            <a:pPr algn="l">
              <a:lnSpc>
                <a:spcPct val="112000"/>
              </a:lnSpc>
            </a:pPr>
            <a:r>
              <a:rPr sz="1100" b="1" spc="150">
                <a:solidFill>
                  <a:srgbClr val="5EEAD4"/>
                </a:solidFill>
                <a:latin typeface="DM Sans"/>
              </a:rPr>
              <a:t>FINDING 1 · THE KPI</a:t>
            </a:r>
          </a:p>
        </p:txBody>
      </p:sp>
      <p:sp>
        <p:nvSpPr>
          <p:cNvPr id="4" name="TextBox 3"/>
          <p:cNvSpPr txBox="1"/>
          <p:nvPr/>
        </p:nvSpPr>
        <p:spPr>
          <a:xfrm>
            <a:off x="813816" y="777240"/>
            <a:ext cx="10570464" cy="408939"/>
          </a:xfrm>
          <a:prstGeom prst="rect">
            <a:avLst/>
          </a:prstGeom>
          <a:noFill/>
        </p:spPr>
        <p:txBody>
          <a:bodyPr wrap="square" lIns="0" rIns="0" tIns="0" bIns="0" anchor="t">
            <a:spAutoFit/>
          </a:bodyPr>
          <a:lstStyle/>
          <a:p>
            <a:pPr algn="l">
              <a:lnSpc>
                <a:spcPct val="100000"/>
              </a:lnSpc>
            </a:pPr>
            <a:r>
              <a:rPr sz="2800" b="1">
                <a:solidFill>
                  <a:srgbClr val="FFFFFF"/>
                </a:solidFill>
                <a:latin typeface="Space Grotesk"/>
              </a:rPr>
              <a:t>The current KPI looks best when the sensor barely reacts</a:t>
            </a:r>
          </a:p>
        </p:txBody>
      </p:sp>
      <p:pic>
        <p:nvPicPr>
          <p:cNvPr id="5" name="Picture 4" descr="k03_kpi_compare.png"/>
          <p:cNvPicPr>
            <a:picLocks noChangeAspect="1"/>
          </p:cNvPicPr>
          <p:nvPr/>
        </p:nvPicPr>
        <p:blipFill>
          <a:blip r:embed="rId2"/>
          <a:stretch>
            <a:fillRect/>
          </a:stretch>
        </p:blipFill>
        <p:spPr>
          <a:xfrm>
            <a:off x="676656" y="1460500"/>
            <a:ext cx="7040880" cy="3383280"/>
          </a:xfrm>
          <a:prstGeom prst="rect">
            <a:avLst/>
          </a:prstGeom>
        </p:spPr>
      </p:pic>
      <p:sp>
        <p:nvSpPr>
          <p:cNvPr id="6" name="TextBox 5"/>
          <p:cNvSpPr txBox="1"/>
          <p:nvPr/>
        </p:nvSpPr>
        <p:spPr>
          <a:xfrm>
            <a:off x="813816" y="4935220"/>
            <a:ext cx="6766560" cy="548640"/>
          </a:xfrm>
          <a:prstGeom prst="rect">
            <a:avLst/>
          </a:prstGeom>
          <a:noFill/>
        </p:spPr>
        <p:txBody>
          <a:bodyPr wrap="square" lIns="0" rIns="0" tIns="0" bIns="0" anchor="t">
            <a:spAutoFit/>
          </a:bodyPr>
          <a:lstStyle/>
          <a:p>
            <a:pPr algn="l">
              <a:lnSpc>
                <a:spcPct val="112000"/>
              </a:lnSpc>
            </a:pPr>
            <a:r>
              <a:rPr sz="1300" b="0">
                <a:solidFill>
                  <a:srgbClr val="B8C4D9"/>
                </a:solidFill>
                <a:latin typeface="DM Sans"/>
              </a:rPr>
              <a:t>A typical 20 kg scale. On setting 1 the empty wake-ups almost disappear, but the KPI stays far above its target, because the real picks disappear too.</a:t>
            </a:r>
          </a:p>
        </p:txBody>
      </p:sp>
      <p:sp>
        <p:nvSpPr>
          <p:cNvPr id="7" name="Rounded Rectangle 6"/>
          <p:cNvSpPr/>
          <p:nvPr/>
        </p:nvSpPr>
        <p:spPr>
          <a:xfrm>
            <a:off x="8092440" y="1460500"/>
            <a:ext cx="3291840" cy="4069080"/>
          </a:xfrm>
          <a:prstGeom prst="roundRect">
            <a:avLst>
              <a:gd name="adj" fmla="val 3333"/>
            </a:avLst>
          </a:prstGeom>
          <a:solidFill>
            <a:srgbClr val="5EEAD4">
              <a:alpha val="8000"/>
            </a:srgbClr>
          </a:solidFill>
          <a:ln w="6350">
            <a:solidFill>
              <a:srgbClr val="5EEAD4">
                <a:alpha val="50000"/>
              </a:srgbClr>
            </a:solidFill>
          </a:ln>
        </p:spPr>
        <p:txBody>
          <a:bodyPr rtlCol="0" anchor="ctr"/>
          <a:lstStyle/>
          <a:p>
            <a:pPr algn="ctr"/>
          </a:p>
        </p:txBody>
      </p:sp>
      <p:sp>
        <p:nvSpPr>
          <p:cNvPr id="8" name="TextBox 7"/>
          <p:cNvSpPr txBox="1"/>
          <p:nvPr/>
        </p:nvSpPr>
        <p:spPr>
          <a:xfrm>
            <a:off x="8321040" y="1643379"/>
            <a:ext cx="2926080" cy="274320"/>
          </a:xfrm>
          <a:prstGeom prst="rect">
            <a:avLst/>
          </a:prstGeom>
          <a:noFill/>
        </p:spPr>
        <p:txBody>
          <a:bodyPr wrap="square" lIns="0" rIns="0" tIns="0" bIns="0" anchor="t">
            <a:spAutoFit/>
          </a:bodyPr>
          <a:lstStyle/>
          <a:p>
            <a:pPr algn="l">
              <a:lnSpc>
                <a:spcPct val="112000"/>
              </a:lnSpc>
            </a:pPr>
            <a:r>
              <a:rPr sz="1050" b="1" spc="100">
                <a:solidFill>
                  <a:srgbClr val="5EEAD4"/>
                </a:solidFill>
                <a:latin typeface="DM Sans"/>
              </a:rPr>
              <a:t>WE SUGGEST: KPI 2.0</a:t>
            </a:r>
          </a:p>
        </p:txBody>
      </p:sp>
      <p:sp>
        <p:nvSpPr>
          <p:cNvPr id="9" name="TextBox 8"/>
          <p:cNvSpPr txBox="1"/>
          <p:nvPr/>
        </p:nvSpPr>
        <p:spPr>
          <a:xfrm>
            <a:off x="8321040" y="1945132"/>
            <a:ext cx="2926080" cy="457200"/>
          </a:xfrm>
          <a:prstGeom prst="rect">
            <a:avLst/>
          </a:prstGeom>
          <a:noFill/>
        </p:spPr>
        <p:txBody>
          <a:bodyPr wrap="square" lIns="0" rIns="0" tIns="0" bIns="0" anchor="t">
            <a:spAutoFit/>
          </a:bodyPr>
          <a:lstStyle/>
          <a:p>
            <a:pPr algn="l">
              <a:lnSpc>
                <a:spcPct val="105000"/>
              </a:lnSpc>
            </a:pPr>
            <a:r>
              <a:rPr sz="1600" b="1">
                <a:solidFill>
                  <a:srgbClr val="FFFFFF"/>
                </a:solidFill>
                <a:latin typeface="Space Grotesk"/>
              </a:rPr>
              <a:t>Count what really costs money</a:t>
            </a:r>
          </a:p>
        </p:txBody>
      </p:sp>
      <p:sp>
        <p:nvSpPr>
          <p:cNvPr id="10" name="TextBox 9"/>
          <p:cNvSpPr txBox="1"/>
          <p:nvPr/>
        </p:nvSpPr>
        <p:spPr>
          <a:xfrm>
            <a:off x="8321040" y="2694939"/>
            <a:ext cx="1097280" cy="457200"/>
          </a:xfrm>
          <a:prstGeom prst="rect">
            <a:avLst/>
          </a:prstGeom>
          <a:noFill/>
        </p:spPr>
        <p:txBody>
          <a:bodyPr wrap="square" lIns="0" rIns="0" tIns="0" bIns="0" anchor="t">
            <a:spAutoFit/>
          </a:bodyPr>
          <a:lstStyle/>
          <a:p>
            <a:pPr algn="l">
              <a:lnSpc>
                <a:spcPct val="112000"/>
              </a:lnSpc>
            </a:pPr>
            <a:r>
              <a:rPr sz="2400" b="1">
                <a:solidFill>
                  <a:srgbClr val="5EEAD4"/>
                </a:solidFill>
                <a:latin typeface="Space Grotesk"/>
              </a:rPr>
              <a:t>≤ 7</a:t>
            </a:r>
          </a:p>
        </p:txBody>
      </p:sp>
      <p:sp>
        <p:nvSpPr>
          <p:cNvPr id="11" name="TextBox 10"/>
          <p:cNvSpPr txBox="1"/>
          <p:nvPr/>
        </p:nvSpPr>
        <p:spPr>
          <a:xfrm>
            <a:off x="9418319" y="2768092"/>
            <a:ext cx="1828800" cy="457200"/>
          </a:xfrm>
          <a:prstGeom prst="rect">
            <a:avLst/>
          </a:prstGeom>
          <a:noFill/>
        </p:spPr>
        <p:txBody>
          <a:bodyPr wrap="square" lIns="0" rIns="0" tIns="0" bIns="0" anchor="t">
            <a:spAutoFit/>
          </a:bodyPr>
          <a:lstStyle/>
          <a:p>
            <a:pPr algn="l">
              <a:lnSpc>
                <a:spcPct val="110000"/>
              </a:lnSpc>
            </a:pPr>
            <a:r>
              <a:rPr sz="1250" b="0">
                <a:solidFill>
                  <a:srgbClr val="D7DEFF"/>
                </a:solidFill>
                <a:latin typeface="DM Sans"/>
              </a:rPr>
              <a:t>empty wake-ups per week</a:t>
            </a:r>
          </a:p>
        </p:txBody>
      </p:sp>
      <p:sp>
        <p:nvSpPr>
          <p:cNvPr id="12" name="TextBox 11"/>
          <p:cNvSpPr txBox="1"/>
          <p:nvPr/>
        </p:nvSpPr>
        <p:spPr>
          <a:xfrm>
            <a:off x="8321040" y="3472180"/>
            <a:ext cx="1097280" cy="457200"/>
          </a:xfrm>
          <a:prstGeom prst="rect">
            <a:avLst/>
          </a:prstGeom>
          <a:noFill/>
        </p:spPr>
        <p:txBody>
          <a:bodyPr wrap="square" lIns="0" rIns="0" tIns="0" bIns="0" anchor="t">
            <a:spAutoFit/>
          </a:bodyPr>
          <a:lstStyle/>
          <a:p>
            <a:pPr algn="l">
              <a:lnSpc>
                <a:spcPct val="112000"/>
              </a:lnSpc>
            </a:pPr>
            <a:r>
              <a:rPr sz="2400" b="1">
                <a:solidFill>
                  <a:srgbClr val="5EEAD4"/>
                </a:solidFill>
                <a:latin typeface="Space Grotesk"/>
              </a:rPr>
              <a:t>≤ 10%</a:t>
            </a:r>
          </a:p>
        </p:txBody>
      </p:sp>
      <p:sp>
        <p:nvSpPr>
          <p:cNvPr id="13" name="TextBox 12"/>
          <p:cNvSpPr txBox="1"/>
          <p:nvPr/>
        </p:nvSpPr>
        <p:spPr>
          <a:xfrm>
            <a:off x="9418319" y="3545332"/>
            <a:ext cx="1828800" cy="457200"/>
          </a:xfrm>
          <a:prstGeom prst="rect">
            <a:avLst/>
          </a:prstGeom>
          <a:noFill/>
        </p:spPr>
        <p:txBody>
          <a:bodyPr wrap="square" lIns="0" rIns="0" tIns="0" bIns="0" anchor="t">
            <a:spAutoFit/>
          </a:bodyPr>
          <a:lstStyle/>
          <a:p>
            <a:pPr algn="l">
              <a:lnSpc>
                <a:spcPct val="110000"/>
              </a:lnSpc>
            </a:pPr>
            <a:r>
              <a:rPr sz="1250" b="0">
                <a:solidFill>
                  <a:srgbClr val="D7DEFF"/>
                </a:solidFill>
                <a:latin typeface="DM Sans"/>
              </a:rPr>
              <a:t>of picks missed</a:t>
            </a:r>
          </a:p>
        </p:txBody>
      </p:sp>
      <p:sp>
        <p:nvSpPr>
          <p:cNvPr id="14" name="TextBox 13"/>
          <p:cNvSpPr txBox="1"/>
          <p:nvPr/>
        </p:nvSpPr>
        <p:spPr>
          <a:xfrm>
            <a:off x="8321040" y="4249420"/>
            <a:ext cx="1097280" cy="457200"/>
          </a:xfrm>
          <a:prstGeom prst="rect">
            <a:avLst/>
          </a:prstGeom>
          <a:noFill/>
        </p:spPr>
        <p:txBody>
          <a:bodyPr wrap="square" lIns="0" rIns="0" tIns="0" bIns="0" anchor="t">
            <a:spAutoFit/>
          </a:bodyPr>
          <a:lstStyle/>
          <a:p>
            <a:pPr algn="l">
              <a:lnSpc>
                <a:spcPct val="112000"/>
              </a:lnSpc>
            </a:pPr>
            <a:r>
              <a:rPr sz="2400" b="1">
                <a:solidFill>
                  <a:srgbClr val="5EEAD4"/>
                </a:solidFill>
                <a:latin typeface="Space Grotesk"/>
              </a:rPr>
              <a:t>≤ 2</a:t>
            </a:r>
          </a:p>
        </p:txBody>
      </p:sp>
      <p:sp>
        <p:nvSpPr>
          <p:cNvPr id="15" name="TextBox 14"/>
          <p:cNvSpPr txBox="1"/>
          <p:nvPr/>
        </p:nvSpPr>
        <p:spPr>
          <a:xfrm>
            <a:off x="9418319" y="4322572"/>
            <a:ext cx="1828800" cy="457200"/>
          </a:xfrm>
          <a:prstGeom prst="rect">
            <a:avLst/>
          </a:prstGeom>
          <a:noFill/>
        </p:spPr>
        <p:txBody>
          <a:bodyPr wrap="square" lIns="0" rIns="0" tIns="0" bIns="0" anchor="t">
            <a:spAutoFit/>
          </a:bodyPr>
          <a:lstStyle/>
          <a:p>
            <a:pPr algn="l">
              <a:lnSpc>
                <a:spcPct val="110000"/>
              </a:lnSpc>
            </a:pPr>
            <a:r>
              <a:rPr sz="1250" b="0">
                <a:solidFill>
                  <a:srgbClr val="D7DEFF"/>
                </a:solidFill>
                <a:latin typeface="DM Sans"/>
              </a:rPr>
              <a:t>missed picks per week</a:t>
            </a:r>
          </a:p>
        </p:txBody>
      </p:sp>
      <p:sp>
        <p:nvSpPr>
          <p:cNvPr id="16" name="TextBox 15"/>
          <p:cNvSpPr txBox="1"/>
          <p:nvPr/>
        </p:nvSpPr>
        <p:spPr>
          <a:xfrm>
            <a:off x="8321040" y="5072379"/>
            <a:ext cx="2834640" cy="548640"/>
          </a:xfrm>
          <a:prstGeom prst="rect">
            <a:avLst/>
          </a:prstGeom>
          <a:noFill/>
        </p:spPr>
        <p:txBody>
          <a:bodyPr wrap="square" lIns="0" rIns="0" tIns="0" bIns="0" anchor="t">
            <a:spAutoFit/>
          </a:bodyPr>
          <a:lstStyle/>
          <a:p>
            <a:pPr algn="l">
              <a:lnSpc>
                <a:spcPct val="112000"/>
              </a:lnSpc>
            </a:pPr>
            <a:r>
              <a:rPr sz="1200" b="0">
                <a:solidFill>
                  <a:srgbClr val="B8C4D9"/>
                </a:solidFill>
                <a:latin typeface="DM Sans"/>
              </a:rPr>
              <a:t>Slow-moving bins are no longer punished.</a:t>
            </a:r>
          </a:p>
        </p:txBody>
      </p:sp>
      <p:sp>
        <p:nvSpPr>
          <p:cNvPr id="17" name="TextBox 16"/>
          <p:cNvSpPr txBox="1"/>
          <p:nvPr/>
        </p:nvSpPr>
        <p:spPr>
          <a:xfrm>
            <a:off x="813816" y="6419088"/>
            <a:ext cx="9875520" cy="228600"/>
          </a:xfrm>
          <a:prstGeom prst="rect">
            <a:avLst/>
          </a:prstGeom>
          <a:noFill/>
        </p:spPr>
        <p:txBody>
          <a:bodyPr wrap="square" lIns="0" rIns="0" tIns="0" bIns="0" anchor="t">
            <a:spAutoFit/>
          </a:bodyPr>
          <a:lstStyle/>
          <a:p>
            <a:pPr algn="l">
              <a:lnSpc>
                <a:spcPct val="100000"/>
              </a:lnSpc>
            </a:pPr>
            <a:r>
              <a:rPr sz="900" b="0">
                <a:solidFill>
                  <a:srgbClr val="8D99B0"/>
                </a:solidFill>
                <a:latin typeface="DM Sans"/>
              </a:rPr>
              <a:t>Source: own analysis of the Bossard SmartBin data, 1 Mar to 20 Jun 2022 · typical scale per setting · Report §4.3, §4.4, §6.1</a:t>
            </a:r>
          </a:p>
        </p:txBody>
      </p:sp>
      <p:sp>
        <p:nvSpPr>
          <p:cNvPr id="18" name="TextBox 17"/>
          <p:cNvSpPr txBox="1"/>
          <p:nvPr/>
        </p:nvSpPr>
        <p:spPr>
          <a:xfrm>
            <a:off x="10927080" y="6419088"/>
            <a:ext cx="457200" cy="228600"/>
          </a:xfrm>
          <a:prstGeom prst="rect">
            <a:avLst/>
          </a:prstGeom>
          <a:noFill/>
        </p:spPr>
        <p:txBody>
          <a:bodyPr wrap="square" lIns="0" rIns="0" tIns="0" bIns="0" anchor="t">
            <a:spAutoFit/>
          </a:bodyPr>
          <a:lstStyle/>
          <a:p>
            <a:pPr algn="r">
              <a:lnSpc>
                <a:spcPct val="112000"/>
              </a:lnSpc>
            </a:pPr>
            <a:r>
              <a:rPr sz="900" b="0">
                <a:solidFill>
                  <a:srgbClr val="8D99B0"/>
                </a:solidFill>
                <a:latin typeface="DM Sans"/>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A1020"/>
        </a:solidFill>
        <a:effectLst/>
      </p:bgPr>
    </p:bg>
    <p:spTree>
      <p:nvGrpSpPr>
        <p:cNvPr id="1" name=""/>
        <p:cNvGrpSpPr/>
        <p:nvPr/>
      </p:nvGrpSpPr>
      <p:grpSpPr/>
      <p:sp>
        <p:nvSpPr>
          <p:cNvPr id="2" name="Rectangle 1"/>
          <p:cNvSpPr/>
          <p:nvPr/>
        </p:nvSpPr>
        <p:spPr>
          <a:xfrm>
            <a:off x="6986016" y="0"/>
            <a:ext cx="5202936" cy="4059936"/>
          </a:xfrm>
          <a:prstGeom prst="rect">
            <a:avLst/>
          </a:prstGeom>
          <a:gradFill rotWithShape="1">
            <a:gsLst>
              <a:gs pos="0">
                <a:srgbClr val="8EA2FF">
                  <a:alpha val="18000"/>
                </a:srgbClr>
              </a:gs>
              <a:gs pos="65000">
                <a:srgbClr val="8EA2FF">
                  <a:alpha val="0"/>
                </a:srgbClr>
              </a:gs>
            </a:gsLst>
            <a:path path="circle">
              <a:fillToRect l="70000" t="25000" r="30000" b="75000"/>
            </a:path>
          </a:gradFill>
          <a:ln>
            <a:noFill/>
          </a:ln>
        </p:spPr>
        <p:txBody>
          <a:bodyPr rtlCol="0" anchor="ctr"/>
          <a:lstStyle/>
          <a:p>
            <a:pPr algn="ctr"/>
          </a:p>
        </p:txBody>
      </p:sp>
      <p:sp>
        <p:nvSpPr>
          <p:cNvPr id="3" name="TextBox 2"/>
          <p:cNvSpPr txBox="1"/>
          <p:nvPr/>
        </p:nvSpPr>
        <p:spPr>
          <a:xfrm>
            <a:off x="813816" y="502920"/>
            <a:ext cx="10570464" cy="228600"/>
          </a:xfrm>
          <a:prstGeom prst="rect">
            <a:avLst/>
          </a:prstGeom>
          <a:noFill/>
        </p:spPr>
        <p:txBody>
          <a:bodyPr wrap="square" lIns="0" rIns="0" tIns="0" bIns="0" anchor="t">
            <a:spAutoFit/>
          </a:bodyPr>
          <a:lstStyle/>
          <a:p>
            <a:pPr algn="l">
              <a:lnSpc>
                <a:spcPct val="112000"/>
              </a:lnSpc>
            </a:pPr>
            <a:r>
              <a:rPr sz="1100" b="1" spc="150">
                <a:solidFill>
                  <a:srgbClr val="5EEAD4"/>
                </a:solidFill>
                <a:latin typeface="DM Sans"/>
              </a:rPr>
              <a:t>FINDING 2 · KEY INSIGHT</a:t>
            </a:r>
          </a:p>
        </p:txBody>
      </p:sp>
      <p:sp>
        <p:nvSpPr>
          <p:cNvPr id="4" name="TextBox 3"/>
          <p:cNvSpPr txBox="1"/>
          <p:nvPr/>
        </p:nvSpPr>
        <p:spPr>
          <a:xfrm>
            <a:off x="813816" y="777240"/>
            <a:ext cx="10570464" cy="817879"/>
          </a:xfrm>
          <a:prstGeom prst="rect">
            <a:avLst/>
          </a:prstGeom>
          <a:noFill/>
        </p:spPr>
        <p:txBody>
          <a:bodyPr wrap="square" lIns="0" rIns="0" tIns="0" bIns="0" anchor="t">
            <a:spAutoFit/>
          </a:bodyPr>
          <a:lstStyle/>
          <a:p>
            <a:pPr algn="l">
              <a:lnSpc>
                <a:spcPct val="100000"/>
              </a:lnSpc>
            </a:pPr>
            <a:r>
              <a:rPr sz="2800" b="1">
                <a:solidFill>
                  <a:srgbClr val="FFFFFF"/>
                </a:solidFill>
                <a:latin typeface="Space Grotesk"/>
              </a:rPr>
              <a:t>Over half of the empty wake-ups happen when someone picks nearby</a:t>
            </a:r>
          </a:p>
        </p:txBody>
      </p:sp>
      <p:sp>
        <p:nvSpPr>
          <p:cNvPr id="5" name="TextBox 4"/>
          <p:cNvSpPr txBox="1"/>
          <p:nvPr/>
        </p:nvSpPr>
        <p:spPr>
          <a:xfrm>
            <a:off x="813816" y="1805432"/>
            <a:ext cx="6400800" cy="274320"/>
          </a:xfrm>
          <a:prstGeom prst="rect">
            <a:avLst/>
          </a:prstGeom>
          <a:noFill/>
        </p:spPr>
        <p:txBody>
          <a:bodyPr wrap="square" lIns="0" rIns="0" tIns="0" bIns="0" anchor="t">
            <a:spAutoFit/>
          </a:bodyPr>
          <a:lstStyle/>
          <a:p>
            <a:pPr algn="l">
              <a:lnSpc>
                <a:spcPct val="112000"/>
              </a:lnSpc>
            </a:pPr>
            <a:r>
              <a:rPr sz="1050" b="1" spc="120">
                <a:solidFill>
                  <a:srgbClr val="5EEAD4"/>
                </a:solidFill>
                <a:latin typeface="DM Sans"/>
              </a:rPr>
              <a:t>A REAL EXAMPLE FROM THE DATA</a:t>
            </a:r>
          </a:p>
        </p:txBody>
      </p:sp>
      <p:pic>
        <p:nvPicPr>
          <p:cNvPr id="6" name="Picture 5" descr="k04_episode.png"/>
          <p:cNvPicPr>
            <a:picLocks noChangeAspect="1"/>
          </p:cNvPicPr>
          <p:nvPr/>
        </p:nvPicPr>
        <p:blipFill>
          <a:blip r:embed="rId2"/>
          <a:stretch>
            <a:fillRect/>
          </a:stretch>
        </p:blipFill>
        <p:spPr>
          <a:xfrm>
            <a:off x="722376" y="2098040"/>
            <a:ext cx="6858000" cy="2743200"/>
          </a:xfrm>
          <a:prstGeom prst="rect">
            <a:avLst/>
          </a:prstGeom>
        </p:spPr>
      </p:pic>
      <p:sp>
        <p:nvSpPr>
          <p:cNvPr id="7" name="TextBox 6"/>
          <p:cNvSpPr txBox="1"/>
          <p:nvPr/>
        </p:nvSpPr>
        <p:spPr>
          <a:xfrm>
            <a:off x="813816" y="4932679"/>
            <a:ext cx="6583680" cy="822960"/>
          </a:xfrm>
          <a:prstGeom prst="rect">
            <a:avLst/>
          </a:prstGeom>
          <a:noFill/>
        </p:spPr>
        <p:txBody>
          <a:bodyPr wrap="square" lIns="0" rIns="0" tIns="0" bIns="0" anchor="t">
            <a:spAutoFit/>
          </a:bodyPr>
          <a:lstStyle/>
          <a:p>
            <a:pPr algn="l">
              <a:lnSpc>
                <a:spcPct val="112000"/>
              </a:lnSpc>
              <a:spcAft>
                <a:spcPts val="400"/>
              </a:spcAft>
            </a:pPr>
            <a:r>
              <a:rPr sz="1250" b="0">
                <a:solidFill>
                  <a:srgbClr val="B8C4D9"/>
                </a:solidFill>
                <a:latin typeface="DM Sans"/>
              </a:rPr>
              <a:t>A worker picks from Bin A. Three bins on the same shelf wake up within 14 seconds and find nothing.</a:t>
            </a:r>
          </a:p>
          <a:p>
            <a:pPr algn="l">
              <a:lnSpc>
                <a:spcPct val="112000"/>
              </a:lnSpc>
              <a:spcAft>
                <a:spcPts val="400"/>
              </a:spcAft>
            </a:pPr>
            <a:r>
              <a:rPr sz="1250" b="1">
                <a:solidFill>
                  <a:srgbClr val="FFFFFF"/>
                </a:solidFill>
                <a:latin typeface="DM Sans"/>
              </a:rPr>
              <a:t>What helps:</a:t>
            </a:r>
            <a:r>
              <a:rPr sz="1250" b="0">
                <a:solidFill>
                  <a:srgbClr val="B8C4D9"/>
                </a:solidFill>
                <a:latin typeface="DM Sans"/>
              </a:rPr>
              <a:t> a damping pad under each scale, so the shaking of the shelf does not reach its neighbours.</a:t>
            </a:r>
          </a:p>
        </p:txBody>
      </p:sp>
      <p:sp>
        <p:nvSpPr>
          <p:cNvPr id="8" name="Rounded Rectangle 7"/>
          <p:cNvSpPr/>
          <p:nvPr/>
        </p:nvSpPr>
        <p:spPr>
          <a:xfrm>
            <a:off x="7955279" y="1869440"/>
            <a:ext cx="3429000" cy="1783080"/>
          </a:xfrm>
          <a:prstGeom prst="roundRect">
            <a:avLst>
              <a:gd name="adj" fmla="val 6153"/>
            </a:avLst>
          </a:prstGeom>
          <a:solidFill>
            <a:srgbClr val="8EA2FF">
              <a:alpha val="13000"/>
            </a:srgbClr>
          </a:solidFill>
          <a:ln w="6350">
            <a:solidFill>
              <a:srgbClr val="8EA2FF">
                <a:alpha val="50000"/>
              </a:srgbClr>
            </a:solidFill>
          </a:ln>
        </p:spPr>
        <p:txBody>
          <a:bodyPr rtlCol="0" anchor="ctr"/>
          <a:lstStyle/>
          <a:p>
            <a:pPr algn="ctr"/>
          </a:p>
        </p:txBody>
      </p:sp>
      <p:sp>
        <p:nvSpPr>
          <p:cNvPr id="9" name="TextBox 8"/>
          <p:cNvSpPr txBox="1"/>
          <p:nvPr/>
        </p:nvSpPr>
        <p:spPr>
          <a:xfrm>
            <a:off x="8183879" y="1960880"/>
            <a:ext cx="3017520" cy="822960"/>
          </a:xfrm>
          <a:prstGeom prst="rect">
            <a:avLst/>
          </a:prstGeom>
          <a:noFill/>
        </p:spPr>
        <p:txBody>
          <a:bodyPr wrap="square" lIns="0" rIns="0" tIns="0" bIns="0" anchor="t">
            <a:spAutoFit/>
          </a:bodyPr>
          <a:lstStyle/>
          <a:p>
            <a:pPr algn="l">
              <a:lnSpc>
                <a:spcPct val="112000"/>
              </a:lnSpc>
            </a:pPr>
            <a:r>
              <a:rPr sz="5000" b="1">
                <a:solidFill>
                  <a:srgbClr val="8EA2FF"/>
                </a:solidFill>
                <a:latin typeface="Space Grotesk"/>
              </a:rPr>
              <a:t>55%</a:t>
            </a:r>
          </a:p>
        </p:txBody>
      </p:sp>
      <p:sp>
        <p:nvSpPr>
          <p:cNvPr id="10" name="TextBox 9"/>
          <p:cNvSpPr txBox="1"/>
          <p:nvPr/>
        </p:nvSpPr>
        <p:spPr>
          <a:xfrm>
            <a:off x="8183879" y="2783840"/>
            <a:ext cx="3017520" cy="822960"/>
          </a:xfrm>
          <a:prstGeom prst="rect">
            <a:avLst/>
          </a:prstGeom>
          <a:noFill/>
        </p:spPr>
        <p:txBody>
          <a:bodyPr wrap="square" lIns="0" rIns="0" tIns="0" bIns="0" anchor="t">
            <a:spAutoFit/>
          </a:bodyPr>
          <a:lstStyle/>
          <a:p>
            <a:pPr algn="l">
              <a:lnSpc>
                <a:spcPct val="112000"/>
              </a:lnSpc>
            </a:pPr>
            <a:r>
              <a:rPr sz="1250" b="0">
                <a:solidFill>
                  <a:srgbClr val="D7DEFF"/>
                </a:solidFill>
                <a:latin typeface="DM Sans"/>
              </a:rPr>
              <a:t>of empty wake-ups come within 14 seconds of a real pick in the same factory</a:t>
            </a:r>
          </a:p>
        </p:txBody>
      </p:sp>
      <p:sp>
        <p:nvSpPr>
          <p:cNvPr id="11" name="TextBox 10"/>
          <p:cNvSpPr txBox="1"/>
          <p:nvPr/>
        </p:nvSpPr>
        <p:spPr>
          <a:xfrm>
            <a:off x="7955279" y="3789679"/>
            <a:ext cx="3429000" cy="274320"/>
          </a:xfrm>
          <a:prstGeom prst="rect">
            <a:avLst/>
          </a:prstGeom>
          <a:noFill/>
        </p:spPr>
        <p:txBody>
          <a:bodyPr wrap="square" lIns="0" rIns="0" tIns="0" bIns="0" anchor="t">
            <a:spAutoFit/>
          </a:bodyPr>
          <a:lstStyle/>
          <a:p>
            <a:pPr algn="l">
              <a:lnSpc>
                <a:spcPct val="112000"/>
              </a:lnSpc>
            </a:pPr>
            <a:r>
              <a:rPr sz="1000" b="1" spc="100">
                <a:solidFill>
                  <a:srgbClr val="5EEAD4"/>
                </a:solidFill>
                <a:latin typeface="DM Sans"/>
              </a:rPr>
              <a:t>HOW OFTEN A PICK WAKES A NEIGHBOUR</a:t>
            </a:r>
          </a:p>
        </p:txBody>
      </p:sp>
      <p:pic>
        <p:nvPicPr>
          <p:cNvPr id="12" name="Picture 11" descr="k19_neighbour.png"/>
          <p:cNvPicPr>
            <a:picLocks noChangeAspect="1"/>
          </p:cNvPicPr>
          <p:nvPr/>
        </p:nvPicPr>
        <p:blipFill>
          <a:blip r:embed="rId3"/>
          <a:stretch>
            <a:fillRect/>
          </a:stretch>
        </p:blipFill>
        <p:spPr>
          <a:xfrm>
            <a:off x="7863840" y="4018279"/>
            <a:ext cx="3520440" cy="1874520"/>
          </a:xfrm>
          <a:prstGeom prst="rect">
            <a:avLst/>
          </a:prstGeom>
        </p:spPr>
      </p:pic>
      <p:sp>
        <p:nvSpPr>
          <p:cNvPr id="13" name="TextBox 12"/>
          <p:cNvSpPr txBox="1"/>
          <p:nvPr/>
        </p:nvSpPr>
        <p:spPr>
          <a:xfrm>
            <a:off x="813816" y="6419088"/>
            <a:ext cx="9875520" cy="228600"/>
          </a:xfrm>
          <a:prstGeom prst="rect">
            <a:avLst/>
          </a:prstGeom>
          <a:noFill/>
        </p:spPr>
        <p:txBody>
          <a:bodyPr wrap="square" lIns="0" rIns="0" tIns="0" bIns="0" anchor="t">
            <a:spAutoFit/>
          </a:bodyPr>
          <a:lstStyle/>
          <a:p>
            <a:pPr algn="l">
              <a:lnSpc>
                <a:spcPct val="100000"/>
              </a:lnSpc>
            </a:pPr>
            <a:r>
              <a:rPr sz="900" b="0">
                <a:solidFill>
                  <a:srgbClr val="8D99B0"/>
                </a:solidFill>
                <a:latin typeface="DM Sans"/>
              </a:rPr>
              <a:t>Source: own analysis of the Bossard SmartBin data, 1 Mar to 20 Jun 2022 · above the chance level · looping scales left out (45% with them) · Report §4.5, Appendix C</a:t>
            </a:r>
          </a:p>
        </p:txBody>
      </p:sp>
      <p:sp>
        <p:nvSpPr>
          <p:cNvPr id="14" name="TextBox 13"/>
          <p:cNvSpPr txBox="1"/>
          <p:nvPr/>
        </p:nvSpPr>
        <p:spPr>
          <a:xfrm>
            <a:off x="10927080" y="6419088"/>
            <a:ext cx="457200" cy="228600"/>
          </a:xfrm>
          <a:prstGeom prst="rect">
            <a:avLst/>
          </a:prstGeom>
          <a:noFill/>
        </p:spPr>
        <p:txBody>
          <a:bodyPr wrap="square" lIns="0" rIns="0" tIns="0" bIns="0" anchor="t">
            <a:spAutoFit/>
          </a:bodyPr>
          <a:lstStyle/>
          <a:p>
            <a:pPr algn="r">
              <a:lnSpc>
                <a:spcPct val="112000"/>
              </a:lnSpc>
            </a:pPr>
            <a:r>
              <a:rPr sz="900" b="0">
                <a:solidFill>
                  <a:srgbClr val="8D99B0"/>
                </a:solidFill>
                <a:latin typeface="DM Sans"/>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E1628"/>
        </a:solidFill>
        <a:effectLst/>
      </p:bgPr>
    </p:bg>
    <p:spTree>
      <p:nvGrpSpPr>
        <p:cNvPr id="1" name=""/>
        <p:cNvGrpSpPr/>
        <p:nvPr/>
      </p:nvGrpSpPr>
      <p:grpSpPr/>
      <p:sp>
        <p:nvSpPr>
          <p:cNvPr id="2" name="Rectangle 1"/>
          <p:cNvSpPr/>
          <p:nvPr/>
        </p:nvSpPr>
        <p:spPr>
          <a:xfrm>
            <a:off x="6986016" y="0"/>
            <a:ext cx="5202936" cy="4059936"/>
          </a:xfrm>
          <a:prstGeom prst="rect">
            <a:avLst/>
          </a:prstGeom>
          <a:gradFill rotWithShape="1">
            <a:gsLst>
              <a:gs pos="0">
                <a:srgbClr val="8EA2FF">
                  <a:alpha val="18000"/>
                </a:srgbClr>
              </a:gs>
              <a:gs pos="65000">
                <a:srgbClr val="8EA2FF">
                  <a:alpha val="0"/>
                </a:srgbClr>
              </a:gs>
            </a:gsLst>
            <a:path path="circle">
              <a:fillToRect l="70000" t="25000" r="30000" b="75000"/>
            </a:path>
          </a:gradFill>
          <a:ln>
            <a:noFill/>
          </a:ln>
        </p:spPr>
        <p:txBody>
          <a:bodyPr rtlCol="0" anchor="ctr"/>
          <a:lstStyle/>
          <a:p>
            <a:pPr algn="ctr"/>
          </a:p>
        </p:txBody>
      </p:sp>
      <p:sp>
        <p:nvSpPr>
          <p:cNvPr id="3" name="TextBox 2"/>
          <p:cNvSpPr txBox="1"/>
          <p:nvPr/>
        </p:nvSpPr>
        <p:spPr>
          <a:xfrm>
            <a:off x="813816" y="502920"/>
            <a:ext cx="10570464" cy="228600"/>
          </a:xfrm>
          <a:prstGeom prst="rect">
            <a:avLst/>
          </a:prstGeom>
          <a:noFill/>
        </p:spPr>
        <p:txBody>
          <a:bodyPr wrap="square" lIns="0" rIns="0" tIns="0" bIns="0" anchor="t">
            <a:spAutoFit/>
          </a:bodyPr>
          <a:lstStyle/>
          <a:p>
            <a:pPr algn="l">
              <a:lnSpc>
                <a:spcPct val="112000"/>
              </a:lnSpc>
            </a:pPr>
            <a:r>
              <a:rPr sz="1100" b="1" spc="150">
                <a:solidFill>
                  <a:srgbClr val="5EEAD4"/>
                </a:solidFill>
                <a:latin typeface="DM Sans"/>
              </a:rPr>
              <a:t>FINDING 2 · PROOF</a:t>
            </a:r>
          </a:p>
        </p:txBody>
      </p:sp>
      <p:sp>
        <p:nvSpPr>
          <p:cNvPr id="4" name="TextBox 3"/>
          <p:cNvSpPr txBox="1"/>
          <p:nvPr/>
        </p:nvSpPr>
        <p:spPr>
          <a:xfrm>
            <a:off x="813816" y="777240"/>
            <a:ext cx="10570464" cy="408939"/>
          </a:xfrm>
          <a:prstGeom prst="rect">
            <a:avLst/>
          </a:prstGeom>
          <a:noFill/>
        </p:spPr>
        <p:txBody>
          <a:bodyPr wrap="square" lIns="0" rIns="0" tIns="0" bIns="0" anchor="t">
            <a:spAutoFit/>
          </a:bodyPr>
          <a:lstStyle/>
          <a:p>
            <a:pPr algn="l">
              <a:lnSpc>
                <a:spcPct val="100000"/>
              </a:lnSpc>
            </a:pPr>
            <a:r>
              <a:rPr sz="2800" b="1">
                <a:solidFill>
                  <a:srgbClr val="FFFFFF"/>
                </a:solidFill>
                <a:latin typeface="Space Grotesk"/>
              </a:rPr>
              <a:t>It is not chance. Four checks agree.</a:t>
            </a:r>
          </a:p>
        </p:txBody>
      </p:sp>
      <p:pic>
        <p:nvPicPr>
          <p:cNvPr id="5" name="Picture 4" descr="k05_correlogram.png"/>
          <p:cNvPicPr>
            <a:picLocks noChangeAspect="1"/>
          </p:cNvPicPr>
          <p:nvPr/>
        </p:nvPicPr>
        <p:blipFill>
          <a:blip r:embed="rId2"/>
          <a:stretch>
            <a:fillRect/>
          </a:stretch>
        </p:blipFill>
        <p:spPr>
          <a:xfrm>
            <a:off x="676656" y="1460500"/>
            <a:ext cx="5486400" cy="3017520"/>
          </a:xfrm>
          <a:prstGeom prst="rect">
            <a:avLst/>
          </a:prstGeom>
        </p:spPr>
      </p:pic>
      <p:pic>
        <p:nvPicPr>
          <p:cNvPr id="6" name="Picture 5" descr="k06_placebo.png"/>
          <p:cNvPicPr>
            <a:picLocks noChangeAspect="1"/>
          </p:cNvPicPr>
          <p:nvPr/>
        </p:nvPicPr>
        <p:blipFill>
          <a:blip r:embed="rId3"/>
          <a:stretch>
            <a:fillRect/>
          </a:stretch>
        </p:blipFill>
        <p:spPr>
          <a:xfrm>
            <a:off x="6492240" y="1460500"/>
            <a:ext cx="4937760" cy="3017520"/>
          </a:xfrm>
          <a:prstGeom prst="rect">
            <a:avLst/>
          </a:prstGeom>
        </p:spPr>
      </p:pic>
      <p:sp>
        <p:nvSpPr>
          <p:cNvPr id="7" name="Rounded Rectangle 6"/>
          <p:cNvSpPr/>
          <p:nvPr/>
        </p:nvSpPr>
        <p:spPr>
          <a:xfrm>
            <a:off x="813816" y="4660900"/>
            <a:ext cx="2505456" cy="1371600"/>
          </a:xfrm>
          <a:prstGeom prst="roundRect">
            <a:avLst>
              <a:gd name="adj" fmla="val 8000"/>
            </a:avLst>
          </a:prstGeom>
          <a:solidFill>
            <a:srgbClr val="FFFFFF">
              <a:alpha val="5000"/>
            </a:srgbClr>
          </a:solidFill>
          <a:ln w="6350">
            <a:solidFill>
              <a:srgbClr val="FFFFFF">
                <a:alpha val="12000"/>
              </a:srgbClr>
            </a:solidFill>
          </a:ln>
        </p:spPr>
        <p:txBody>
          <a:bodyPr rtlCol="0" anchor="ctr"/>
          <a:lstStyle/>
          <a:p>
            <a:pPr algn="ctr"/>
          </a:p>
        </p:txBody>
      </p:sp>
      <p:sp>
        <p:nvSpPr>
          <p:cNvPr id="8" name="Oval 7"/>
          <p:cNvSpPr/>
          <p:nvPr/>
        </p:nvSpPr>
        <p:spPr>
          <a:xfrm>
            <a:off x="950976" y="4798060"/>
            <a:ext cx="256032" cy="256032"/>
          </a:xfrm>
          <a:prstGeom prst="ellipse">
            <a:avLst/>
          </a:prstGeom>
          <a:solidFill>
            <a:srgbClr val="5EEAD4"/>
          </a:solidFill>
          <a:ln>
            <a:noFill/>
          </a:ln>
        </p:spPr>
        <p:txBody>
          <a:bodyPr rtlCol="0" anchor="ctr" lIns="0" rIns="0" tIns="0" bIns="0"/>
          <a:lstStyle/>
          <a:p>
            <a:pPr algn="ctr"/>
            <a:r>
              <a:rPr sz="1100" b="1">
                <a:solidFill>
                  <a:srgbClr val="0A1020"/>
                </a:solidFill>
                <a:latin typeface="Space Grotesk"/>
              </a:rPr>
              <a:t>✓</a:t>
            </a:r>
          </a:p>
        </p:txBody>
      </p:sp>
      <p:sp>
        <p:nvSpPr>
          <p:cNvPr id="9" name="TextBox 8"/>
          <p:cNvSpPr txBox="1"/>
          <p:nvPr/>
        </p:nvSpPr>
        <p:spPr>
          <a:xfrm>
            <a:off x="1289304" y="4798060"/>
            <a:ext cx="1938528" cy="274320"/>
          </a:xfrm>
          <a:prstGeom prst="rect">
            <a:avLst/>
          </a:prstGeom>
          <a:noFill/>
        </p:spPr>
        <p:txBody>
          <a:bodyPr wrap="square" lIns="0" rIns="0" tIns="0" bIns="0" anchor="t">
            <a:spAutoFit/>
          </a:bodyPr>
          <a:lstStyle/>
          <a:p>
            <a:pPr algn="l">
              <a:lnSpc>
                <a:spcPct val="112000"/>
              </a:lnSpc>
            </a:pPr>
            <a:r>
              <a:rPr sz="1300" b="1">
                <a:solidFill>
                  <a:srgbClr val="FFFFFF"/>
                </a:solidFill>
                <a:latin typeface="Space Grotesk"/>
              </a:rPr>
              <a:t>Peak at zero</a:t>
            </a:r>
          </a:p>
        </p:txBody>
      </p:sp>
      <p:sp>
        <p:nvSpPr>
          <p:cNvPr id="10" name="TextBox 9"/>
          <p:cNvSpPr txBox="1"/>
          <p:nvPr/>
        </p:nvSpPr>
        <p:spPr>
          <a:xfrm>
            <a:off x="950976" y="5163820"/>
            <a:ext cx="2231136" cy="731520"/>
          </a:xfrm>
          <a:prstGeom prst="rect">
            <a:avLst/>
          </a:prstGeom>
          <a:noFill/>
        </p:spPr>
        <p:txBody>
          <a:bodyPr wrap="square" lIns="0" rIns="0" tIns="0" bIns="0" anchor="t">
            <a:spAutoFit/>
          </a:bodyPr>
          <a:lstStyle/>
          <a:p>
            <a:pPr algn="l">
              <a:lnSpc>
                <a:spcPct val="110000"/>
              </a:lnSpc>
            </a:pPr>
            <a:r>
              <a:rPr sz="1150" b="0">
                <a:solidFill>
                  <a:srgbClr val="B8C4D9"/>
                </a:solidFill>
                <a:latin typeface="DM Sans"/>
              </a:rPr>
              <a:t>At the moment of an empty wake-up, picks at the other bins are about 8 times more frequent than normal.</a:t>
            </a:r>
          </a:p>
        </p:txBody>
      </p:sp>
      <p:sp>
        <p:nvSpPr>
          <p:cNvPr id="11" name="Rounded Rectangle 10"/>
          <p:cNvSpPr/>
          <p:nvPr/>
        </p:nvSpPr>
        <p:spPr>
          <a:xfrm>
            <a:off x="3502152" y="4660900"/>
            <a:ext cx="2505456" cy="1371600"/>
          </a:xfrm>
          <a:prstGeom prst="roundRect">
            <a:avLst>
              <a:gd name="adj" fmla="val 8000"/>
            </a:avLst>
          </a:prstGeom>
          <a:solidFill>
            <a:srgbClr val="FFFFFF">
              <a:alpha val="5000"/>
            </a:srgbClr>
          </a:solidFill>
          <a:ln w="6350">
            <a:solidFill>
              <a:srgbClr val="FFFFFF">
                <a:alpha val="12000"/>
              </a:srgbClr>
            </a:solidFill>
          </a:ln>
        </p:spPr>
        <p:txBody>
          <a:bodyPr rtlCol="0" anchor="ctr"/>
          <a:lstStyle/>
          <a:p>
            <a:pPr algn="ctr"/>
          </a:p>
        </p:txBody>
      </p:sp>
      <p:sp>
        <p:nvSpPr>
          <p:cNvPr id="12" name="Oval 11"/>
          <p:cNvSpPr/>
          <p:nvPr/>
        </p:nvSpPr>
        <p:spPr>
          <a:xfrm>
            <a:off x="3639312" y="4798060"/>
            <a:ext cx="256032" cy="256032"/>
          </a:xfrm>
          <a:prstGeom prst="ellipse">
            <a:avLst/>
          </a:prstGeom>
          <a:solidFill>
            <a:srgbClr val="5EEAD4"/>
          </a:solidFill>
          <a:ln>
            <a:noFill/>
          </a:ln>
        </p:spPr>
        <p:txBody>
          <a:bodyPr rtlCol="0" anchor="ctr" lIns="0" rIns="0" tIns="0" bIns="0"/>
          <a:lstStyle/>
          <a:p>
            <a:pPr algn="ctr"/>
            <a:r>
              <a:rPr sz="1100" b="1">
                <a:solidFill>
                  <a:srgbClr val="0A1020"/>
                </a:solidFill>
                <a:latin typeface="Space Grotesk"/>
              </a:rPr>
              <a:t>✓</a:t>
            </a:r>
          </a:p>
        </p:txBody>
      </p:sp>
      <p:sp>
        <p:nvSpPr>
          <p:cNvPr id="13" name="TextBox 12"/>
          <p:cNvSpPr txBox="1"/>
          <p:nvPr/>
        </p:nvSpPr>
        <p:spPr>
          <a:xfrm>
            <a:off x="3977640" y="4798060"/>
            <a:ext cx="1938528" cy="274320"/>
          </a:xfrm>
          <a:prstGeom prst="rect">
            <a:avLst/>
          </a:prstGeom>
          <a:noFill/>
        </p:spPr>
        <p:txBody>
          <a:bodyPr wrap="square" lIns="0" rIns="0" tIns="0" bIns="0" anchor="t">
            <a:spAutoFit/>
          </a:bodyPr>
          <a:lstStyle/>
          <a:p>
            <a:pPr algn="l">
              <a:lnSpc>
                <a:spcPct val="112000"/>
              </a:lnSpc>
            </a:pPr>
            <a:r>
              <a:rPr sz="1300" b="1">
                <a:solidFill>
                  <a:srgbClr val="FFFFFF"/>
                </a:solidFill>
                <a:latin typeface="Space Grotesk"/>
              </a:rPr>
              <a:t>Not just a busy hour</a:t>
            </a:r>
          </a:p>
        </p:txBody>
      </p:sp>
      <p:sp>
        <p:nvSpPr>
          <p:cNvPr id="14" name="TextBox 13"/>
          <p:cNvSpPr txBox="1"/>
          <p:nvPr/>
        </p:nvSpPr>
        <p:spPr>
          <a:xfrm>
            <a:off x="3639312" y="5163820"/>
            <a:ext cx="2231136" cy="731520"/>
          </a:xfrm>
          <a:prstGeom prst="rect">
            <a:avLst/>
          </a:prstGeom>
          <a:noFill/>
        </p:spPr>
        <p:txBody>
          <a:bodyPr wrap="square" lIns="0" rIns="0" tIns="0" bIns="0" anchor="t">
            <a:spAutoFit/>
          </a:bodyPr>
          <a:lstStyle/>
          <a:p>
            <a:pPr algn="l">
              <a:lnSpc>
                <a:spcPct val="110000"/>
              </a:lnSpc>
            </a:pPr>
            <a:r>
              <a:rPr sz="1150" b="0">
                <a:solidFill>
                  <a:srgbClr val="B8C4D9"/>
                </a:solidFill>
                <a:latin typeface="DM Sans"/>
              </a:rPr>
              <a:t>One minute later, in the same hour, only 25% have a pick nearby, against 66%.</a:t>
            </a:r>
          </a:p>
        </p:txBody>
      </p:sp>
      <p:sp>
        <p:nvSpPr>
          <p:cNvPr id="15" name="Rounded Rectangle 14"/>
          <p:cNvSpPr/>
          <p:nvPr/>
        </p:nvSpPr>
        <p:spPr>
          <a:xfrm>
            <a:off x="6190488" y="4660900"/>
            <a:ext cx="2505456" cy="1371600"/>
          </a:xfrm>
          <a:prstGeom prst="roundRect">
            <a:avLst>
              <a:gd name="adj" fmla="val 8000"/>
            </a:avLst>
          </a:prstGeom>
          <a:solidFill>
            <a:srgbClr val="FFFFFF">
              <a:alpha val="5000"/>
            </a:srgbClr>
          </a:solidFill>
          <a:ln w="6350">
            <a:solidFill>
              <a:srgbClr val="FFFFFF">
                <a:alpha val="12000"/>
              </a:srgbClr>
            </a:solidFill>
          </a:ln>
        </p:spPr>
        <p:txBody>
          <a:bodyPr rtlCol="0" anchor="ctr"/>
          <a:lstStyle/>
          <a:p>
            <a:pPr algn="ctr"/>
          </a:p>
        </p:txBody>
      </p:sp>
      <p:sp>
        <p:nvSpPr>
          <p:cNvPr id="16" name="Oval 15"/>
          <p:cNvSpPr/>
          <p:nvPr/>
        </p:nvSpPr>
        <p:spPr>
          <a:xfrm>
            <a:off x="6327648" y="4798060"/>
            <a:ext cx="256032" cy="256032"/>
          </a:xfrm>
          <a:prstGeom prst="ellipse">
            <a:avLst/>
          </a:prstGeom>
          <a:solidFill>
            <a:srgbClr val="5EEAD4"/>
          </a:solidFill>
          <a:ln>
            <a:noFill/>
          </a:ln>
        </p:spPr>
        <p:txBody>
          <a:bodyPr rtlCol="0" anchor="ctr" lIns="0" rIns="0" tIns="0" bIns="0"/>
          <a:lstStyle/>
          <a:p>
            <a:pPr algn="ctr"/>
            <a:r>
              <a:rPr sz="1100" b="1">
                <a:solidFill>
                  <a:srgbClr val="0A1020"/>
                </a:solidFill>
                <a:latin typeface="Space Grotesk"/>
              </a:rPr>
              <a:t>✓</a:t>
            </a:r>
          </a:p>
        </p:txBody>
      </p:sp>
      <p:sp>
        <p:nvSpPr>
          <p:cNvPr id="17" name="TextBox 16"/>
          <p:cNvSpPr txBox="1"/>
          <p:nvPr/>
        </p:nvSpPr>
        <p:spPr>
          <a:xfrm>
            <a:off x="6665976" y="4798060"/>
            <a:ext cx="1938528" cy="274320"/>
          </a:xfrm>
          <a:prstGeom prst="rect">
            <a:avLst/>
          </a:prstGeom>
          <a:noFill/>
        </p:spPr>
        <p:txBody>
          <a:bodyPr wrap="square" lIns="0" rIns="0" tIns="0" bIns="0" anchor="t">
            <a:spAutoFit/>
          </a:bodyPr>
          <a:lstStyle/>
          <a:p>
            <a:pPr algn="l">
              <a:lnSpc>
                <a:spcPct val="112000"/>
              </a:lnSpc>
            </a:pPr>
            <a:r>
              <a:rPr sz="1300" b="1">
                <a:solidFill>
                  <a:srgbClr val="FFFFFF"/>
                </a:solidFill>
                <a:latin typeface="Space Grotesk"/>
              </a:rPr>
              <a:t>Not the clock</a:t>
            </a:r>
          </a:p>
        </p:txBody>
      </p:sp>
      <p:sp>
        <p:nvSpPr>
          <p:cNvPr id="18" name="TextBox 17"/>
          <p:cNvSpPr txBox="1"/>
          <p:nvPr/>
        </p:nvSpPr>
        <p:spPr>
          <a:xfrm>
            <a:off x="6327648" y="5163820"/>
            <a:ext cx="2231136" cy="731520"/>
          </a:xfrm>
          <a:prstGeom prst="rect">
            <a:avLst/>
          </a:prstGeom>
          <a:noFill/>
        </p:spPr>
        <p:txBody>
          <a:bodyPr wrap="square" lIns="0" rIns="0" tIns="0" bIns="0" anchor="t">
            <a:spAutoFit/>
          </a:bodyPr>
          <a:lstStyle/>
          <a:p>
            <a:pPr algn="l">
              <a:lnSpc>
                <a:spcPct val="110000"/>
              </a:lnSpc>
            </a:pPr>
            <a:r>
              <a:rPr sz="1150" b="0">
                <a:solidFill>
                  <a:srgbClr val="B8C4D9"/>
                </a:solidFill>
                <a:latin typeface="DM Sans"/>
              </a:rPr>
              <a:t>Picks in another factory at the same second show no link. So it is no clock or cloud error.</a:t>
            </a:r>
          </a:p>
        </p:txBody>
      </p:sp>
      <p:sp>
        <p:nvSpPr>
          <p:cNvPr id="19" name="Rounded Rectangle 18"/>
          <p:cNvSpPr/>
          <p:nvPr/>
        </p:nvSpPr>
        <p:spPr>
          <a:xfrm>
            <a:off x="8878824" y="4660900"/>
            <a:ext cx="2505456" cy="1371600"/>
          </a:xfrm>
          <a:prstGeom prst="roundRect">
            <a:avLst>
              <a:gd name="adj" fmla="val 8000"/>
            </a:avLst>
          </a:prstGeom>
          <a:solidFill>
            <a:srgbClr val="FFFFFF">
              <a:alpha val="5000"/>
            </a:srgbClr>
          </a:solidFill>
          <a:ln w="6350">
            <a:solidFill>
              <a:srgbClr val="FFFFFF">
                <a:alpha val="12000"/>
              </a:srgbClr>
            </a:solidFill>
          </a:ln>
        </p:spPr>
        <p:txBody>
          <a:bodyPr rtlCol="0" anchor="ctr"/>
          <a:lstStyle/>
          <a:p>
            <a:pPr algn="ctr"/>
          </a:p>
        </p:txBody>
      </p:sp>
      <p:sp>
        <p:nvSpPr>
          <p:cNvPr id="20" name="Oval 19"/>
          <p:cNvSpPr/>
          <p:nvPr/>
        </p:nvSpPr>
        <p:spPr>
          <a:xfrm>
            <a:off x="9015984" y="4798060"/>
            <a:ext cx="256032" cy="256032"/>
          </a:xfrm>
          <a:prstGeom prst="ellipse">
            <a:avLst/>
          </a:prstGeom>
          <a:solidFill>
            <a:srgbClr val="5EEAD4"/>
          </a:solidFill>
          <a:ln>
            <a:noFill/>
          </a:ln>
        </p:spPr>
        <p:txBody>
          <a:bodyPr rtlCol="0" anchor="ctr" lIns="0" rIns="0" tIns="0" bIns="0"/>
          <a:lstStyle/>
          <a:p>
            <a:pPr algn="ctr"/>
            <a:r>
              <a:rPr sz="1100" b="1">
                <a:solidFill>
                  <a:srgbClr val="0A1020"/>
                </a:solidFill>
                <a:latin typeface="Space Grotesk"/>
              </a:rPr>
              <a:t>✓</a:t>
            </a:r>
          </a:p>
        </p:txBody>
      </p:sp>
      <p:sp>
        <p:nvSpPr>
          <p:cNvPr id="21" name="TextBox 20"/>
          <p:cNvSpPr txBox="1"/>
          <p:nvPr/>
        </p:nvSpPr>
        <p:spPr>
          <a:xfrm>
            <a:off x="9354312" y="4798060"/>
            <a:ext cx="1938528" cy="274320"/>
          </a:xfrm>
          <a:prstGeom prst="rect">
            <a:avLst/>
          </a:prstGeom>
          <a:noFill/>
        </p:spPr>
        <p:txBody>
          <a:bodyPr wrap="square" lIns="0" rIns="0" tIns="0" bIns="0" anchor="t">
            <a:spAutoFit/>
          </a:bodyPr>
          <a:lstStyle/>
          <a:p>
            <a:pPr algn="l">
              <a:lnSpc>
                <a:spcPct val="112000"/>
              </a:lnSpc>
            </a:pPr>
            <a:r>
              <a:rPr sz="1300" b="1">
                <a:solidFill>
                  <a:srgbClr val="FFFFFF"/>
                </a:solidFill>
                <a:latin typeface="Space Grotesk"/>
              </a:rPr>
              <a:t>Almost every scale</a:t>
            </a:r>
          </a:p>
        </p:txBody>
      </p:sp>
      <p:sp>
        <p:nvSpPr>
          <p:cNvPr id="22" name="TextBox 21"/>
          <p:cNvSpPr txBox="1"/>
          <p:nvPr/>
        </p:nvSpPr>
        <p:spPr>
          <a:xfrm>
            <a:off x="9015984" y="5163820"/>
            <a:ext cx="2231136" cy="731520"/>
          </a:xfrm>
          <a:prstGeom prst="rect">
            <a:avLst/>
          </a:prstGeom>
          <a:noFill/>
        </p:spPr>
        <p:txBody>
          <a:bodyPr wrap="square" lIns="0" rIns="0" tIns="0" bIns="0" anchor="t">
            <a:spAutoFit/>
          </a:bodyPr>
          <a:lstStyle/>
          <a:p>
            <a:pPr algn="l">
              <a:lnSpc>
                <a:spcPct val="110000"/>
              </a:lnSpc>
            </a:pPr>
            <a:r>
              <a:rPr sz="1150" b="0">
                <a:solidFill>
                  <a:srgbClr val="B8C4D9"/>
                </a:solidFill>
                <a:latin typeface="DM Sans"/>
              </a:rPr>
              <a:t>For 99.8% of the scales the link is above chance. Busier factories show more of it.</a:t>
            </a:r>
          </a:p>
        </p:txBody>
      </p:sp>
      <p:sp>
        <p:nvSpPr>
          <p:cNvPr id="23" name="TextBox 22"/>
          <p:cNvSpPr txBox="1"/>
          <p:nvPr/>
        </p:nvSpPr>
        <p:spPr>
          <a:xfrm>
            <a:off x="813816" y="6419088"/>
            <a:ext cx="9875520" cy="228600"/>
          </a:xfrm>
          <a:prstGeom prst="rect">
            <a:avLst/>
          </a:prstGeom>
          <a:noFill/>
        </p:spPr>
        <p:txBody>
          <a:bodyPr wrap="square" lIns="0" rIns="0" tIns="0" bIns="0" anchor="t">
            <a:spAutoFit/>
          </a:bodyPr>
          <a:lstStyle/>
          <a:p>
            <a:pPr algn="l">
              <a:lnSpc>
                <a:spcPct val="100000"/>
              </a:lnSpc>
            </a:pPr>
            <a:r>
              <a:rPr sz="900" b="0">
                <a:solidFill>
                  <a:srgbClr val="8D99B0"/>
                </a:solidFill>
                <a:latin typeface="DM Sans"/>
              </a:rPr>
              <a:t>Source: own analysis of the Bossard SmartBin data, 1 Mar to 20 Jun 2022 · event coincidence analysis (Donges et al., 2016) · Report §4.5, Appendix C</a:t>
            </a:r>
          </a:p>
        </p:txBody>
      </p:sp>
      <p:sp>
        <p:nvSpPr>
          <p:cNvPr id="24" name="TextBox 23"/>
          <p:cNvSpPr txBox="1"/>
          <p:nvPr/>
        </p:nvSpPr>
        <p:spPr>
          <a:xfrm>
            <a:off x="10927080" y="6419088"/>
            <a:ext cx="457200" cy="228600"/>
          </a:xfrm>
          <a:prstGeom prst="rect">
            <a:avLst/>
          </a:prstGeom>
          <a:noFill/>
        </p:spPr>
        <p:txBody>
          <a:bodyPr wrap="square" lIns="0" rIns="0" tIns="0" bIns="0" anchor="t">
            <a:spAutoFit/>
          </a:bodyPr>
          <a:lstStyle/>
          <a:p>
            <a:pPr algn="r">
              <a:lnSpc>
                <a:spcPct val="112000"/>
              </a:lnSpc>
            </a:pPr>
            <a:r>
              <a:rPr sz="900" b="0">
                <a:solidFill>
                  <a:srgbClr val="8D99B0"/>
                </a:solidFill>
                <a:latin typeface="DM Sans"/>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A1020"/>
        </a:solidFill>
        <a:effectLst/>
      </p:bgPr>
    </p:bg>
    <p:spTree>
      <p:nvGrpSpPr>
        <p:cNvPr id="1" name=""/>
        <p:cNvGrpSpPr/>
        <p:nvPr/>
      </p:nvGrpSpPr>
      <p:grpSpPr/>
      <p:sp>
        <p:nvSpPr>
          <p:cNvPr id="2" name="Rectangle 1"/>
          <p:cNvSpPr/>
          <p:nvPr/>
        </p:nvSpPr>
        <p:spPr>
          <a:xfrm>
            <a:off x="6986016" y="0"/>
            <a:ext cx="5202936" cy="4059936"/>
          </a:xfrm>
          <a:prstGeom prst="rect">
            <a:avLst/>
          </a:prstGeom>
          <a:gradFill rotWithShape="1">
            <a:gsLst>
              <a:gs pos="0">
                <a:srgbClr val="8EA2FF">
                  <a:alpha val="18000"/>
                </a:srgbClr>
              </a:gs>
              <a:gs pos="65000">
                <a:srgbClr val="8EA2FF">
                  <a:alpha val="0"/>
                </a:srgbClr>
              </a:gs>
            </a:gsLst>
            <a:path path="circle">
              <a:fillToRect l="70000" t="25000" r="30000" b="75000"/>
            </a:path>
          </a:gradFill>
          <a:ln>
            <a:noFill/>
          </a:ln>
        </p:spPr>
        <p:txBody>
          <a:bodyPr rtlCol="0" anchor="ctr"/>
          <a:lstStyle/>
          <a:p>
            <a:pPr algn="ctr"/>
          </a:p>
        </p:txBody>
      </p:sp>
      <p:sp>
        <p:nvSpPr>
          <p:cNvPr id="3" name="TextBox 2"/>
          <p:cNvSpPr txBox="1"/>
          <p:nvPr/>
        </p:nvSpPr>
        <p:spPr>
          <a:xfrm>
            <a:off x="813816" y="502920"/>
            <a:ext cx="10570464" cy="228600"/>
          </a:xfrm>
          <a:prstGeom prst="rect">
            <a:avLst/>
          </a:prstGeom>
          <a:noFill/>
        </p:spPr>
        <p:txBody>
          <a:bodyPr wrap="square" lIns="0" rIns="0" tIns="0" bIns="0" anchor="t">
            <a:spAutoFit/>
          </a:bodyPr>
          <a:lstStyle/>
          <a:p>
            <a:pPr algn="l">
              <a:lnSpc>
                <a:spcPct val="112000"/>
              </a:lnSpc>
            </a:pPr>
            <a:r>
              <a:rPr sz="1100" b="1" spc="150">
                <a:solidFill>
                  <a:srgbClr val="5EEAD4"/>
                </a:solidFill>
                <a:latin typeface="DM Sans"/>
              </a:rPr>
              <a:t>FINDING 3 · LOOPING SCALES</a:t>
            </a:r>
          </a:p>
        </p:txBody>
      </p:sp>
      <p:sp>
        <p:nvSpPr>
          <p:cNvPr id="4" name="TextBox 3"/>
          <p:cNvSpPr txBox="1"/>
          <p:nvPr/>
        </p:nvSpPr>
        <p:spPr>
          <a:xfrm>
            <a:off x="813816" y="777240"/>
            <a:ext cx="10570464" cy="817879"/>
          </a:xfrm>
          <a:prstGeom prst="rect">
            <a:avLst/>
          </a:prstGeom>
          <a:noFill/>
        </p:spPr>
        <p:txBody>
          <a:bodyPr wrap="square" lIns="0" rIns="0" tIns="0" bIns="0" anchor="t">
            <a:spAutoFit/>
          </a:bodyPr>
          <a:lstStyle/>
          <a:p>
            <a:pPr algn="l">
              <a:lnSpc>
                <a:spcPct val="100000"/>
              </a:lnSpc>
            </a:pPr>
            <a:r>
              <a:rPr sz="2800" b="1">
                <a:solidFill>
                  <a:srgbClr val="FFFFFF"/>
                </a:solidFill>
                <a:latin typeface="Space Grotesk"/>
              </a:rPr>
              <a:t>1.5% of the scales wake themselves up and cause 27% of all weighings</a:t>
            </a:r>
          </a:p>
        </p:txBody>
      </p:sp>
      <p:pic>
        <p:nvPicPr>
          <p:cNvPr id="5" name="Picture 4" descr="k07_barcode.png"/>
          <p:cNvPicPr>
            <a:picLocks noChangeAspect="1"/>
          </p:cNvPicPr>
          <p:nvPr/>
        </p:nvPicPr>
        <p:blipFill>
          <a:blip r:embed="rId2"/>
          <a:stretch>
            <a:fillRect/>
          </a:stretch>
        </p:blipFill>
        <p:spPr>
          <a:xfrm>
            <a:off x="722376" y="1869440"/>
            <a:ext cx="5486400" cy="2377440"/>
          </a:xfrm>
          <a:prstGeom prst="rect">
            <a:avLst/>
          </a:prstGeom>
        </p:spPr>
      </p:pic>
      <p:sp>
        <p:nvSpPr>
          <p:cNvPr id="6" name="TextBox 5"/>
          <p:cNvSpPr txBox="1"/>
          <p:nvPr/>
        </p:nvSpPr>
        <p:spPr>
          <a:xfrm>
            <a:off x="813816" y="4338320"/>
            <a:ext cx="5303520" cy="822960"/>
          </a:xfrm>
          <a:prstGeom prst="rect">
            <a:avLst/>
          </a:prstGeom>
          <a:noFill/>
        </p:spPr>
        <p:txBody>
          <a:bodyPr wrap="square" lIns="0" rIns="0" tIns="0" bIns="0" anchor="t">
            <a:spAutoFit/>
          </a:bodyPr>
          <a:lstStyle/>
          <a:p>
            <a:pPr algn="l">
              <a:lnSpc>
                <a:spcPct val="112000"/>
              </a:lnSpc>
            </a:pPr>
            <a:r>
              <a:rPr sz="1250" b="0">
                <a:solidFill>
                  <a:srgbClr val="B8C4D9"/>
                </a:solidFill>
                <a:latin typeface="DM Sans"/>
              </a:rPr>
              <a:t>About every 90 seconds, day and night. That is the shortest pause the scale allows between two wake-ups (60 s) plus the time it waits before it weighs (30 s).</a:t>
            </a:r>
          </a:p>
        </p:txBody>
      </p:sp>
      <p:pic>
        <p:nvPicPr>
          <p:cNvPr id="7" name="Picture 6" descr="k08_loop_evidence.png"/>
          <p:cNvPicPr>
            <a:picLocks noChangeAspect="1"/>
          </p:cNvPicPr>
          <p:nvPr/>
        </p:nvPicPr>
        <p:blipFill>
          <a:blip r:embed="rId3"/>
          <a:stretch>
            <a:fillRect/>
          </a:stretch>
        </p:blipFill>
        <p:spPr>
          <a:xfrm>
            <a:off x="6446520" y="1869440"/>
            <a:ext cx="4983480" cy="2514600"/>
          </a:xfrm>
          <a:prstGeom prst="rect">
            <a:avLst/>
          </a:prstGeom>
        </p:spPr>
      </p:pic>
      <p:sp>
        <p:nvSpPr>
          <p:cNvPr id="8" name="TextBox 7"/>
          <p:cNvSpPr txBox="1"/>
          <p:nvPr/>
        </p:nvSpPr>
        <p:spPr>
          <a:xfrm>
            <a:off x="6446520" y="4429760"/>
            <a:ext cx="4937760" cy="822960"/>
          </a:xfrm>
          <a:prstGeom prst="rect">
            <a:avLst/>
          </a:prstGeom>
          <a:noFill/>
        </p:spPr>
        <p:txBody>
          <a:bodyPr wrap="square" lIns="0" rIns="0" tIns="0" bIns="0" anchor="t">
            <a:spAutoFit/>
          </a:bodyPr>
          <a:lstStyle/>
          <a:p>
            <a:pPr algn="l">
              <a:lnSpc>
                <a:spcPct val="112000"/>
              </a:lnSpc>
            </a:pPr>
            <a:r>
              <a:rPr sz="1250" b="0">
                <a:solidFill>
                  <a:srgbClr val="B8C4D9"/>
                </a:solidFill>
                <a:latin typeface="DM Sans"/>
              </a:rPr>
              <a:t>The same scales act normally on another setting (215 of 215). This points to the firmware, not to broken hardware.</a:t>
            </a:r>
          </a:p>
        </p:txBody>
      </p:sp>
      <p:sp>
        <p:nvSpPr>
          <p:cNvPr id="9" name="Rounded Rectangle 8"/>
          <p:cNvSpPr/>
          <p:nvPr/>
        </p:nvSpPr>
        <p:spPr>
          <a:xfrm>
            <a:off x="813816" y="5394960"/>
            <a:ext cx="10570464" cy="731520"/>
          </a:xfrm>
          <a:prstGeom prst="roundRect">
            <a:avLst>
              <a:gd name="adj" fmla="val 15000"/>
            </a:avLst>
          </a:prstGeom>
          <a:solidFill>
            <a:srgbClr val="5EEAD4">
              <a:alpha val="13000"/>
            </a:srgbClr>
          </a:solidFill>
          <a:ln w="6350">
            <a:solidFill>
              <a:srgbClr val="5EEAD4">
                <a:alpha val="50000"/>
              </a:srgbClr>
            </a:solidFill>
          </a:ln>
        </p:spPr>
        <p:txBody>
          <a:bodyPr rtlCol="0" anchor="ctr"/>
          <a:lstStyle/>
          <a:p>
            <a:pPr algn="ctr"/>
          </a:p>
        </p:txBody>
      </p:sp>
      <p:sp>
        <p:nvSpPr>
          <p:cNvPr id="10" name="TextBox 9"/>
          <p:cNvSpPr txBox="1"/>
          <p:nvPr/>
        </p:nvSpPr>
        <p:spPr>
          <a:xfrm>
            <a:off x="1042416" y="5394960"/>
            <a:ext cx="10113264" cy="731520"/>
          </a:xfrm>
          <a:prstGeom prst="rect">
            <a:avLst/>
          </a:prstGeom>
          <a:noFill/>
        </p:spPr>
        <p:txBody>
          <a:bodyPr wrap="square" lIns="0" rIns="0" tIns="0" bIns="0" anchor="ctr">
            <a:spAutoFit/>
          </a:bodyPr>
          <a:lstStyle/>
          <a:p>
            <a:pPr algn="l">
              <a:lnSpc>
                <a:spcPct val="112000"/>
              </a:lnSpc>
            </a:pPr>
            <a:r>
              <a:rPr sz="1350" b="1">
                <a:solidFill>
                  <a:srgbClr val="FFFFFF"/>
                </a:solidFill>
                <a:latin typeface="DM Sans"/>
              </a:rPr>
              <a:t>We took these scales out and repeated every analysis.</a:t>
            </a:r>
            <a:r>
              <a:rPr sz="1350" b="0">
                <a:solidFill>
                  <a:srgbClr val="D7DEFF"/>
                </a:solidFill>
                <a:latin typeface="DM Sans"/>
              </a:rPr>
              <a:t> The results hold. The link to picks nearby gets even clearer (45% → 55%).</a:t>
            </a:r>
          </a:p>
        </p:txBody>
      </p:sp>
      <p:sp>
        <p:nvSpPr>
          <p:cNvPr id="11" name="TextBox 10"/>
          <p:cNvSpPr txBox="1"/>
          <p:nvPr/>
        </p:nvSpPr>
        <p:spPr>
          <a:xfrm>
            <a:off x="813816" y="6419088"/>
            <a:ext cx="9875520" cy="228600"/>
          </a:xfrm>
          <a:prstGeom prst="rect">
            <a:avLst/>
          </a:prstGeom>
          <a:noFill/>
        </p:spPr>
        <p:txBody>
          <a:bodyPr wrap="square" lIns="0" rIns="0" tIns="0" bIns="0" anchor="t">
            <a:spAutoFit/>
          </a:bodyPr>
          <a:lstStyle/>
          <a:p>
            <a:pPr algn="l">
              <a:lnSpc>
                <a:spcPct val="100000"/>
              </a:lnSpc>
            </a:pPr>
            <a:r>
              <a:rPr sz="900" b="0">
                <a:solidFill>
                  <a:srgbClr val="8D99B0"/>
                </a:solidFill>
                <a:latin typeface="DM Sans"/>
              </a:rPr>
              <a:t>Source: own analysis of the Bossard SmartBin data, 1 Mar to 20 Jun 2022 · looping = over half of the wake-ups within 2 min and over 20 a day · Report §5.3, Appendix C</a:t>
            </a:r>
          </a:p>
        </p:txBody>
      </p:sp>
      <p:sp>
        <p:nvSpPr>
          <p:cNvPr id="12" name="TextBox 11"/>
          <p:cNvSpPr txBox="1"/>
          <p:nvPr/>
        </p:nvSpPr>
        <p:spPr>
          <a:xfrm>
            <a:off x="10927080" y="6419088"/>
            <a:ext cx="457200" cy="228600"/>
          </a:xfrm>
          <a:prstGeom prst="rect">
            <a:avLst/>
          </a:prstGeom>
          <a:noFill/>
        </p:spPr>
        <p:txBody>
          <a:bodyPr wrap="square" lIns="0" rIns="0" tIns="0" bIns="0" anchor="t">
            <a:spAutoFit/>
          </a:bodyPr>
          <a:lstStyle/>
          <a:p>
            <a:pPr algn="r">
              <a:lnSpc>
                <a:spcPct val="112000"/>
              </a:lnSpc>
            </a:pPr>
            <a:r>
              <a:rPr sz="900" b="0">
                <a:solidFill>
                  <a:srgbClr val="8D99B0"/>
                </a:solidFill>
                <a:latin typeface="DM Sans"/>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E1628"/>
        </a:solidFill>
        <a:effectLst/>
      </p:bgPr>
    </p:bg>
    <p:spTree>
      <p:nvGrpSpPr>
        <p:cNvPr id="1" name=""/>
        <p:cNvGrpSpPr/>
        <p:nvPr/>
      </p:nvGrpSpPr>
      <p:grpSpPr/>
      <p:sp>
        <p:nvSpPr>
          <p:cNvPr id="2" name="Rectangle 1"/>
          <p:cNvSpPr/>
          <p:nvPr/>
        </p:nvSpPr>
        <p:spPr>
          <a:xfrm>
            <a:off x="6986016" y="0"/>
            <a:ext cx="5202936" cy="4059936"/>
          </a:xfrm>
          <a:prstGeom prst="rect">
            <a:avLst/>
          </a:prstGeom>
          <a:gradFill rotWithShape="1">
            <a:gsLst>
              <a:gs pos="0">
                <a:srgbClr val="8EA2FF">
                  <a:alpha val="18000"/>
                </a:srgbClr>
              </a:gs>
              <a:gs pos="65000">
                <a:srgbClr val="8EA2FF">
                  <a:alpha val="0"/>
                </a:srgbClr>
              </a:gs>
            </a:gsLst>
            <a:path path="circle">
              <a:fillToRect l="70000" t="25000" r="30000" b="75000"/>
            </a:path>
          </a:gradFill>
          <a:ln>
            <a:noFill/>
          </a:ln>
        </p:spPr>
        <p:txBody>
          <a:bodyPr rtlCol="0" anchor="ctr"/>
          <a:lstStyle/>
          <a:p>
            <a:pPr algn="ctr"/>
          </a:p>
        </p:txBody>
      </p:sp>
      <p:sp>
        <p:nvSpPr>
          <p:cNvPr id="3" name="TextBox 2"/>
          <p:cNvSpPr txBox="1"/>
          <p:nvPr/>
        </p:nvSpPr>
        <p:spPr>
          <a:xfrm>
            <a:off x="813816" y="502920"/>
            <a:ext cx="10570464" cy="228600"/>
          </a:xfrm>
          <a:prstGeom prst="rect">
            <a:avLst/>
          </a:prstGeom>
          <a:noFill/>
        </p:spPr>
        <p:txBody>
          <a:bodyPr wrap="square" lIns="0" rIns="0" tIns="0" bIns="0" anchor="t">
            <a:spAutoFit/>
          </a:bodyPr>
          <a:lstStyle/>
          <a:p>
            <a:pPr algn="l">
              <a:lnSpc>
                <a:spcPct val="112000"/>
              </a:lnSpc>
            </a:pPr>
            <a:r>
              <a:rPr sz="1100" b="1" spc="150">
                <a:solidFill>
                  <a:srgbClr val="5EEAD4"/>
                </a:solidFill>
                <a:latin typeface="DM Sans"/>
              </a:rPr>
              <a:t>FINDING 4 · THE SETTING</a:t>
            </a:r>
          </a:p>
        </p:txBody>
      </p:sp>
      <p:sp>
        <p:nvSpPr>
          <p:cNvPr id="4" name="TextBox 3"/>
          <p:cNvSpPr txBox="1"/>
          <p:nvPr/>
        </p:nvSpPr>
        <p:spPr>
          <a:xfrm>
            <a:off x="813816" y="777240"/>
            <a:ext cx="10570464" cy="817879"/>
          </a:xfrm>
          <a:prstGeom prst="rect">
            <a:avLst/>
          </a:prstGeom>
          <a:noFill/>
        </p:spPr>
        <p:txBody>
          <a:bodyPr wrap="square" lIns="0" rIns="0" tIns="0" bIns="0" anchor="t">
            <a:spAutoFit/>
          </a:bodyPr>
          <a:lstStyle/>
          <a:p>
            <a:pPr algn="l">
              <a:lnSpc>
                <a:spcPct val="100000"/>
              </a:lnSpc>
            </a:pPr>
            <a:r>
              <a:rPr sz="2800" b="1">
                <a:solidFill>
                  <a:srgbClr val="FFFFFF"/>
                </a:solidFill>
                <a:latin typeface="Space Grotesk"/>
              </a:rPr>
              <a:t>One step down halves the empty wake-ups for almost no extra missed picks</a:t>
            </a:r>
          </a:p>
        </p:txBody>
      </p:sp>
      <p:pic>
        <p:nvPicPr>
          <p:cNvPr id="5" name="Picture 4" descr="k09_knob.png"/>
          <p:cNvPicPr>
            <a:picLocks noChangeAspect="1"/>
          </p:cNvPicPr>
          <p:nvPr/>
        </p:nvPicPr>
        <p:blipFill>
          <a:blip r:embed="rId2"/>
          <a:stretch>
            <a:fillRect/>
          </a:stretch>
        </p:blipFill>
        <p:spPr>
          <a:xfrm>
            <a:off x="676656" y="1869440"/>
            <a:ext cx="7132320" cy="3383280"/>
          </a:xfrm>
          <a:prstGeom prst="rect">
            <a:avLst/>
          </a:prstGeom>
        </p:spPr>
      </p:pic>
      <p:sp>
        <p:nvSpPr>
          <p:cNvPr id="6" name="TextBox 5"/>
          <p:cNvSpPr txBox="1"/>
          <p:nvPr/>
        </p:nvSpPr>
        <p:spPr>
          <a:xfrm>
            <a:off x="8183879" y="2006600"/>
            <a:ext cx="3200400" cy="474980"/>
          </a:xfrm>
          <a:prstGeom prst="rect">
            <a:avLst/>
          </a:prstGeom>
          <a:noFill/>
        </p:spPr>
        <p:txBody>
          <a:bodyPr wrap="square" lIns="0" rIns="0" tIns="0" bIns="0" anchor="t">
            <a:spAutoFit/>
          </a:bodyPr>
          <a:lstStyle/>
          <a:p>
            <a:pPr algn="l">
              <a:lnSpc>
                <a:spcPct val="95000"/>
              </a:lnSpc>
            </a:pPr>
            <a:r>
              <a:rPr sz="3400" b="1">
                <a:solidFill>
                  <a:srgbClr val="5EEAD4"/>
                </a:solidFill>
                <a:latin typeface="Space Grotesk"/>
              </a:rPr>
              <a:t>−52% / −59%</a:t>
            </a:r>
          </a:p>
        </p:txBody>
      </p:sp>
      <p:sp>
        <p:nvSpPr>
          <p:cNvPr id="7" name="TextBox 6"/>
          <p:cNvSpPr txBox="1"/>
          <p:nvPr/>
        </p:nvSpPr>
        <p:spPr>
          <a:xfrm>
            <a:off x="8183879" y="2518156"/>
            <a:ext cx="3200400" cy="274320"/>
          </a:xfrm>
          <a:prstGeom prst="rect">
            <a:avLst/>
          </a:prstGeom>
          <a:noFill/>
        </p:spPr>
        <p:txBody>
          <a:bodyPr wrap="square" lIns="0" rIns="0" tIns="0" bIns="0" anchor="t">
            <a:spAutoFit/>
          </a:bodyPr>
          <a:lstStyle/>
          <a:p>
            <a:pPr algn="l">
              <a:lnSpc>
                <a:spcPct val="112000"/>
              </a:lnSpc>
            </a:pPr>
            <a:r>
              <a:rPr sz="1300" b="0">
                <a:solidFill>
                  <a:srgbClr val="B8C4D9"/>
                </a:solidFill>
                <a:latin typeface="DM Sans"/>
              </a:rPr>
              <a:t>empty wake-ups when the setting goes from 8 to 7 (20 kg / 6 kg)</a:t>
            </a:r>
          </a:p>
        </p:txBody>
      </p:sp>
      <p:sp>
        <p:nvSpPr>
          <p:cNvPr id="8" name="TextBox 7"/>
          <p:cNvSpPr txBox="1"/>
          <p:nvPr/>
        </p:nvSpPr>
        <p:spPr>
          <a:xfrm>
            <a:off x="8183879" y="3281984"/>
            <a:ext cx="3200400" cy="474980"/>
          </a:xfrm>
          <a:prstGeom prst="rect">
            <a:avLst/>
          </a:prstGeom>
          <a:noFill/>
        </p:spPr>
        <p:txBody>
          <a:bodyPr wrap="square" lIns="0" rIns="0" tIns="0" bIns="0" anchor="t">
            <a:spAutoFit/>
          </a:bodyPr>
          <a:lstStyle/>
          <a:p>
            <a:pPr algn="l">
              <a:lnSpc>
                <a:spcPct val="95000"/>
              </a:lnSpc>
            </a:pPr>
            <a:r>
              <a:rPr sz="3400" b="1">
                <a:solidFill>
                  <a:srgbClr val="8EA2FF"/>
                </a:solidFill>
                <a:latin typeface="Space Grotesk"/>
              </a:rPr>
              <a:t>4% / 9%</a:t>
            </a:r>
          </a:p>
        </p:txBody>
      </p:sp>
      <p:sp>
        <p:nvSpPr>
          <p:cNvPr id="9" name="TextBox 8"/>
          <p:cNvSpPr txBox="1"/>
          <p:nvPr/>
        </p:nvSpPr>
        <p:spPr>
          <a:xfrm>
            <a:off x="8183879" y="3793540"/>
            <a:ext cx="3200400" cy="274320"/>
          </a:xfrm>
          <a:prstGeom prst="rect">
            <a:avLst/>
          </a:prstGeom>
          <a:noFill/>
        </p:spPr>
        <p:txBody>
          <a:bodyPr wrap="square" lIns="0" rIns="0" tIns="0" bIns="0" anchor="t">
            <a:spAutoFit/>
          </a:bodyPr>
          <a:lstStyle/>
          <a:p>
            <a:pPr algn="l">
              <a:lnSpc>
                <a:spcPct val="112000"/>
              </a:lnSpc>
            </a:pPr>
            <a:r>
              <a:rPr sz="1300" b="0">
                <a:solidFill>
                  <a:srgbClr val="B8C4D9"/>
                </a:solidFill>
                <a:latin typeface="DM Sans"/>
              </a:rPr>
              <a:t>of picks missed on 7, still under the 10% target</a:t>
            </a:r>
          </a:p>
        </p:txBody>
      </p:sp>
      <p:sp>
        <p:nvSpPr>
          <p:cNvPr id="10" name="TextBox 9"/>
          <p:cNvSpPr txBox="1"/>
          <p:nvPr/>
        </p:nvSpPr>
        <p:spPr>
          <a:xfrm>
            <a:off x="8183879" y="4557369"/>
            <a:ext cx="3200400" cy="731520"/>
          </a:xfrm>
          <a:prstGeom prst="rect">
            <a:avLst/>
          </a:prstGeom>
          <a:noFill/>
        </p:spPr>
        <p:txBody>
          <a:bodyPr wrap="square" lIns="0" rIns="0" tIns="0" bIns="0" anchor="t">
            <a:spAutoFit/>
          </a:bodyPr>
          <a:lstStyle/>
          <a:p>
            <a:pPr algn="l">
              <a:lnSpc>
                <a:spcPct val="110000"/>
              </a:lnSpc>
            </a:pPr>
            <a:r>
              <a:rPr sz="1400" b="1">
                <a:solidFill>
                  <a:srgbClr val="FFFFFF"/>
                </a:solidFill>
                <a:latin typeface="Space Grotesk"/>
              </a:rPr>
              <a:t>Below setting 6, the scale starts to miss real picks.</a:t>
            </a:r>
          </a:p>
        </p:txBody>
      </p:sp>
      <p:sp>
        <p:nvSpPr>
          <p:cNvPr id="11" name="TextBox 10"/>
          <p:cNvSpPr txBox="1"/>
          <p:nvPr/>
        </p:nvSpPr>
        <p:spPr>
          <a:xfrm>
            <a:off x="813816" y="6419088"/>
            <a:ext cx="9875520" cy="228600"/>
          </a:xfrm>
          <a:prstGeom prst="rect">
            <a:avLst/>
          </a:prstGeom>
          <a:noFill/>
        </p:spPr>
        <p:txBody>
          <a:bodyPr wrap="square" lIns="0" rIns="0" tIns="0" bIns="0" anchor="t">
            <a:spAutoFit/>
          </a:bodyPr>
          <a:lstStyle/>
          <a:p>
            <a:pPr algn="l">
              <a:lnSpc>
                <a:spcPct val="100000"/>
              </a:lnSpc>
            </a:pPr>
            <a:r>
              <a:rPr sz="900" b="0">
                <a:solidFill>
                  <a:srgbClr val="8D99B0"/>
                </a:solidFill>
                <a:latin typeface="DM Sans"/>
              </a:rPr>
              <a:t>Source: own analysis of the Bossard SmartBin data, 1 Mar to 20 Jun 2022 · same scales before and after their change, minus the trend of unchanged scales · Report §5.1</a:t>
            </a:r>
          </a:p>
        </p:txBody>
      </p:sp>
      <p:sp>
        <p:nvSpPr>
          <p:cNvPr id="12" name="TextBox 11"/>
          <p:cNvSpPr txBox="1"/>
          <p:nvPr/>
        </p:nvSpPr>
        <p:spPr>
          <a:xfrm>
            <a:off x="10927080" y="6419088"/>
            <a:ext cx="457200" cy="228600"/>
          </a:xfrm>
          <a:prstGeom prst="rect">
            <a:avLst/>
          </a:prstGeom>
          <a:noFill/>
        </p:spPr>
        <p:txBody>
          <a:bodyPr wrap="square" lIns="0" rIns="0" tIns="0" bIns="0" anchor="t">
            <a:spAutoFit/>
          </a:bodyPr>
          <a:lstStyle/>
          <a:p>
            <a:pPr algn="r">
              <a:lnSpc>
                <a:spcPct val="112000"/>
              </a:lnSpc>
            </a:pPr>
            <a:r>
              <a:rPr sz="900" b="0">
                <a:solidFill>
                  <a:srgbClr val="8D99B0"/>
                </a:solidFill>
                <a:latin typeface="DM Sans"/>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A1020"/>
        </a:solidFill>
        <a:effectLst/>
      </p:bgPr>
    </p:bg>
    <p:spTree>
      <p:nvGrpSpPr>
        <p:cNvPr id="1" name=""/>
        <p:cNvGrpSpPr/>
        <p:nvPr/>
      </p:nvGrpSpPr>
      <p:grpSpPr/>
      <p:sp>
        <p:nvSpPr>
          <p:cNvPr id="2" name="Rectangle 1"/>
          <p:cNvSpPr/>
          <p:nvPr/>
        </p:nvSpPr>
        <p:spPr>
          <a:xfrm>
            <a:off x="6986016" y="0"/>
            <a:ext cx="5202936" cy="4059936"/>
          </a:xfrm>
          <a:prstGeom prst="rect">
            <a:avLst/>
          </a:prstGeom>
          <a:gradFill rotWithShape="1">
            <a:gsLst>
              <a:gs pos="0">
                <a:srgbClr val="8EA2FF">
                  <a:alpha val="18000"/>
                </a:srgbClr>
              </a:gs>
              <a:gs pos="65000">
                <a:srgbClr val="8EA2FF">
                  <a:alpha val="0"/>
                </a:srgbClr>
              </a:gs>
            </a:gsLst>
            <a:path path="circle">
              <a:fillToRect l="70000" t="25000" r="30000" b="75000"/>
            </a:path>
          </a:gradFill>
          <a:ln>
            <a:noFill/>
          </a:ln>
        </p:spPr>
        <p:txBody>
          <a:bodyPr rtlCol="0" anchor="ctr"/>
          <a:lstStyle/>
          <a:p>
            <a:pPr algn="ctr"/>
          </a:p>
        </p:txBody>
      </p:sp>
      <p:sp>
        <p:nvSpPr>
          <p:cNvPr id="3" name="TextBox 2"/>
          <p:cNvSpPr txBox="1"/>
          <p:nvPr/>
        </p:nvSpPr>
        <p:spPr>
          <a:xfrm>
            <a:off x="813816" y="502920"/>
            <a:ext cx="10570464" cy="228600"/>
          </a:xfrm>
          <a:prstGeom prst="rect">
            <a:avLst/>
          </a:prstGeom>
          <a:noFill/>
        </p:spPr>
        <p:txBody>
          <a:bodyPr wrap="square" lIns="0" rIns="0" tIns="0" bIns="0" anchor="t">
            <a:spAutoFit/>
          </a:bodyPr>
          <a:lstStyle/>
          <a:p>
            <a:pPr algn="l">
              <a:lnSpc>
                <a:spcPct val="112000"/>
              </a:lnSpc>
            </a:pPr>
            <a:r>
              <a:rPr sz="1100" b="1" spc="150">
                <a:solidFill>
                  <a:srgbClr val="5EEAD4"/>
                </a:solidFill>
                <a:latin typeface="DM Sans"/>
              </a:rPr>
              <a:t>FINDING 4 · PICK SIZE</a:t>
            </a:r>
          </a:p>
        </p:txBody>
      </p:sp>
      <p:sp>
        <p:nvSpPr>
          <p:cNvPr id="4" name="TextBox 3"/>
          <p:cNvSpPr txBox="1"/>
          <p:nvPr/>
        </p:nvSpPr>
        <p:spPr>
          <a:xfrm>
            <a:off x="813816" y="777240"/>
            <a:ext cx="10570464" cy="817879"/>
          </a:xfrm>
          <a:prstGeom prst="rect">
            <a:avLst/>
          </a:prstGeom>
          <a:noFill/>
        </p:spPr>
        <p:txBody>
          <a:bodyPr wrap="square" lIns="0" rIns="0" tIns="0" bIns="0" anchor="t">
            <a:spAutoFit/>
          </a:bodyPr>
          <a:lstStyle/>
          <a:p>
            <a:pPr algn="l">
              <a:lnSpc>
                <a:spcPct val="100000"/>
              </a:lnSpc>
            </a:pPr>
            <a:r>
              <a:rPr sz="2800" b="1">
                <a:solidFill>
                  <a:srgbClr val="FFFFFF"/>
                </a:solidFill>
                <a:latin typeface="Space Grotesk"/>
              </a:rPr>
              <a:t>Small picks are hard to see. They need a high setting or a 6 kg scale.</a:t>
            </a:r>
          </a:p>
        </p:txBody>
      </p:sp>
      <p:pic>
        <p:nvPicPr>
          <p:cNvPr id="5" name="Picture 4" descr="k18_pick_heat.png"/>
          <p:cNvPicPr>
            <a:picLocks noChangeAspect="1"/>
          </p:cNvPicPr>
          <p:nvPr/>
        </p:nvPicPr>
        <p:blipFill>
          <a:blip r:embed="rId2"/>
          <a:stretch>
            <a:fillRect/>
          </a:stretch>
        </p:blipFill>
        <p:spPr>
          <a:xfrm>
            <a:off x="676656" y="1823720"/>
            <a:ext cx="7680960" cy="3749040"/>
          </a:xfrm>
          <a:prstGeom prst="rect">
            <a:avLst/>
          </a:prstGeom>
        </p:spPr>
      </p:pic>
      <p:sp>
        <p:nvSpPr>
          <p:cNvPr id="6" name="TextBox 5"/>
          <p:cNvSpPr txBox="1"/>
          <p:nvPr/>
        </p:nvSpPr>
        <p:spPr>
          <a:xfrm>
            <a:off x="8138160" y="1915160"/>
            <a:ext cx="3291840" cy="3657600"/>
          </a:xfrm>
          <a:prstGeom prst="rect">
            <a:avLst/>
          </a:prstGeom>
          <a:noFill/>
        </p:spPr>
        <p:txBody>
          <a:bodyPr wrap="square" lIns="0" rIns="0" tIns="0" bIns="0" anchor="t">
            <a:spAutoFit/>
          </a:bodyPr>
          <a:lstStyle/>
          <a:p>
            <a:pPr algn="l" marL="201168" indent="-201168">
              <a:lnSpc>
                <a:spcPct val="112000"/>
              </a:lnSpc>
              <a:spcAft>
                <a:spcPts val="800"/>
              </a:spcAft>
              <a:buClr>
                <a:srgbClr val="5EEAD4"/>
              </a:buClr>
              <a:buFont typeface="Arial"/>
              <a:buChar char="•"/>
            </a:pPr>
            <a:r>
              <a:rPr sz="1300" b="0">
                <a:solidFill>
                  <a:srgbClr val="B8C4D9"/>
                </a:solidFill>
                <a:latin typeface="DM Sans"/>
              </a:rPr>
              <a:t>Each cell is the share of picks the scale caught (%).</a:t>
            </a:r>
          </a:p>
          <a:p>
            <a:pPr algn="l" marL="201168" indent="-201168">
              <a:lnSpc>
                <a:spcPct val="112000"/>
              </a:lnSpc>
              <a:spcAft>
                <a:spcPts val="800"/>
              </a:spcAft>
              <a:buClr>
                <a:srgbClr val="5EEAD4"/>
              </a:buClr>
              <a:buFont typeface="Arial"/>
              <a:buChar char="•"/>
            </a:pPr>
            <a:r>
              <a:rPr sz="1300" b="0">
                <a:solidFill>
                  <a:srgbClr val="B8C4D9"/>
                </a:solidFill>
                <a:latin typeface="DM Sans"/>
              </a:rPr>
              <a:t>A 20 kg scale cannot see picks under about 23 g at any setting.</a:t>
            </a:r>
          </a:p>
          <a:p>
            <a:pPr algn="l" marL="201168" indent="-201168">
              <a:lnSpc>
                <a:spcPct val="112000"/>
              </a:lnSpc>
              <a:spcAft>
                <a:spcPts val="800"/>
              </a:spcAft>
              <a:buClr>
                <a:srgbClr val="5EEAD4"/>
              </a:buClr>
              <a:buFont typeface="Arial"/>
              <a:buChar char="•"/>
            </a:pPr>
            <a:r>
              <a:rPr sz="1300" b="0">
                <a:solidFill>
                  <a:srgbClr val="B8C4D9"/>
                </a:solidFill>
                <a:latin typeface="DM Sans"/>
              </a:rPr>
              <a:t>From setting 5 down, the scale misses more picks of every size.</a:t>
            </a:r>
          </a:p>
          <a:p>
            <a:pPr algn="l" marL="201168" indent="-201168">
              <a:lnSpc>
                <a:spcPct val="112000"/>
              </a:lnSpc>
              <a:spcAft>
                <a:spcPts val="800"/>
              </a:spcAft>
              <a:buClr>
                <a:srgbClr val="5EEAD4"/>
              </a:buClr>
              <a:buFont typeface="Arial"/>
              <a:buChar char="•"/>
            </a:pPr>
            <a:r>
              <a:rPr sz="1300" b="0">
                <a:solidFill>
                  <a:srgbClr val="B8C4D9"/>
                </a:solidFill>
                <a:latin typeface="DM Sans"/>
              </a:rPr>
              <a:t>Parts picked in very small amounts belong on 6 kg scales.</a:t>
            </a:r>
          </a:p>
        </p:txBody>
      </p:sp>
      <p:sp>
        <p:nvSpPr>
          <p:cNvPr id="7" name="TextBox 6"/>
          <p:cNvSpPr txBox="1"/>
          <p:nvPr/>
        </p:nvSpPr>
        <p:spPr>
          <a:xfrm>
            <a:off x="813816" y="6419088"/>
            <a:ext cx="9875520" cy="228600"/>
          </a:xfrm>
          <a:prstGeom prst="rect">
            <a:avLst/>
          </a:prstGeom>
          <a:noFill/>
        </p:spPr>
        <p:txBody>
          <a:bodyPr wrap="square" lIns="0" rIns="0" tIns="0" bIns="0" anchor="t">
            <a:spAutoFit/>
          </a:bodyPr>
          <a:lstStyle/>
          <a:p>
            <a:pPr algn="l">
              <a:lnSpc>
                <a:spcPct val="100000"/>
              </a:lnSpc>
            </a:pPr>
            <a:r>
              <a:rPr sz="900" b="0">
                <a:solidFill>
                  <a:srgbClr val="8D99B0"/>
                </a:solidFill>
                <a:latin typeface="DM Sans"/>
              </a:rPr>
              <a:t>Source: own analysis of the Bossard SmartBin data, 1 Mar to 20 Jun 2022 · empty cells: too few picks, or below what the scale can see · Report §4.6</a:t>
            </a:r>
          </a:p>
        </p:txBody>
      </p:sp>
      <p:sp>
        <p:nvSpPr>
          <p:cNvPr id="8" name="TextBox 7"/>
          <p:cNvSpPr txBox="1"/>
          <p:nvPr/>
        </p:nvSpPr>
        <p:spPr>
          <a:xfrm>
            <a:off x="10927080" y="6419088"/>
            <a:ext cx="457200" cy="228600"/>
          </a:xfrm>
          <a:prstGeom prst="rect">
            <a:avLst/>
          </a:prstGeom>
          <a:noFill/>
        </p:spPr>
        <p:txBody>
          <a:bodyPr wrap="square" lIns="0" rIns="0" tIns="0" bIns="0" anchor="t">
            <a:spAutoFit/>
          </a:bodyPr>
          <a:lstStyle/>
          <a:p>
            <a:pPr algn="r">
              <a:lnSpc>
                <a:spcPct val="112000"/>
              </a:lnSpc>
            </a:pPr>
            <a:r>
              <a:rPr sz="900" b="0">
                <a:solidFill>
                  <a:srgbClr val="8D99B0"/>
                </a:solidFill>
                <a:latin typeface="DM Sans"/>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E1628"/>
        </a:solidFill>
        <a:effectLst/>
      </p:bgPr>
    </p:bg>
    <p:spTree>
      <p:nvGrpSpPr>
        <p:cNvPr id="1" name=""/>
        <p:cNvGrpSpPr/>
        <p:nvPr/>
      </p:nvGrpSpPr>
      <p:grpSpPr/>
      <p:sp>
        <p:nvSpPr>
          <p:cNvPr id="2" name="Rectangle 1"/>
          <p:cNvSpPr/>
          <p:nvPr/>
        </p:nvSpPr>
        <p:spPr>
          <a:xfrm>
            <a:off x="6986016" y="0"/>
            <a:ext cx="5202936" cy="4059936"/>
          </a:xfrm>
          <a:prstGeom prst="rect">
            <a:avLst/>
          </a:prstGeom>
          <a:gradFill rotWithShape="1">
            <a:gsLst>
              <a:gs pos="0">
                <a:srgbClr val="8EA2FF">
                  <a:alpha val="18000"/>
                </a:srgbClr>
              </a:gs>
              <a:gs pos="65000">
                <a:srgbClr val="8EA2FF">
                  <a:alpha val="0"/>
                </a:srgbClr>
              </a:gs>
            </a:gsLst>
            <a:path path="circle">
              <a:fillToRect l="70000" t="25000" r="30000" b="75000"/>
            </a:path>
          </a:gradFill>
          <a:ln>
            <a:noFill/>
          </a:ln>
        </p:spPr>
        <p:txBody>
          <a:bodyPr rtlCol="0" anchor="ctr"/>
          <a:lstStyle/>
          <a:p>
            <a:pPr algn="ctr"/>
          </a:p>
        </p:txBody>
      </p:sp>
      <p:sp>
        <p:nvSpPr>
          <p:cNvPr id="3" name="TextBox 2"/>
          <p:cNvSpPr txBox="1"/>
          <p:nvPr/>
        </p:nvSpPr>
        <p:spPr>
          <a:xfrm>
            <a:off x="813816" y="502920"/>
            <a:ext cx="10570464" cy="228600"/>
          </a:xfrm>
          <a:prstGeom prst="rect">
            <a:avLst/>
          </a:prstGeom>
          <a:noFill/>
        </p:spPr>
        <p:txBody>
          <a:bodyPr wrap="square" lIns="0" rIns="0" tIns="0" bIns="0" anchor="t">
            <a:spAutoFit/>
          </a:bodyPr>
          <a:lstStyle/>
          <a:p>
            <a:pPr algn="l">
              <a:lnSpc>
                <a:spcPct val="112000"/>
              </a:lnSpc>
            </a:pPr>
            <a:r>
              <a:rPr sz="1100" b="1" spc="150">
                <a:solidFill>
                  <a:srgbClr val="5EEAD4"/>
                </a:solidFill>
                <a:latin typeface="DM Sans"/>
              </a:rPr>
              <a:t>FINDING 5 · NO ONE SIZE FITS ALL</a:t>
            </a:r>
          </a:p>
        </p:txBody>
      </p:sp>
      <p:sp>
        <p:nvSpPr>
          <p:cNvPr id="4" name="TextBox 3"/>
          <p:cNvSpPr txBox="1"/>
          <p:nvPr/>
        </p:nvSpPr>
        <p:spPr>
          <a:xfrm>
            <a:off x="813816" y="777240"/>
            <a:ext cx="10570464" cy="408939"/>
          </a:xfrm>
          <a:prstGeom prst="rect">
            <a:avLst/>
          </a:prstGeom>
          <a:noFill/>
        </p:spPr>
        <p:txBody>
          <a:bodyPr wrap="square" lIns="0" rIns="0" tIns="0" bIns="0" anchor="t">
            <a:spAutoFit/>
          </a:bodyPr>
          <a:lstStyle/>
          <a:p>
            <a:pPr algn="l">
              <a:lnSpc>
                <a:spcPct val="100000"/>
              </a:lnSpc>
            </a:pPr>
            <a:r>
              <a:rPr sz="2800" b="1">
                <a:solidFill>
                  <a:srgbClr val="FFFFFF"/>
                </a:solidFill>
                <a:latin typeface="Space Grotesk"/>
              </a:rPr>
              <a:t>The same setting works differently in every factory</a:t>
            </a:r>
          </a:p>
        </p:txBody>
      </p:sp>
      <p:pic>
        <p:nvPicPr>
          <p:cNvPr id="5" name="Picture 4" descr="k10_sites.png"/>
          <p:cNvPicPr>
            <a:picLocks noChangeAspect="1"/>
          </p:cNvPicPr>
          <p:nvPr/>
        </p:nvPicPr>
        <p:blipFill>
          <a:blip r:embed="rId2"/>
          <a:stretch>
            <a:fillRect/>
          </a:stretch>
        </p:blipFill>
        <p:spPr>
          <a:xfrm>
            <a:off x="676656" y="1460500"/>
            <a:ext cx="6766560" cy="3291840"/>
          </a:xfrm>
          <a:prstGeom prst="rect">
            <a:avLst/>
          </a:prstGeom>
        </p:spPr>
      </p:pic>
      <p:pic>
        <p:nvPicPr>
          <p:cNvPr id="6" name="Picture 5" descr="k11_drivers.png"/>
          <p:cNvPicPr>
            <a:picLocks noChangeAspect="1"/>
          </p:cNvPicPr>
          <p:nvPr/>
        </p:nvPicPr>
        <p:blipFill>
          <a:blip r:embed="rId3"/>
          <a:stretch>
            <a:fillRect/>
          </a:stretch>
        </p:blipFill>
        <p:spPr>
          <a:xfrm>
            <a:off x="7223760" y="1460500"/>
            <a:ext cx="4206240" cy="3291840"/>
          </a:xfrm>
          <a:prstGeom prst="rect">
            <a:avLst/>
          </a:prstGeom>
        </p:spPr>
      </p:pic>
      <p:sp>
        <p:nvSpPr>
          <p:cNvPr id="7" name="Rounded Rectangle 6"/>
          <p:cNvSpPr/>
          <p:nvPr/>
        </p:nvSpPr>
        <p:spPr>
          <a:xfrm>
            <a:off x="813816" y="5394960"/>
            <a:ext cx="10570464" cy="731520"/>
          </a:xfrm>
          <a:prstGeom prst="roundRect">
            <a:avLst>
              <a:gd name="adj" fmla="val 15000"/>
            </a:avLst>
          </a:prstGeom>
          <a:solidFill>
            <a:srgbClr val="5EEAD4">
              <a:alpha val="13000"/>
            </a:srgbClr>
          </a:solidFill>
          <a:ln w="6350">
            <a:solidFill>
              <a:srgbClr val="5EEAD4">
                <a:alpha val="50000"/>
              </a:srgbClr>
            </a:solidFill>
          </a:ln>
        </p:spPr>
        <p:txBody>
          <a:bodyPr rtlCol="0" anchor="ctr"/>
          <a:lstStyle/>
          <a:p>
            <a:pPr algn="ctr"/>
          </a:p>
        </p:txBody>
      </p:sp>
      <p:sp>
        <p:nvSpPr>
          <p:cNvPr id="8" name="TextBox 7"/>
          <p:cNvSpPr txBox="1"/>
          <p:nvPr/>
        </p:nvSpPr>
        <p:spPr>
          <a:xfrm>
            <a:off x="1042416" y="5394960"/>
            <a:ext cx="10113264" cy="731520"/>
          </a:xfrm>
          <a:prstGeom prst="rect">
            <a:avLst/>
          </a:prstGeom>
          <a:noFill/>
        </p:spPr>
        <p:txBody>
          <a:bodyPr wrap="square" lIns="0" rIns="0" tIns="0" bIns="0" anchor="ctr">
            <a:spAutoFit/>
          </a:bodyPr>
          <a:lstStyle/>
          <a:p>
            <a:pPr algn="l">
              <a:lnSpc>
                <a:spcPct val="112000"/>
              </a:lnSpc>
            </a:pPr>
            <a:r>
              <a:rPr sz="1350" b="1">
                <a:solidFill>
                  <a:srgbClr val="FFFFFF"/>
                </a:solidFill>
                <a:latin typeface="DM Sans"/>
              </a:rPr>
              <a:t>What decides the best setting only shows once a scale is running.</a:t>
            </a:r>
            <a:r>
              <a:rPr sz="1350" b="0">
                <a:solidFill>
                  <a:srgbClr val="D7DEFF"/>
                </a:solidFill>
                <a:latin typeface="DM Sans"/>
              </a:rPr>
              <a:t> So each scale should learn its own setting.</a:t>
            </a:r>
          </a:p>
        </p:txBody>
      </p:sp>
      <p:sp>
        <p:nvSpPr>
          <p:cNvPr id="9" name="TextBox 8"/>
          <p:cNvSpPr txBox="1"/>
          <p:nvPr/>
        </p:nvSpPr>
        <p:spPr>
          <a:xfrm>
            <a:off x="813816" y="6419088"/>
            <a:ext cx="9875520" cy="228600"/>
          </a:xfrm>
          <a:prstGeom prst="rect">
            <a:avLst/>
          </a:prstGeom>
          <a:noFill/>
        </p:spPr>
        <p:txBody>
          <a:bodyPr wrap="square" lIns="0" rIns="0" tIns="0" bIns="0" anchor="t">
            <a:spAutoFit/>
          </a:bodyPr>
          <a:lstStyle/>
          <a:p>
            <a:pPr algn="l">
              <a:lnSpc>
                <a:spcPct val="100000"/>
              </a:lnSpc>
            </a:pPr>
            <a:r>
              <a:rPr sz="900" b="0">
                <a:solidFill>
                  <a:srgbClr val="8D99B0"/>
                </a:solidFill>
                <a:latin typeface="DM Sans"/>
              </a:rPr>
              <a:t>Source: own analysis of the Bossard SmartBin data, 1 Mar to 20 Jun 2022 · factories with at least 20 scales, default setting · Report §4.7, §4.8</a:t>
            </a:r>
          </a:p>
        </p:txBody>
      </p:sp>
      <p:sp>
        <p:nvSpPr>
          <p:cNvPr id="10" name="TextBox 9"/>
          <p:cNvSpPr txBox="1"/>
          <p:nvPr/>
        </p:nvSpPr>
        <p:spPr>
          <a:xfrm>
            <a:off x="10927080" y="6419088"/>
            <a:ext cx="457200" cy="228600"/>
          </a:xfrm>
          <a:prstGeom prst="rect">
            <a:avLst/>
          </a:prstGeom>
          <a:noFill/>
        </p:spPr>
        <p:txBody>
          <a:bodyPr wrap="square" lIns="0" rIns="0" tIns="0" bIns="0" anchor="t">
            <a:spAutoFit/>
          </a:bodyPr>
          <a:lstStyle/>
          <a:p>
            <a:pPr algn="r">
              <a:lnSpc>
                <a:spcPct val="112000"/>
              </a:lnSpc>
            </a:pPr>
            <a:r>
              <a:rPr sz="900" b="0">
                <a:solidFill>
                  <a:srgbClr val="8D99B0"/>
                </a:solidFill>
                <a:latin typeface="DM Sans"/>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A1020"/>
        </a:solidFill>
        <a:effectLst/>
      </p:bgPr>
    </p:bg>
    <p:spTree>
      <p:nvGrpSpPr>
        <p:cNvPr id="1" name=""/>
        <p:cNvGrpSpPr/>
        <p:nvPr/>
      </p:nvGrpSpPr>
      <p:grpSpPr/>
      <p:sp>
        <p:nvSpPr>
          <p:cNvPr id="2" name="Rectangle 1"/>
          <p:cNvSpPr/>
          <p:nvPr/>
        </p:nvSpPr>
        <p:spPr>
          <a:xfrm>
            <a:off x="6986016" y="0"/>
            <a:ext cx="5202936" cy="4059936"/>
          </a:xfrm>
          <a:prstGeom prst="rect">
            <a:avLst/>
          </a:prstGeom>
          <a:gradFill rotWithShape="1">
            <a:gsLst>
              <a:gs pos="0">
                <a:srgbClr val="8EA2FF">
                  <a:alpha val="18000"/>
                </a:srgbClr>
              </a:gs>
              <a:gs pos="65000">
                <a:srgbClr val="8EA2FF">
                  <a:alpha val="0"/>
                </a:srgbClr>
              </a:gs>
            </a:gsLst>
            <a:path path="circle">
              <a:fillToRect l="70000" t="25000" r="30000" b="75000"/>
            </a:path>
          </a:gradFill>
          <a:ln>
            <a:noFill/>
          </a:ln>
        </p:spPr>
        <p:txBody>
          <a:bodyPr rtlCol="0" anchor="ctr"/>
          <a:lstStyle/>
          <a:p>
            <a:pPr algn="ctr"/>
          </a:p>
        </p:txBody>
      </p:sp>
      <p:sp>
        <p:nvSpPr>
          <p:cNvPr id="3" name="TextBox 2"/>
          <p:cNvSpPr txBox="1"/>
          <p:nvPr/>
        </p:nvSpPr>
        <p:spPr>
          <a:xfrm>
            <a:off x="813816" y="502920"/>
            <a:ext cx="10570464" cy="228600"/>
          </a:xfrm>
          <a:prstGeom prst="rect">
            <a:avLst/>
          </a:prstGeom>
          <a:noFill/>
        </p:spPr>
        <p:txBody>
          <a:bodyPr wrap="square" lIns="0" rIns="0" tIns="0" bIns="0" anchor="t">
            <a:spAutoFit/>
          </a:bodyPr>
          <a:lstStyle/>
          <a:p>
            <a:pPr algn="l">
              <a:lnSpc>
                <a:spcPct val="112000"/>
              </a:lnSpc>
            </a:pPr>
            <a:r>
              <a:rPr sz="1100" b="1" spc="150">
                <a:solidFill>
                  <a:srgbClr val="5EEAD4"/>
                </a:solidFill>
                <a:latin typeface="DM Sans"/>
              </a:rPr>
              <a:t>OUR RECOMMENDATION</a:t>
            </a:r>
          </a:p>
        </p:txBody>
      </p:sp>
      <p:sp>
        <p:nvSpPr>
          <p:cNvPr id="4" name="TextBox 3"/>
          <p:cNvSpPr txBox="1"/>
          <p:nvPr/>
        </p:nvSpPr>
        <p:spPr>
          <a:xfrm>
            <a:off x="813816" y="777240"/>
            <a:ext cx="10570464" cy="408939"/>
          </a:xfrm>
          <a:prstGeom prst="rect">
            <a:avLst/>
          </a:prstGeom>
          <a:noFill/>
        </p:spPr>
        <p:txBody>
          <a:bodyPr wrap="square" lIns="0" rIns="0" tIns="0" bIns="0" anchor="t">
            <a:spAutoFit/>
          </a:bodyPr>
          <a:lstStyle/>
          <a:p>
            <a:pPr algn="l">
              <a:lnSpc>
                <a:spcPct val="100000"/>
              </a:lnSpc>
            </a:pPr>
            <a:r>
              <a:rPr sz="2800" b="1">
                <a:solidFill>
                  <a:srgbClr val="FFFFFF"/>
                </a:solidFill>
                <a:latin typeface="Space Grotesk"/>
              </a:rPr>
              <a:t>Flag, tune, watch</a:t>
            </a:r>
          </a:p>
        </p:txBody>
      </p:sp>
      <p:sp>
        <p:nvSpPr>
          <p:cNvPr id="5" name="Rounded Rectangle 4"/>
          <p:cNvSpPr/>
          <p:nvPr/>
        </p:nvSpPr>
        <p:spPr>
          <a:xfrm>
            <a:off x="813816" y="1506220"/>
            <a:ext cx="3340608" cy="2514600"/>
          </a:xfrm>
          <a:prstGeom prst="roundRect">
            <a:avLst>
              <a:gd name="adj" fmla="val 4363"/>
            </a:avLst>
          </a:prstGeom>
          <a:solidFill>
            <a:srgbClr val="FF8FA3">
              <a:alpha val="8000"/>
            </a:srgbClr>
          </a:solidFill>
          <a:ln w="6350">
            <a:solidFill>
              <a:srgbClr val="FF8FA3">
                <a:alpha val="50000"/>
              </a:srgbClr>
            </a:solidFill>
          </a:ln>
        </p:spPr>
        <p:txBody>
          <a:bodyPr rtlCol="0" anchor="ctr"/>
          <a:lstStyle/>
          <a:p>
            <a:pPr algn="ctr"/>
          </a:p>
        </p:txBody>
      </p:sp>
      <p:sp>
        <p:nvSpPr>
          <p:cNvPr id="6" name="Oval 5"/>
          <p:cNvSpPr/>
          <p:nvPr/>
        </p:nvSpPr>
        <p:spPr>
          <a:xfrm>
            <a:off x="1042416" y="1734820"/>
            <a:ext cx="502920" cy="502920"/>
          </a:xfrm>
          <a:prstGeom prst="ellipse">
            <a:avLst/>
          </a:prstGeom>
          <a:solidFill>
            <a:srgbClr val="FF8FA3"/>
          </a:solidFill>
          <a:ln>
            <a:noFill/>
          </a:ln>
        </p:spPr>
        <p:txBody>
          <a:bodyPr rtlCol="0" anchor="ctr" lIns="0" rIns="0" tIns="0" bIns="0"/>
          <a:lstStyle/>
          <a:p>
            <a:pPr algn="ctr"/>
            <a:r>
              <a:rPr sz="2000" b="1">
                <a:solidFill>
                  <a:srgbClr val="0A1020"/>
                </a:solidFill>
                <a:latin typeface="Space Grotesk"/>
              </a:rPr>
              <a:t>F</a:t>
            </a:r>
          </a:p>
        </p:txBody>
      </p:sp>
      <p:sp>
        <p:nvSpPr>
          <p:cNvPr id="7" name="TextBox 6"/>
          <p:cNvSpPr txBox="1"/>
          <p:nvPr/>
        </p:nvSpPr>
        <p:spPr>
          <a:xfrm>
            <a:off x="1682495" y="1780540"/>
            <a:ext cx="2334768" cy="457200"/>
          </a:xfrm>
          <a:prstGeom prst="rect">
            <a:avLst/>
          </a:prstGeom>
          <a:noFill/>
        </p:spPr>
        <p:txBody>
          <a:bodyPr wrap="square" lIns="0" rIns="0" tIns="0" bIns="0" anchor="t">
            <a:spAutoFit/>
          </a:bodyPr>
          <a:lstStyle/>
          <a:p>
            <a:pPr algn="l">
              <a:lnSpc>
                <a:spcPct val="112000"/>
              </a:lnSpc>
            </a:pPr>
            <a:r>
              <a:rPr sz="2400" b="1">
                <a:solidFill>
                  <a:srgbClr val="FFFFFF"/>
                </a:solidFill>
                <a:latin typeface="Space Grotesk"/>
              </a:rPr>
              <a:t>Flag</a:t>
            </a:r>
          </a:p>
        </p:txBody>
      </p:sp>
      <p:sp>
        <p:nvSpPr>
          <p:cNvPr id="8" name="TextBox 7"/>
          <p:cNvSpPr txBox="1"/>
          <p:nvPr/>
        </p:nvSpPr>
        <p:spPr>
          <a:xfrm>
            <a:off x="1042416" y="2420620"/>
            <a:ext cx="2883408" cy="1005840"/>
          </a:xfrm>
          <a:prstGeom prst="rect">
            <a:avLst/>
          </a:prstGeom>
          <a:noFill/>
        </p:spPr>
        <p:txBody>
          <a:bodyPr wrap="square" lIns="0" rIns="0" tIns="0" bIns="0" anchor="t">
            <a:spAutoFit/>
          </a:bodyPr>
          <a:lstStyle/>
          <a:p>
            <a:pPr algn="l">
              <a:lnSpc>
                <a:spcPct val="115000"/>
              </a:lnSpc>
            </a:pPr>
            <a:r>
              <a:rPr sz="1350" b="0">
                <a:solidFill>
                  <a:srgbClr val="D7DEFF"/>
                </a:solidFill>
                <a:latin typeface="DM Sans"/>
              </a:rPr>
              <a:t>Find looping scales every day and send them to service.</a:t>
            </a:r>
          </a:p>
        </p:txBody>
      </p:sp>
      <p:sp>
        <p:nvSpPr>
          <p:cNvPr id="9" name="Rounded Rectangle 8"/>
          <p:cNvSpPr/>
          <p:nvPr/>
        </p:nvSpPr>
        <p:spPr>
          <a:xfrm>
            <a:off x="1042416" y="3517900"/>
            <a:ext cx="1137503" cy="310896"/>
          </a:xfrm>
          <a:prstGeom prst="roundRect">
            <a:avLst>
              <a:gd name="adj" fmla="val 50000"/>
            </a:avLst>
          </a:prstGeom>
          <a:solidFill>
            <a:srgbClr val="FF8FA3">
              <a:alpha val="16000"/>
            </a:srgbClr>
          </a:solidFill>
          <a:ln w="6350">
            <a:solidFill>
              <a:srgbClr val="FF8FA3">
                <a:alpha val="45000"/>
              </a:srgbClr>
            </a:solidFill>
          </a:ln>
        </p:spPr>
        <p:txBody>
          <a:bodyPr rtlCol="0" anchor="ctr" lIns="45720" rIns="45720" tIns="0" bIns="0" wrap="none"/>
          <a:lstStyle/>
          <a:p>
            <a:pPr algn="ctr"/>
            <a:r>
              <a:rPr sz="1200" b="1">
                <a:solidFill>
                  <a:srgbClr val="FF8FA3"/>
                </a:solidFill>
                <a:latin typeface="DM Sans"/>
              </a:rPr>
              <a:t>274 scales</a:t>
            </a:r>
          </a:p>
        </p:txBody>
      </p:sp>
      <p:sp>
        <p:nvSpPr>
          <p:cNvPr id="10" name="Rounded Rectangle 9"/>
          <p:cNvSpPr/>
          <p:nvPr/>
        </p:nvSpPr>
        <p:spPr>
          <a:xfrm>
            <a:off x="4428744" y="1506220"/>
            <a:ext cx="3340608" cy="2514600"/>
          </a:xfrm>
          <a:prstGeom prst="roundRect">
            <a:avLst>
              <a:gd name="adj" fmla="val 4363"/>
            </a:avLst>
          </a:prstGeom>
          <a:solidFill>
            <a:srgbClr val="5EEAD4">
              <a:alpha val="8000"/>
            </a:srgbClr>
          </a:solidFill>
          <a:ln w="6350">
            <a:solidFill>
              <a:srgbClr val="5EEAD4">
                <a:alpha val="50000"/>
              </a:srgbClr>
            </a:solidFill>
          </a:ln>
        </p:spPr>
        <p:txBody>
          <a:bodyPr rtlCol="0" anchor="ctr"/>
          <a:lstStyle/>
          <a:p>
            <a:pPr algn="ctr"/>
          </a:p>
        </p:txBody>
      </p:sp>
      <p:sp>
        <p:nvSpPr>
          <p:cNvPr id="11" name="Oval 10"/>
          <p:cNvSpPr/>
          <p:nvPr/>
        </p:nvSpPr>
        <p:spPr>
          <a:xfrm>
            <a:off x="4657344" y="1734820"/>
            <a:ext cx="502920" cy="502920"/>
          </a:xfrm>
          <a:prstGeom prst="ellipse">
            <a:avLst/>
          </a:prstGeom>
          <a:solidFill>
            <a:srgbClr val="5EEAD4"/>
          </a:solidFill>
          <a:ln>
            <a:noFill/>
          </a:ln>
        </p:spPr>
        <p:txBody>
          <a:bodyPr rtlCol="0" anchor="ctr" lIns="0" rIns="0" tIns="0" bIns="0"/>
          <a:lstStyle/>
          <a:p>
            <a:pPr algn="ctr"/>
            <a:r>
              <a:rPr sz="2000" b="1">
                <a:solidFill>
                  <a:srgbClr val="0A1020"/>
                </a:solidFill>
                <a:latin typeface="Space Grotesk"/>
              </a:rPr>
              <a:t>T</a:t>
            </a:r>
          </a:p>
        </p:txBody>
      </p:sp>
      <p:sp>
        <p:nvSpPr>
          <p:cNvPr id="12" name="TextBox 11"/>
          <p:cNvSpPr txBox="1"/>
          <p:nvPr/>
        </p:nvSpPr>
        <p:spPr>
          <a:xfrm>
            <a:off x="5297424" y="1780540"/>
            <a:ext cx="2334768" cy="457200"/>
          </a:xfrm>
          <a:prstGeom prst="rect">
            <a:avLst/>
          </a:prstGeom>
          <a:noFill/>
        </p:spPr>
        <p:txBody>
          <a:bodyPr wrap="square" lIns="0" rIns="0" tIns="0" bIns="0" anchor="t">
            <a:spAutoFit/>
          </a:bodyPr>
          <a:lstStyle/>
          <a:p>
            <a:pPr algn="l">
              <a:lnSpc>
                <a:spcPct val="112000"/>
              </a:lnSpc>
            </a:pPr>
            <a:r>
              <a:rPr sz="2400" b="1">
                <a:solidFill>
                  <a:srgbClr val="FFFFFF"/>
                </a:solidFill>
                <a:latin typeface="Space Grotesk"/>
              </a:rPr>
              <a:t>Tune</a:t>
            </a:r>
          </a:p>
        </p:txBody>
      </p:sp>
      <p:sp>
        <p:nvSpPr>
          <p:cNvPr id="13" name="TextBox 12"/>
          <p:cNvSpPr txBox="1"/>
          <p:nvPr/>
        </p:nvSpPr>
        <p:spPr>
          <a:xfrm>
            <a:off x="4657344" y="2420620"/>
            <a:ext cx="2883408" cy="1005840"/>
          </a:xfrm>
          <a:prstGeom prst="rect">
            <a:avLst/>
          </a:prstGeom>
          <a:noFill/>
        </p:spPr>
        <p:txBody>
          <a:bodyPr wrap="square" lIns="0" rIns="0" tIns="0" bIns="0" anchor="t">
            <a:spAutoFit/>
          </a:bodyPr>
          <a:lstStyle/>
          <a:p>
            <a:pPr algn="l">
              <a:lnSpc>
                <a:spcPct val="115000"/>
              </a:lnSpc>
            </a:pPr>
            <a:r>
              <a:rPr sz="1350" b="0">
                <a:solidFill>
                  <a:srgbClr val="D7DEFF"/>
                </a:solidFill>
                <a:latin typeface="DM Sans"/>
              </a:rPr>
              <a:t>Start every scale on 7. Every two weeks it moves one step, or stays.</a:t>
            </a:r>
          </a:p>
        </p:txBody>
      </p:sp>
      <p:sp>
        <p:nvSpPr>
          <p:cNvPr id="14" name="Rounded Rectangle 13"/>
          <p:cNvSpPr/>
          <p:nvPr/>
        </p:nvSpPr>
        <p:spPr>
          <a:xfrm>
            <a:off x="4657344" y="3517900"/>
            <a:ext cx="2079942" cy="310896"/>
          </a:xfrm>
          <a:prstGeom prst="roundRect">
            <a:avLst>
              <a:gd name="adj" fmla="val 50000"/>
            </a:avLst>
          </a:prstGeom>
          <a:solidFill>
            <a:srgbClr val="5EEAD4">
              <a:alpha val="16000"/>
            </a:srgbClr>
          </a:solidFill>
          <a:ln w="6350">
            <a:solidFill>
              <a:srgbClr val="5EEAD4">
                <a:alpha val="45000"/>
              </a:srgbClr>
            </a:solidFill>
          </a:ln>
        </p:spPr>
        <p:txBody>
          <a:bodyPr rtlCol="0" anchor="ctr" lIns="45720" rIns="45720" tIns="0" bIns="0" wrap="none"/>
          <a:lstStyle/>
          <a:p>
            <a:pPr algn="ctr"/>
            <a:r>
              <a:rPr sz="1200" b="1">
                <a:solidFill>
                  <a:srgbClr val="5EEAD4"/>
                </a:solidFill>
                <a:latin typeface="DM Sans"/>
              </a:rPr>
              <a:t>−61% / −55% weighings</a:t>
            </a:r>
          </a:p>
        </p:txBody>
      </p:sp>
      <p:sp>
        <p:nvSpPr>
          <p:cNvPr id="15" name="Rounded Rectangle 14"/>
          <p:cNvSpPr/>
          <p:nvPr/>
        </p:nvSpPr>
        <p:spPr>
          <a:xfrm>
            <a:off x="8043672" y="1506220"/>
            <a:ext cx="3340608" cy="2514600"/>
          </a:xfrm>
          <a:prstGeom prst="roundRect">
            <a:avLst>
              <a:gd name="adj" fmla="val 4363"/>
            </a:avLst>
          </a:prstGeom>
          <a:solidFill>
            <a:srgbClr val="8EA2FF">
              <a:alpha val="8000"/>
            </a:srgbClr>
          </a:solidFill>
          <a:ln w="6350">
            <a:solidFill>
              <a:srgbClr val="8EA2FF">
                <a:alpha val="50000"/>
              </a:srgbClr>
            </a:solidFill>
          </a:ln>
        </p:spPr>
        <p:txBody>
          <a:bodyPr rtlCol="0" anchor="ctr"/>
          <a:lstStyle/>
          <a:p>
            <a:pPr algn="ctr"/>
          </a:p>
        </p:txBody>
      </p:sp>
      <p:sp>
        <p:nvSpPr>
          <p:cNvPr id="16" name="Oval 15"/>
          <p:cNvSpPr/>
          <p:nvPr/>
        </p:nvSpPr>
        <p:spPr>
          <a:xfrm>
            <a:off x="8272272" y="1734820"/>
            <a:ext cx="502920" cy="502920"/>
          </a:xfrm>
          <a:prstGeom prst="ellipse">
            <a:avLst/>
          </a:prstGeom>
          <a:solidFill>
            <a:srgbClr val="8EA2FF"/>
          </a:solidFill>
          <a:ln>
            <a:noFill/>
          </a:ln>
        </p:spPr>
        <p:txBody>
          <a:bodyPr rtlCol="0" anchor="ctr" lIns="0" rIns="0" tIns="0" bIns="0"/>
          <a:lstStyle/>
          <a:p>
            <a:pPr algn="ctr"/>
            <a:r>
              <a:rPr sz="2000" b="1">
                <a:solidFill>
                  <a:srgbClr val="0A1020"/>
                </a:solidFill>
                <a:latin typeface="Space Grotesk"/>
              </a:rPr>
              <a:t>W</a:t>
            </a:r>
          </a:p>
        </p:txBody>
      </p:sp>
      <p:sp>
        <p:nvSpPr>
          <p:cNvPr id="17" name="TextBox 16"/>
          <p:cNvSpPr txBox="1"/>
          <p:nvPr/>
        </p:nvSpPr>
        <p:spPr>
          <a:xfrm>
            <a:off x="8912352" y="1780540"/>
            <a:ext cx="2334768" cy="457200"/>
          </a:xfrm>
          <a:prstGeom prst="rect">
            <a:avLst/>
          </a:prstGeom>
          <a:noFill/>
        </p:spPr>
        <p:txBody>
          <a:bodyPr wrap="square" lIns="0" rIns="0" tIns="0" bIns="0" anchor="t">
            <a:spAutoFit/>
          </a:bodyPr>
          <a:lstStyle/>
          <a:p>
            <a:pPr algn="l">
              <a:lnSpc>
                <a:spcPct val="112000"/>
              </a:lnSpc>
            </a:pPr>
            <a:r>
              <a:rPr sz="2400" b="1">
                <a:solidFill>
                  <a:srgbClr val="FFFFFF"/>
                </a:solidFill>
                <a:latin typeface="Space Grotesk"/>
              </a:rPr>
              <a:t>Watch</a:t>
            </a:r>
          </a:p>
        </p:txBody>
      </p:sp>
      <p:sp>
        <p:nvSpPr>
          <p:cNvPr id="18" name="TextBox 17"/>
          <p:cNvSpPr txBox="1"/>
          <p:nvPr/>
        </p:nvSpPr>
        <p:spPr>
          <a:xfrm>
            <a:off x="8272272" y="2420620"/>
            <a:ext cx="2883408" cy="1005840"/>
          </a:xfrm>
          <a:prstGeom prst="rect">
            <a:avLst/>
          </a:prstGeom>
          <a:noFill/>
        </p:spPr>
        <p:txBody>
          <a:bodyPr wrap="square" lIns="0" rIns="0" tIns="0" bIns="0" anchor="t">
            <a:spAutoFit/>
          </a:bodyPr>
          <a:lstStyle/>
          <a:p>
            <a:pPr algn="l">
              <a:lnSpc>
                <a:spcPct val="115000"/>
              </a:lnSpc>
            </a:pPr>
            <a:r>
              <a:rPr sz="1350" b="0">
                <a:solidFill>
                  <a:srgbClr val="D7DEFF"/>
                </a:solidFill>
                <a:latin typeface="DM Sans"/>
              </a:rPr>
              <a:t>Track KPI 2.0. Keep the daily check. Watch the few scales that miss most.</a:t>
            </a:r>
          </a:p>
        </p:txBody>
      </p:sp>
      <p:sp>
        <p:nvSpPr>
          <p:cNvPr id="19" name="Rounded Rectangle 18"/>
          <p:cNvSpPr/>
          <p:nvPr/>
        </p:nvSpPr>
        <p:spPr>
          <a:xfrm>
            <a:off x="8272272" y="3517900"/>
            <a:ext cx="1763871" cy="310896"/>
          </a:xfrm>
          <a:prstGeom prst="roundRect">
            <a:avLst>
              <a:gd name="adj" fmla="val 50000"/>
            </a:avLst>
          </a:prstGeom>
          <a:solidFill>
            <a:srgbClr val="8EA2FF">
              <a:alpha val="16000"/>
            </a:srgbClr>
          </a:solidFill>
          <a:ln w="6350">
            <a:solidFill>
              <a:srgbClr val="8EA2FF">
                <a:alpha val="45000"/>
              </a:srgbClr>
            </a:solidFill>
          </a:ln>
        </p:spPr>
        <p:txBody>
          <a:bodyPr rtlCol="0" anchor="ctr" lIns="45720" rIns="45720" tIns="0" bIns="0" wrap="none"/>
          <a:lstStyle/>
          <a:p>
            <a:pPr algn="ctr"/>
            <a:r>
              <a:rPr sz="1200" b="1">
                <a:solidFill>
                  <a:srgbClr val="8EA2FF"/>
                </a:solidFill>
                <a:latin typeface="DM Sans"/>
              </a:rPr>
              <a:t>misses stay visible</a:t>
            </a:r>
          </a:p>
        </p:txBody>
      </p:sp>
      <p:sp>
        <p:nvSpPr>
          <p:cNvPr id="20" name="Rectangle 19"/>
          <p:cNvSpPr/>
          <p:nvPr/>
        </p:nvSpPr>
        <p:spPr>
          <a:xfrm>
            <a:off x="813816" y="4551172"/>
            <a:ext cx="3477768" cy="36576"/>
          </a:xfrm>
          <a:prstGeom prst="rect">
            <a:avLst/>
          </a:prstGeom>
          <a:solidFill>
            <a:srgbClr val="5EEAD4"/>
          </a:solidFill>
          <a:ln>
            <a:noFill/>
          </a:ln>
        </p:spPr>
        <p:txBody>
          <a:bodyPr rtlCol="0" anchor="ctr"/>
          <a:lstStyle/>
          <a:p>
            <a:pPr algn="ctr"/>
          </a:p>
        </p:txBody>
      </p:sp>
      <p:sp>
        <p:nvSpPr>
          <p:cNvPr id="21" name="Oval 20"/>
          <p:cNvSpPr/>
          <p:nvPr/>
        </p:nvSpPr>
        <p:spPr>
          <a:xfrm>
            <a:off x="813816" y="4432300"/>
            <a:ext cx="274320" cy="274320"/>
          </a:xfrm>
          <a:prstGeom prst="ellipse">
            <a:avLst/>
          </a:prstGeom>
          <a:solidFill>
            <a:srgbClr val="5EEAD4"/>
          </a:solidFill>
          <a:ln>
            <a:noFill/>
          </a:ln>
        </p:spPr>
        <p:txBody>
          <a:bodyPr rtlCol="0" anchor="ctr" lIns="0" rIns="0" tIns="0" bIns="0"/>
          <a:lstStyle/>
          <a:p>
            <a:pPr algn="ctr"/>
            <a:r>
              <a:rPr sz="1300" b="1">
                <a:solidFill>
                  <a:srgbClr val="0A1020"/>
                </a:solidFill>
                <a:latin typeface="Space Grotesk"/>
              </a:rPr>
              <a:t/>
            </a:r>
          </a:p>
        </p:txBody>
      </p:sp>
      <p:sp>
        <p:nvSpPr>
          <p:cNvPr id="22" name="TextBox 21"/>
          <p:cNvSpPr txBox="1"/>
          <p:nvPr/>
        </p:nvSpPr>
        <p:spPr>
          <a:xfrm>
            <a:off x="813816" y="4843780"/>
            <a:ext cx="3249168" cy="274320"/>
          </a:xfrm>
          <a:prstGeom prst="rect">
            <a:avLst/>
          </a:prstGeom>
          <a:noFill/>
        </p:spPr>
        <p:txBody>
          <a:bodyPr wrap="square" lIns="0" rIns="0" tIns="0" bIns="0" anchor="t">
            <a:spAutoFit/>
          </a:bodyPr>
          <a:lstStyle/>
          <a:p>
            <a:pPr algn="l">
              <a:lnSpc>
                <a:spcPct val="112000"/>
              </a:lnSpc>
            </a:pPr>
            <a:r>
              <a:rPr sz="1100" b="1" spc="120">
                <a:solidFill>
                  <a:srgbClr val="5EEAD4"/>
                </a:solidFill>
                <a:latin typeface="DM Sans"/>
              </a:rPr>
              <a:t>NOW</a:t>
            </a:r>
          </a:p>
        </p:txBody>
      </p:sp>
      <p:sp>
        <p:nvSpPr>
          <p:cNvPr id="23" name="TextBox 22"/>
          <p:cNvSpPr txBox="1"/>
          <p:nvPr/>
        </p:nvSpPr>
        <p:spPr>
          <a:xfrm>
            <a:off x="813816" y="5118100"/>
            <a:ext cx="3249168" cy="548640"/>
          </a:xfrm>
          <a:prstGeom prst="rect">
            <a:avLst/>
          </a:prstGeom>
          <a:noFill/>
        </p:spPr>
        <p:txBody>
          <a:bodyPr wrap="square" lIns="0" rIns="0" tIns="0" bIns="0" anchor="t">
            <a:spAutoFit/>
          </a:bodyPr>
          <a:lstStyle/>
          <a:p>
            <a:pPr algn="l">
              <a:lnSpc>
                <a:spcPct val="110000"/>
              </a:lnSpc>
            </a:pPr>
            <a:r>
              <a:rPr sz="1300" b="0">
                <a:solidFill>
                  <a:srgbClr val="FFFFFF"/>
                </a:solidFill>
                <a:latin typeface="DM Sans"/>
              </a:rPr>
              <a:t>Start the loop check · default 8 → 7</a:t>
            </a:r>
          </a:p>
        </p:txBody>
      </p:sp>
      <p:sp>
        <p:nvSpPr>
          <p:cNvPr id="24" name="Rectangle 23"/>
          <p:cNvSpPr/>
          <p:nvPr/>
        </p:nvSpPr>
        <p:spPr>
          <a:xfrm>
            <a:off x="4337304" y="4551172"/>
            <a:ext cx="3477768" cy="36576"/>
          </a:xfrm>
          <a:prstGeom prst="rect">
            <a:avLst/>
          </a:prstGeom>
          <a:solidFill>
            <a:srgbClr val="FFFFFF">
              <a:alpha val="20000"/>
            </a:srgbClr>
          </a:solidFill>
          <a:ln>
            <a:noFill/>
          </a:ln>
        </p:spPr>
        <p:txBody>
          <a:bodyPr rtlCol="0" anchor="ctr"/>
          <a:lstStyle/>
          <a:p>
            <a:pPr algn="ctr"/>
          </a:p>
        </p:txBody>
      </p:sp>
      <p:sp>
        <p:nvSpPr>
          <p:cNvPr id="25" name="Oval 24"/>
          <p:cNvSpPr/>
          <p:nvPr/>
        </p:nvSpPr>
        <p:spPr>
          <a:xfrm>
            <a:off x="4337304" y="4432300"/>
            <a:ext cx="274320" cy="274320"/>
          </a:xfrm>
          <a:prstGeom prst="ellipse">
            <a:avLst/>
          </a:prstGeom>
          <a:solidFill>
            <a:srgbClr val="8EA2FF"/>
          </a:solidFill>
          <a:ln>
            <a:noFill/>
          </a:ln>
        </p:spPr>
        <p:txBody>
          <a:bodyPr rtlCol="0" anchor="ctr" lIns="0" rIns="0" tIns="0" bIns="0"/>
          <a:lstStyle/>
          <a:p>
            <a:pPr algn="ctr"/>
            <a:r>
              <a:rPr sz="1300" b="1">
                <a:solidFill>
                  <a:srgbClr val="0A1020"/>
                </a:solidFill>
                <a:latin typeface="Space Grotesk"/>
              </a:rPr>
              <a:t/>
            </a:r>
          </a:p>
        </p:txBody>
      </p:sp>
      <p:sp>
        <p:nvSpPr>
          <p:cNvPr id="26" name="TextBox 25"/>
          <p:cNvSpPr txBox="1"/>
          <p:nvPr/>
        </p:nvSpPr>
        <p:spPr>
          <a:xfrm>
            <a:off x="4337304" y="4843780"/>
            <a:ext cx="3249168" cy="274320"/>
          </a:xfrm>
          <a:prstGeom prst="rect">
            <a:avLst/>
          </a:prstGeom>
          <a:noFill/>
        </p:spPr>
        <p:txBody>
          <a:bodyPr wrap="square" lIns="0" rIns="0" tIns="0" bIns="0" anchor="t">
            <a:spAutoFit/>
          </a:bodyPr>
          <a:lstStyle/>
          <a:p>
            <a:pPr algn="l">
              <a:lnSpc>
                <a:spcPct val="112000"/>
              </a:lnSpc>
            </a:pPr>
            <a:r>
              <a:rPr sz="1100" b="1" spc="120">
                <a:solidFill>
                  <a:srgbClr val="5EEAD4"/>
                </a:solidFill>
                <a:latin typeface="DM Sans"/>
              </a:rPr>
              <a:t>WEEKS 1 TO 8</a:t>
            </a:r>
          </a:p>
        </p:txBody>
      </p:sp>
      <p:sp>
        <p:nvSpPr>
          <p:cNvPr id="27" name="TextBox 26"/>
          <p:cNvSpPr txBox="1"/>
          <p:nvPr/>
        </p:nvSpPr>
        <p:spPr>
          <a:xfrm>
            <a:off x="4337304" y="5118100"/>
            <a:ext cx="3249168" cy="548640"/>
          </a:xfrm>
          <a:prstGeom prst="rect">
            <a:avLst/>
          </a:prstGeom>
          <a:noFill/>
        </p:spPr>
        <p:txBody>
          <a:bodyPr wrap="square" lIns="0" rIns="0" tIns="0" bIns="0" anchor="t">
            <a:spAutoFit/>
          </a:bodyPr>
          <a:lstStyle/>
          <a:p>
            <a:pPr algn="l">
              <a:lnSpc>
                <a:spcPct val="110000"/>
              </a:lnSpc>
            </a:pPr>
            <a:r>
              <a:rPr sz="1300" b="0">
                <a:solidFill>
                  <a:srgbClr val="FFFFFF"/>
                </a:solidFill>
                <a:latin typeface="DM Sans"/>
              </a:rPr>
              <a:t>Test the rule in about 10 factories</a:t>
            </a:r>
          </a:p>
        </p:txBody>
      </p:sp>
      <p:sp>
        <p:nvSpPr>
          <p:cNvPr id="28" name="Rectangle 27"/>
          <p:cNvSpPr/>
          <p:nvPr/>
        </p:nvSpPr>
        <p:spPr>
          <a:xfrm>
            <a:off x="7860792" y="4551172"/>
            <a:ext cx="3477768" cy="36576"/>
          </a:xfrm>
          <a:prstGeom prst="rect">
            <a:avLst/>
          </a:prstGeom>
          <a:solidFill>
            <a:srgbClr val="FFFFFF">
              <a:alpha val="20000"/>
            </a:srgbClr>
          </a:solidFill>
          <a:ln>
            <a:noFill/>
          </a:ln>
        </p:spPr>
        <p:txBody>
          <a:bodyPr rtlCol="0" anchor="ctr"/>
          <a:lstStyle/>
          <a:p>
            <a:pPr algn="ctr"/>
          </a:p>
        </p:txBody>
      </p:sp>
      <p:sp>
        <p:nvSpPr>
          <p:cNvPr id="29" name="Oval 28"/>
          <p:cNvSpPr/>
          <p:nvPr/>
        </p:nvSpPr>
        <p:spPr>
          <a:xfrm>
            <a:off x="7860792" y="4432300"/>
            <a:ext cx="274320" cy="274320"/>
          </a:xfrm>
          <a:prstGeom prst="ellipse">
            <a:avLst/>
          </a:prstGeom>
          <a:solidFill>
            <a:srgbClr val="8EA2FF"/>
          </a:solidFill>
          <a:ln>
            <a:noFill/>
          </a:ln>
        </p:spPr>
        <p:txBody>
          <a:bodyPr rtlCol="0" anchor="ctr" lIns="0" rIns="0" tIns="0" bIns="0"/>
          <a:lstStyle/>
          <a:p>
            <a:pPr algn="ctr"/>
            <a:r>
              <a:rPr sz="1300" b="1">
                <a:solidFill>
                  <a:srgbClr val="0A1020"/>
                </a:solidFill>
                <a:latin typeface="Space Grotesk"/>
              </a:rPr>
              <a:t/>
            </a:r>
          </a:p>
        </p:txBody>
      </p:sp>
      <p:sp>
        <p:nvSpPr>
          <p:cNvPr id="30" name="TextBox 29"/>
          <p:cNvSpPr txBox="1"/>
          <p:nvPr/>
        </p:nvSpPr>
        <p:spPr>
          <a:xfrm>
            <a:off x="7860792" y="4843780"/>
            <a:ext cx="3249168" cy="274320"/>
          </a:xfrm>
          <a:prstGeom prst="rect">
            <a:avLst/>
          </a:prstGeom>
          <a:noFill/>
        </p:spPr>
        <p:txBody>
          <a:bodyPr wrap="square" lIns="0" rIns="0" tIns="0" bIns="0" anchor="t">
            <a:spAutoFit/>
          </a:bodyPr>
          <a:lstStyle/>
          <a:p>
            <a:pPr algn="l">
              <a:lnSpc>
                <a:spcPct val="112000"/>
              </a:lnSpc>
            </a:pPr>
            <a:r>
              <a:rPr sz="1100" b="1" spc="120">
                <a:solidFill>
                  <a:srgbClr val="5EEAD4"/>
                </a:solidFill>
                <a:latin typeface="DM Sans"/>
              </a:rPr>
              <a:t>THEN</a:t>
            </a:r>
          </a:p>
        </p:txBody>
      </p:sp>
      <p:sp>
        <p:nvSpPr>
          <p:cNvPr id="31" name="TextBox 30"/>
          <p:cNvSpPr txBox="1"/>
          <p:nvPr/>
        </p:nvSpPr>
        <p:spPr>
          <a:xfrm>
            <a:off x="7860792" y="5118100"/>
            <a:ext cx="3249168" cy="548640"/>
          </a:xfrm>
          <a:prstGeom prst="rect">
            <a:avLst/>
          </a:prstGeom>
          <a:noFill/>
        </p:spPr>
        <p:txBody>
          <a:bodyPr wrap="square" lIns="0" rIns="0" tIns="0" bIns="0" anchor="t">
            <a:spAutoFit/>
          </a:bodyPr>
          <a:lstStyle/>
          <a:p>
            <a:pPr algn="l">
              <a:lnSpc>
                <a:spcPct val="110000"/>
              </a:lnSpc>
            </a:pPr>
            <a:r>
              <a:rPr sz="1300" b="0">
                <a:solidFill>
                  <a:srgbClr val="FFFFFF"/>
                </a:solidFill>
                <a:latin typeface="DM Sans"/>
              </a:rPr>
              <a:t>Roll out to all scales</a:t>
            </a:r>
          </a:p>
        </p:txBody>
      </p:sp>
      <p:sp>
        <p:nvSpPr>
          <p:cNvPr id="32" name="TextBox 31"/>
          <p:cNvSpPr txBox="1"/>
          <p:nvPr/>
        </p:nvSpPr>
        <p:spPr>
          <a:xfrm>
            <a:off x="813816" y="6419088"/>
            <a:ext cx="9875520" cy="228600"/>
          </a:xfrm>
          <a:prstGeom prst="rect">
            <a:avLst/>
          </a:prstGeom>
          <a:noFill/>
        </p:spPr>
        <p:txBody>
          <a:bodyPr wrap="square" lIns="0" rIns="0" tIns="0" bIns="0" anchor="t">
            <a:spAutoFit/>
          </a:bodyPr>
          <a:lstStyle/>
          <a:p>
            <a:pPr algn="l">
              <a:lnSpc>
                <a:spcPct val="100000"/>
              </a:lnSpc>
            </a:pPr>
            <a:r>
              <a:rPr sz="900" b="0">
                <a:solidFill>
                  <a:srgbClr val="8D99B0"/>
                </a:solidFill>
                <a:latin typeface="DM Sans"/>
              </a:rPr>
              <a:t>Source: own analysis of the Bossard SmartBin data, 1 Mar to 20 Jun 2022 · simulation over 16 weeks · Report §6.3 and §6.4</a:t>
            </a:r>
          </a:p>
        </p:txBody>
      </p:sp>
      <p:sp>
        <p:nvSpPr>
          <p:cNvPr id="33" name="TextBox 32"/>
          <p:cNvSpPr txBox="1"/>
          <p:nvPr/>
        </p:nvSpPr>
        <p:spPr>
          <a:xfrm>
            <a:off x="10927080" y="6419088"/>
            <a:ext cx="457200" cy="228600"/>
          </a:xfrm>
          <a:prstGeom prst="rect">
            <a:avLst/>
          </a:prstGeom>
          <a:noFill/>
        </p:spPr>
        <p:txBody>
          <a:bodyPr wrap="square" lIns="0" rIns="0" tIns="0" bIns="0" anchor="t">
            <a:spAutoFit/>
          </a:bodyPr>
          <a:lstStyle/>
          <a:p>
            <a:pPr algn="r">
              <a:lnSpc>
                <a:spcPct val="112000"/>
              </a:lnSpc>
            </a:pPr>
            <a:r>
              <a:rPr sz="900" b="0">
                <a:solidFill>
                  <a:srgbClr val="8D99B0"/>
                </a:solidFill>
                <a:latin typeface="DM Sans"/>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E1628"/>
        </a:solidFill>
        <a:effectLst/>
      </p:bgPr>
    </p:bg>
    <p:spTree>
      <p:nvGrpSpPr>
        <p:cNvPr id="1" name=""/>
        <p:cNvGrpSpPr/>
        <p:nvPr/>
      </p:nvGrpSpPr>
      <p:grpSpPr/>
      <p:sp>
        <p:nvSpPr>
          <p:cNvPr id="2" name="Rectangle 1"/>
          <p:cNvSpPr/>
          <p:nvPr/>
        </p:nvSpPr>
        <p:spPr>
          <a:xfrm>
            <a:off x="6986016" y="0"/>
            <a:ext cx="5202936" cy="4059936"/>
          </a:xfrm>
          <a:prstGeom prst="rect">
            <a:avLst/>
          </a:prstGeom>
          <a:gradFill rotWithShape="1">
            <a:gsLst>
              <a:gs pos="0">
                <a:srgbClr val="8EA2FF">
                  <a:alpha val="18000"/>
                </a:srgbClr>
              </a:gs>
              <a:gs pos="65000">
                <a:srgbClr val="8EA2FF">
                  <a:alpha val="0"/>
                </a:srgbClr>
              </a:gs>
            </a:gsLst>
            <a:path path="circle">
              <a:fillToRect l="70000" t="25000" r="30000" b="75000"/>
            </a:path>
          </a:gradFill>
          <a:ln>
            <a:noFill/>
          </a:ln>
        </p:spPr>
        <p:txBody>
          <a:bodyPr rtlCol="0" anchor="ctr"/>
          <a:lstStyle/>
          <a:p>
            <a:pPr algn="ctr"/>
          </a:p>
        </p:txBody>
      </p:sp>
      <p:sp>
        <p:nvSpPr>
          <p:cNvPr id="3" name="TextBox 2"/>
          <p:cNvSpPr txBox="1"/>
          <p:nvPr/>
        </p:nvSpPr>
        <p:spPr>
          <a:xfrm>
            <a:off x="813816" y="502920"/>
            <a:ext cx="10570464" cy="228600"/>
          </a:xfrm>
          <a:prstGeom prst="rect">
            <a:avLst/>
          </a:prstGeom>
          <a:noFill/>
        </p:spPr>
        <p:txBody>
          <a:bodyPr wrap="square" lIns="0" rIns="0" tIns="0" bIns="0" anchor="t">
            <a:spAutoFit/>
          </a:bodyPr>
          <a:lstStyle/>
          <a:p>
            <a:pPr algn="l">
              <a:lnSpc>
                <a:spcPct val="112000"/>
              </a:lnSpc>
            </a:pPr>
            <a:r>
              <a:rPr sz="1100" b="1" spc="150">
                <a:solidFill>
                  <a:srgbClr val="5EEAD4"/>
                </a:solidFill>
                <a:latin typeface="DM Sans"/>
              </a:rPr>
              <a:t>STEP 1 · FLAG</a:t>
            </a:r>
          </a:p>
        </p:txBody>
      </p:sp>
      <p:sp>
        <p:nvSpPr>
          <p:cNvPr id="4" name="TextBox 3"/>
          <p:cNvSpPr txBox="1"/>
          <p:nvPr/>
        </p:nvSpPr>
        <p:spPr>
          <a:xfrm>
            <a:off x="813816" y="777240"/>
            <a:ext cx="10570464" cy="408939"/>
          </a:xfrm>
          <a:prstGeom prst="rect">
            <a:avLst/>
          </a:prstGeom>
          <a:noFill/>
        </p:spPr>
        <p:txBody>
          <a:bodyPr wrap="square" lIns="0" rIns="0" tIns="0" bIns="0" anchor="t">
            <a:spAutoFit/>
          </a:bodyPr>
          <a:lstStyle/>
          <a:p>
            <a:pPr algn="l">
              <a:lnSpc>
                <a:spcPct val="100000"/>
              </a:lnSpc>
            </a:pPr>
            <a:r>
              <a:rPr sz="2800" b="1">
                <a:solidFill>
                  <a:srgbClr val="FFFFFF"/>
                </a:solidFill>
                <a:latin typeface="Space Grotesk"/>
              </a:rPr>
              <a:t>A simple daily check finds the looping scales</a:t>
            </a:r>
          </a:p>
        </p:txBody>
      </p:sp>
      <p:sp>
        <p:nvSpPr>
          <p:cNvPr id="5" name="Rounded Rectangle 4"/>
          <p:cNvSpPr/>
          <p:nvPr/>
        </p:nvSpPr>
        <p:spPr>
          <a:xfrm>
            <a:off x="813816" y="1460500"/>
            <a:ext cx="5120640" cy="2103120"/>
          </a:xfrm>
          <a:prstGeom prst="roundRect">
            <a:avLst>
              <a:gd name="adj" fmla="val 5217"/>
            </a:avLst>
          </a:prstGeom>
          <a:solidFill>
            <a:srgbClr val="FF8FA3">
              <a:alpha val="13000"/>
            </a:srgbClr>
          </a:solidFill>
          <a:ln w="6350">
            <a:solidFill>
              <a:srgbClr val="FF8FA3">
                <a:alpha val="50000"/>
              </a:srgbClr>
            </a:solidFill>
          </a:ln>
        </p:spPr>
        <p:txBody>
          <a:bodyPr rtlCol="0" anchor="ctr"/>
          <a:lstStyle/>
          <a:p>
            <a:pPr algn="ctr"/>
          </a:p>
        </p:txBody>
      </p:sp>
      <p:sp>
        <p:nvSpPr>
          <p:cNvPr id="6" name="TextBox 5"/>
          <p:cNvSpPr txBox="1"/>
          <p:nvPr/>
        </p:nvSpPr>
        <p:spPr>
          <a:xfrm>
            <a:off x="1042416" y="1615948"/>
            <a:ext cx="4663440" cy="274320"/>
          </a:xfrm>
          <a:prstGeom prst="rect">
            <a:avLst/>
          </a:prstGeom>
          <a:noFill/>
        </p:spPr>
        <p:txBody>
          <a:bodyPr wrap="square" lIns="0" rIns="0" tIns="0" bIns="0" anchor="t">
            <a:spAutoFit/>
          </a:bodyPr>
          <a:lstStyle/>
          <a:p>
            <a:pPr algn="l">
              <a:lnSpc>
                <a:spcPct val="112000"/>
              </a:lnSpc>
            </a:pPr>
            <a:r>
              <a:rPr sz="1050" b="1" spc="100">
                <a:solidFill>
                  <a:srgbClr val="FF8FA3"/>
                </a:solidFill>
                <a:latin typeface="DM Sans"/>
              </a:rPr>
              <a:t>A SCALE IS LOOPING IF, OVER THE LAST WEEK</a:t>
            </a:r>
          </a:p>
        </p:txBody>
      </p:sp>
      <p:sp>
        <p:nvSpPr>
          <p:cNvPr id="7" name="TextBox 6"/>
          <p:cNvSpPr txBox="1"/>
          <p:nvPr/>
        </p:nvSpPr>
        <p:spPr>
          <a:xfrm>
            <a:off x="1042416" y="1963420"/>
            <a:ext cx="4663440" cy="1463040"/>
          </a:xfrm>
          <a:prstGeom prst="rect">
            <a:avLst/>
          </a:prstGeom>
          <a:noFill/>
        </p:spPr>
        <p:txBody>
          <a:bodyPr wrap="square" lIns="0" rIns="0" tIns="0" bIns="0" anchor="t">
            <a:spAutoFit/>
          </a:bodyPr>
          <a:lstStyle/>
          <a:p>
            <a:pPr algn="l" marL="201168" indent="-201168">
              <a:lnSpc>
                <a:spcPct val="112000"/>
              </a:lnSpc>
              <a:spcAft>
                <a:spcPts val="800"/>
              </a:spcAft>
              <a:buClr>
                <a:srgbClr val="FF8FA3"/>
              </a:buClr>
              <a:buFont typeface="Arial"/>
              <a:buChar char="•"/>
            </a:pPr>
            <a:r>
              <a:rPr sz="1500" b="0">
                <a:solidFill>
                  <a:srgbClr val="D7DEFF"/>
                </a:solidFill>
                <a:latin typeface="DM Sans"/>
              </a:rPr>
              <a:t>more than </a:t>
            </a:r>
            <a:r>
              <a:rPr sz="1500" b="1">
                <a:solidFill>
                  <a:srgbClr val="FFFFFF"/>
                </a:solidFill>
                <a:latin typeface="DM Sans"/>
              </a:rPr>
              <a:t>half</a:t>
            </a:r>
            <a:r>
              <a:rPr sz="1500" b="0">
                <a:solidFill>
                  <a:srgbClr val="D7DEFF"/>
                </a:solidFill>
                <a:latin typeface="DM Sans"/>
              </a:rPr>
              <a:t> of its wake-ups come within </a:t>
            </a:r>
            <a:r>
              <a:rPr sz="1500" b="1">
                <a:solidFill>
                  <a:srgbClr val="FFFFFF"/>
                </a:solidFill>
                <a:latin typeface="DM Sans"/>
              </a:rPr>
              <a:t>2 minutes</a:t>
            </a:r>
            <a:r>
              <a:rPr sz="1500" b="0">
                <a:solidFill>
                  <a:srgbClr val="D7DEFF"/>
                </a:solidFill>
                <a:latin typeface="DM Sans"/>
              </a:rPr>
              <a:t> of the last one, and</a:t>
            </a:r>
          </a:p>
          <a:p>
            <a:pPr algn="l" marL="201168" indent="-201168">
              <a:lnSpc>
                <a:spcPct val="112000"/>
              </a:lnSpc>
              <a:spcAft>
                <a:spcPts val="800"/>
              </a:spcAft>
              <a:buClr>
                <a:srgbClr val="FF8FA3"/>
              </a:buClr>
              <a:buFont typeface="Arial"/>
              <a:buChar char="•"/>
            </a:pPr>
            <a:r>
              <a:rPr sz="1500" b="0">
                <a:solidFill>
                  <a:srgbClr val="D7DEFF"/>
                </a:solidFill>
                <a:latin typeface="DM Sans"/>
              </a:rPr>
              <a:t>it wakes up more than </a:t>
            </a:r>
            <a:r>
              <a:rPr sz="1500" b="1">
                <a:solidFill>
                  <a:srgbClr val="FFFFFF"/>
                </a:solidFill>
                <a:latin typeface="DM Sans"/>
              </a:rPr>
              <a:t>20 times a day</a:t>
            </a:r>
            <a:r>
              <a:rPr sz="1500" b="0">
                <a:solidFill>
                  <a:srgbClr val="D7DEFF"/>
                </a:solidFill>
                <a:latin typeface="DM Sans"/>
              </a:rPr>
              <a:t>.</a:t>
            </a:r>
          </a:p>
        </p:txBody>
      </p:sp>
      <p:sp>
        <p:nvSpPr>
          <p:cNvPr id="8" name="TextBox 7"/>
          <p:cNvSpPr txBox="1"/>
          <p:nvPr/>
        </p:nvSpPr>
        <p:spPr>
          <a:xfrm>
            <a:off x="813816" y="3792220"/>
            <a:ext cx="5120640" cy="274320"/>
          </a:xfrm>
          <a:prstGeom prst="rect">
            <a:avLst/>
          </a:prstGeom>
          <a:noFill/>
        </p:spPr>
        <p:txBody>
          <a:bodyPr wrap="square" lIns="0" rIns="0" tIns="0" bIns="0" anchor="t">
            <a:spAutoFit/>
          </a:bodyPr>
          <a:lstStyle/>
          <a:p>
            <a:pPr algn="l">
              <a:lnSpc>
                <a:spcPct val="112000"/>
              </a:lnSpc>
            </a:pPr>
            <a:r>
              <a:rPr sz="1050" b="1" spc="120">
                <a:solidFill>
                  <a:srgbClr val="5EEAD4"/>
                </a:solidFill>
                <a:latin typeface="DM Sans"/>
              </a:rPr>
              <a:t>THEN</a:t>
            </a:r>
          </a:p>
        </p:txBody>
      </p:sp>
      <p:sp>
        <p:nvSpPr>
          <p:cNvPr id="9" name="Oval 8"/>
          <p:cNvSpPr/>
          <p:nvPr/>
        </p:nvSpPr>
        <p:spPr>
          <a:xfrm>
            <a:off x="813816" y="4112259"/>
            <a:ext cx="310896" cy="310896"/>
          </a:xfrm>
          <a:prstGeom prst="ellipse">
            <a:avLst/>
          </a:prstGeom>
          <a:solidFill>
            <a:srgbClr val="5EEAD4"/>
          </a:solidFill>
          <a:ln>
            <a:noFill/>
          </a:ln>
        </p:spPr>
        <p:txBody>
          <a:bodyPr rtlCol="0" anchor="ctr" lIns="0" rIns="0" tIns="0" bIns="0"/>
          <a:lstStyle/>
          <a:p>
            <a:pPr algn="ctr"/>
            <a:r>
              <a:rPr sz="1200" b="1">
                <a:solidFill>
                  <a:srgbClr val="0A1020"/>
                </a:solidFill>
                <a:latin typeface="Space Grotesk"/>
              </a:rPr>
              <a:t>1</a:t>
            </a:r>
          </a:p>
        </p:txBody>
      </p:sp>
      <p:sp>
        <p:nvSpPr>
          <p:cNvPr id="10" name="TextBox 9"/>
          <p:cNvSpPr txBox="1"/>
          <p:nvPr/>
        </p:nvSpPr>
        <p:spPr>
          <a:xfrm>
            <a:off x="1271016" y="4139692"/>
            <a:ext cx="4572000" cy="365760"/>
          </a:xfrm>
          <a:prstGeom prst="rect">
            <a:avLst/>
          </a:prstGeom>
          <a:noFill/>
        </p:spPr>
        <p:txBody>
          <a:bodyPr wrap="square" lIns="0" rIns="0" tIns="0" bIns="0" anchor="t">
            <a:spAutoFit/>
          </a:bodyPr>
          <a:lstStyle/>
          <a:p>
            <a:pPr algn="l">
              <a:lnSpc>
                <a:spcPct val="112000"/>
              </a:lnSpc>
            </a:pPr>
            <a:r>
              <a:rPr sz="1350" b="0">
                <a:solidFill>
                  <a:srgbClr val="FFFFFF"/>
                </a:solidFill>
                <a:latin typeface="DM Sans"/>
              </a:rPr>
              <a:t>Set it back to 7 from the cloud</a:t>
            </a:r>
          </a:p>
        </p:txBody>
      </p:sp>
      <p:sp>
        <p:nvSpPr>
          <p:cNvPr id="11" name="Oval 10"/>
          <p:cNvSpPr/>
          <p:nvPr/>
        </p:nvSpPr>
        <p:spPr>
          <a:xfrm>
            <a:off x="813816" y="4569460"/>
            <a:ext cx="310896" cy="310896"/>
          </a:xfrm>
          <a:prstGeom prst="ellipse">
            <a:avLst/>
          </a:prstGeom>
          <a:solidFill>
            <a:srgbClr val="5EEAD4"/>
          </a:solidFill>
          <a:ln>
            <a:noFill/>
          </a:ln>
        </p:spPr>
        <p:txBody>
          <a:bodyPr rtlCol="0" anchor="ctr" lIns="0" rIns="0" tIns="0" bIns="0"/>
          <a:lstStyle/>
          <a:p>
            <a:pPr algn="ctr"/>
            <a:r>
              <a:rPr sz="1200" b="1">
                <a:solidFill>
                  <a:srgbClr val="0A1020"/>
                </a:solidFill>
                <a:latin typeface="Space Grotesk"/>
              </a:rPr>
              <a:t>2</a:t>
            </a:r>
          </a:p>
        </p:txBody>
      </p:sp>
      <p:sp>
        <p:nvSpPr>
          <p:cNvPr id="12" name="TextBox 11"/>
          <p:cNvSpPr txBox="1"/>
          <p:nvPr/>
        </p:nvSpPr>
        <p:spPr>
          <a:xfrm>
            <a:off x="1271016" y="4596892"/>
            <a:ext cx="4572000" cy="365760"/>
          </a:xfrm>
          <a:prstGeom prst="rect">
            <a:avLst/>
          </a:prstGeom>
          <a:noFill/>
        </p:spPr>
        <p:txBody>
          <a:bodyPr wrap="square" lIns="0" rIns="0" tIns="0" bIns="0" anchor="t">
            <a:spAutoFit/>
          </a:bodyPr>
          <a:lstStyle/>
          <a:p>
            <a:pPr algn="l">
              <a:lnSpc>
                <a:spcPct val="112000"/>
              </a:lnSpc>
            </a:pPr>
            <a:r>
              <a:rPr sz="1350" b="0">
                <a:solidFill>
                  <a:srgbClr val="FFFFFF"/>
                </a:solidFill>
                <a:latin typeface="DM Sans"/>
              </a:rPr>
              <a:t>Still looping after 2 days → service visit</a:t>
            </a:r>
          </a:p>
        </p:txBody>
      </p:sp>
      <p:sp>
        <p:nvSpPr>
          <p:cNvPr id="13" name="Oval 12"/>
          <p:cNvSpPr/>
          <p:nvPr/>
        </p:nvSpPr>
        <p:spPr>
          <a:xfrm>
            <a:off x="813816" y="5026660"/>
            <a:ext cx="310896" cy="310896"/>
          </a:xfrm>
          <a:prstGeom prst="ellipse">
            <a:avLst/>
          </a:prstGeom>
          <a:solidFill>
            <a:srgbClr val="5EEAD4"/>
          </a:solidFill>
          <a:ln>
            <a:noFill/>
          </a:ln>
        </p:spPr>
        <p:txBody>
          <a:bodyPr rtlCol="0" anchor="ctr" lIns="0" rIns="0" tIns="0" bIns="0"/>
          <a:lstStyle/>
          <a:p>
            <a:pPr algn="ctr"/>
            <a:r>
              <a:rPr sz="1200" b="1">
                <a:solidFill>
                  <a:srgbClr val="0A1020"/>
                </a:solidFill>
                <a:latin typeface="Space Grotesk"/>
              </a:rPr>
              <a:t>3</a:t>
            </a:r>
          </a:p>
        </p:txBody>
      </p:sp>
      <p:sp>
        <p:nvSpPr>
          <p:cNvPr id="14" name="TextBox 13"/>
          <p:cNvSpPr txBox="1"/>
          <p:nvPr/>
        </p:nvSpPr>
        <p:spPr>
          <a:xfrm>
            <a:off x="1271016" y="5054092"/>
            <a:ext cx="4572000" cy="365760"/>
          </a:xfrm>
          <a:prstGeom prst="rect">
            <a:avLst/>
          </a:prstGeom>
          <a:noFill/>
        </p:spPr>
        <p:txBody>
          <a:bodyPr wrap="square" lIns="0" rIns="0" tIns="0" bIns="0" anchor="t">
            <a:spAutoFit/>
          </a:bodyPr>
          <a:lstStyle/>
          <a:p>
            <a:pPr algn="l">
              <a:lnSpc>
                <a:spcPct val="112000"/>
              </a:lnSpc>
            </a:pPr>
            <a:r>
              <a:rPr sz="1350" b="0">
                <a:solidFill>
                  <a:srgbClr val="FFFFFF"/>
                </a:solidFill>
                <a:latin typeface="DM Sans"/>
              </a:rPr>
              <a:t>Send the list to the firmware team</a:t>
            </a:r>
          </a:p>
        </p:txBody>
      </p:sp>
      <p:pic>
        <p:nvPicPr>
          <p:cNvPr id="15" name="Picture 14" descr="k12_detector.png"/>
          <p:cNvPicPr>
            <a:picLocks noChangeAspect="1"/>
          </p:cNvPicPr>
          <p:nvPr/>
        </p:nvPicPr>
        <p:blipFill>
          <a:blip r:embed="rId2"/>
          <a:stretch>
            <a:fillRect/>
          </a:stretch>
        </p:blipFill>
        <p:spPr>
          <a:xfrm>
            <a:off x="5852160" y="1414779"/>
            <a:ext cx="5669280" cy="3474720"/>
          </a:xfrm>
          <a:prstGeom prst="rect">
            <a:avLst/>
          </a:prstGeom>
        </p:spPr>
      </p:pic>
      <p:sp>
        <p:nvSpPr>
          <p:cNvPr id="16" name="TextBox 15"/>
          <p:cNvSpPr txBox="1"/>
          <p:nvPr/>
        </p:nvSpPr>
        <p:spPr>
          <a:xfrm>
            <a:off x="6035040" y="4980940"/>
            <a:ext cx="5303520" cy="457200"/>
          </a:xfrm>
          <a:prstGeom prst="rect">
            <a:avLst/>
          </a:prstGeom>
          <a:noFill/>
        </p:spPr>
        <p:txBody>
          <a:bodyPr wrap="square" lIns="0" rIns="0" tIns="0" bIns="0" anchor="t">
            <a:spAutoFit/>
          </a:bodyPr>
          <a:lstStyle/>
          <a:p>
            <a:pPr algn="l">
              <a:lnSpc>
                <a:spcPct val="112000"/>
              </a:lnSpc>
            </a:pPr>
            <a:r>
              <a:rPr sz="1250" b="0">
                <a:solidFill>
                  <a:srgbClr val="B8C4D9"/>
                </a:solidFill>
                <a:latin typeface="DM Sans"/>
              </a:rPr>
              <a:t>Looping and normal scales are far apart. Other thresholds give almost the same list.</a:t>
            </a:r>
          </a:p>
        </p:txBody>
      </p:sp>
      <p:sp>
        <p:nvSpPr>
          <p:cNvPr id="17" name="TextBox 16"/>
          <p:cNvSpPr txBox="1"/>
          <p:nvPr/>
        </p:nvSpPr>
        <p:spPr>
          <a:xfrm>
            <a:off x="813816" y="6419088"/>
            <a:ext cx="9875520" cy="228600"/>
          </a:xfrm>
          <a:prstGeom prst="rect">
            <a:avLst/>
          </a:prstGeom>
          <a:noFill/>
        </p:spPr>
        <p:txBody>
          <a:bodyPr wrap="square" lIns="0" rIns="0" tIns="0" bIns="0" anchor="t">
            <a:spAutoFit/>
          </a:bodyPr>
          <a:lstStyle/>
          <a:p>
            <a:pPr algn="l">
              <a:lnSpc>
                <a:spcPct val="100000"/>
              </a:lnSpc>
            </a:pPr>
            <a:r>
              <a:rPr sz="900" b="0">
                <a:solidFill>
                  <a:srgbClr val="8D99B0"/>
                </a:solidFill>
                <a:latin typeface="DM Sans"/>
              </a:rPr>
              <a:t>Source: own analysis of the Bossard SmartBin data, 1 Mar to 20 Jun 2022 · each dot = scales with similar values · Report §5.3, Appendix C</a:t>
            </a:r>
          </a:p>
        </p:txBody>
      </p:sp>
      <p:sp>
        <p:nvSpPr>
          <p:cNvPr id="18" name="TextBox 17"/>
          <p:cNvSpPr txBox="1"/>
          <p:nvPr/>
        </p:nvSpPr>
        <p:spPr>
          <a:xfrm>
            <a:off x="10927080" y="6419088"/>
            <a:ext cx="457200" cy="228600"/>
          </a:xfrm>
          <a:prstGeom prst="rect">
            <a:avLst/>
          </a:prstGeom>
          <a:noFill/>
        </p:spPr>
        <p:txBody>
          <a:bodyPr wrap="square" lIns="0" rIns="0" tIns="0" bIns="0" anchor="t">
            <a:spAutoFit/>
          </a:bodyPr>
          <a:lstStyle/>
          <a:p>
            <a:pPr algn="r">
              <a:lnSpc>
                <a:spcPct val="112000"/>
              </a:lnSpc>
            </a:pPr>
            <a:r>
              <a:rPr sz="900" b="0">
                <a:solidFill>
                  <a:srgbClr val="8D99B0"/>
                </a:solidFill>
                <a:latin typeface="DM Sans"/>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A1020"/>
        </a:solidFill>
        <a:effectLst/>
      </p:bgPr>
    </p:bg>
    <p:spTree>
      <p:nvGrpSpPr>
        <p:cNvPr id="1" name=""/>
        <p:cNvGrpSpPr/>
        <p:nvPr/>
      </p:nvGrpSpPr>
      <p:grpSpPr/>
      <p:sp>
        <p:nvSpPr>
          <p:cNvPr id="2" name="Rectangle 1"/>
          <p:cNvSpPr/>
          <p:nvPr/>
        </p:nvSpPr>
        <p:spPr>
          <a:xfrm>
            <a:off x="6986016" y="0"/>
            <a:ext cx="5202936" cy="4059936"/>
          </a:xfrm>
          <a:prstGeom prst="rect">
            <a:avLst/>
          </a:prstGeom>
          <a:gradFill rotWithShape="1">
            <a:gsLst>
              <a:gs pos="0">
                <a:srgbClr val="8EA2FF">
                  <a:alpha val="18000"/>
                </a:srgbClr>
              </a:gs>
              <a:gs pos="65000">
                <a:srgbClr val="8EA2FF">
                  <a:alpha val="0"/>
                </a:srgbClr>
              </a:gs>
            </a:gsLst>
            <a:path path="circle">
              <a:fillToRect l="70000" t="25000" r="30000" b="75000"/>
            </a:path>
          </a:gradFill>
          <a:ln>
            <a:noFill/>
          </a:ln>
        </p:spPr>
        <p:txBody>
          <a:bodyPr rtlCol="0" anchor="ctr"/>
          <a:lstStyle/>
          <a:p>
            <a:pPr algn="ctr"/>
          </a:p>
        </p:txBody>
      </p:sp>
      <p:sp>
        <p:nvSpPr>
          <p:cNvPr id="3" name="TextBox 2"/>
          <p:cNvSpPr txBox="1"/>
          <p:nvPr/>
        </p:nvSpPr>
        <p:spPr>
          <a:xfrm>
            <a:off x="813816" y="502920"/>
            <a:ext cx="10570464" cy="228600"/>
          </a:xfrm>
          <a:prstGeom prst="rect">
            <a:avLst/>
          </a:prstGeom>
          <a:noFill/>
        </p:spPr>
        <p:txBody>
          <a:bodyPr wrap="square" lIns="0" rIns="0" tIns="0" bIns="0" anchor="t">
            <a:spAutoFit/>
          </a:bodyPr>
          <a:lstStyle/>
          <a:p>
            <a:pPr algn="l">
              <a:lnSpc>
                <a:spcPct val="112000"/>
              </a:lnSpc>
            </a:pPr>
            <a:r>
              <a:rPr sz="1100" b="1" spc="150">
                <a:solidFill>
                  <a:srgbClr val="5EEAD4"/>
                </a:solidFill>
                <a:latin typeface="DM Sans"/>
              </a:rPr>
              <a:t>STEP 2 · TUNE</a:t>
            </a:r>
          </a:p>
        </p:txBody>
      </p:sp>
      <p:sp>
        <p:nvSpPr>
          <p:cNvPr id="4" name="TextBox 3"/>
          <p:cNvSpPr txBox="1"/>
          <p:nvPr/>
        </p:nvSpPr>
        <p:spPr>
          <a:xfrm>
            <a:off x="813816" y="777240"/>
            <a:ext cx="10570464" cy="408939"/>
          </a:xfrm>
          <a:prstGeom prst="rect">
            <a:avLst/>
          </a:prstGeom>
          <a:noFill/>
        </p:spPr>
        <p:txBody>
          <a:bodyPr wrap="square" lIns="0" rIns="0" tIns="0" bIns="0" anchor="t">
            <a:spAutoFit/>
          </a:bodyPr>
          <a:lstStyle/>
          <a:p>
            <a:pPr algn="l">
              <a:lnSpc>
                <a:spcPct val="100000"/>
              </a:lnSpc>
            </a:pPr>
            <a:r>
              <a:rPr sz="2800" b="1">
                <a:solidFill>
                  <a:srgbClr val="FFFFFF"/>
                </a:solidFill>
                <a:latin typeface="Space Grotesk"/>
              </a:rPr>
              <a:t>Every two weeks, each scale moves one step, or stays</a:t>
            </a:r>
          </a:p>
        </p:txBody>
      </p:sp>
      <p:sp>
        <p:nvSpPr>
          <p:cNvPr id="5" name="TextBox 4"/>
          <p:cNvSpPr txBox="1"/>
          <p:nvPr/>
        </p:nvSpPr>
        <p:spPr>
          <a:xfrm>
            <a:off x="813816" y="1460500"/>
            <a:ext cx="5120640" cy="274320"/>
          </a:xfrm>
          <a:prstGeom prst="rect">
            <a:avLst/>
          </a:prstGeom>
          <a:noFill/>
        </p:spPr>
        <p:txBody>
          <a:bodyPr wrap="square" lIns="0" rIns="0" tIns="0" bIns="0" anchor="t">
            <a:spAutoFit/>
          </a:bodyPr>
          <a:lstStyle/>
          <a:p>
            <a:pPr algn="l">
              <a:lnSpc>
                <a:spcPct val="112000"/>
              </a:lnSpc>
            </a:pPr>
            <a:r>
              <a:rPr sz="1050" b="1" spc="120">
                <a:solidFill>
                  <a:srgbClr val="5EEAD4"/>
                </a:solidFill>
                <a:latin typeface="DM Sans"/>
              </a:rPr>
              <a:t>EVERY 2 WEEKS, FOR EACH SCALE</a:t>
            </a:r>
          </a:p>
        </p:txBody>
      </p:sp>
      <p:sp>
        <p:nvSpPr>
          <p:cNvPr id="6" name="Rounded Rectangle 5"/>
          <p:cNvSpPr/>
          <p:nvPr/>
        </p:nvSpPr>
        <p:spPr>
          <a:xfrm>
            <a:off x="813816" y="1826260"/>
            <a:ext cx="5120640" cy="868680"/>
          </a:xfrm>
          <a:prstGeom prst="roundRect">
            <a:avLst>
              <a:gd name="adj" fmla="val 12631"/>
            </a:avLst>
          </a:prstGeom>
          <a:solidFill>
            <a:srgbClr val="FFC56E">
              <a:alpha val="8000"/>
            </a:srgbClr>
          </a:solidFill>
          <a:ln w="6350">
            <a:solidFill>
              <a:srgbClr val="FFC56E">
                <a:alpha val="50000"/>
              </a:srgbClr>
            </a:solidFill>
          </a:ln>
        </p:spPr>
        <p:txBody>
          <a:bodyPr rtlCol="0" anchor="ctr"/>
          <a:lstStyle/>
          <a:p>
            <a:pPr algn="ctr"/>
          </a:p>
        </p:txBody>
      </p:sp>
      <p:sp>
        <p:nvSpPr>
          <p:cNvPr id="7" name="TextBox 6"/>
          <p:cNvSpPr txBox="1"/>
          <p:nvPr/>
        </p:nvSpPr>
        <p:spPr>
          <a:xfrm>
            <a:off x="996696" y="1917700"/>
            <a:ext cx="3063240" cy="685800"/>
          </a:xfrm>
          <a:prstGeom prst="rect">
            <a:avLst/>
          </a:prstGeom>
          <a:noFill/>
        </p:spPr>
        <p:txBody>
          <a:bodyPr wrap="square" lIns="0" rIns="0" tIns="0" bIns="0" anchor="ctr">
            <a:spAutoFit/>
          </a:bodyPr>
          <a:lstStyle/>
          <a:p>
            <a:pPr algn="l">
              <a:lnSpc>
                <a:spcPct val="110000"/>
              </a:lnSpc>
            </a:pPr>
            <a:r>
              <a:rPr sz="1250" b="0">
                <a:solidFill>
                  <a:srgbClr val="FFFFFF"/>
                </a:solidFill>
                <a:latin typeface="DM Sans"/>
              </a:rPr>
              <a:t>Missed more than 10% of its picks?</a:t>
            </a:r>
          </a:p>
        </p:txBody>
      </p:sp>
      <p:cxnSp>
        <p:nvCxnSpPr>
          <p:cNvPr id="8" name="Connector 7"/>
          <p:cNvCxnSpPr/>
          <p:nvPr/>
        </p:nvCxnSpPr>
        <p:spPr>
          <a:xfrm>
            <a:off x="4105656" y="2256028"/>
            <a:ext cx="320040" cy="0"/>
          </a:xfrm>
          <a:prstGeom prst="line">
            <a:avLst/>
          </a:prstGeom>
          <a:ln w="22225">
            <a:solidFill>
              <a:srgbClr val="FFC56E"/>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4471416" y="1917700"/>
            <a:ext cx="1371600" cy="685800"/>
          </a:xfrm>
          <a:prstGeom prst="rect">
            <a:avLst/>
          </a:prstGeom>
          <a:noFill/>
        </p:spPr>
        <p:txBody>
          <a:bodyPr wrap="square" lIns="0" rIns="0" tIns="0" bIns="0" anchor="ctr">
            <a:spAutoFit/>
          </a:bodyPr>
          <a:lstStyle/>
          <a:p>
            <a:pPr algn="l">
              <a:lnSpc>
                <a:spcPct val="105000"/>
              </a:lnSpc>
            </a:pPr>
            <a:r>
              <a:rPr sz="1250" b="1">
                <a:solidFill>
                  <a:srgbClr val="FFC56E"/>
                </a:solidFill>
                <a:latin typeface="Space Grotesk"/>
              </a:rPr>
              <a:t>one step MORE sensitive</a:t>
            </a:r>
          </a:p>
        </p:txBody>
      </p:sp>
      <p:sp>
        <p:nvSpPr>
          <p:cNvPr id="10" name="Rounded Rectangle 9"/>
          <p:cNvSpPr/>
          <p:nvPr/>
        </p:nvSpPr>
        <p:spPr>
          <a:xfrm>
            <a:off x="813816" y="2832100"/>
            <a:ext cx="5120640" cy="868680"/>
          </a:xfrm>
          <a:prstGeom prst="roundRect">
            <a:avLst>
              <a:gd name="adj" fmla="val 12631"/>
            </a:avLst>
          </a:prstGeom>
          <a:solidFill>
            <a:srgbClr val="5EEAD4">
              <a:alpha val="8000"/>
            </a:srgbClr>
          </a:solidFill>
          <a:ln w="6350">
            <a:solidFill>
              <a:srgbClr val="5EEAD4">
                <a:alpha val="50000"/>
              </a:srgbClr>
            </a:solidFill>
          </a:ln>
        </p:spPr>
        <p:txBody>
          <a:bodyPr rtlCol="0" anchor="ctr"/>
          <a:lstStyle/>
          <a:p>
            <a:pPr algn="ctr"/>
          </a:p>
        </p:txBody>
      </p:sp>
      <p:sp>
        <p:nvSpPr>
          <p:cNvPr id="11" name="TextBox 10"/>
          <p:cNvSpPr txBox="1"/>
          <p:nvPr/>
        </p:nvSpPr>
        <p:spPr>
          <a:xfrm>
            <a:off x="996696" y="2923540"/>
            <a:ext cx="3063240" cy="685800"/>
          </a:xfrm>
          <a:prstGeom prst="rect">
            <a:avLst/>
          </a:prstGeom>
          <a:noFill/>
        </p:spPr>
        <p:txBody>
          <a:bodyPr wrap="square" lIns="0" rIns="0" tIns="0" bIns="0" anchor="ctr">
            <a:spAutoFit/>
          </a:bodyPr>
          <a:lstStyle/>
          <a:p>
            <a:pPr algn="l">
              <a:lnSpc>
                <a:spcPct val="110000"/>
              </a:lnSpc>
            </a:pPr>
            <a:r>
              <a:rPr sz="1250" b="0">
                <a:solidFill>
                  <a:srgbClr val="FFFFFF"/>
                </a:solidFill>
                <a:latin typeface="DM Sans"/>
              </a:rPr>
              <a:t>More than 7 empty wake-ups a week, and almost no misses?</a:t>
            </a:r>
          </a:p>
        </p:txBody>
      </p:sp>
      <p:cxnSp>
        <p:nvCxnSpPr>
          <p:cNvPr id="12" name="Connector 11"/>
          <p:cNvCxnSpPr/>
          <p:nvPr/>
        </p:nvCxnSpPr>
        <p:spPr>
          <a:xfrm>
            <a:off x="4105656" y="3261868"/>
            <a:ext cx="320040" cy="0"/>
          </a:xfrm>
          <a:prstGeom prst="line">
            <a:avLst/>
          </a:prstGeom>
          <a:ln w="22225">
            <a:solidFill>
              <a:srgbClr val="5EEAD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4471416" y="2923540"/>
            <a:ext cx="1371600" cy="685800"/>
          </a:xfrm>
          <a:prstGeom prst="rect">
            <a:avLst/>
          </a:prstGeom>
          <a:noFill/>
        </p:spPr>
        <p:txBody>
          <a:bodyPr wrap="square" lIns="0" rIns="0" tIns="0" bIns="0" anchor="ctr">
            <a:spAutoFit/>
          </a:bodyPr>
          <a:lstStyle/>
          <a:p>
            <a:pPr algn="l">
              <a:lnSpc>
                <a:spcPct val="105000"/>
              </a:lnSpc>
            </a:pPr>
            <a:r>
              <a:rPr sz="1250" b="1">
                <a:solidFill>
                  <a:srgbClr val="5EEAD4"/>
                </a:solidFill>
                <a:latin typeface="Space Grotesk"/>
              </a:rPr>
              <a:t>one step LESS sensitive</a:t>
            </a:r>
          </a:p>
        </p:txBody>
      </p:sp>
      <p:sp>
        <p:nvSpPr>
          <p:cNvPr id="14" name="Rounded Rectangle 13"/>
          <p:cNvSpPr/>
          <p:nvPr/>
        </p:nvSpPr>
        <p:spPr>
          <a:xfrm>
            <a:off x="813816" y="3837940"/>
            <a:ext cx="5120640" cy="868680"/>
          </a:xfrm>
          <a:prstGeom prst="roundRect">
            <a:avLst>
              <a:gd name="adj" fmla="val 12631"/>
            </a:avLst>
          </a:prstGeom>
          <a:solidFill>
            <a:srgbClr val="8EA2FF">
              <a:alpha val="8000"/>
            </a:srgbClr>
          </a:solidFill>
          <a:ln w="6350">
            <a:solidFill>
              <a:srgbClr val="8EA2FF">
                <a:alpha val="50000"/>
              </a:srgbClr>
            </a:solidFill>
          </a:ln>
        </p:spPr>
        <p:txBody>
          <a:bodyPr rtlCol="0" anchor="ctr"/>
          <a:lstStyle/>
          <a:p>
            <a:pPr algn="ctr"/>
          </a:p>
        </p:txBody>
      </p:sp>
      <p:sp>
        <p:nvSpPr>
          <p:cNvPr id="15" name="TextBox 14"/>
          <p:cNvSpPr txBox="1"/>
          <p:nvPr/>
        </p:nvSpPr>
        <p:spPr>
          <a:xfrm>
            <a:off x="996696" y="3929380"/>
            <a:ext cx="3063240" cy="685800"/>
          </a:xfrm>
          <a:prstGeom prst="rect">
            <a:avLst/>
          </a:prstGeom>
          <a:noFill/>
        </p:spPr>
        <p:txBody>
          <a:bodyPr wrap="square" lIns="0" rIns="0" tIns="0" bIns="0" anchor="ctr">
            <a:spAutoFit/>
          </a:bodyPr>
          <a:lstStyle/>
          <a:p>
            <a:pPr algn="l">
              <a:lnSpc>
                <a:spcPct val="110000"/>
              </a:lnSpc>
            </a:pPr>
            <a:r>
              <a:rPr sz="1250" b="0">
                <a:solidFill>
                  <a:srgbClr val="FFFFFF"/>
                </a:solidFill>
                <a:latin typeface="DM Sans"/>
              </a:rPr>
              <a:t>Neither?</a:t>
            </a:r>
          </a:p>
        </p:txBody>
      </p:sp>
      <p:cxnSp>
        <p:nvCxnSpPr>
          <p:cNvPr id="16" name="Connector 15"/>
          <p:cNvCxnSpPr/>
          <p:nvPr/>
        </p:nvCxnSpPr>
        <p:spPr>
          <a:xfrm>
            <a:off x="4105656" y="4267708"/>
            <a:ext cx="320040" cy="0"/>
          </a:xfrm>
          <a:prstGeom prst="line">
            <a:avLst/>
          </a:prstGeom>
          <a:ln w="22225">
            <a:solidFill>
              <a:srgbClr val="8EA2F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4471416" y="3929380"/>
            <a:ext cx="1371600" cy="685800"/>
          </a:xfrm>
          <a:prstGeom prst="rect">
            <a:avLst/>
          </a:prstGeom>
          <a:noFill/>
        </p:spPr>
        <p:txBody>
          <a:bodyPr wrap="square" lIns="0" rIns="0" tIns="0" bIns="0" anchor="ctr">
            <a:spAutoFit/>
          </a:bodyPr>
          <a:lstStyle/>
          <a:p>
            <a:pPr algn="l">
              <a:lnSpc>
                <a:spcPct val="105000"/>
              </a:lnSpc>
            </a:pPr>
            <a:r>
              <a:rPr sz="1250" b="1">
                <a:solidFill>
                  <a:srgbClr val="8EA2FF"/>
                </a:solidFill>
                <a:latin typeface="Space Grotesk"/>
              </a:rPr>
              <a:t>stay</a:t>
            </a:r>
          </a:p>
        </p:txBody>
      </p:sp>
      <p:sp>
        <p:nvSpPr>
          <p:cNvPr id="18" name="TextBox 17"/>
          <p:cNvSpPr txBox="1"/>
          <p:nvPr/>
        </p:nvSpPr>
        <p:spPr>
          <a:xfrm>
            <a:off x="813816" y="4889500"/>
            <a:ext cx="5120640" cy="365760"/>
          </a:xfrm>
          <a:prstGeom prst="rect">
            <a:avLst/>
          </a:prstGeom>
          <a:noFill/>
        </p:spPr>
        <p:txBody>
          <a:bodyPr wrap="square" lIns="0" rIns="0" tIns="0" bIns="0" anchor="t">
            <a:spAutoFit/>
          </a:bodyPr>
          <a:lstStyle/>
          <a:p>
            <a:pPr algn="l">
              <a:lnSpc>
                <a:spcPct val="112000"/>
              </a:lnSpc>
            </a:pPr>
            <a:r>
              <a:rPr sz="1250" b="0">
                <a:solidFill>
                  <a:srgbClr val="B8C4D9"/>
                </a:solidFill>
                <a:latin typeface="DM Sans"/>
              </a:rPr>
              <a:t>Every scale starts on setting 7. Setting 3 is never used.</a:t>
            </a:r>
          </a:p>
        </p:txBody>
      </p:sp>
      <p:sp>
        <p:nvSpPr>
          <p:cNvPr id="19" name="TextBox 18"/>
          <p:cNvSpPr txBox="1"/>
          <p:nvPr/>
        </p:nvSpPr>
        <p:spPr>
          <a:xfrm>
            <a:off x="6263640" y="1460500"/>
            <a:ext cx="5120640" cy="274320"/>
          </a:xfrm>
          <a:prstGeom prst="rect">
            <a:avLst/>
          </a:prstGeom>
          <a:noFill/>
        </p:spPr>
        <p:txBody>
          <a:bodyPr wrap="square" lIns="0" rIns="0" tIns="0" bIns="0" anchor="t">
            <a:spAutoFit/>
          </a:bodyPr>
          <a:lstStyle/>
          <a:p>
            <a:pPr algn="l">
              <a:lnSpc>
                <a:spcPct val="112000"/>
              </a:lnSpc>
            </a:pPr>
            <a:r>
              <a:rPr sz="1050" b="1" spc="120">
                <a:solidFill>
                  <a:srgbClr val="5EEAD4"/>
                </a:solidFill>
                <a:latin typeface="DM Sans"/>
              </a:rPr>
              <a:t>EXAMPLE · A BUSY 20 KG SCALE</a:t>
            </a:r>
          </a:p>
        </p:txBody>
      </p:sp>
      <p:pic>
        <p:nvPicPr>
          <p:cNvPr id="20" name="Picture 19" descr="k13_tune_example.png"/>
          <p:cNvPicPr>
            <a:picLocks noChangeAspect="1"/>
          </p:cNvPicPr>
          <p:nvPr/>
        </p:nvPicPr>
        <p:blipFill>
          <a:blip r:embed="rId2"/>
          <a:stretch>
            <a:fillRect/>
          </a:stretch>
        </p:blipFill>
        <p:spPr>
          <a:xfrm>
            <a:off x="6172200" y="1780540"/>
            <a:ext cx="5212080" cy="3017520"/>
          </a:xfrm>
          <a:prstGeom prst="rect">
            <a:avLst/>
          </a:prstGeom>
        </p:spPr>
      </p:pic>
      <p:sp>
        <p:nvSpPr>
          <p:cNvPr id="21" name="TextBox 20"/>
          <p:cNvSpPr txBox="1"/>
          <p:nvPr/>
        </p:nvSpPr>
        <p:spPr>
          <a:xfrm>
            <a:off x="6263640" y="4843780"/>
            <a:ext cx="5029200" cy="548640"/>
          </a:xfrm>
          <a:prstGeom prst="rect">
            <a:avLst/>
          </a:prstGeom>
          <a:noFill/>
        </p:spPr>
        <p:txBody>
          <a:bodyPr wrap="square" lIns="0" rIns="0" tIns="0" bIns="0" anchor="t">
            <a:spAutoFit/>
          </a:bodyPr>
          <a:lstStyle/>
          <a:p>
            <a:pPr algn="l">
              <a:lnSpc>
                <a:spcPct val="112000"/>
              </a:lnSpc>
            </a:pPr>
            <a:r>
              <a:rPr sz="1300" b="0">
                <a:solidFill>
                  <a:srgbClr val="B8C4D9"/>
                </a:solidFill>
                <a:latin typeface="DM Sans"/>
              </a:rPr>
              <a:t>It settles on setting 6 with about two thirds fewer empty wake-ups.</a:t>
            </a:r>
          </a:p>
        </p:txBody>
      </p:sp>
      <p:sp>
        <p:nvSpPr>
          <p:cNvPr id="22" name="TextBox 21"/>
          <p:cNvSpPr txBox="1"/>
          <p:nvPr/>
        </p:nvSpPr>
        <p:spPr>
          <a:xfrm>
            <a:off x="813816" y="6419088"/>
            <a:ext cx="9875520" cy="228600"/>
          </a:xfrm>
          <a:prstGeom prst="rect">
            <a:avLst/>
          </a:prstGeom>
          <a:noFill/>
        </p:spPr>
        <p:txBody>
          <a:bodyPr wrap="square" lIns="0" rIns="0" tIns="0" bIns="0" anchor="t">
            <a:spAutoFit/>
          </a:bodyPr>
          <a:lstStyle/>
          <a:p>
            <a:pPr algn="l">
              <a:lnSpc>
                <a:spcPct val="100000"/>
              </a:lnSpc>
            </a:pPr>
            <a:r>
              <a:rPr sz="900" b="0">
                <a:solidFill>
                  <a:srgbClr val="8D99B0"/>
                </a:solidFill>
                <a:latin typeface="DM Sans"/>
              </a:rPr>
              <a:t>Source: own analysis of the Bossard SmartBin data, 1 Mar to 20 Jun 2022 · rule simulated on every scale for 16 weeks; the example is illustrative · Report §6.2 to §6.4</a:t>
            </a:r>
          </a:p>
        </p:txBody>
      </p:sp>
      <p:sp>
        <p:nvSpPr>
          <p:cNvPr id="23" name="TextBox 22"/>
          <p:cNvSpPr txBox="1"/>
          <p:nvPr/>
        </p:nvSpPr>
        <p:spPr>
          <a:xfrm>
            <a:off x="10927080" y="6419088"/>
            <a:ext cx="457200" cy="228600"/>
          </a:xfrm>
          <a:prstGeom prst="rect">
            <a:avLst/>
          </a:prstGeom>
          <a:noFill/>
        </p:spPr>
        <p:txBody>
          <a:bodyPr wrap="square" lIns="0" rIns="0" tIns="0" bIns="0" anchor="t">
            <a:spAutoFit/>
          </a:bodyPr>
          <a:lstStyle/>
          <a:p>
            <a:pPr algn="r">
              <a:lnSpc>
                <a:spcPct val="112000"/>
              </a:lnSpc>
            </a:pPr>
            <a:r>
              <a:rPr sz="900" b="0">
                <a:solidFill>
                  <a:srgbClr val="8D99B0"/>
                </a:solidFill>
                <a:latin typeface="DM Sans"/>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E1628"/>
        </a:solidFill>
        <a:effectLst/>
      </p:bgPr>
    </p:bg>
    <p:spTree>
      <p:nvGrpSpPr>
        <p:cNvPr id="1" name=""/>
        <p:cNvGrpSpPr/>
        <p:nvPr/>
      </p:nvGrpSpPr>
      <p:grpSpPr/>
      <p:sp>
        <p:nvSpPr>
          <p:cNvPr id="2" name="Rectangle 1"/>
          <p:cNvSpPr/>
          <p:nvPr/>
        </p:nvSpPr>
        <p:spPr>
          <a:xfrm>
            <a:off x="6986016" y="0"/>
            <a:ext cx="5202936" cy="4059936"/>
          </a:xfrm>
          <a:prstGeom prst="rect">
            <a:avLst/>
          </a:prstGeom>
          <a:gradFill rotWithShape="1">
            <a:gsLst>
              <a:gs pos="0">
                <a:srgbClr val="8EA2FF">
                  <a:alpha val="18000"/>
                </a:srgbClr>
              </a:gs>
              <a:gs pos="65000">
                <a:srgbClr val="8EA2FF">
                  <a:alpha val="0"/>
                </a:srgbClr>
              </a:gs>
            </a:gsLst>
            <a:path path="circle">
              <a:fillToRect l="70000" t="25000" r="30000" b="75000"/>
            </a:path>
          </a:gradFill>
          <a:ln>
            <a:noFill/>
          </a:ln>
        </p:spPr>
        <p:txBody>
          <a:bodyPr rtlCol="0" anchor="ctr"/>
          <a:lstStyle/>
          <a:p>
            <a:pPr algn="ctr"/>
          </a:p>
        </p:txBody>
      </p:sp>
      <p:sp>
        <p:nvSpPr>
          <p:cNvPr id="3" name="TextBox 2"/>
          <p:cNvSpPr txBox="1"/>
          <p:nvPr/>
        </p:nvSpPr>
        <p:spPr>
          <a:xfrm>
            <a:off x="813816" y="502920"/>
            <a:ext cx="10570464" cy="228600"/>
          </a:xfrm>
          <a:prstGeom prst="rect">
            <a:avLst/>
          </a:prstGeom>
          <a:noFill/>
        </p:spPr>
        <p:txBody>
          <a:bodyPr wrap="square" lIns="0" rIns="0" tIns="0" bIns="0" anchor="t">
            <a:spAutoFit/>
          </a:bodyPr>
          <a:lstStyle/>
          <a:p>
            <a:pPr algn="l">
              <a:lnSpc>
                <a:spcPct val="112000"/>
              </a:lnSpc>
            </a:pPr>
            <a:r>
              <a:rPr sz="1100" b="1" spc="150">
                <a:solidFill>
                  <a:srgbClr val="5EEAD4"/>
                </a:solidFill>
                <a:latin typeface="DM Sans"/>
              </a:rPr>
              <a:t>STEP 3 · WATCH</a:t>
            </a:r>
          </a:p>
        </p:txBody>
      </p:sp>
      <p:sp>
        <p:nvSpPr>
          <p:cNvPr id="4" name="TextBox 3"/>
          <p:cNvSpPr txBox="1"/>
          <p:nvPr/>
        </p:nvSpPr>
        <p:spPr>
          <a:xfrm>
            <a:off x="813816" y="777240"/>
            <a:ext cx="10570464" cy="408939"/>
          </a:xfrm>
          <a:prstGeom prst="rect">
            <a:avLst/>
          </a:prstGeom>
          <a:noFill/>
        </p:spPr>
        <p:txBody>
          <a:bodyPr wrap="square" lIns="0" rIns="0" tIns="0" bIns="0" anchor="t">
            <a:spAutoFit/>
          </a:bodyPr>
          <a:lstStyle/>
          <a:p>
            <a:pPr algn="l">
              <a:lnSpc>
                <a:spcPct val="100000"/>
              </a:lnSpc>
            </a:pPr>
            <a:r>
              <a:rPr sz="2800" b="1">
                <a:solidFill>
                  <a:srgbClr val="FFFFFF"/>
                </a:solidFill>
                <a:latin typeface="Space Grotesk"/>
              </a:rPr>
              <a:t>Missed picks are still found, usually within two days</a:t>
            </a:r>
          </a:p>
        </p:txBody>
      </p:sp>
      <p:sp>
        <p:nvSpPr>
          <p:cNvPr id="5" name="TextBox 4"/>
          <p:cNvSpPr txBox="1"/>
          <p:nvPr/>
        </p:nvSpPr>
        <p:spPr>
          <a:xfrm>
            <a:off x="813816" y="1396491"/>
            <a:ext cx="5486400" cy="274320"/>
          </a:xfrm>
          <a:prstGeom prst="rect">
            <a:avLst/>
          </a:prstGeom>
          <a:noFill/>
        </p:spPr>
        <p:txBody>
          <a:bodyPr wrap="square" lIns="0" rIns="0" tIns="0" bIns="0" anchor="t">
            <a:spAutoFit/>
          </a:bodyPr>
          <a:lstStyle/>
          <a:p>
            <a:pPr algn="l">
              <a:lnSpc>
                <a:spcPct val="112000"/>
              </a:lnSpc>
            </a:pPr>
            <a:r>
              <a:rPr sz="1050" b="1" spc="120">
                <a:solidFill>
                  <a:srgbClr val="5EEAD4"/>
                </a:solidFill>
                <a:latin typeface="DM Sans"/>
              </a:rPr>
              <a:t>WHEN IS A MISSED PICK FOUND?</a:t>
            </a:r>
          </a:p>
        </p:txBody>
      </p:sp>
      <p:pic>
        <p:nvPicPr>
          <p:cNvPr id="6" name="Picture 5" descr="k14_delay.png"/>
          <p:cNvPicPr>
            <a:picLocks noChangeAspect="1"/>
          </p:cNvPicPr>
          <p:nvPr/>
        </p:nvPicPr>
        <p:blipFill>
          <a:blip r:embed="rId2"/>
          <a:stretch>
            <a:fillRect/>
          </a:stretch>
        </p:blipFill>
        <p:spPr>
          <a:xfrm>
            <a:off x="676656" y="1689100"/>
            <a:ext cx="5669280" cy="1920240"/>
          </a:xfrm>
          <a:prstGeom prst="rect">
            <a:avLst/>
          </a:prstGeom>
        </p:spPr>
      </p:pic>
      <p:sp>
        <p:nvSpPr>
          <p:cNvPr id="7" name="TextBox 6"/>
          <p:cNvSpPr txBox="1"/>
          <p:nvPr/>
        </p:nvSpPr>
        <p:spPr>
          <a:xfrm>
            <a:off x="6446520" y="1396491"/>
            <a:ext cx="5029200" cy="274320"/>
          </a:xfrm>
          <a:prstGeom prst="rect">
            <a:avLst/>
          </a:prstGeom>
          <a:noFill/>
        </p:spPr>
        <p:txBody>
          <a:bodyPr wrap="square" lIns="0" rIns="0" tIns="0" bIns="0" anchor="t">
            <a:spAutoFit/>
          </a:bodyPr>
          <a:lstStyle/>
          <a:p>
            <a:pPr algn="l">
              <a:lnSpc>
                <a:spcPct val="112000"/>
              </a:lnSpc>
            </a:pPr>
            <a:r>
              <a:rPr sz="1050" b="1" spc="120">
                <a:solidFill>
                  <a:srgbClr val="5EEAD4"/>
                </a:solidFill>
                <a:latin typeface="DM Sans"/>
              </a:rPr>
              <a:t>WHO MISSES THE PICKS?</a:t>
            </a:r>
          </a:p>
        </p:txBody>
      </p:sp>
      <p:pic>
        <p:nvPicPr>
          <p:cNvPr id="8" name="Picture 7" descr="k15_split.png"/>
          <p:cNvPicPr>
            <a:picLocks noChangeAspect="1"/>
          </p:cNvPicPr>
          <p:nvPr/>
        </p:nvPicPr>
        <p:blipFill>
          <a:blip r:embed="rId3"/>
          <a:stretch>
            <a:fillRect/>
          </a:stretch>
        </p:blipFill>
        <p:spPr>
          <a:xfrm>
            <a:off x="6355080" y="1689100"/>
            <a:ext cx="5029200" cy="1920240"/>
          </a:xfrm>
          <a:prstGeom prst="rect">
            <a:avLst/>
          </a:prstGeom>
        </p:spPr>
      </p:pic>
      <p:sp>
        <p:nvSpPr>
          <p:cNvPr id="9" name="Rounded Rectangle 8"/>
          <p:cNvSpPr/>
          <p:nvPr/>
        </p:nvSpPr>
        <p:spPr>
          <a:xfrm>
            <a:off x="813816" y="3792220"/>
            <a:ext cx="10570464" cy="1143000"/>
          </a:xfrm>
          <a:prstGeom prst="roundRect">
            <a:avLst>
              <a:gd name="adj" fmla="val 9600"/>
            </a:avLst>
          </a:prstGeom>
          <a:solidFill>
            <a:srgbClr val="8EA2FF">
              <a:alpha val="8000"/>
            </a:srgbClr>
          </a:solidFill>
          <a:ln w="6350">
            <a:solidFill>
              <a:srgbClr val="8EA2FF">
                <a:alpha val="50000"/>
              </a:srgbClr>
            </a:solidFill>
          </a:ln>
        </p:spPr>
        <p:txBody>
          <a:bodyPr rtlCol="0" anchor="ctr"/>
          <a:lstStyle/>
          <a:p>
            <a:pPr algn="ctr"/>
          </a:p>
        </p:txBody>
      </p:sp>
      <p:sp>
        <p:nvSpPr>
          <p:cNvPr id="10" name="TextBox 9"/>
          <p:cNvSpPr txBox="1"/>
          <p:nvPr/>
        </p:nvSpPr>
        <p:spPr>
          <a:xfrm>
            <a:off x="1042416" y="3929380"/>
            <a:ext cx="2743200" cy="274320"/>
          </a:xfrm>
          <a:prstGeom prst="rect">
            <a:avLst/>
          </a:prstGeom>
          <a:noFill/>
        </p:spPr>
        <p:txBody>
          <a:bodyPr wrap="square" lIns="0" rIns="0" tIns="0" bIns="0" anchor="t">
            <a:spAutoFit/>
          </a:bodyPr>
          <a:lstStyle/>
          <a:p>
            <a:pPr algn="l">
              <a:lnSpc>
                <a:spcPct val="112000"/>
              </a:lnSpc>
            </a:pPr>
            <a:r>
              <a:rPr sz="1050" b="1" spc="100">
                <a:solidFill>
                  <a:srgbClr val="8EA2FF"/>
                </a:solidFill>
                <a:latin typeface="DM Sans"/>
              </a:rPr>
              <a:t>KPI 2.0, EVERY WEEK</a:t>
            </a:r>
          </a:p>
        </p:txBody>
      </p:sp>
      <p:sp>
        <p:nvSpPr>
          <p:cNvPr id="11" name="TextBox 10"/>
          <p:cNvSpPr txBox="1"/>
          <p:nvPr/>
        </p:nvSpPr>
        <p:spPr>
          <a:xfrm>
            <a:off x="1042416" y="4231132"/>
            <a:ext cx="10113264" cy="685800"/>
          </a:xfrm>
          <a:prstGeom prst="rect">
            <a:avLst/>
          </a:prstGeom>
          <a:noFill/>
        </p:spPr>
        <p:txBody>
          <a:bodyPr wrap="square" lIns="0" rIns="0" tIns="0" bIns="0" anchor="t">
            <a:spAutoFit/>
          </a:bodyPr>
          <a:lstStyle/>
          <a:p>
            <a:pPr algn="l">
              <a:lnSpc>
                <a:spcPct val="112000"/>
              </a:lnSpc>
            </a:pPr>
            <a:r>
              <a:rPr sz="1300" b="0">
                <a:solidFill>
                  <a:srgbClr val="D7DEFF"/>
                </a:solidFill>
                <a:latin typeface="DM Sans"/>
              </a:rPr>
              <a:t>Two numbers per scale: </a:t>
            </a:r>
            <a:r>
              <a:rPr sz="1300" b="1">
                <a:solidFill>
                  <a:srgbClr val="FFFFFF"/>
                </a:solidFill>
                <a:latin typeface="DM Sans"/>
              </a:rPr>
              <a:t>empty wake-ups ≤ 7</a:t>
            </a:r>
            <a:r>
              <a:rPr sz="1300" b="0">
                <a:solidFill>
                  <a:srgbClr val="D7DEFF"/>
                </a:solidFill>
                <a:latin typeface="DM Sans"/>
              </a:rPr>
              <a:t> and </a:t>
            </a:r>
            <a:r>
              <a:rPr sz="1300" b="1">
                <a:solidFill>
                  <a:srgbClr val="FFFFFF"/>
                </a:solidFill>
                <a:latin typeface="DM Sans"/>
              </a:rPr>
              <a:t>picks missed ≤ 10%</a:t>
            </a:r>
            <a:r>
              <a:rPr sz="1300" b="0">
                <a:solidFill>
                  <a:srgbClr val="D7DEFF"/>
                </a:solidFill>
                <a:latin typeface="DM Sans"/>
              </a:rPr>
              <a:t>. Bossard's daily check already finds 91% of the misses. The scales that miss most go on a watch list.</a:t>
            </a:r>
          </a:p>
        </p:txBody>
      </p:sp>
      <p:sp>
        <p:nvSpPr>
          <p:cNvPr id="12" name="Rounded Rectangle 11"/>
          <p:cNvSpPr/>
          <p:nvPr/>
        </p:nvSpPr>
        <p:spPr>
          <a:xfrm>
            <a:off x="813816" y="5440680"/>
            <a:ext cx="1988978" cy="365760"/>
          </a:xfrm>
          <a:prstGeom prst="roundRect">
            <a:avLst>
              <a:gd name="adj" fmla="val 50000"/>
            </a:avLst>
          </a:prstGeom>
          <a:solidFill>
            <a:srgbClr val="5EEAD4">
              <a:alpha val="16000"/>
            </a:srgbClr>
          </a:solidFill>
          <a:ln w="6350">
            <a:solidFill>
              <a:srgbClr val="5EEAD4">
                <a:alpha val="45000"/>
              </a:srgbClr>
            </a:solidFill>
          </a:ln>
        </p:spPr>
        <p:txBody>
          <a:bodyPr rtlCol="0" anchor="ctr" lIns="45720" rIns="45720" tIns="0" bIns="0" wrap="none"/>
          <a:lstStyle/>
          <a:p>
            <a:pPr algn="ctr"/>
            <a:r>
              <a:rPr sz="1250" b="1">
                <a:solidFill>
                  <a:srgbClr val="5EEAD4"/>
                </a:solidFill>
                <a:latin typeface="DM Sans"/>
              </a:rPr>
              <a:t>Keep the daily check</a:t>
            </a:r>
          </a:p>
        </p:txBody>
      </p:sp>
      <p:sp>
        <p:nvSpPr>
          <p:cNvPr id="13" name="Rounded Rectangle 12"/>
          <p:cNvSpPr/>
          <p:nvPr/>
        </p:nvSpPr>
        <p:spPr>
          <a:xfrm>
            <a:off x="2939954" y="5440680"/>
            <a:ext cx="2673032" cy="365760"/>
          </a:xfrm>
          <a:prstGeom prst="roundRect">
            <a:avLst>
              <a:gd name="adj" fmla="val 50000"/>
            </a:avLst>
          </a:prstGeom>
          <a:solidFill>
            <a:srgbClr val="5EEAD4">
              <a:alpha val="16000"/>
            </a:srgbClr>
          </a:solidFill>
          <a:ln w="6350">
            <a:solidFill>
              <a:srgbClr val="5EEAD4">
                <a:alpha val="45000"/>
              </a:srgbClr>
            </a:solidFill>
          </a:ln>
        </p:spPr>
        <p:txBody>
          <a:bodyPr rtlCol="0" anchor="ctr" lIns="45720" rIns="45720" tIns="0" bIns="0" wrap="none"/>
          <a:lstStyle/>
          <a:p>
            <a:pPr algn="ctr"/>
            <a:r>
              <a:rPr sz="1250" b="1">
                <a:solidFill>
                  <a:srgbClr val="5EEAD4"/>
                </a:solidFill>
                <a:latin typeface="DM Sans"/>
              </a:rPr>
              <a:t>Extra check for the worst 10%</a:t>
            </a:r>
          </a:p>
        </p:txBody>
      </p:sp>
      <p:sp>
        <p:nvSpPr>
          <p:cNvPr id="14" name="Rounded Rectangle 13"/>
          <p:cNvSpPr/>
          <p:nvPr/>
        </p:nvSpPr>
        <p:spPr>
          <a:xfrm>
            <a:off x="5750147" y="5440680"/>
            <a:ext cx="2813526" cy="365760"/>
          </a:xfrm>
          <a:prstGeom prst="roundRect">
            <a:avLst>
              <a:gd name="adj" fmla="val 50000"/>
            </a:avLst>
          </a:prstGeom>
          <a:solidFill>
            <a:srgbClr val="FFC56E">
              <a:alpha val="16000"/>
            </a:srgbClr>
          </a:solidFill>
          <a:ln w="6350">
            <a:solidFill>
              <a:srgbClr val="FFC56E">
                <a:alpha val="45000"/>
              </a:srgbClr>
            </a:solidFill>
          </a:ln>
        </p:spPr>
        <p:txBody>
          <a:bodyPr rtlCol="0" anchor="ctr" lIns="45720" rIns="45720" tIns="0" bIns="0" wrap="none"/>
          <a:lstStyle/>
          <a:p>
            <a:pPr algn="ctr"/>
            <a:r>
              <a:rPr sz="1250" b="1">
                <a:solidFill>
                  <a:srgbClr val="FFC56E"/>
                </a:solidFill>
                <a:latin typeface="DM Sans"/>
              </a:rPr>
              <a:t>Alarm if a scale is silent for 48 h</a:t>
            </a:r>
          </a:p>
        </p:txBody>
      </p:sp>
      <p:sp>
        <p:nvSpPr>
          <p:cNvPr id="15" name="Rounded Rectangle 14"/>
          <p:cNvSpPr/>
          <p:nvPr/>
        </p:nvSpPr>
        <p:spPr>
          <a:xfrm>
            <a:off x="8700833" y="5440680"/>
            <a:ext cx="2448560" cy="365760"/>
          </a:xfrm>
          <a:prstGeom prst="roundRect">
            <a:avLst>
              <a:gd name="adj" fmla="val 50000"/>
            </a:avLst>
          </a:prstGeom>
          <a:solidFill>
            <a:srgbClr val="FF8FA3">
              <a:alpha val="16000"/>
            </a:srgbClr>
          </a:solidFill>
          <a:ln w="6350">
            <a:solidFill>
              <a:srgbClr val="FF8FA3">
                <a:alpha val="45000"/>
              </a:srgbClr>
            </a:solidFill>
          </a:ln>
        </p:spPr>
        <p:txBody>
          <a:bodyPr rtlCol="0" anchor="ctr" lIns="45720" rIns="45720" tIns="0" bIns="0" wrap="none"/>
          <a:lstStyle/>
          <a:p>
            <a:pPr algn="ctr"/>
            <a:r>
              <a:rPr sz="1250" b="1">
                <a:solidFill>
                  <a:srgbClr val="FF8FA3"/>
                </a:solidFill>
                <a:latin typeface="DM Sans"/>
              </a:rPr>
              <a:t>No extra night check for all</a:t>
            </a:r>
          </a:p>
        </p:txBody>
      </p:sp>
      <p:sp>
        <p:nvSpPr>
          <p:cNvPr id="16" name="TextBox 15"/>
          <p:cNvSpPr txBox="1"/>
          <p:nvPr/>
        </p:nvSpPr>
        <p:spPr>
          <a:xfrm>
            <a:off x="813816" y="6419088"/>
            <a:ext cx="9875520" cy="228600"/>
          </a:xfrm>
          <a:prstGeom prst="rect">
            <a:avLst/>
          </a:prstGeom>
          <a:noFill/>
        </p:spPr>
        <p:txBody>
          <a:bodyPr wrap="square" lIns="0" rIns="0" tIns="0" bIns="0" anchor="t">
            <a:spAutoFit/>
          </a:bodyPr>
          <a:lstStyle/>
          <a:p>
            <a:pPr algn="l">
              <a:lnSpc>
                <a:spcPct val="100000"/>
              </a:lnSpc>
            </a:pPr>
            <a:r>
              <a:rPr sz="900" b="0">
                <a:solidFill>
                  <a:srgbClr val="8D99B0"/>
                </a:solidFill>
                <a:latin typeface="DM Sans"/>
              </a:rPr>
              <a:t>Source: own analysis of the Bossard SmartBin data, 1 Mar to 20 Jun 2022 · time since the last weighing of every missed pick · Report §3, §6.4</a:t>
            </a:r>
          </a:p>
        </p:txBody>
      </p:sp>
      <p:sp>
        <p:nvSpPr>
          <p:cNvPr id="17" name="TextBox 16"/>
          <p:cNvSpPr txBox="1"/>
          <p:nvPr/>
        </p:nvSpPr>
        <p:spPr>
          <a:xfrm>
            <a:off x="10927080" y="6419088"/>
            <a:ext cx="457200" cy="228600"/>
          </a:xfrm>
          <a:prstGeom prst="rect">
            <a:avLst/>
          </a:prstGeom>
          <a:noFill/>
        </p:spPr>
        <p:txBody>
          <a:bodyPr wrap="square" lIns="0" rIns="0" tIns="0" bIns="0" anchor="t">
            <a:spAutoFit/>
          </a:bodyPr>
          <a:lstStyle/>
          <a:p>
            <a:pPr algn="r">
              <a:lnSpc>
                <a:spcPct val="112000"/>
              </a:lnSpc>
            </a:pPr>
            <a:r>
              <a:rPr sz="900" b="0">
                <a:solidFill>
                  <a:srgbClr val="8D99B0"/>
                </a:solidFill>
                <a:latin typeface="DM Sans"/>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A1020"/>
        </a:solidFill>
        <a:effectLst/>
      </p:bgPr>
    </p:bg>
    <p:spTree>
      <p:nvGrpSpPr>
        <p:cNvPr id="1" name=""/>
        <p:cNvGrpSpPr/>
        <p:nvPr/>
      </p:nvGrpSpPr>
      <p:grpSpPr/>
      <p:sp>
        <p:nvSpPr>
          <p:cNvPr id="2" name="Rectangle 1"/>
          <p:cNvSpPr/>
          <p:nvPr/>
        </p:nvSpPr>
        <p:spPr>
          <a:xfrm>
            <a:off x="6986016" y="0"/>
            <a:ext cx="5202936" cy="4059936"/>
          </a:xfrm>
          <a:prstGeom prst="rect">
            <a:avLst/>
          </a:prstGeom>
          <a:gradFill rotWithShape="1">
            <a:gsLst>
              <a:gs pos="0">
                <a:srgbClr val="8EA2FF">
                  <a:alpha val="18000"/>
                </a:srgbClr>
              </a:gs>
              <a:gs pos="65000">
                <a:srgbClr val="8EA2FF">
                  <a:alpha val="0"/>
                </a:srgbClr>
              </a:gs>
            </a:gsLst>
            <a:path path="circle">
              <a:fillToRect l="70000" t="25000" r="30000" b="75000"/>
            </a:path>
          </a:gradFill>
          <a:ln>
            <a:noFill/>
          </a:ln>
        </p:spPr>
        <p:txBody>
          <a:bodyPr rtlCol="0" anchor="ctr"/>
          <a:lstStyle/>
          <a:p>
            <a:pPr algn="ctr"/>
          </a:p>
        </p:txBody>
      </p:sp>
      <p:sp>
        <p:nvSpPr>
          <p:cNvPr id="3" name="TextBox 2"/>
          <p:cNvSpPr txBox="1"/>
          <p:nvPr/>
        </p:nvSpPr>
        <p:spPr>
          <a:xfrm>
            <a:off x="813816" y="502920"/>
            <a:ext cx="10570464" cy="228600"/>
          </a:xfrm>
          <a:prstGeom prst="rect">
            <a:avLst/>
          </a:prstGeom>
          <a:noFill/>
        </p:spPr>
        <p:txBody>
          <a:bodyPr wrap="square" lIns="0" rIns="0" tIns="0" bIns="0" anchor="t">
            <a:spAutoFit/>
          </a:bodyPr>
          <a:lstStyle/>
          <a:p>
            <a:pPr algn="l">
              <a:lnSpc>
                <a:spcPct val="112000"/>
              </a:lnSpc>
            </a:pPr>
            <a:r>
              <a:rPr sz="1100" b="1" spc="150">
                <a:solidFill>
                  <a:srgbClr val="5EEAD4"/>
                </a:solidFill>
                <a:latin typeface="DM Sans"/>
              </a:rPr>
              <a:t>HOW WE TESTED THE RULE</a:t>
            </a:r>
          </a:p>
        </p:txBody>
      </p:sp>
      <p:sp>
        <p:nvSpPr>
          <p:cNvPr id="4" name="TextBox 3"/>
          <p:cNvSpPr txBox="1"/>
          <p:nvPr/>
        </p:nvSpPr>
        <p:spPr>
          <a:xfrm>
            <a:off x="813816" y="777240"/>
            <a:ext cx="10570464" cy="408939"/>
          </a:xfrm>
          <a:prstGeom prst="rect">
            <a:avLst/>
          </a:prstGeom>
          <a:noFill/>
        </p:spPr>
        <p:txBody>
          <a:bodyPr wrap="square" lIns="0" rIns="0" tIns="0" bIns="0" anchor="t">
            <a:spAutoFit/>
          </a:bodyPr>
          <a:lstStyle/>
          <a:p>
            <a:pPr algn="l">
              <a:lnSpc>
                <a:spcPct val="100000"/>
              </a:lnSpc>
            </a:pPr>
            <a:r>
              <a:rPr sz="2800" b="1">
                <a:solidFill>
                  <a:srgbClr val="FFFFFF"/>
                </a:solidFill>
                <a:latin typeface="Space Grotesk"/>
              </a:rPr>
              <a:t>We replayed 16 weeks on every real scale</a:t>
            </a:r>
          </a:p>
        </p:txBody>
      </p:sp>
      <p:sp>
        <p:nvSpPr>
          <p:cNvPr id="5" name="Rounded Rectangle 4"/>
          <p:cNvSpPr/>
          <p:nvPr/>
        </p:nvSpPr>
        <p:spPr>
          <a:xfrm>
            <a:off x="813816" y="1506220"/>
            <a:ext cx="1982419" cy="2148840"/>
          </a:xfrm>
          <a:prstGeom prst="roundRect">
            <a:avLst>
              <a:gd name="adj" fmla="val 5535"/>
            </a:avLst>
          </a:prstGeom>
          <a:solidFill>
            <a:srgbClr val="5EEAD4">
              <a:alpha val="8000"/>
            </a:srgbClr>
          </a:solidFill>
          <a:ln w="6350">
            <a:solidFill>
              <a:srgbClr val="5EEAD4">
                <a:alpha val="50000"/>
              </a:srgbClr>
            </a:solidFill>
          </a:ln>
        </p:spPr>
        <p:txBody>
          <a:bodyPr rtlCol="0" anchor="ctr"/>
          <a:lstStyle/>
          <a:p>
            <a:pPr algn="ctr"/>
          </a:p>
        </p:txBody>
      </p:sp>
      <p:sp>
        <p:nvSpPr>
          <p:cNvPr id="6" name="Oval 5"/>
          <p:cNvSpPr/>
          <p:nvPr/>
        </p:nvSpPr>
        <p:spPr>
          <a:xfrm>
            <a:off x="969264" y="1661667"/>
            <a:ext cx="310896" cy="310896"/>
          </a:xfrm>
          <a:prstGeom prst="ellipse">
            <a:avLst/>
          </a:prstGeom>
          <a:solidFill>
            <a:srgbClr val="5EEAD4"/>
          </a:solidFill>
          <a:ln>
            <a:noFill/>
          </a:ln>
        </p:spPr>
        <p:txBody>
          <a:bodyPr rtlCol="0" anchor="ctr" lIns="0" rIns="0" tIns="0" bIns="0"/>
          <a:lstStyle/>
          <a:p>
            <a:pPr algn="ctr"/>
            <a:r>
              <a:rPr sz="1300" b="1">
                <a:solidFill>
                  <a:srgbClr val="0A1020"/>
                </a:solidFill>
                <a:latin typeface="Space Grotesk"/>
              </a:rPr>
              <a:t>1</a:t>
            </a:r>
          </a:p>
        </p:txBody>
      </p:sp>
      <p:sp>
        <p:nvSpPr>
          <p:cNvPr id="7" name="TextBox 6"/>
          <p:cNvSpPr txBox="1"/>
          <p:nvPr/>
        </p:nvSpPr>
        <p:spPr>
          <a:xfrm>
            <a:off x="969264" y="2073148"/>
            <a:ext cx="1708099" cy="548640"/>
          </a:xfrm>
          <a:prstGeom prst="rect">
            <a:avLst/>
          </a:prstGeom>
          <a:noFill/>
        </p:spPr>
        <p:txBody>
          <a:bodyPr wrap="square" lIns="0" rIns="0" tIns="0" bIns="0" anchor="t">
            <a:spAutoFit/>
          </a:bodyPr>
          <a:lstStyle/>
          <a:p>
            <a:pPr algn="l">
              <a:lnSpc>
                <a:spcPct val="105000"/>
              </a:lnSpc>
            </a:pPr>
            <a:r>
              <a:rPr sz="1350" b="1">
                <a:solidFill>
                  <a:srgbClr val="FFFFFF"/>
                </a:solidFill>
                <a:latin typeface="Space Grotesk"/>
              </a:rPr>
              <a:t>Start from real data</a:t>
            </a:r>
          </a:p>
        </p:txBody>
      </p:sp>
      <p:sp>
        <p:nvSpPr>
          <p:cNvPr id="8" name="TextBox 7"/>
          <p:cNvSpPr txBox="1"/>
          <p:nvPr/>
        </p:nvSpPr>
        <p:spPr>
          <a:xfrm>
            <a:off x="969264" y="2603500"/>
            <a:ext cx="1708099" cy="1051560"/>
          </a:xfrm>
          <a:prstGeom prst="rect">
            <a:avLst/>
          </a:prstGeom>
          <a:noFill/>
        </p:spPr>
        <p:txBody>
          <a:bodyPr wrap="square" lIns="0" rIns="0" tIns="0" bIns="0" anchor="t">
            <a:spAutoFit/>
          </a:bodyPr>
          <a:lstStyle/>
          <a:p>
            <a:pPr algn="l">
              <a:lnSpc>
                <a:spcPct val="110000"/>
              </a:lnSpc>
            </a:pPr>
            <a:r>
              <a:rPr sz="1150" b="0">
                <a:solidFill>
                  <a:srgbClr val="B8C4D9"/>
                </a:solidFill>
                <a:latin typeface="DM Sans"/>
              </a:rPr>
              <a:t>Each scale's own counts per week on setting 8: empty wake-ups, picks, missed picks.</a:t>
            </a:r>
          </a:p>
        </p:txBody>
      </p:sp>
      <p:sp>
        <p:nvSpPr>
          <p:cNvPr id="9" name="Rounded Rectangle 8"/>
          <p:cNvSpPr/>
          <p:nvPr/>
        </p:nvSpPr>
        <p:spPr>
          <a:xfrm>
            <a:off x="2960827" y="1506220"/>
            <a:ext cx="1982419" cy="2148840"/>
          </a:xfrm>
          <a:prstGeom prst="roundRect">
            <a:avLst>
              <a:gd name="adj" fmla="val 5535"/>
            </a:avLst>
          </a:prstGeom>
          <a:solidFill>
            <a:srgbClr val="5EEAD4">
              <a:alpha val="8000"/>
            </a:srgbClr>
          </a:solidFill>
          <a:ln w="6350">
            <a:solidFill>
              <a:srgbClr val="5EEAD4">
                <a:alpha val="50000"/>
              </a:srgbClr>
            </a:solidFill>
          </a:ln>
        </p:spPr>
        <p:txBody>
          <a:bodyPr rtlCol="0" anchor="ctr"/>
          <a:lstStyle/>
          <a:p>
            <a:pPr algn="ctr"/>
          </a:p>
        </p:txBody>
      </p:sp>
      <p:sp>
        <p:nvSpPr>
          <p:cNvPr id="10" name="Oval 9"/>
          <p:cNvSpPr/>
          <p:nvPr/>
        </p:nvSpPr>
        <p:spPr>
          <a:xfrm>
            <a:off x="3116275" y="1661667"/>
            <a:ext cx="310896" cy="310896"/>
          </a:xfrm>
          <a:prstGeom prst="ellipse">
            <a:avLst/>
          </a:prstGeom>
          <a:solidFill>
            <a:srgbClr val="5EEAD4"/>
          </a:solidFill>
          <a:ln>
            <a:noFill/>
          </a:ln>
        </p:spPr>
        <p:txBody>
          <a:bodyPr rtlCol="0" anchor="ctr" lIns="0" rIns="0" tIns="0" bIns="0"/>
          <a:lstStyle/>
          <a:p>
            <a:pPr algn="ctr"/>
            <a:r>
              <a:rPr sz="1300" b="1">
                <a:solidFill>
                  <a:srgbClr val="0A1020"/>
                </a:solidFill>
                <a:latin typeface="Space Grotesk"/>
              </a:rPr>
              <a:t>2</a:t>
            </a:r>
          </a:p>
        </p:txBody>
      </p:sp>
      <p:sp>
        <p:nvSpPr>
          <p:cNvPr id="11" name="TextBox 10"/>
          <p:cNvSpPr txBox="1"/>
          <p:nvPr/>
        </p:nvSpPr>
        <p:spPr>
          <a:xfrm>
            <a:off x="3116275" y="2073148"/>
            <a:ext cx="1708099" cy="548640"/>
          </a:xfrm>
          <a:prstGeom prst="rect">
            <a:avLst/>
          </a:prstGeom>
          <a:noFill/>
        </p:spPr>
        <p:txBody>
          <a:bodyPr wrap="square" lIns="0" rIns="0" tIns="0" bIns="0" anchor="t">
            <a:spAutoFit/>
          </a:bodyPr>
          <a:lstStyle/>
          <a:p>
            <a:pPr algn="l">
              <a:lnSpc>
                <a:spcPct val="105000"/>
              </a:lnSpc>
            </a:pPr>
            <a:r>
              <a:rPr sz="1350" b="1">
                <a:solidFill>
                  <a:srgbClr val="FFFFFF"/>
                </a:solidFill>
                <a:latin typeface="Space Grotesk"/>
              </a:rPr>
              <a:t>Apply the measured effect</a:t>
            </a:r>
          </a:p>
        </p:txBody>
      </p:sp>
      <p:sp>
        <p:nvSpPr>
          <p:cNvPr id="12" name="TextBox 11"/>
          <p:cNvSpPr txBox="1"/>
          <p:nvPr/>
        </p:nvSpPr>
        <p:spPr>
          <a:xfrm>
            <a:off x="3116275" y="2603500"/>
            <a:ext cx="1708099" cy="1051560"/>
          </a:xfrm>
          <a:prstGeom prst="rect">
            <a:avLst/>
          </a:prstGeom>
          <a:noFill/>
        </p:spPr>
        <p:txBody>
          <a:bodyPr wrap="square" lIns="0" rIns="0" tIns="0" bIns="0" anchor="t">
            <a:spAutoFit/>
          </a:bodyPr>
          <a:lstStyle/>
          <a:p>
            <a:pPr algn="l">
              <a:lnSpc>
                <a:spcPct val="110000"/>
              </a:lnSpc>
            </a:pPr>
            <a:r>
              <a:rPr sz="1150" b="0">
                <a:solidFill>
                  <a:srgbClr val="B8C4D9"/>
                </a:solidFill>
                <a:latin typeface="DM Sans"/>
              </a:rPr>
              <a:t>From the April change. Setting 7 keeps about 41% of the empty wake-ups and 63% of the picks (20 kg).</a:t>
            </a:r>
          </a:p>
        </p:txBody>
      </p:sp>
      <p:sp>
        <p:nvSpPr>
          <p:cNvPr id="13" name="Rounded Rectangle 12"/>
          <p:cNvSpPr/>
          <p:nvPr/>
        </p:nvSpPr>
        <p:spPr>
          <a:xfrm>
            <a:off x="5107838" y="1506220"/>
            <a:ext cx="1982419" cy="2148840"/>
          </a:xfrm>
          <a:prstGeom prst="roundRect">
            <a:avLst>
              <a:gd name="adj" fmla="val 5535"/>
            </a:avLst>
          </a:prstGeom>
          <a:solidFill>
            <a:srgbClr val="5EEAD4">
              <a:alpha val="8000"/>
            </a:srgbClr>
          </a:solidFill>
          <a:ln w="6350">
            <a:solidFill>
              <a:srgbClr val="5EEAD4">
                <a:alpha val="50000"/>
              </a:srgbClr>
            </a:solidFill>
          </a:ln>
        </p:spPr>
        <p:txBody>
          <a:bodyPr rtlCol="0" anchor="ctr"/>
          <a:lstStyle/>
          <a:p>
            <a:pPr algn="ctr"/>
          </a:p>
        </p:txBody>
      </p:sp>
      <p:sp>
        <p:nvSpPr>
          <p:cNvPr id="14" name="Oval 13"/>
          <p:cNvSpPr/>
          <p:nvPr/>
        </p:nvSpPr>
        <p:spPr>
          <a:xfrm>
            <a:off x="5263286" y="1661667"/>
            <a:ext cx="310896" cy="310896"/>
          </a:xfrm>
          <a:prstGeom prst="ellipse">
            <a:avLst/>
          </a:prstGeom>
          <a:solidFill>
            <a:srgbClr val="5EEAD4"/>
          </a:solidFill>
          <a:ln>
            <a:noFill/>
          </a:ln>
        </p:spPr>
        <p:txBody>
          <a:bodyPr rtlCol="0" anchor="ctr" lIns="0" rIns="0" tIns="0" bIns="0"/>
          <a:lstStyle/>
          <a:p>
            <a:pPr algn="ctr"/>
            <a:r>
              <a:rPr sz="1300" b="1">
                <a:solidFill>
                  <a:srgbClr val="0A1020"/>
                </a:solidFill>
                <a:latin typeface="Space Grotesk"/>
              </a:rPr>
              <a:t>3</a:t>
            </a:r>
          </a:p>
        </p:txBody>
      </p:sp>
      <p:sp>
        <p:nvSpPr>
          <p:cNvPr id="15" name="TextBox 14"/>
          <p:cNvSpPr txBox="1"/>
          <p:nvPr/>
        </p:nvSpPr>
        <p:spPr>
          <a:xfrm>
            <a:off x="5263286" y="2073148"/>
            <a:ext cx="1708099" cy="548640"/>
          </a:xfrm>
          <a:prstGeom prst="rect">
            <a:avLst/>
          </a:prstGeom>
          <a:noFill/>
        </p:spPr>
        <p:txBody>
          <a:bodyPr wrap="square" lIns="0" rIns="0" tIns="0" bIns="0" anchor="t">
            <a:spAutoFit/>
          </a:bodyPr>
          <a:lstStyle/>
          <a:p>
            <a:pPr algn="l">
              <a:lnSpc>
                <a:spcPct val="105000"/>
              </a:lnSpc>
            </a:pPr>
            <a:r>
              <a:rPr sz="1350" b="1">
                <a:solidFill>
                  <a:srgbClr val="FFFFFF"/>
                </a:solidFill>
                <a:latin typeface="Space Grotesk"/>
              </a:rPr>
              <a:t>Add normal ups and downs</a:t>
            </a:r>
          </a:p>
        </p:txBody>
      </p:sp>
      <p:sp>
        <p:nvSpPr>
          <p:cNvPr id="16" name="TextBox 15"/>
          <p:cNvSpPr txBox="1"/>
          <p:nvPr/>
        </p:nvSpPr>
        <p:spPr>
          <a:xfrm>
            <a:off x="5263286" y="2603500"/>
            <a:ext cx="1708099" cy="1051560"/>
          </a:xfrm>
          <a:prstGeom prst="rect">
            <a:avLst/>
          </a:prstGeom>
          <a:noFill/>
        </p:spPr>
        <p:txBody>
          <a:bodyPr wrap="square" lIns="0" rIns="0" tIns="0" bIns="0" anchor="t">
            <a:spAutoFit/>
          </a:bodyPr>
          <a:lstStyle/>
          <a:p>
            <a:pPr algn="l">
              <a:lnSpc>
                <a:spcPct val="110000"/>
              </a:lnSpc>
            </a:pPr>
            <a:r>
              <a:rPr sz="1150" b="0">
                <a:solidFill>
                  <a:srgbClr val="B8C4D9"/>
                </a:solidFill>
                <a:latin typeface="DM Sans"/>
              </a:rPr>
              <a:t>Real weeks vary. We draw the counts at random around each scale's average (Poisson).</a:t>
            </a:r>
          </a:p>
        </p:txBody>
      </p:sp>
      <p:sp>
        <p:nvSpPr>
          <p:cNvPr id="17" name="Rounded Rectangle 16"/>
          <p:cNvSpPr/>
          <p:nvPr/>
        </p:nvSpPr>
        <p:spPr>
          <a:xfrm>
            <a:off x="7254849" y="1506220"/>
            <a:ext cx="1982419" cy="2148840"/>
          </a:xfrm>
          <a:prstGeom prst="roundRect">
            <a:avLst>
              <a:gd name="adj" fmla="val 5535"/>
            </a:avLst>
          </a:prstGeom>
          <a:solidFill>
            <a:srgbClr val="5EEAD4">
              <a:alpha val="8000"/>
            </a:srgbClr>
          </a:solidFill>
          <a:ln w="6350">
            <a:solidFill>
              <a:srgbClr val="5EEAD4">
                <a:alpha val="50000"/>
              </a:srgbClr>
            </a:solidFill>
          </a:ln>
        </p:spPr>
        <p:txBody>
          <a:bodyPr rtlCol="0" anchor="ctr"/>
          <a:lstStyle/>
          <a:p>
            <a:pPr algn="ctr"/>
          </a:p>
        </p:txBody>
      </p:sp>
      <p:sp>
        <p:nvSpPr>
          <p:cNvPr id="18" name="Oval 17"/>
          <p:cNvSpPr/>
          <p:nvPr/>
        </p:nvSpPr>
        <p:spPr>
          <a:xfrm>
            <a:off x="7410297" y="1661667"/>
            <a:ext cx="310896" cy="310896"/>
          </a:xfrm>
          <a:prstGeom prst="ellipse">
            <a:avLst/>
          </a:prstGeom>
          <a:solidFill>
            <a:srgbClr val="5EEAD4"/>
          </a:solidFill>
          <a:ln>
            <a:noFill/>
          </a:ln>
        </p:spPr>
        <p:txBody>
          <a:bodyPr rtlCol="0" anchor="ctr" lIns="0" rIns="0" tIns="0" bIns="0"/>
          <a:lstStyle/>
          <a:p>
            <a:pPr algn="ctr"/>
            <a:r>
              <a:rPr sz="1300" b="1">
                <a:solidFill>
                  <a:srgbClr val="0A1020"/>
                </a:solidFill>
                <a:latin typeface="Space Grotesk"/>
              </a:rPr>
              <a:t>4</a:t>
            </a:r>
          </a:p>
        </p:txBody>
      </p:sp>
      <p:sp>
        <p:nvSpPr>
          <p:cNvPr id="19" name="TextBox 18"/>
          <p:cNvSpPr txBox="1"/>
          <p:nvPr/>
        </p:nvSpPr>
        <p:spPr>
          <a:xfrm>
            <a:off x="7410297" y="2073148"/>
            <a:ext cx="1708099" cy="548640"/>
          </a:xfrm>
          <a:prstGeom prst="rect">
            <a:avLst/>
          </a:prstGeom>
          <a:noFill/>
        </p:spPr>
        <p:txBody>
          <a:bodyPr wrap="square" lIns="0" rIns="0" tIns="0" bIns="0" anchor="t">
            <a:spAutoFit/>
          </a:bodyPr>
          <a:lstStyle/>
          <a:p>
            <a:pPr algn="l">
              <a:lnSpc>
                <a:spcPct val="105000"/>
              </a:lnSpc>
            </a:pPr>
            <a:r>
              <a:rPr sz="1350" b="1">
                <a:solidFill>
                  <a:srgbClr val="FFFFFF"/>
                </a:solidFill>
                <a:latin typeface="Space Grotesk"/>
              </a:rPr>
              <a:t>Run the rule</a:t>
            </a:r>
          </a:p>
        </p:txBody>
      </p:sp>
      <p:sp>
        <p:nvSpPr>
          <p:cNvPr id="20" name="TextBox 19"/>
          <p:cNvSpPr txBox="1"/>
          <p:nvPr/>
        </p:nvSpPr>
        <p:spPr>
          <a:xfrm>
            <a:off x="7410297" y="2603500"/>
            <a:ext cx="1708099" cy="1051560"/>
          </a:xfrm>
          <a:prstGeom prst="rect">
            <a:avLst/>
          </a:prstGeom>
          <a:noFill/>
        </p:spPr>
        <p:txBody>
          <a:bodyPr wrap="square" lIns="0" rIns="0" tIns="0" bIns="0" anchor="t">
            <a:spAutoFit/>
          </a:bodyPr>
          <a:lstStyle/>
          <a:p>
            <a:pPr algn="l">
              <a:lnSpc>
                <a:spcPct val="110000"/>
              </a:lnSpc>
            </a:pPr>
            <a:r>
              <a:rPr sz="1150" b="0">
                <a:solidFill>
                  <a:srgbClr val="B8C4D9"/>
                </a:solidFill>
                <a:latin typeface="DM Sans"/>
              </a:rPr>
              <a:t>8 rounds of 2 weeks. After each round the rule moves the scale up, down, or keeps it.</a:t>
            </a:r>
          </a:p>
        </p:txBody>
      </p:sp>
      <p:sp>
        <p:nvSpPr>
          <p:cNvPr id="21" name="Rounded Rectangle 20"/>
          <p:cNvSpPr/>
          <p:nvPr/>
        </p:nvSpPr>
        <p:spPr>
          <a:xfrm>
            <a:off x="9401860" y="1506220"/>
            <a:ext cx="1982419" cy="2148840"/>
          </a:xfrm>
          <a:prstGeom prst="roundRect">
            <a:avLst>
              <a:gd name="adj" fmla="val 5535"/>
            </a:avLst>
          </a:prstGeom>
          <a:solidFill>
            <a:srgbClr val="8EA2FF">
              <a:alpha val="8000"/>
            </a:srgbClr>
          </a:solidFill>
          <a:ln w="6350">
            <a:solidFill>
              <a:srgbClr val="8EA2FF">
                <a:alpha val="50000"/>
              </a:srgbClr>
            </a:solidFill>
          </a:ln>
        </p:spPr>
        <p:txBody>
          <a:bodyPr rtlCol="0" anchor="ctr"/>
          <a:lstStyle/>
          <a:p>
            <a:pPr algn="ctr"/>
          </a:p>
        </p:txBody>
      </p:sp>
      <p:sp>
        <p:nvSpPr>
          <p:cNvPr id="22" name="Oval 21"/>
          <p:cNvSpPr/>
          <p:nvPr/>
        </p:nvSpPr>
        <p:spPr>
          <a:xfrm>
            <a:off x="9557308" y="1661667"/>
            <a:ext cx="310896" cy="310896"/>
          </a:xfrm>
          <a:prstGeom prst="ellipse">
            <a:avLst/>
          </a:prstGeom>
          <a:solidFill>
            <a:srgbClr val="8EA2FF"/>
          </a:solidFill>
          <a:ln>
            <a:noFill/>
          </a:ln>
        </p:spPr>
        <p:txBody>
          <a:bodyPr rtlCol="0" anchor="ctr" lIns="0" rIns="0" tIns="0" bIns="0"/>
          <a:lstStyle/>
          <a:p>
            <a:pPr algn="ctr"/>
            <a:r>
              <a:rPr sz="1300" b="1">
                <a:solidFill>
                  <a:srgbClr val="0A1020"/>
                </a:solidFill>
                <a:latin typeface="Space Grotesk"/>
              </a:rPr>
              <a:t>5</a:t>
            </a:r>
          </a:p>
        </p:txBody>
      </p:sp>
      <p:sp>
        <p:nvSpPr>
          <p:cNvPr id="23" name="TextBox 22"/>
          <p:cNvSpPr txBox="1"/>
          <p:nvPr/>
        </p:nvSpPr>
        <p:spPr>
          <a:xfrm>
            <a:off x="9557308" y="2073148"/>
            <a:ext cx="1708099" cy="548640"/>
          </a:xfrm>
          <a:prstGeom prst="rect">
            <a:avLst/>
          </a:prstGeom>
          <a:noFill/>
        </p:spPr>
        <p:txBody>
          <a:bodyPr wrap="square" lIns="0" rIns="0" tIns="0" bIns="0" anchor="t">
            <a:spAutoFit/>
          </a:bodyPr>
          <a:lstStyle/>
          <a:p>
            <a:pPr algn="l">
              <a:lnSpc>
                <a:spcPct val="105000"/>
              </a:lnSpc>
            </a:pPr>
            <a:r>
              <a:rPr sz="1350" b="1">
                <a:solidFill>
                  <a:srgbClr val="FFFFFF"/>
                </a:solidFill>
                <a:latin typeface="Space Grotesk"/>
              </a:rPr>
              <a:t>Repeat and compare</a:t>
            </a:r>
          </a:p>
        </p:txBody>
      </p:sp>
      <p:sp>
        <p:nvSpPr>
          <p:cNvPr id="24" name="TextBox 23"/>
          <p:cNvSpPr txBox="1"/>
          <p:nvPr/>
        </p:nvSpPr>
        <p:spPr>
          <a:xfrm>
            <a:off x="9557308" y="2603500"/>
            <a:ext cx="1708099" cy="1051560"/>
          </a:xfrm>
          <a:prstGeom prst="rect">
            <a:avLst/>
          </a:prstGeom>
          <a:noFill/>
        </p:spPr>
        <p:txBody>
          <a:bodyPr wrap="square" lIns="0" rIns="0" tIns="0" bIns="0" anchor="t">
            <a:spAutoFit/>
          </a:bodyPr>
          <a:lstStyle/>
          <a:p>
            <a:pPr algn="l">
              <a:lnSpc>
                <a:spcPct val="110000"/>
              </a:lnSpc>
            </a:pPr>
            <a:r>
              <a:rPr sz="1150" b="0">
                <a:solidFill>
                  <a:srgbClr val="B8C4D9"/>
                </a:solidFill>
                <a:latin typeface="DM Sans"/>
              </a:rPr>
              <a:t>5 repeats. We count weighings and missed picks and compare with today.</a:t>
            </a:r>
          </a:p>
        </p:txBody>
      </p:sp>
      <p:sp>
        <p:nvSpPr>
          <p:cNvPr id="25" name="Rounded Rectangle 24"/>
          <p:cNvSpPr/>
          <p:nvPr/>
        </p:nvSpPr>
        <p:spPr>
          <a:xfrm>
            <a:off x="813816" y="3883659"/>
            <a:ext cx="6766560" cy="1463040"/>
          </a:xfrm>
          <a:prstGeom prst="roundRect">
            <a:avLst>
              <a:gd name="adj" fmla="val 7500"/>
            </a:avLst>
          </a:prstGeom>
          <a:solidFill>
            <a:srgbClr val="FFFFFF">
              <a:alpha val="5000"/>
            </a:srgbClr>
          </a:solidFill>
          <a:ln w="6350">
            <a:solidFill>
              <a:srgbClr val="FFFFFF">
                <a:alpha val="12000"/>
              </a:srgbClr>
            </a:solidFill>
          </a:ln>
        </p:spPr>
        <p:txBody>
          <a:bodyPr rtlCol="0" anchor="ctr"/>
          <a:lstStyle/>
          <a:p>
            <a:pPr algn="ctr"/>
          </a:p>
        </p:txBody>
      </p:sp>
      <p:sp>
        <p:nvSpPr>
          <p:cNvPr id="26" name="TextBox 25"/>
          <p:cNvSpPr txBox="1"/>
          <p:nvPr/>
        </p:nvSpPr>
        <p:spPr>
          <a:xfrm>
            <a:off x="1042416" y="4020820"/>
            <a:ext cx="6400800" cy="274320"/>
          </a:xfrm>
          <a:prstGeom prst="rect">
            <a:avLst/>
          </a:prstGeom>
          <a:noFill/>
        </p:spPr>
        <p:txBody>
          <a:bodyPr wrap="square" lIns="0" rIns="0" tIns="0" bIns="0" anchor="t">
            <a:spAutoFit/>
          </a:bodyPr>
          <a:lstStyle/>
          <a:p>
            <a:pPr algn="l">
              <a:lnSpc>
                <a:spcPct val="112000"/>
              </a:lnSpc>
            </a:pPr>
            <a:r>
              <a:rPr sz="1050" b="1" spc="100">
                <a:solidFill>
                  <a:srgbClr val="5EEAD4"/>
                </a:solidFill>
                <a:latin typeface="DM Sans"/>
              </a:rPr>
              <a:t>EXAMPLE · ONE ROUND FOR ONE SCALE</a:t>
            </a:r>
          </a:p>
        </p:txBody>
      </p:sp>
      <p:sp>
        <p:nvSpPr>
          <p:cNvPr id="27" name="TextBox 26"/>
          <p:cNvSpPr txBox="1"/>
          <p:nvPr/>
        </p:nvSpPr>
        <p:spPr>
          <a:xfrm>
            <a:off x="1042416" y="4322572"/>
            <a:ext cx="6400800" cy="1005840"/>
          </a:xfrm>
          <a:prstGeom prst="rect">
            <a:avLst/>
          </a:prstGeom>
          <a:noFill/>
        </p:spPr>
        <p:txBody>
          <a:bodyPr wrap="square" lIns="0" rIns="0" tIns="0" bIns="0" anchor="t">
            <a:spAutoFit/>
          </a:bodyPr>
          <a:lstStyle/>
          <a:p>
            <a:pPr algn="l">
              <a:lnSpc>
                <a:spcPct val="112000"/>
              </a:lnSpc>
              <a:spcAft>
                <a:spcPts val="400"/>
              </a:spcAft>
            </a:pPr>
            <a:r>
              <a:rPr sz="1250" b="0">
                <a:solidFill>
                  <a:srgbClr val="D7DEFF"/>
                </a:solidFill>
                <a:latin typeface="DM Sans"/>
              </a:rPr>
              <a:t>On setting 8 it has 23 empty wake-ups and 3 picks a week. On 7 we expect about 9 and 2. Over two weeks: 19 and 4.</a:t>
            </a:r>
          </a:p>
          <a:p>
            <a:pPr algn="l">
              <a:lnSpc>
                <a:spcPct val="112000"/>
              </a:lnSpc>
              <a:spcAft>
                <a:spcPts val="400"/>
              </a:spcAft>
            </a:pPr>
            <a:r>
              <a:rPr sz="1250" b="0">
                <a:solidFill>
                  <a:srgbClr val="D7DEFF"/>
                </a:solidFill>
                <a:latin typeface="DM Sans"/>
              </a:rPr>
              <a:t>The random draw gives for example 17 empty, 4 picks, no miss. 17 is more than 14, so the rule steps down.</a:t>
            </a:r>
          </a:p>
        </p:txBody>
      </p:sp>
      <p:sp>
        <p:nvSpPr>
          <p:cNvPr id="28" name="Rounded Rectangle 27"/>
          <p:cNvSpPr/>
          <p:nvPr/>
        </p:nvSpPr>
        <p:spPr>
          <a:xfrm>
            <a:off x="7763256" y="3883659"/>
            <a:ext cx="3621024" cy="1463040"/>
          </a:xfrm>
          <a:prstGeom prst="roundRect">
            <a:avLst>
              <a:gd name="adj" fmla="val 7500"/>
            </a:avLst>
          </a:prstGeom>
          <a:solidFill>
            <a:srgbClr val="8EA2FF">
              <a:alpha val="8000"/>
            </a:srgbClr>
          </a:solidFill>
          <a:ln w="6350">
            <a:solidFill>
              <a:srgbClr val="8EA2FF">
                <a:alpha val="50000"/>
              </a:srgbClr>
            </a:solidFill>
          </a:ln>
        </p:spPr>
        <p:txBody>
          <a:bodyPr rtlCol="0" anchor="ctr"/>
          <a:lstStyle/>
          <a:p>
            <a:pPr algn="ctr"/>
          </a:p>
        </p:txBody>
      </p:sp>
      <p:sp>
        <p:nvSpPr>
          <p:cNvPr id="29" name="TextBox 28"/>
          <p:cNvSpPr txBox="1"/>
          <p:nvPr/>
        </p:nvSpPr>
        <p:spPr>
          <a:xfrm>
            <a:off x="7991856" y="4020820"/>
            <a:ext cx="3163824" cy="274320"/>
          </a:xfrm>
          <a:prstGeom prst="rect">
            <a:avLst/>
          </a:prstGeom>
          <a:noFill/>
        </p:spPr>
        <p:txBody>
          <a:bodyPr wrap="square" lIns="0" rIns="0" tIns="0" bIns="0" anchor="t">
            <a:spAutoFit/>
          </a:bodyPr>
          <a:lstStyle/>
          <a:p>
            <a:pPr algn="l">
              <a:lnSpc>
                <a:spcPct val="112000"/>
              </a:lnSpc>
            </a:pPr>
            <a:r>
              <a:rPr sz="1050" b="1" spc="100">
                <a:solidFill>
                  <a:srgbClr val="8EA2FF"/>
                </a:solidFill>
                <a:latin typeface="DM Sans"/>
              </a:rPr>
              <a:t>WHAT IS POISSON?</a:t>
            </a:r>
          </a:p>
        </p:txBody>
      </p:sp>
      <p:sp>
        <p:nvSpPr>
          <p:cNvPr id="30" name="TextBox 29"/>
          <p:cNvSpPr txBox="1"/>
          <p:nvPr/>
        </p:nvSpPr>
        <p:spPr>
          <a:xfrm>
            <a:off x="7991856" y="4322572"/>
            <a:ext cx="3163824" cy="1005840"/>
          </a:xfrm>
          <a:prstGeom prst="rect">
            <a:avLst/>
          </a:prstGeom>
          <a:noFill/>
        </p:spPr>
        <p:txBody>
          <a:bodyPr wrap="square" lIns="0" rIns="0" tIns="0" bIns="0" anchor="t">
            <a:spAutoFit/>
          </a:bodyPr>
          <a:lstStyle/>
          <a:p>
            <a:pPr algn="l">
              <a:lnSpc>
                <a:spcPct val="112000"/>
              </a:lnSpc>
            </a:pPr>
            <a:r>
              <a:rPr sz="1250" b="0">
                <a:solidFill>
                  <a:srgbClr val="D7DEFF"/>
                </a:solidFill>
                <a:latin typeface="DM Sans"/>
              </a:rPr>
              <a:t>A standard way to draw random counts around an average. If the average is 4 picks, one fortnight may show 2, another 6.</a:t>
            </a:r>
          </a:p>
        </p:txBody>
      </p:sp>
      <p:sp>
        <p:nvSpPr>
          <p:cNvPr id="31" name="TextBox 30"/>
          <p:cNvSpPr txBox="1"/>
          <p:nvPr/>
        </p:nvSpPr>
        <p:spPr>
          <a:xfrm>
            <a:off x="813816" y="6419088"/>
            <a:ext cx="9875520" cy="228600"/>
          </a:xfrm>
          <a:prstGeom prst="rect">
            <a:avLst/>
          </a:prstGeom>
          <a:noFill/>
        </p:spPr>
        <p:txBody>
          <a:bodyPr wrap="square" lIns="0" rIns="0" tIns="0" bIns="0" anchor="t">
            <a:spAutoFit/>
          </a:bodyPr>
          <a:lstStyle/>
          <a:p>
            <a:pPr algn="l">
              <a:lnSpc>
                <a:spcPct val="100000"/>
              </a:lnSpc>
            </a:pPr>
            <a:r>
              <a:rPr sz="900" b="0">
                <a:solidFill>
                  <a:srgbClr val="8D99B0"/>
                </a:solidFill>
                <a:latin typeface="DM Sans"/>
              </a:rPr>
              <a:t>Source: own analysis of the Bossard SmartBin data, 1 Mar to 20 Jun 2022 · no machine learning, no invented scales · fixed random seed · Report §6.3, Appendix A</a:t>
            </a:r>
          </a:p>
        </p:txBody>
      </p:sp>
      <p:sp>
        <p:nvSpPr>
          <p:cNvPr id="32" name="TextBox 31"/>
          <p:cNvSpPr txBox="1"/>
          <p:nvPr/>
        </p:nvSpPr>
        <p:spPr>
          <a:xfrm>
            <a:off x="10927080" y="6419088"/>
            <a:ext cx="457200" cy="228600"/>
          </a:xfrm>
          <a:prstGeom prst="rect">
            <a:avLst/>
          </a:prstGeom>
          <a:noFill/>
        </p:spPr>
        <p:txBody>
          <a:bodyPr wrap="square" lIns="0" rIns="0" tIns="0" bIns="0" anchor="t">
            <a:spAutoFit/>
          </a:bodyPr>
          <a:lstStyle/>
          <a:p>
            <a:pPr algn="r">
              <a:lnSpc>
                <a:spcPct val="112000"/>
              </a:lnSpc>
            </a:pPr>
            <a:r>
              <a:rPr sz="900" b="0">
                <a:solidFill>
                  <a:srgbClr val="8D99B0"/>
                </a:solidFill>
                <a:latin typeface="DM Sans"/>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E1628"/>
        </a:solidFill>
        <a:effectLst/>
      </p:bgPr>
    </p:bg>
    <p:spTree>
      <p:nvGrpSpPr>
        <p:cNvPr id="1" name=""/>
        <p:cNvGrpSpPr/>
        <p:nvPr/>
      </p:nvGrpSpPr>
      <p:grpSpPr/>
      <p:sp>
        <p:nvSpPr>
          <p:cNvPr id="2" name="Rectangle 1"/>
          <p:cNvSpPr/>
          <p:nvPr/>
        </p:nvSpPr>
        <p:spPr>
          <a:xfrm>
            <a:off x="6986016" y="0"/>
            <a:ext cx="5202936" cy="4059936"/>
          </a:xfrm>
          <a:prstGeom prst="rect">
            <a:avLst/>
          </a:prstGeom>
          <a:gradFill rotWithShape="1">
            <a:gsLst>
              <a:gs pos="0">
                <a:srgbClr val="8EA2FF">
                  <a:alpha val="18000"/>
                </a:srgbClr>
              </a:gs>
              <a:gs pos="65000">
                <a:srgbClr val="8EA2FF">
                  <a:alpha val="0"/>
                </a:srgbClr>
              </a:gs>
            </a:gsLst>
            <a:path path="circle">
              <a:fillToRect l="70000" t="25000" r="30000" b="75000"/>
            </a:path>
          </a:gradFill>
          <a:ln>
            <a:noFill/>
          </a:ln>
        </p:spPr>
        <p:txBody>
          <a:bodyPr rtlCol="0" anchor="ctr"/>
          <a:lstStyle/>
          <a:p>
            <a:pPr algn="ctr"/>
          </a:p>
        </p:txBody>
      </p:sp>
      <p:sp>
        <p:nvSpPr>
          <p:cNvPr id="3" name="TextBox 2"/>
          <p:cNvSpPr txBox="1"/>
          <p:nvPr/>
        </p:nvSpPr>
        <p:spPr>
          <a:xfrm>
            <a:off x="813816" y="502920"/>
            <a:ext cx="10570464" cy="228600"/>
          </a:xfrm>
          <a:prstGeom prst="rect">
            <a:avLst/>
          </a:prstGeom>
          <a:noFill/>
        </p:spPr>
        <p:txBody>
          <a:bodyPr wrap="square" lIns="0" rIns="0" tIns="0" bIns="0" anchor="t">
            <a:spAutoFit/>
          </a:bodyPr>
          <a:lstStyle/>
          <a:p>
            <a:pPr algn="l">
              <a:lnSpc>
                <a:spcPct val="112000"/>
              </a:lnSpc>
            </a:pPr>
            <a:r>
              <a:rPr sz="1100" b="1" spc="150">
                <a:solidFill>
                  <a:srgbClr val="5EEAD4"/>
                </a:solidFill>
                <a:latin typeface="DM Sans"/>
              </a:rPr>
              <a:t>RESULT</a:t>
            </a:r>
          </a:p>
        </p:txBody>
      </p:sp>
      <p:sp>
        <p:nvSpPr>
          <p:cNvPr id="4" name="TextBox 3"/>
          <p:cNvSpPr txBox="1"/>
          <p:nvPr/>
        </p:nvSpPr>
        <p:spPr>
          <a:xfrm>
            <a:off x="813816" y="777240"/>
            <a:ext cx="10570464" cy="817879"/>
          </a:xfrm>
          <a:prstGeom prst="rect">
            <a:avLst/>
          </a:prstGeom>
          <a:noFill/>
        </p:spPr>
        <p:txBody>
          <a:bodyPr wrap="square" lIns="0" rIns="0" tIns="0" bIns="0" anchor="t">
            <a:spAutoFit/>
          </a:bodyPr>
          <a:lstStyle/>
          <a:p>
            <a:pPr algn="l">
              <a:lnSpc>
                <a:spcPct val="100000"/>
              </a:lnSpc>
            </a:pPr>
            <a:r>
              <a:rPr sz="2800" b="1">
                <a:solidFill>
                  <a:srgbClr val="FFFFFF"/>
                </a:solidFill>
                <a:latin typeface="Space Grotesk"/>
              </a:rPr>
              <a:t>More than half fewer weighings, and misses stay under control</a:t>
            </a:r>
          </a:p>
        </p:txBody>
      </p:sp>
      <p:pic>
        <p:nvPicPr>
          <p:cNvPr id="5" name="Picture 4" descr="k16_result.png"/>
          <p:cNvPicPr>
            <a:picLocks noChangeAspect="1"/>
          </p:cNvPicPr>
          <p:nvPr/>
        </p:nvPicPr>
        <p:blipFill>
          <a:blip r:embed="rId2"/>
          <a:stretch>
            <a:fillRect/>
          </a:stretch>
        </p:blipFill>
        <p:spPr>
          <a:xfrm>
            <a:off x="676656" y="1869440"/>
            <a:ext cx="6949440" cy="3108960"/>
          </a:xfrm>
          <a:prstGeom prst="rect">
            <a:avLst/>
          </a:prstGeom>
        </p:spPr>
      </p:pic>
      <p:sp>
        <p:nvSpPr>
          <p:cNvPr id="6" name="TextBox 5"/>
          <p:cNvSpPr txBox="1"/>
          <p:nvPr/>
        </p:nvSpPr>
        <p:spPr>
          <a:xfrm>
            <a:off x="813816" y="5024120"/>
            <a:ext cx="6766560" cy="914400"/>
          </a:xfrm>
          <a:prstGeom prst="rect">
            <a:avLst/>
          </a:prstGeom>
          <a:noFill/>
        </p:spPr>
        <p:txBody>
          <a:bodyPr wrap="square" lIns="0" rIns="0" tIns="0" bIns="0" anchor="t">
            <a:spAutoFit/>
          </a:bodyPr>
          <a:lstStyle/>
          <a:p>
            <a:pPr algn="l">
              <a:lnSpc>
                <a:spcPct val="108000"/>
              </a:lnSpc>
              <a:spcAft>
                <a:spcPts val="300"/>
              </a:spcAft>
            </a:pPr>
            <a:r>
              <a:rPr sz="1100" b="1">
                <a:solidFill>
                  <a:srgbClr val="FFFFFF"/>
                </a:solidFill>
                <a:latin typeface="DM Sans"/>
              </a:rPr>
              <a:t>One setting for all:</a:t>
            </a:r>
            <a:r>
              <a:rPr sz="1100" b="0">
                <a:solidFill>
                  <a:srgbClr val="B8C4D9"/>
                </a:solidFill>
                <a:latin typeface="DM Sans"/>
              </a:rPr>
              <a:t> the single setting that is best for Bossard's KPI (20 kg: 4, 6 kg: 2).</a:t>
            </a:r>
          </a:p>
          <a:p>
            <a:pPr algn="l">
              <a:lnSpc>
                <a:spcPct val="108000"/>
              </a:lnSpc>
              <a:spcAft>
                <a:spcPts val="300"/>
              </a:spcAft>
            </a:pPr>
            <a:r>
              <a:rPr sz="1100" b="1">
                <a:solidFill>
                  <a:srgbClr val="FFFFFF"/>
                </a:solidFill>
                <a:latin typeface="DM Sans"/>
              </a:rPr>
              <a:t>Follow the KPI:</a:t>
            </a:r>
            <a:r>
              <a:rPr sz="1100" b="0">
                <a:solidFill>
                  <a:srgbClr val="B8C4D9"/>
                </a:solidFill>
                <a:latin typeface="DM Sans"/>
              </a:rPr>
              <a:t> a daily rule that steps down whenever the share of empty wake-ups is above 50%.</a:t>
            </a:r>
          </a:p>
          <a:p>
            <a:pPr algn="l">
              <a:lnSpc>
                <a:spcPct val="108000"/>
              </a:lnSpc>
              <a:spcAft>
                <a:spcPts val="300"/>
              </a:spcAft>
            </a:pPr>
            <a:r>
              <a:rPr sz="1100" b="1">
                <a:solidFill>
                  <a:srgbClr val="FFFFFF"/>
                </a:solidFill>
                <a:latin typeface="DM Sans"/>
              </a:rPr>
              <a:t>Our rule:</a:t>
            </a:r>
            <a:r>
              <a:rPr sz="1100" b="0">
                <a:solidFill>
                  <a:srgbClr val="B8C4D9"/>
                </a:solidFill>
                <a:latin typeface="DM Sans"/>
              </a:rPr>
              <a:t> start on 7, review every two weeks.</a:t>
            </a:r>
          </a:p>
        </p:txBody>
      </p:sp>
      <p:sp>
        <p:nvSpPr>
          <p:cNvPr id="7" name="TextBox 6"/>
          <p:cNvSpPr txBox="1"/>
          <p:nvPr/>
        </p:nvSpPr>
        <p:spPr>
          <a:xfrm>
            <a:off x="8001000" y="1869440"/>
            <a:ext cx="3383280" cy="474980"/>
          </a:xfrm>
          <a:prstGeom prst="rect">
            <a:avLst/>
          </a:prstGeom>
          <a:noFill/>
        </p:spPr>
        <p:txBody>
          <a:bodyPr wrap="square" lIns="0" rIns="0" tIns="0" bIns="0" anchor="t">
            <a:spAutoFit/>
          </a:bodyPr>
          <a:lstStyle/>
          <a:p>
            <a:pPr algn="l">
              <a:lnSpc>
                <a:spcPct val="95000"/>
              </a:lnSpc>
            </a:pPr>
            <a:r>
              <a:rPr sz="3400" b="1">
                <a:solidFill>
                  <a:srgbClr val="5EEAD4"/>
                </a:solidFill>
                <a:latin typeface="Space Grotesk"/>
              </a:rPr>
              <a:t>−61% / −55%</a:t>
            </a:r>
          </a:p>
        </p:txBody>
      </p:sp>
      <p:sp>
        <p:nvSpPr>
          <p:cNvPr id="8" name="TextBox 7"/>
          <p:cNvSpPr txBox="1"/>
          <p:nvPr/>
        </p:nvSpPr>
        <p:spPr>
          <a:xfrm>
            <a:off x="8001000" y="2380996"/>
            <a:ext cx="3383280" cy="274320"/>
          </a:xfrm>
          <a:prstGeom prst="rect">
            <a:avLst/>
          </a:prstGeom>
          <a:noFill/>
        </p:spPr>
        <p:txBody>
          <a:bodyPr wrap="square" lIns="0" rIns="0" tIns="0" bIns="0" anchor="t">
            <a:spAutoFit/>
          </a:bodyPr>
          <a:lstStyle/>
          <a:p>
            <a:pPr algn="l">
              <a:lnSpc>
                <a:spcPct val="112000"/>
              </a:lnSpc>
            </a:pPr>
            <a:r>
              <a:rPr sz="1300" b="0">
                <a:solidFill>
                  <a:srgbClr val="B8C4D9"/>
                </a:solidFill>
                <a:latin typeface="DM Sans"/>
              </a:rPr>
              <a:t>weighings. That is less load on the network, the cloud and ARIMS.</a:t>
            </a:r>
          </a:p>
        </p:txBody>
      </p:sp>
      <p:sp>
        <p:nvSpPr>
          <p:cNvPr id="9" name="TextBox 8"/>
          <p:cNvSpPr txBox="1"/>
          <p:nvPr/>
        </p:nvSpPr>
        <p:spPr>
          <a:xfrm>
            <a:off x="8001000" y="3053384"/>
            <a:ext cx="3383280" cy="419100"/>
          </a:xfrm>
          <a:prstGeom prst="rect">
            <a:avLst/>
          </a:prstGeom>
          <a:noFill/>
        </p:spPr>
        <p:txBody>
          <a:bodyPr wrap="square" lIns="0" rIns="0" tIns="0" bIns="0" anchor="t">
            <a:spAutoFit/>
          </a:bodyPr>
          <a:lstStyle/>
          <a:p>
            <a:pPr algn="l">
              <a:lnSpc>
                <a:spcPct val="95000"/>
              </a:lnSpc>
            </a:pPr>
            <a:r>
              <a:rPr sz="3000" b="1">
                <a:solidFill>
                  <a:srgbClr val="5EEAD4"/>
                </a:solidFill>
                <a:latin typeface="Space Grotesk"/>
              </a:rPr>
              <a:t>−65% / −47%</a:t>
            </a:r>
          </a:p>
        </p:txBody>
      </p:sp>
      <p:sp>
        <p:nvSpPr>
          <p:cNvPr id="10" name="TextBox 9"/>
          <p:cNvSpPr txBox="1"/>
          <p:nvPr/>
        </p:nvSpPr>
        <p:spPr>
          <a:xfrm>
            <a:off x="8001000" y="3509060"/>
            <a:ext cx="3383280" cy="274320"/>
          </a:xfrm>
          <a:prstGeom prst="rect">
            <a:avLst/>
          </a:prstGeom>
          <a:noFill/>
        </p:spPr>
        <p:txBody>
          <a:bodyPr wrap="square" lIns="0" rIns="0" tIns="0" bIns="0" anchor="t">
            <a:spAutoFit/>
          </a:bodyPr>
          <a:lstStyle/>
          <a:p>
            <a:pPr algn="l">
              <a:lnSpc>
                <a:spcPct val="112000"/>
              </a:lnSpc>
            </a:pPr>
            <a:r>
              <a:rPr sz="1300" b="0">
                <a:solidFill>
                  <a:srgbClr val="B8C4D9"/>
                </a:solidFill>
                <a:latin typeface="DM Sans"/>
              </a:rPr>
              <a:t>empty wake-ups for the typical scale</a:t>
            </a:r>
          </a:p>
        </p:txBody>
      </p:sp>
      <p:sp>
        <p:nvSpPr>
          <p:cNvPr id="11" name="TextBox 10"/>
          <p:cNvSpPr txBox="1"/>
          <p:nvPr/>
        </p:nvSpPr>
        <p:spPr>
          <a:xfrm>
            <a:off x="8001000" y="3959555"/>
            <a:ext cx="3383280" cy="419100"/>
          </a:xfrm>
          <a:prstGeom prst="rect">
            <a:avLst/>
          </a:prstGeom>
          <a:noFill/>
        </p:spPr>
        <p:txBody>
          <a:bodyPr wrap="square" lIns="0" rIns="0" tIns="0" bIns="0" anchor="t">
            <a:spAutoFit/>
          </a:bodyPr>
          <a:lstStyle/>
          <a:p>
            <a:pPr algn="l">
              <a:lnSpc>
                <a:spcPct val="95000"/>
              </a:lnSpc>
            </a:pPr>
            <a:r>
              <a:rPr sz="3000" b="1">
                <a:solidFill>
                  <a:srgbClr val="8EA2FF"/>
                </a:solidFill>
                <a:latin typeface="Space Grotesk"/>
              </a:rPr>
              <a:t>≈ 2.1 M</a:t>
            </a:r>
          </a:p>
        </p:txBody>
      </p:sp>
      <p:sp>
        <p:nvSpPr>
          <p:cNvPr id="12" name="TextBox 11"/>
          <p:cNvSpPr txBox="1"/>
          <p:nvPr/>
        </p:nvSpPr>
        <p:spPr>
          <a:xfrm>
            <a:off x="8001000" y="4415231"/>
            <a:ext cx="3383280" cy="274320"/>
          </a:xfrm>
          <a:prstGeom prst="rect">
            <a:avLst/>
          </a:prstGeom>
          <a:noFill/>
        </p:spPr>
        <p:txBody>
          <a:bodyPr wrap="square" lIns="0" rIns="0" tIns="0" bIns="0" anchor="t">
            <a:spAutoFit/>
          </a:bodyPr>
          <a:lstStyle/>
          <a:p>
            <a:pPr algn="l">
              <a:lnSpc>
                <a:spcPct val="112000"/>
              </a:lnSpc>
            </a:pPr>
            <a:r>
              <a:rPr sz="1300" b="0">
                <a:solidFill>
                  <a:srgbClr val="B8C4D9"/>
                </a:solidFill>
                <a:latin typeface="DM Sans"/>
              </a:rPr>
              <a:t>fewer weighings per week on 110,000 scales</a:t>
            </a:r>
          </a:p>
        </p:txBody>
      </p:sp>
      <p:sp>
        <p:nvSpPr>
          <p:cNvPr id="13" name="TextBox 12"/>
          <p:cNvSpPr txBox="1"/>
          <p:nvPr/>
        </p:nvSpPr>
        <p:spPr>
          <a:xfrm>
            <a:off x="8001000" y="5087620"/>
            <a:ext cx="3383280" cy="822960"/>
          </a:xfrm>
          <a:prstGeom prst="rect">
            <a:avLst/>
          </a:prstGeom>
          <a:noFill/>
        </p:spPr>
        <p:txBody>
          <a:bodyPr wrap="square" lIns="0" rIns="0" tIns="0" bIns="0" anchor="t">
            <a:spAutoFit/>
          </a:bodyPr>
          <a:lstStyle/>
          <a:p>
            <a:pPr algn="l">
              <a:lnSpc>
                <a:spcPct val="112000"/>
              </a:lnSpc>
            </a:pPr>
            <a:r>
              <a:rPr sz="1150" b="0">
                <a:solidFill>
                  <a:srgbClr val="B8C4D9"/>
                </a:solidFill>
                <a:latin typeface="DM Sans"/>
              </a:rPr>
              <a:t>Picks missed: 11% / 12% (today 3% / 5%). Battery life +8% / +5% (backup).</a:t>
            </a:r>
          </a:p>
        </p:txBody>
      </p:sp>
      <p:sp>
        <p:nvSpPr>
          <p:cNvPr id="14" name="TextBox 13"/>
          <p:cNvSpPr txBox="1"/>
          <p:nvPr/>
        </p:nvSpPr>
        <p:spPr>
          <a:xfrm>
            <a:off x="813816" y="6419088"/>
            <a:ext cx="9875520" cy="228600"/>
          </a:xfrm>
          <a:prstGeom prst="rect">
            <a:avLst/>
          </a:prstGeom>
          <a:noFill/>
        </p:spPr>
        <p:txBody>
          <a:bodyPr wrap="square" lIns="0" rIns="0" tIns="0" bIns="0" anchor="t">
            <a:spAutoFit/>
          </a:bodyPr>
          <a:lstStyle/>
          <a:p>
            <a:pPr algn="l">
              <a:lnSpc>
                <a:spcPct val="100000"/>
              </a:lnSpc>
            </a:pPr>
            <a:r>
              <a:rPr sz="900" b="0">
                <a:solidFill>
                  <a:srgbClr val="8D99B0"/>
                </a:solidFill>
                <a:latin typeface="DM Sans"/>
              </a:rPr>
              <a:t>Source: own analysis of the Bossard SmartBin data, 1 Mar to 20 Jun 2022 · 20 kg / 6 kg · looping scales left out · the fleet number is an estimate, not a forecast · Report §6.3</a:t>
            </a:r>
          </a:p>
        </p:txBody>
      </p:sp>
      <p:sp>
        <p:nvSpPr>
          <p:cNvPr id="15" name="TextBox 14"/>
          <p:cNvSpPr txBox="1"/>
          <p:nvPr/>
        </p:nvSpPr>
        <p:spPr>
          <a:xfrm>
            <a:off x="10927080" y="6419088"/>
            <a:ext cx="457200" cy="228600"/>
          </a:xfrm>
          <a:prstGeom prst="rect">
            <a:avLst/>
          </a:prstGeom>
          <a:noFill/>
        </p:spPr>
        <p:txBody>
          <a:bodyPr wrap="square" lIns="0" rIns="0" tIns="0" bIns="0" anchor="t">
            <a:spAutoFit/>
          </a:bodyPr>
          <a:lstStyle/>
          <a:p>
            <a:pPr algn="r">
              <a:lnSpc>
                <a:spcPct val="112000"/>
              </a:lnSpc>
            </a:pPr>
            <a:r>
              <a:rPr sz="900" b="0">
                <a:solidFill>
                  <a:srgbClr val="8D99B0"/>
                </a:solidFill>
                <a:latin typeface="DM Sans"/>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A1020"/>
        </a:solidFill>
        <a:effectLst/>
      </p:bgPr>
    </p:bg>
    <p:spTree>
      <p:nvGrpSpPr>
        <p:cNvPr id="1" name=""/>
        <p:cNvGrpSpPr/>
        <p:nvPr/>
      </p:nvGrpSpPr>
      <p:grpSpPr/>
      <p:sp>
        <p:nvSpPr>
          <p:cNvPr id="2" name="Rectangle 1"/>
          <p:cNvSpPr/>
          <p:nvPr/>
        </p:nvSpPr>
        <p:spPr>
          <a:xfrm>
            <a:off x="6986016" y="0"/>
            <a:ext cx="5202936" cy="4059936"/>
          </a:xfrm>
          <a:prstGeom prst="rect">
            <a:avLst/>
          </a:prstGeom>
          <a:gradFill rotWithShape="1">
            <a:gsLst>
              <a:gs pos="0">
                <a:srgbClr val="8EA2FF">
                  <a:alpha val="18000"/>
                </a:srgbClr>
              </a:gs>
              <a:gs pos="65000">
                <a:srgbClr val="8EA2FF">
                  <a:alpha val="0"/>
                </a:srgbClr>
              </a:gs>
            </a:gsLst>
            <a:path path="circle">
              <a:fillToRect l="70000" t="25000" r="30000" b="75000"/>
            </a:path>
          </a:gradFill>
          <a:ln>
            <a:noFill/>
          </a:ln>
        </p:spPr>
        <p:txBody>
          <a:bodyPr rtlCol="0" anchor="ctr"/>
          <a:lstStyle/>
          <a:p>
            <a:pPr algn="ctr"/>
          </a:p>
        </p:txBody>
      </p:sp>
      <p:sp>
        <p:nvSpPr>
          <p:cNvPr id="3" name="TextBox 2"/>
          <p:cNvSpPr txBox="1"/>
          <p:nvPr/>
        </p:nvSpPr>
        <p:spPr>
          <a:xfrm>
            <a:off x="813816" y="502920"/>
            <a:ext cx="10570464" cy="228600"/>
          </a:xfrm>
          <a:prstGeom prst="rect">
            <a:avLst/>
          </a:prstGeom>
          <a:noFill/>
        </p:spPr>
        <p:txBody>
          <a:bodyPr wrap="square" lIns="0" rIns="0" tIns="0" bIns="0" anchor="t">
            <a:spAutoFit/>
          </a:bodyPr>
          <a:lstStyle/>
          <a:p>
            <a:pPr algn="l">
              <a:lnSpc>
                <a:spcPct val="112000"/>
              </a:lnSpc>
            </a:pPr>
            <a:r>
              <a:rPr sz="1100" b="1" spc="150">
                <a:solidFill>
                  <a:srgbClr val="5EEAD4"/>
                </a:solidFill>
                <a:latin typeface="DM Sans"/>
              </a:rPr>
              <a:t>NEXT STEPS</a:t>
            </a:r>
          </a:p>
        </p:txBody>
      </p:sp>
      <p:sp>
        <p:nvSpPr>
          <p:cNvPr id="4" name="TextBox 3"/>
          <p:cNvSpPr txBox="1"/>
          <p:nvPr/>
        </p:nvSpPr>
        <p:spPr>
          <a:xfrm>
            <a:off x="813816" y="777240"/>
            <a:ext cx="10570464" cy="408939"/>
          </a:xfrm>
          <a:prstGeom prst="rect">
            <a:avLst/>
          </a:prstGeom>
          <a:noFill/>
        </p:spPr>
        <p:txBody>
          <a:bodyPr wrap="square" lIns="0" rIns="0" tIns="0" bIns="0" anchor="t">
            <a:spAutoFit/>
          </a:bodyPr>
          <a:lstStyle/>
          <a:p>
            <a:pPr algn="l">
              <a:lnSpc>
                <a:spcPct val="100000"/>
              </a:lnSpc>
            </a:pPr>
            <a:r>
              <a:rPr sz="2800" b="1">
                <a:solidFill>
                  <a:srgbClr val="FFFFFF"/>
                </a:solidFill>
                <a:latin typeface="Space Grotesk"/>
              </a:rPr>
              <a:t>Start the safe steps now. Let a pilot decide the rest.</a:t>
            </a:r>
          </a:p>
        </p:txBody>
      </p:sp>
      <p:sp>
        <p:nvSpPr>
          <p:cNvPr id="5" name="Rounded Rectangle 4"/>
          <p:cNvSpPr/>
          <p:nvPr/>
        </p:nvSpPr>
        <p:spPr>
          <a:xfrm>
            <a:off x="813816" y="1506220"/>
            <a:ext cx="2410968" cy="3017520"/>
          </a:xfrm>
          <a:prstGeom prst="roundRect">
            <a:avLst>
              <a:gd name="adj" fmla="val 4551"/>
            </a:avLst>
          </a:prstGeom>
          <a:solidFill>
            <a:srgbClr val="5EEAD4">
              <a:alpha val="8000"/>
            </a:srgbClr>
          </a:solidFill>
          <a:ln w="6350">
            <a:solidFill>
              <a:srgbClr val="5EEAD4">
                <a:alpha val="50000"/>
              </a:srgbClr>
            </a:solidFill>
          </a:ln>
        </p:spPr>
        <p:txBody>
          <a:bodyPr rtlCol="0" anchor="ctr"/>
          <a:lstStyle/>
          <a:p>
            <a:pPr algn="ctr"/>
          </a:p>
        </p:txBody>
      </p:sp>
      <p:sp>
        <p:nvSpPr>
          <p:cNvPr id="6" name="TextBox 5"/>
          <p:cNvSpPr txBox="1"/>
          <p:nvPr/>
        </p:nvSpPr>
        <p:spPr>
          <a:xfrm>
            <a:off x="996696" y="1689100"/>
            <a:ext cx="2045208" cy="274320"/>
          </a:xfrm>
          <a:prstGeom prst="rect">
            <a:avLst/>
          </a:prstGeom>
          <a:noFill/>
        </p:spPr>
        <p:txBody>
          <a:bodyPr wrap="square" lIns="0" rIns="0" tIns="0" bIns="0" anchor="t">
            <a:spAutoFit/>
          </a:bodyPr>
          <a:lstStyle/>
          <a:p>
            <a:pPr algn="l">
              <a:lnSpc>
                <a:spcPct val="112000"/>
              </a:lnSpc>
            </a:pPr>
            <a:r>
              <a:rPr sz="1100" b="1" spc="120">
                <a:solidFill>
                  <a:srgbClr val="5EEAD4"/>
                </a:solidFill>
                <a:latin typeface="DM Sans"/>
              </a:rPr>
              <a:t>NOW</a:t>
            </a:r>
          </a:p>
        </p:txBody>
      </p:sp>
      <p:sp>
        <p:nvSpPr>
          <p:cNvPr id="7" name="TextBox 6"/>
          <p:cNvSpPr txBox="1"/>
          <p:nvPr/>
        </p:nvSpPr>
        <p:spPr>
          <a:xfrm>
            <a:off x="996696" y="2054860"/>
            <a:ext cx="2045208" cy="2377440"/>
          </a:xfrm>
          <a:prstGeom prst="rect">
            <a:avLst/>
          </a:prstGeom>
          <a:noFill/>
        </p:spPr>
        <p:txBody>
          <a:bodyPr wrap="square" lIns="0" rIns="0" tIns="0" bIns="0" anchor="t">
            <a:spAutoFit/>
          </a:bodyPr>
          <a:lstStyle/>
          <a:p>
            <a:pPr algn="l" marL="201168" indent="-201168">
              <a:lnSpc>
                <a:spcPct val="112000"/>
              </a:lnSpc>
              <a:spcAft>
                <a:spcPts val="700"/>
              </a:spcAft>
              <a:buClr>
                <a:srgbClr val="5EEAD4"/>
              </a:buClr>
              <a:buFont typeface="Arial"/>
              <a:buChar char="•"/>
            </a:pPr>
            <a:r>
              <a:rPr sz="1300" b="0">
                <a:solidFill>
                  <a:srgbClr val="FFFFFF"/>
                </a:solidFill>
                <a:latin typeface="DM Sans"/>
              </a:rPr>
              <a:t>Run the daily loop check</a:t>
            </a:r>
          </a:p>
          <a:p>
            <a:pPr algn="l" marL="201168" indent="-201168">
              <a:lnSpc>
                <a:spcPct val="112000"/>
              </a:lnSpc>
              <a:spcAft>
                <a:spcPts val="700"/>
              </a:spcAft>
              <a:buClr>
                <a:srgbClr val="5EEAD4"/>
              </a:buClr>
              <a:buFont typeface="Arial"/>
              <a:buChar char="•"/>
            </a:pPr>
            <a:r>
              <a:rPr sz="1300" b="0">
                <a:solidFill>
                  <a:srgbClr val="FFFFFF"/>
                </a:solidFill>
                <a:latin typeface="DM Sans"/>
              </a:rPr>
              <a:t>Remove setting 3 from the menu</a:t>
            </a:r>
          </a:p>
          <a:p>
            <a:pPr algn="l" marL="201168" indent="-201168">
              <a:lnSpc>
                <a:spcPct val="112000"/>
              </a:lnSpc>
              <a:spcAft>
                <a:spcPts val="700"/>
              </a:spcAft>
              <a:buClr>
                <a:srgbClr val="5EEAD4"/>
              </a:buClr>
              <a:buFont typeface="Arial"/>
              <a:buChar char="•"/>
            </a:pPr>
            <a:r>
              <a:rPr sz="1300" b="0">
                <a:solidFill>
                  <a:srgbClr val="FFFFFF"/>
                </a:solidFill>
                <a:latin typeface="DM Sans"/>
              </a:rPr>
              <a:t>Default setting 8 → 7</a:t>
            </a:r>
          </a:p>
          <a:p>
            <a:pPr algn="l" marL="201168" indent="-201168">
              <a:lnSpc>
                <a:spcPct val="112000"/>
              </a:lnSpc>
              <a:spcAft>
                <a:spcPts val="700"/>
              </a:spcAft>
              <a:buClr>
                <a:srgbClr val="5EEAD4"/>
              </a:buClr>
              <a:buFont typeface="Arial"/>
              <a:buChar char="•"/>
            </a:pPr>
            <a:r>
              <a:rPr sz="1300" b="0">
                <a:solidFill>
                  <a:srgbClr val="FFFFFF"/>
                </a:solidFill>
                <a:latin typeface="DM Sans"/>
              </a:rPr>
              <a:t>Report KPI 2.0 for every scale</a:t>
            </a:r>
          </a:p>
        </p:txBody>
      </p:sp>
      <p:sp>
        <p:nvSpPr>
          <p:cNvPr id="8" name="Rounded Rectangle 7"/>
          <p:cNvSpPr/>
          <p:nvPr/>
        </p:nvSpPr>
        <p:spPr>
          <a:xfrm>
            <a:off x="3453384" y="1506220"/>
            <a:ext cx="2410968" cy="3017520"/>
          </a:xfrm>
          <a:prstGeom prst="roundRect">
            <a:avLst>
              <a:gd name="adj" fmla="val 4551"/>
            </a:avLst>
          </a:prstGeom>
          <a:solidFill>
            <a:srgbClr val="5EEAD4">
              <a:alpha val="8000"/>
            </a:srgbClr>
          </a:solidFill>
          <a:ln w="6350">
            <a:solidFill>
              <a:srgbClr val="5EEAD4">
                <a:alpha val="50000"/>
              </a:srgbClr>
            </a:solidFill>
          </a:ln>
        </p:spPr>
        <p:txBody>
          <a:bodyPr rtlCol="0" anchor="ctr"/>
          <a:lstStyle/>
          <a:p>
            <a:pPr algn="ctr"/>
          </a:p>
        </p:txBody>
      </p:sp>
      <p:sp>
        <p:nvSpPr>
          <p:cNvPr id="9" name="TextBox 8"/>
          <p:cNvSpPr txBox="1"/>
          <p:nvPr/>
        </p:nvSpPr>
        <p:spPr>
          <a:xfrm>
            <a:off x="3636264" y="1689100"/>
            <a:ext cx="2045208" cy="274320"/>
          </a:xfrm>
          <a:prstGeom prst="rect">
            <a:avLst/>
          </a:prstGeom>
          <a:noFill/>
        </p:spPr>
        <p:txBody>
          <a:bodyPr wrap="square" lIns="0" rIns="0" tIns="0" bIns="0" anchor="t">
            <a:spAutoFit/>
          </a:bodyPr>
          <a:lstStyle/>
          <a:p>
            <a:pPr algn="l">
              <a:lnSpc>
                <a:spcPct val="112000"/>
              </a:lnSpc>
            </a:pPr>
            <a:r>
              <a:rPr sz="1100" b="1" spc="120">
                <a:solidFill>
                  <a:srgbClr val="5EEAD4"/>
                </a:solidFill>
                <a:latin typeface="DM Sans"/>
              </a:rPr>
              <a:t>PILOT · 8 WEEKS</a:t>
            </a:r>
          </a:p>
        </p:txBody>
      </p:sp>
      <p:sp>
        <p:nvSpPr>
          <p:cNvPr id="10" name="TextBox 9"/>
          <p:cNvSpPr txBox="1"/>
          <p:nvPr/>
        </p:nvSpPr>
        <p:spPr>
          <a:xfrm>
            <a:off x="3636264" y="2054860"/>
            <a:ext cx="2045208" cy="2377440"/>
          </a:xfrm>
          <a:prstGeom prst="rect">
            <a:avLst/>
          </a:prstGeom>
          <a:noFill/>
        </p:spPr>
        <p:txBody>
          <a:bodyPr wrap="square" lIns="0" rIns="0" tIns="0" bIns="0" anchor="t">
            <a:spAutoFit/>
          </a:bodyPr>
          <a:lstStyle/>
          <a:p>
            <a:pPr algn="l" marL="201168" indent="-201168">
              <a:lnSpc>
                <a:spcPct val="112000"/>
              </a:lnSpc>
              <a:spcAft>
                <a:spcPts val="700"/>
              </a:spcAft>
              <a:buClr>
                <a:srgbClr val="5EEAD4"/>
              </a:buClr>
              <a:buFont typeface="Arial"/>
              <a:buChar char="•"/>
            </a:pPr>
            <a:r>
              <a:rPr sz="1300" b="0">
                <a:solidFill>
                  <a:srgbClr val="FFFFFF"/>
                </a:solidFill>
                <a:latin typeface="DM Sans"/>
              </a:rPr>
              <a:t>Rule in about 10 factories</a:t>
            </a:r>
          </a:p>
          <a:p>
            <a:pPr algn="l" marL="201168" indent="-201168">
              <a:lnSpc>
                <a:spcPct val="112000"/>
              </a:lnSpc>
              <a:spcAft>
                <a:spcPts val="700"/>
              </a:spcAft>
              <a:buClr>
                <a:srgbClr val="5EEAD4"/>
              </a:buClr>
              <a:buFont typeface="Arial"/>
              <a:buChar char="•"/>
            </a:pPr>
            <a:r>
              <a:rPr sz="1300" b="0">
                <a:solidFill>
                  <a:srgbClr val="FFFFFF"/>
                </a:solidFill>
                <a:latin typeface="DM Sans"/>
              </a:rPr>
              <a:t>Compare with similar factories without it</a:t>
            </a:r>
          </a:p>
          <a:p>
            <a:pPr algn="l" marL="201168" indent="-201168">
              <a:lnSpc>
                <a:spcPct val="112000"/>
              </a:lnSpc>
              <a:spcAft>
                <a:spcPts val="700"/>
              </a:spcAft>
              <a:buClr>
                <a:srgbClr val="5EEAD4"/>
              </a:buClr>
              <a:buFont typeface="Arial"/>
              <a:buChar char="•"/>
            </a:pPr>
            <a:r>
              <a:rPr sz="1300" b="0">
                <a:solidFill>
                  <a:srgbClr val="FFFFFF"/>
                </a:solidFill>
                <a:latin typeface="DM Sans"/>
              </a:rPr>
              <a:t>Test the stricter version: step down only after 5 picks</a:t>
            </a:r>
          </a:p>
        </p:txBody>
      </p:sp>
      <p:sp>
        <p:nvSpPr>
          <p:cNvPr id="11" name="Rounded Rectangle 10"/>
          <p:cNvSpPr/>
          <p:nvPr/>
        </p:nvSpPr>
        <p:spPr>
          <a:xfrm>
            <a:off x="6092952" y="1506220"/>
            <a:ext cx="2410968" cy="3017520"/>
          </a:xfrm>
          <a:prstGeom prst="roundRect">
            <a:avLst>
              <a:gd name="adj" fmla="val 4551"/>
            </a:avLst>
          </a:prstGeom>
          <a:solidFill>
            <a:srgbClr val="8EA2FF">
              <a:alpha val="8000"/>
            </a:srgbClr>
          </a:solidFill>
          <a:ln w="6350">
            <a:solidFill>
              <a:srgbClr val="8EA2FF">
                <a:alpha val="50000"/>
              </a:srgbClr>
            </a:solidFill>
          </a:ln>
        </p:spPr>
        <p:txBody>
          <a:bodyPr rtlCol="0" anchor="ctr"/>
          <a:lstStyle/>
          <a:p>
            <a:pPr algn="ctr"/>
          </a:p>
        </p:txBody>
      </p:sp>
      <p:sp>
        <p:nvSpPr>
          <p:cNvPr id="12" name="TextBox 11"/>
          <p:cNvSpPr txBox="1"/>
          <p:nvPr/>
        </p:nvSpPr>
        <p:spPr>
          <a:xfrm>
            <a:off x="6275832" y="1689100"/>
            <a:ext cx="2045208" cy="274320"/>
          </a:xfrm>
          <a:prstGeom prst="rect">
            <a:avLst/>
          </a:prstGeom>
          <a:noFill/>
        </p:spPr>
        <p:txBody>
          <a:bodyPr wrap="square" lIns="0" rIns="0" tIns="0" bIns="0" anchor="t">
            <a:spAutoFit/>
          </a:bodyPr>
          <a:lstStyle/>
          <a:p>
            <a:pPr algn="l">
              <a:lnSpc>
                <a:spcPct val="112000"/>
              </a:lnSpc>
            </a:pPr>
            <a:r>
              <a:rPr sz="1100" b="1" spc="120">
                <a:solidFill>
                  <a:srgbClr val="8EA2FF"/>
                </a:solidFill>
                <a:latin typeface="DM Sans"/>
              </a:rPr>
              <a:t>IN PARALLEL</a:t>
            </a:r>
          </a:p>
        </p:txBody>
      </p:sp>
      <p:sp>
        <p:nvSpPr>
          <p:cNvPr id="13" name="TextBox 12"/>
          <p:cNvSpPr txBox="1"/>
          <p:nvPr/>
        </p:nvSpPr>
        <p:spPr>
          <a:xfrm>
            <a:off x="6275832" y="2054860"/>
            <a:ext cx="2045208" cy="2377440"/>
          </a:xfrm>
          <a:prstGeom prst="rect">
            <a:avLst/>
          </a:prstGeom>
          <a:noFill/>
        </p:spPr>
        <p:txBody>
          <a:bodyPr wrap="square" lIns="0" rIns="0" tIns="0" bIns="0" anchor="t">
            <a:spAutoFit/>
          </a:bodyPr>
          <a:lstStyle/>
          <a:p>
            <a:pPr algn="l" marL="201168" indent="-201168">
              <a:lnSpc>
                <a:spcPct val="112000"/>
              </a:lnSpc>
              <a:spcAft>
                <a:spcPts val="700"/>
              </a:spcAft>
              <a:buClr>
                <a:srgbClr val="8EA2FF"/>
              </a:buClr>
              <a:buFont typeface="Arial"/>
              <a:buChar char="•"/>
            </a:pPr>
            <a:r>
              <a:rPr sz="1300" b="0">
                <a:solidFill>
                  <a:srgbClr val="FFFFFF"/>
                </a:solidFill>
                <a:latin typeface="DM Sans"/>
              </a:rPr>
              <a:t>Damping pads in the 10 most affected factories</a:t>
            </a:r>
          </a:p>
          <a:p>
            <a:pPr algn="l" marL="201168" indent="-201168">
              <a:lnSpc>
                <a:spcPct val="112000"/>
              </a:lnSpc>
              <a:spcAft>
                <a:spcPts val="700"/>
              </a:spcAft>
              <a:buClr>
                <a:srgbClr val="8EA2FF"/>
              </a:buClr>
              <a:buFont typeface="Arial"/>
              <a:buChar char="•"/>
            </a:pPr>
            <a:r>
              <a:rPr sz="1300" b="0">
                <a:solidFill>
                  <a:srgbClr val="FFFFFF"/>
                </a:solidFill>
                <a:latin typeface="DM Sans"/>
              </a:rPr>
              <a:t>Firmware fix for the loops</a:t>
            </a:r>
          </a:p>
          <a:p>
            <a:pPr algn="l" marL="201168" indent="-201168">
              <a:lnSpc>
                <a:spcPct val="112000"/>
              </a:lnSpc>
              <a:spcAft>
                <a:spcPts val="700"/>
              </a:spcAft>
              <a:buClr>
                <a:srgbClr val="8EA2FF"/>
              </a:buClr>
              <a:buFont typeface="Arial"/>
              <a:buChar char="•"/>
            </a:pPr>
            <a:r>
              <a:rPr sz="1300" b="0">
                <a:solidFill>
                  <a:srgbClr val="FFFFFF"/>
                </a:solidFill>
                <a:latin typeface="DM Sans"/>
              </a:rPr>
              <a:t>Confirm how the daily check works</a:t>
            </a:r>
          </a:p>
        </p:txBody>
      </p:sp>
      <p:sp>
        <p:nvSpPr>
          <p:cNvPr id="14" name="Rounded Rectangle 13"/>
          <p:cNvSpPr/>
          <p:nvPr/>
        </p:nvSpPr>
        <p:spPr>
          <a:xfrm>
            <a:off x="8732520" y="1506220"/>
            <a:ext cx="2651760" cy="3017520"/>
          </a:xfrm>
          <a:prstGeom prst="roundRect">
            <a:avLst>
              <a:gd name="adj" fmla="val 4137"/>
            </a:avLst>
          </a:prstGeom>
          <a:solidFill>
            <a:srgbClr val="FFFFFF">
              <a:alpha val="5000"/>
            </a:srgbClr>
          </a:solidFill>
          <a:ln w="6350">
            <a:solidFill>
              <a:srgbClr val="FFFFFF">
                <a:alpha val="12000"/>
              </a:srgbClr>
            </a:solidFill>
          </a:ln>
        </p:spPr>
        <p:txBody>
          <a:bodyPr rtlCol="0" anchor="ctr"/>
          <a:lstStyle/>
          <a:p>
            <a:pPr algn="ctr"/>
          </a:p>
        </p:txBody>
      </p:sp>
      <p:sp>
        <p:nvSpPr>
          <p:cNvPr id="15" name="TextBox 14"/>
          <p:cNvSpPr txBox="1"/>
          <p:nvPr/>
        </p:nvSpPr>
        <p:spPr>
          <a:xfrm>
            <a:off x="8915400" y="1689100"/>
            <a:ext cx="2286000" cy="274320"/>
          </a:xfrm>
          <a:prstGeom prst="rect">
            <a:avLst/>
          </a:prstGeom>
          <a:noFill/>
        </p:spPr>
        <p:txBody>
          <a:bodyPr wrap="square" lIns="0" rIns="0" tIns="0" bIns="0" anchor="t">
            <a:spAutoFit/>
          </a:bodyPr>
          <a:lstStyle/>
          <a:p>
            <a:pPr algn="l">
              <a:lnSpc>
                <a:spcPct val="112000"/>
              </a:lnSpc>
            </a:pPr>
            <a:r>
              <a:rPr sz="1100" b="1" spc="120">
                <a:solidFill>
                  <a:srgbClr val="FF8FA3"/>
                </a:solidFill>
                <a:latin typeface="DM Sans"/>
              </a:rPr>
              <a:t>LIMITS</a:t>
            </a:r>
          </a:p>
        </p:txBody>
      </p:sp>
      <p:sp>
        <p:nvSpPr>
          <p:cNvPr id="16" name="TextBox 15"/>
          <p:cNvSpPr txBox="1"/>
          <p:nvPr/>
        </p:nvSpPr>
        <p:spPr>
          <a:xfrm>
            <a:off x="8915400" y="2054860"/>
            <a:ext cx="2331720" cy="2377440"/>
          </a:xfrm>
          <a:prstGeom prst="rect">
            <a:avLst/>
          </a:prstGeom>
          <a:noFill/>
        </p:spPr>
        <p:txBody>
          <a:bodyPr wrap="square" lIns="0" rIns="0" tIns="0" bIns="0" anchor="t">
            <a:spAutoFit/>
          </a:bodyPr>
          <a:lstStyle/>
          <a:p>
            <a:pPr algn="l" marL="201168" indent="-201168">
              <a:lnSpc>
                <a:spcPct val="112000"/>
              </a:lnSpc>
              <a:spcAft>
                <a:spcPts val="600"/>
              </a:spcAft>
              <a:buClr>
                <a:srgbClr val="FF8FA3"/>
              </a:buClr>
              <a:buFont typeface="Arial"/>
              <a:buChar char="•"/>
            </a:pPr>
            <a:r>
              <a:rPr sz="1200" b="0">
                <a:solidFill>
                  <a:srgbClr val="B8C4D9"/>
                </a:solidFill>
                <a:latin typeface="DM Sans"/>
              </a:rPr>
              <a:t>Only one season of data</a:t>
            </a:r>
          </a:p>
          <a:p>
            <a:pPr algn="l" marL="201168" indent="-201168">
              <a:lnSpc>
                <a:spcPct val="112000"/>
              </a:lnSpc>
              <a:spcAft>
                <a:spcPts val="600"/>
              </a:spcAft>
              <a:buClr>
                <a:srgbClr val="FF8FA3"/>
              </a:buClr>
              <a:buFont typeface="Arial"/>
              <a:buChar char="•"/>
            </a:pPr>
            <a:r>
              <a:rPr sz="1200" b="0">
                <a:solidFill>
                  <a:srgbClr val="B8C4D9"/>
                </a:solidFill>
                <a:latin typeface="DM Sans"/>
              </a:rPr>
              <a:t>The April change was not random</a:t>
            </a:r>
          </a:p>
          <a:p>
            <a:pPr algn="l" marL="201168" indent="-201168">
              <a:lnSpc>
                <a:spcPct val="112000"/>
              </a:lnSpc>
              <a:spcAft>
                <a:spcPts val="600"/>
              </a:spcAft>
              <a:buClr>
                <a:srgbClr val="FF8FA3"/>
              </a:buClr>
              <a:buFont typeface="Arial"/>
              <a:buChar char="•"/>
            </a:pPr>
            <a:r>
              <a:rPr sz="1200" b="0">
                <a:solidFill>
                  <a:srgbClr val="B8C4D9"/>
                </a:solidFill>
                <a:latin typeface="DM Sans"/>
              </a:rPr>
              <a:t>Some missed picks are never seen</a:t>
            </a:r>
          </a:p>
          <a:p>
            <a:pPr algn="l" marL="201168" indent="-201168">
              <a:lnSpc>
                <a:spcPct val="112000"/>
              </a:lnSpc>
              <a:spcAft>
                <a:spcPts val="600"/>
              </a:spcAft>
              <a:buClr>
                <a:srgbClr val="FF8FA3"/>
              </a:buClr>
              <a:buFont typeface="Arial"/>
              <a:buChar char="•"/>
            </a:pPr>
            <a:r>
              <a:rPr sz="1200" b="0">
                <a:solidFill>
                  <a:srgbClr val="B8C4D9"/>
                </a:solidFill>
                <a:latin typeface="DM Sans"/>
              </a:rPr>
              <a:t>No shelf positions in the data</a:t>
            </a:r>
          </a:p>
        </p:txBody>
      </p:sp>
      <p:sp>
        <p:nvSpPr>
          <p:cNvPr id="17" name="Rounded Rectangle 16"/>
          <p:cNvSpPr/>
          <p:nvPr/>
        </p:nvSpPr>
        <p:spPr>
          <a:xfrm>
            <a:off x="813816" y="4798060"/>
            <a:ext cx="10570464" cy="777240"/>
          </a:xfrm>
          <a:prstGeom prst="roundRect">
            <a:avLst>
              <a:gd name="adj" fmla="val 14117"/>
            </a:avLst>
          </a:prstGeom>
          <a:solidFill>
            <a:srgbClr val="5EEAD4">
              <a:alpha val="13000"/>
            </a:srgbClr>
          </a:solidFill>
          <a:ln w="6350">
            <a:solidFill>
              <a:srgbClr val="5EEAD4">
                <a:alpha val="50000"/>
              </a:srgbClr>
            </a:solidFill>
          </a:ln>
        </p:spPr>
        <p:txBody>
          <a:bodyPr rtlCol="0" anchor="ctr"/>
          <a:lstStyle/>
          <a:p>
            <a:pPr algn="ctr"/>
          </a:p>
        </p:txBody>
      </p:sp>
      <p:sp>
        <p:nvSpPr>
          <p:cNvPr id="18" name="TextBox 17"/>
          <p:cNvSpPr txBox="1"/>
          <p:nvPr/>
        </p:nvSpPr>
        <p:spPr>
          <a:xfrm>
            <a:off x="1042416" y="4798060"/>
            <a:ext cx="10113264" cy="777240"/>
          </a:xfrm>
          <a:prstGeom prst="rect">
            <a:avLst/>
          </a:prstGeom>
          <a:noFill/>
        </p:spPr>
        <p:txBody>
          <a:bodyPr wrap="square" lIns="0" rIns="0" tIns="0" bIns="0" anchor="ctr">
            <a:spAutoFit/>
          </a:bodyPr>
          <a:lstStyle/>
          <a:p>
            <a:pPr algn="l">
              <a:lnSpc>
                <a:spcPct val="112000"/>
              </a:lnSpc>
            </a:pPr>
            <a:r>
              <a:rPr sz="1400" b="1">
                <a:solidFill>
                  <a:srgbClr val="FFFFFF"/>
                </a:solidFill>
                <a:latin typeface="DM Sans"/>
              </a:rPr>
              <a:t>Our advice for today:</a:t>
            </a:r>
            <a:r>
              <a:rPr sz="1400" b="0">
                <a:solidFill>
                  <a:srgbClr val="D7DEFF"/>
                </a:solidFill>
                <a:latin typeface="DM Sans"/>
              </a:rPr>
              <a:t> start the loop check and the new default 7 now. Both are low risk and measured. Let the pilot decide the details of the rule.</a:t>
            </a:r>
          </a:p>
        </p:txBody>
      </p:sp>
      <p:sp>
        <p:nvSpPr>
          <p:cNvPr id="19" name="TextBox 18"/>
          <p:cNvSpPr txBox="1"/>
          <p:nvPr/>
        </p:nvSpPr>
        <p:spPr>
          <a:xfrm>
            <a:off x="813816" y="6419088"/>
            <a:ext cx="9875520" cy="228600"/>
          </a:xfrm>
          <a:prstGeom prst="rect">
            <a:avLst/>
          </a:prstGeom>
          <a:noFill/>
        </p:spPr>
        <p:txBody>
          <a:bodyPr wrap="square" lIns="0" rIns="0" tIns="0" bIns="0" anchor="t">
            <a:spAutoFit/>
          </a:bodyPr>
          <a:lstStyle/>
          <a:p>
            <a:pPr algn="l">
              <a:lnSpc>
                <a:spcPct val="100000"/>
              </a:lnSpc>
            </a:pPr>
            <a:r>
              <a:rPr sz="900" b="0">
                <a:solidFill>
                  <a:srgbClr val="8D99B0"/>
                </a:solidFill>
                <a:latin typeface="DM Sans"/>
              </a:rPr>
              <a:t>Source: own analysis of the Bossard SmartBin data, 1 Mar to 20 Jun 2022 · Report §7 and §8</a:t>
            </a:r>
          </a:p>
        </p:txBody>
      </p:sp>
      <p:sp>
        <p:nvSpPr>
          <p:cNvPr id="20" name="TextBox 19"/>
          <p:cNvSpPr txBox="1"/>
          <p:nvPr/>
        </p:nvSpPr>
        <p:spPr>
          <a:xfrm>
            <a:off x="10927080" y="6419088"/>
            <a:ext cx="457200" cy="228600"/>
          </a:xfrm>
          <a:prstGeom prst="rect">
            <a:avLst/>
          </a:prstGeom>
          <a:noFill/>
        </p:spPr>
        <p:txBody>
          <a:bodyPr wrap="square" lIns="0" rIns="0" tIns="0" bIns="0" anchor="t">
            <a:spAutoFit/>
          </a:bodyPr>
          <a:lstStyle/>
          <a:p>
            <a:pPr algn="r">
              <a:lnSpc>
                <a:spcPct val="112000"/>
              </a:lnSpc>
            </a:pPr>
            <a:r>
              <a:rPr sz="900" b="0">
                <a:solidFill>
                  <a:srgbClr val="8D99B0"/>
                </a:solidFill>
                <a:latin typeface="DM Sans"/>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A1020"/>
        </a:solidFill>
        <a:effectLst/>
      </p:bgPr>
    </p:bg>
    <p:spTree>
      <p:nvGrpSpPr>
        <p:cNvPr id="1" name=""/>
        <p:cNvGrpSpPr/>
        <p:nvPr/>
      </p:nvGrpSpPr>
      <p:grpSpPr/>
      <p:sp>
        <p:nvSpPr>
          <p:cNvPr id="2" name="Rectangle 1"/>
          <p:cNvSpPr/>
          <p:nvPr/>
        </p:nvSpPr>
        <p:spPr>
          <a:xfrm>
            <a:off x="6986016" y="0"/>
            <a:ext cx="5202936" cy="4059936"/>
          </a:xfrm>
          <a:prstGeom prst="rect">
            <a:avLst/>
          </a:prstGeom>
          <a:gradFill rotWithShape="1">
            <a:gsLst>
              <a:gs pos="0">
                <a:srgbClr val="8EA2FF">
                  <a:alpha val="18000"/>
                </a:srgbClr>
              </a:gs>
              <a:gs pos="65000">
                <a:srgbClr val="8EA2FF">
                  <a:alpha val="0"/>
                </a:srgbClr>
              </a:gs>
            </a:gsLst>
            <a:path path="circle">
              <a:fillToRect l="70000" t="25000" r="30000" b="75000"/>
            </a:path>
          </a:gradFill>
          <a:ln>
            <a:noFill/>
          </a:ln>
        </p:spPr>
        <p:txBody>
          <a:bodyPr rtlCol="0" anchor="ctr"/>
          <a:lstStyle/>
          <a:p>
            <a:pPr algn="ctr"/>
          </a:p>
        </p:txBody>
      </p:sp>
      <p:sp>
        <p:nvSpPr>
          <p:cNvPr id="3" name="TextBox 2"/>
          <p:cNvSpPr txBox="1"/>
          <p:nvPr/>
        </p:nvSpPr>
        <p:spPr>
          <a:xfrm>
            <a:off x="813816" y="1097280"/>
            <a:ext cx="7315200" cy="274320"/>
          </a:xfrm>
          <a:prstGeom prst="rect">
            <a:avLst/>
          </a:prstGeom>
          <a:noFill/>
        </p:spPr>
        <p:txBody>
          <a:bodyPr wrap="square" lIns="0" rIns="0" tIns="0" bIns="0" anchor="t">
            <a:spAutoFit/>
          </a:bodyPr>
          <a:lstStyle/>
          <a:p>
            <a:pPr algn="l">
              <a:lnSpc>
                <a:spcPct val="112000"/>
              </a:lnSpc>
            </a:pPr>
            <a:r>
              <a:rPr sz="1200" b="1" spc="150">
                <a:solidFill>
                  <a:srgbClr val="5EEAD4"/>
                </a:solidFill>
                <a:latin typeface="DM Sans"/>
              </a:rPr>
              <a:t>THANK YOU</a:t>
            </a:r>
          </a:p>
        </p:txBody>
      </p:sp>
      <p:sp>
        <p:nvSpPr>
          <p:cNvPr id="4" name="TextBox 3"/>
          <p:cNvSpPr txBox="1"/>
          <p:nvPr/>
        </p:nvSpPr>
        <p:spPr>
          <a:xfrm>
            <a:off x="813816" y="1463040"/>
            <a:ext cx="7315200" cy="914400"/>
          </a:xfrm>
          <a:prstGeom prst="rect">
            <a:avLst/>
          </a:prstGeom>
          <a:noFill/>
        </p:spPr>
        <p:txBody>
          <a:bodyPr wrap="square" lIns="0" rIns="0" tIns="0" bIns="0" anchor="t">
            <a:spAutoFit/>
          </a:bodyPr>
          <a:lstStyle/>
          <a:p>
            <a:pPr algn="l">
              <a:lnSpc>
                <a:spcPct val="112000"/>
              </a:lnSpc>
            </a:pPr>
            <a:r>
              <a:rPr sz="5200" b="1">
                <a:solidFill>
                  <a:srgbClr val="FFFFFF"/>
                </a:solidFill>
                <a:latin typeface="Space Grotesk"/>
              </a:rPr>
              <a:t>Questions?</a:t>
            </a:r>
          </a:p>
        </p:txBody>
      </p:sp>
      <p:sp>
        <p:nvSpPr>
          <p:cNvPr id="5" name="Oval 4"/>
          <p:cNvSpPr/>
          <p:nvPr/>
        </p:nvSpPr>
        <p:spPr>
          <a:xfrm>
            <a:off x="813816" y="2926080"/>
            <a:ext cx="457200" cy="457200"/>
          </a:xfrm>
          <a:prstGeom prst="ellipse">
            <a:avLst/>
          </a:prstGeom>
          <a:solidFill>
            <a:srgbClr val="FF8FA3"/>
          </a:solidFill>
          <a:ln>
            <a:noFill/>
          </a:ln>
        </p:spPr>
        <p:txBody>
          <a:bodyPr rtlCol="0" anchor="ctr" lIns="0" rIns="0" tIns="0" bIns="0"/>
          <a:lstStyle/>
          <a:p>
            <a:pPr algn="ctr"/>
            <a:r>
              <a:rPr sz="1700" b="1">
                <a:solidFill>
                  <a:srgbClr val="0A1020"/>
                </a:solidFill>
                <a:latin typeface="Space Grotesk"/>
              </a:rPr>
              <a:t>F</a:t>
            </a:r>
          </a:p>
        </p:txBody>
      </p:sp>
      <p:sp>
        <p:nvSpPr>
          <p:cNvPr id="6" name="TextBox 5"/>
          <p:cNvSpPr txBox="1"/>
          <p:nvPr/>
        </p:nvSpPr>
        <p:spPr>
          <a:xfrm>
            <a:off x="1453895" y="2971800"/>
            <a:ext cx="1371600" cy="365760"/>
          </a:xfrm>
          <a:prstGeom prst="rect">
            <a:avLst/>
          </a:prstGeom>
          <a:noFill/>
        </p:spPr>
        <p:txBody>
          <a:bodyPr wrap="square" lIns="0" rIns="0" tIns="0" bIns="0" anchor="t">
            <a:spAutoFit/>
          </a:bodyPr>
          <a:lstStyle/>
          <a:p>
            <a:pPr algn="l">
              <a:lnSpc>
                <a:spcPct val="112000"/>
              </a:lnSpc>
            </a:pPr>
            <a:r>
              <a:rPr sz="2000" b="1">
                <a:solidFill>
                  <a:srgbClr val="FFFFFF"/>
                </a:solidFill>
                <a:latin typeface="Space Grotesk"/>
              </a:rPr>
              <a:t>Flag</a:t>
            </a:r>
          </a:p>
        </p:txBody>
      </p:sp>
      <p:sp>
        <p:nvSpPr>
          <p:cNvPr id="7" name="TextBox 6"/>
          <p:cNvSpPr txBox="1"/>
          <p:nvPr/>
        </p:nvSpPr>
        <p:spPr>
          <a:xfrm>
            <a:off x="2825496" y="3017520"/>
            <a:ext cx="7315200" cy="365760"/>
          </a:xfrm>
          <a:prstGeom prst="rect">
            <a:avLst/>
          </a:prstGeom>
          <a:noFill/>
        </p:spPr>
        <p:txBody>
          <a:bodyPr wrap="square" lIns="0" rIns="0" tIns="0" bIns="0" anchor="t">
            <a:spAutoFit/>
          </a:bodyPr>
          <a:lstStyle/>
          <a:p>
            <a:pPr algn="l">
              <a:lnSpc>
                <a:spcPct val="112000"/>
              </a:lnSpc>
            </a:pPr>
            <a:r>
              <a:rPr sz="1700" b="0">
                <a:solidFill>
                  <a:srgbClr val="D7DEFF"/>
                </a:solidFill>
                <a:latin typeface="DM Sans"/>
              </a:rPr>
              <a:t>find the looping scales every day</a:t>
            </a:r>
          </a:p>
        </p:txBody>
      </p:sp>
      <p:sp>
        <p:nvSpPr>
          <p:cNvPr id="8" name="Oval 7"/>
          <p:cNvSpPr/>
          <p:nvPr/>
        </p:nvSpPr>
        <p:spPr>
          <a:xfrm>
            <a:off x="813816" y="3611880"/>
            <a:ext cx="457200" cy="457200"/>
          </a:xfrm>
          <a:prstGeom prst="ellipse">
            <a:avLst/>
          </a:prstGeom>
          <a:solidFill>
            <a:srgbClr val="5EEAD4"/>
          </a:solidFill>
          <a:ln>
            <a:noFill/>
          </a:ln>
        </p:spPr>
        <p:txBody>
          <a:bodyPr rtlCol="0" anchor="ctr" lIns="0" rIns="0" tIns="0" bIns="0"/>
          <a:lstStyle/>
          <a:p>
            <a:pPr algn="ctr"/>
            <a:r>
              <a:rPr sz="1700" b="1">
                <a:solidFill>
                  <a:srgbClr val="0A1020"/>
                </a:solidFill>
                <a:latin typeface="Space Grotesk"/>
              </a:rPr>
              <a:t>T</a:t>
            </a:r>
          </a:p>
        </p:txBody>
      </p:sp>
      <p:sp>
        <p:nvSpPr>
          <p:cNvPr id="9" name="TextBox 8"/>
          <p:cNvSpPr txBox="1"/>
          <p:nvPr/>
        </p:nvSpPr>
        <p:spPr>
          <a:xfrm>
            <a:off x="1453895" y="3657600"/>
            <a:ext cx="1371600" cy="365760"/>
          </a:xfrm>
          <a:prstGeom prst="rect">
            <a:avLst/>
          </a:prstGeom>
          <a:noFill/>
        </p:spPr>
        <p:txBody>
          <a:bodyPr wrap="square" lIns="0" rIns="0" tIns="0" bIns="0" anchor="t">
            <a:spAutoFit/>
          </a:bodyPr>
          <a:lstStyle/>
          <a:p>
            <a:pPr algn="l">
              <a:lnSpc>
                <a:spcPct val="112000"/>
              </a:lnSpc>
            </a:pPr>
            <a:r>
              <a:rPr sz="2000" b="1">
                <a:solidFill>
                  <a:srgbClr val="FFFFFF"/>
                </a:solidFill>
                <a:latin typeface="Space Grotesk"/>
              </a:rPr>
              <a:t>Tune</a:t>
            </a:r>
          </a:p>
        </p:txBody>
      </p:sp>
      <p:sp>
        <p:nvSpPr>
          <p:cNvPr id="10" name="TextBox 9"/>
          <p:cNvSpPr txBox="1"/>
          <p:nvPr/>
        </p:nvSpPr>
        <p:spPr>
          <a:xfrm>
            <a:off x="2825496" y="3703320"/>
            <a:ext cx="7315200" cy="365760"/>
          </a:xfrm>
          <a:prstGeom prst="rect">
            <a:avLst/>
          </a:prstGeom>
          <a:noFill/>
        </p:spPr>
        <p:txBody>
          <a:bodyPr wrap="square" lIns="0" rIns="0" tIns="0" bIns="0" anchor="t">
            <a:spAutoFit/>
          </a:bodyPr>
          <a:lstStyle/>
          <a:p>
            <a:pPr algn="l">
              <a:lnSpc>
                <a:spcPct val="112000"/>
              </a:lnSpc>
            </a:pPr>
            <a:r>
              <a:rPr sz="1700" b="0">
                <a:solidFill>
                  <a:srgbClr val="D7DEFF"/>
                </a:solidFill>
                <a:latin typeface="DM Sans"/>
              </a:rPr>
              <a:t>every scale learns its own setting</a:t>
            </a:r>
          </a:p>
        </p:txBody>
      </p:sp>
      <p:sp>
        <p:nvSpPr>
          <p:cNvPr id="11" name="Oval 10"/>
          <p:cNvSpPr/>
          <p:nvPr/>
        </p:nvSpPr>
        <p:spPr>
          <a:xfrm>
            <a:off x="813816" y="4297680"/>
            <a:ext cx="457200" cy="457200"/>
          </a:xfrm>
          <a:prstGeom prst="ellipse">
            <a:avLst/>
          </a:prstGeom>
          <a:solidFill>
            <a:srgbClr val="8EA2FF"/>
          </a:solidFill>
          <a:ln>
            <a:noFill/>
          </a:ln>
        </p:spPr>
        <p:txBody>
          <a:bodyPr rtlCol="0" anchor="ctr" lIns="0" rIns="0" tIns="0" bIns="0"/>
          <a:lstStyle/>
          <a:p>
            <a:pPr algn="ctr"/>
            <a:r>
              <a:rPr sz="1700" b="1">
                <a:solidFill>
                  <a:srgbClr val="0A1020"/>
                </a:solidFill>
                <a:latin typeface="Space Grotesk"/>
              </a:rPr>
              <a:t>W</a:t>
            </a:r>
          </a:p>
        </p:txBody>
      </p:sp>
      <p:sp>
        <p:nvSpPr>
          <p:cNvPr id="12" name="TextBox 11"/>
          <p:cNvSpPr txBox="1"/>
          <p:nvPr/>
        </p:nvSpPr>
        <p:spPr>
          <a:xfrm>
            <a:off x="1453895" y="4343400"/>
            <a:ext cx="1371600" cy="365760"/>
          </a:xfrm>
          <a:prstGeom prst="rect">
            <a:avLst/>
          </a:prstGeom>
          <a:noFill/>
        </p:spPr>
        <p:txBody>
          <a:bodyPr wrap="square" lIns="0" rIns="0" tIns="0" bIns="0" anchor="t">
            <a:spAutoFit/>
          </a:bodyPr>
          <a:lstStyle/>
          <a:p>
            <a:pPr algn="l">
              <a:lnSpc>
                <a:spcPct val="112000"/>
              </a:lnSpc>
            </a:pPr>
            <a:r>
              <a:rPr sz="2000" b="1">
                <a:solidFill>
                  <a:srgbClr val="FFFFFF"/>
                </a:solidFill>
                <a:latin typeface="Space Grotesk"/>
              </a:rPr>
              <a:t>Watch</a:t>
            </a:r>
          </a:p>
        </p:txBody>
      </p:sp>
      <p:sp>
        <p:nvSpPr>
          <p:cNvPr id="13" name="TextBox 12"/>
          <p:cNvSpPr txBox="1"/>
          <p:nvPr/>
        </p:nvSpPr>
        <p:spPr>
          <a:xfrm>
            <a:off x="2825496" y="4389120"/>
            <a:ext cx="7315200" cy="365760"/>
          </a:xfrm>
          <a:prstGeom prst="rect">
            <a:avLst/>
          </a:prstGeom>
          <a:noFill/>
        </p:spPr>
        <p:txBody>
          <a:bodyPr wrap="square" lIns="0" rIns="0" tIns="0" bIns="0" anchor="t">
            <a:spAutoFit/>
          </a:bodyPr>
          <a:lstStyle/>
          <a:p>
            <a:pPr algn="l">
              <a:lnSpc>
                <a:spcPct val="112000"/>
              </a:lnSpc>
            </a:pPr>
            <a:r>
              <a:rPr sz="1700" b="0">
                <a:solidFill>
                  <a:srgbClr val="D7DEFF"/>
                </a:solidFill>
                <a:latin typeface="DM Sans"/>
              </a:rPr>
              <a:t>keep missed picks visible</a:t>
            </a:r>
          </a:p>
        </p:txBody>
      </p:sp>
      <p:sp>
        <p:nvSpPr>
          <p:cNvPr id="14" name="TextBox 13"/>
          <p:cNvSpPr txBox="1"/>
          <p:nvPr/>
        </p:nvSpPr>
        <p:spPr>
          <a:xfrm>
            <a:off x="813816" y="5943600"/>
            <a:ext cx="10058400" cy="365760"/>
          </a:xfrm>
          <a:prstGeom prst="rect">
            <a:avLst/>
          </a:prstGeom>
          <a:noFill/>
        </p:spPr>
        <p:txBody>
          <a:bodyPr wrap="square" lIns="0" rIns="0" tIns="0" bIns="0" anchor="t">
            <a:spAutoFit/>
          </a:bodyPr>
          <a:lstStyle/>
          <a:p>
            <a:pPr algn="l">
              <a:lnSpc>
                <a:spcPct val="112000"/>
              </a:lnSpc>
            </a:pPr>
            <a:r>
              <a:rPr sz="1150" b="0">
                <a:solidFill>
                  <a:srgbClr val="8D99B0"/>
                </a:solidFill>
                <a:latin typeface="DM Sans"/>
              </a:rPr>
              <a:t>Erenalp Çakıroğlu · code, report and pipeline in a private repository (case data under NDA)</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E1628"/>
        </a:solidFill>
        <a:effectLst/>
      </p:bgPr>
    </p:bg>
    <p:spTree>
      <p:nvGrpSpPr>
        <p:cNvPr id="1" name=""/>
        <p:cNvGrpSpPr/>
        <p:nvPr/>
      </p:nvGrpSpPr>
      <p:grpSpPr/>
      <p:sp>
        <p:nvSpPr>
          <p:cNvPr id="2" name="Rectangle 1"/>
          <p:cNvSpPr/>
          <p:nvPr/>
        </p:nvSpPr>
        <p:spPr>
          <a:xfrm>
            <a:off x="6986016" y="0"/>
            <a:ext cx="5202936" cy="4059936"/>
          </a:xfrm>
          <a:prstGeom prst="rect">
            <a:avLst/>
          </a:prstGeom>
          <a:gradFill rotWithShape="1">
            <a:gsLst>
              <a:gs pos="0">
                <a:srgbClr val="8EA2FF">
                  <a:alpha val="18000"/>
                </a:srgbClr>
              </a:gs>
              <a:gs pos="65000">
                <a:srgbClr val="8EA2FF">
                  <a:alpha val="0"/>
                </a:srgbClr>
              </a:gs>
            </a:gsLst>
            <a:path path="circle">
              <a:fillToRect l="70000" t="25000" r="30000" b="75000"/>
            </a:path>
          </a:gradFill>
          <a:ln>
            <a:noFill/>
          </a:ln>
        </p:spPr>
        <p:txBody>
          <a:bodyPr rtlCol="0" anchor="ctr"/>
          <a:lstStyle/>
          <a:p>
            <a:pPr algn="ctr"/>
          </a:p>
        </p:txBody>
      </p:sp>
      <p:sp>
        <p:nvSpPr>
          <p:cNvPr id="3" name="TextBox 2"/>
          <p:cNvSpPr txBox="1"/>
          <p:nvPr/>
        </p:nvSpPr>
        <p:spPr>
          <a:xfrm>
            <a:off x="813816" y="502920"/>
            <a:ext cx="10570464" cy="228600"/>
          </a:xfrm>
          <a:prstGeom prst="rect">
            <a:avLst/>
          </a:prstGeom>
          <a:noFill/>
        </p:spPr>
        <p:txBody>
          <a:bodyPr wrap="square" lIns="0" rIns="0" tIns="0" bIns="0" anchor="t">
            <a:spAutoFit/>
          </a:bodyPr>
          <a:lstStyle/>
          <a:p>
            <a:pPr algn="l">
              <a:lnSpc>
                <a:spcPct val="112000"/>
              </a:lnSpc>
            </a:pPr>
            <a:r>
              <a:rPr sz="1100" b="1" spc="150">
                <a:solidFill>
                  <a:srgbClr val="5EEAD4"/>
                </a:solidFill>
                <a:latin typeface="DM Sans"/>
              </a:rPr>
              <a:t>BACKUP · ALTERNATIVES</a:t>
            </a:r>
          </a:p>
        </p:txBody>
      </p:sp>
      <p:sp>
        <p:nvSpPr>
          <p:cNvPr id="4" name="TextBox 3"/>
          <p:cNvSpPr txBox="1"/>
          <p:nvPr/>
        </p:nvSpPr>
        <p:spPr>
          <a:xfrm>
            <a:off x="813816" y="777240"/>
            <a:ext cx="10570464" cy="408939"/>
          </a:xfrm>
          <a:prstGeom prst="rect">
            <a:avLst/>
          </a:prstGeom>
          <a:noFill/>
        </p:spPr>
        <p:txBody>
          <a:bodyPr wrap="square" lIns="0" rIns="0" tIns="0" bIns="0" anchor="t">
            <a:spAutoFit/>
          </a:bodyPr>
          <a:lstStyle/>
          <a:p>
            <a:pPr algn="l">
              <a:lnSpc>
                <a:spcPct val="100000"/>
              </a:lnSpc>
            </a:pPr>
            <a:r>
              <a:rPr sz="2800" b="1">
                <a:solidFill>
                  <a:srgbClr val="FFFFFF"/>
                </a:solidFill>
                <a:latin typeface="Space Grotesk"/>
              </a:rPr>
              <a:t>We tested the shortcuts. None of them works.</a:t>
            </a:r>
          </a:p>
        </p:txBody>
      </p:sp>
      <p:graphicFrame>
        <p:nvGraphicFramePr>
          <p:cNvPr id="5" name="Table 4"/>
          <p:cNvGraphicFramePr>
            <a:graphicFrameLocks noGrp="1"/>
          </p:cNvGraphicFramePr>
          <p:nvPr/>
        </p:nvGraphicFramePr>
        <p:xfrm>
          <a:off x="813816" y="1506220"/>
          <a:ext cx="10570463" cy="3803904"/>
        </p:xfrm>
        <a:graphic>
          <a:graphicData uri="http://schemas.openxmlformats.org/drawingml/2006/table">
            <a:tbl>
              <a:tblPr firstRow="0" bandRow="0"/>
              <a:tblGrid>
                <a:gridCol w="3383280"/>
                <a:gridCol w="5669280"/>
                <a:gridCol w="1517903"/>
              </a:tblGrid>
              <a:tr h="475488">
                <a:tc>
                  <a:txBody>
                    <a:bodyPr wrap="square"/>
                    <a:lstStyle/>
                    <a:p>
                      <a:pPr algn="l"/>
                      <a:r>
                        <a:rPr sz="1300" b="1">
                          <a:solidFill>
                            <a:srgbClr val="5EEAD4"/>
                          </a:solidFill>
                          <a:latin typeface="Space Grotesk"/>
                        </a:rPr>
                        <a:t>Idea</a:t>
                      </a:r>
                    </a:p>
                  </a:txBody>
                  <a:tcPr marL="91440" marR="91440" marT="36576" marB="36576" anchor="ctr">
                    <a:lnL w="0">
                      <a:noFill/>
                    </a:lnL>
                    <a:lnR w="0">
                      <a:noFill/>
                    </a:lnR>
                    <a:lnT w="0">
                      <a:noFill/>
                    </a:lnT>
                    <a:lnB w="6350">
                      <a:solidFill>
                        <a:srgbClr val="FFFFFF">
                          <a:alpha val="40000"/>
                        </a:srgbClr>
                      </a:solidFill>
                    </a:lnB>
                    <a:noFill/>
                  </a:tcPr>
                </a:tc>
                <a:tc>
                  <a:txBody>
                    <a:bodyPr wrap="square"/>
                    <a:lstStyle/>
                    <a:p>
                      <a:pPr algn="l"/>
                      <a:r>
                        <a:rPr sz="1300" b="1">
                          <a:solidFill>
                            <a:srgbClr val="5EEAD4"/>
                          </a:solidFill>
                          <a:latin typeface="Space Grotesk"/>
                        </a:rPr>
                        <a:t>What happened</a:t>
                      </a:r>
                    </a:p>
                  </a:txBody>
                  <a:tcPr marL="91440" marR="91440" marT="36576" marB="36576" anchor="ctr">
                    <a:lnL w="0">
                      <a:noFill/>
                    </a:lnL>
                    <a:lnR w="0">
                      <a:noFill/>
                    </a:lnR>
                    <a:lnT w="0">
                      <a:noFill/>
                    </a:lnT>
                    <a:lnB w="6350">
                      <a:solidFill>
                        <a:srgbClr val="FFFFFF">
                          <a:alpha val="40000"/>
                        </a:srgbClr>
                      </a:solidFill>
                    </a:lnB>
                    <a:noFill/>
                  </a:tcPr>
                </a:tc>
                <a:tc>
                  <a:txBody>
                    <a:bodyPr wrap="square"/>
                    <a:lstStyle/>
                    <a:p>
                      <a:pPr algn="l"/>
                      <a:r>
                        <a:rPr sz="1300" b="1">
                          <a:solidFill>
                            <a:srgbClr val="5EEAD4"/>
                          </a:solidFill>
                          <a:latin typeface="Space Grotesk"/>
                        </a:rPr>
                        <a:t>Verdict</a:t>
                      </a:r>
                    </a:p>
                  </a:txBody>
                  <a:tcPr marL="91440" marR="91440" marT="36576" marB="36576" anchor="ctr">
                    <a:lnL w="0">
                      <a:noFill/>
                    </a:lnL>
                    <a:lnR w="0">
                      <a:noFill/>
                    </a:lnR>
                    <a:lnT w="0">
                      <a:noFill/>
                    </a:lnT>
                    <a:lnB w="6350">
                      <a:solidFill>
                        <a:srgbClr val="FFFFFF">
                          <a:alpha val="40000"/>
                        </a:srgbClr>
                      </a:solidFill>
                    </a:lnB>
                    <a:noFill/>
                  </a:tcPr>
                </a:tc>
              </a:tr>
              <a:tr h="475488">
                <a:tc>
                  <a:txBody>
                    <a:bodyPr wrap="square"/>
                    <a:lstStyle/>
                    <a:p>
                      <a:pPr algn="l"/>
                      <a:r>
                        <a:rPr sz="1300" b="0">
                          <a:solidFill>
                            <a:srgbClr val="FFFFFF"/>
                          </a:solidFill>
                          <a:latin typeface="DM Sans"/>
                        </a:rPr>
                        <a:t>One setting for all scales</a:t>
                      </a:r>
                    </a:p>
                  </a:txBody>
                  <a:tcPr marL="91440" marR="91440" marT="36576" marB="36576" anchor="ctr">
                    <a:lnL w="0">
                      <a:noFill/>
                    </a:lnL>
                    <a:lnR w="0">
                      <a:noFill/>
                    </a:lnR>
                    <a:lnT w="0">
                      <a:noFill/>
                    </a:lnT>
                    <a:lnB w="6350">
                      <a:solidFill>
                        <a:srgbClr val="FFFFFF">
                          <a:alpha val="14000"/>
                        </a:srgbClr>
                      </a:solidFill>
                    </a:lnB>
                    <a:noFill/>
                  </a:tcPr>
                </a:tc>
                <a:tc>
                  <a:txBody>
                    <a:bodyPr wrap="square"/>
                    <a:lstStyle/>
                    <a:p>
                      <a:pPr algn="l"/>
                      <a:r>
                        <a:rPr sz="1300" b="0">
                          <a:solidFill>
                            <a:srgbClr val="B8C4D9"/>
                          </a:solidFill>
                          <a:latin typeface="DM Sans"/>
                        </a:rPr>
                        <a:t>Misses 38% to 46% of the picks</a:t>
                      </a:r>
                    </a:p>
                  </a:txBody>
                  <a:tcPr marL="91440" marR="91440" marT="36576" marB="36576" anchor="ctr">
                    <a:lnL w="0">
                      <a:noFill/>
                    </a:lnL>
                    <a:lnR w="0">
                      <a:noFill/>
                    </a:lnR>
                    <a:lnT w="0">
                      <a:noFill/>
                    </a:lnT>
                    <a:lnB w="6350">
                      <a:solidFill>
                        <a:srgbClr val="FFFFFF">
                          <a:alpha val="14000"/>
                        </a:srgbClr>
                      </a:solidFill>
                    </a:lnB>
                    <a:noFill/>
                  </a:tcPr>
                </a:tc>
                <a:tc>
                  <a:txBody>
                    <a:bodyPr wrap="square"/>
                    <a:lstStyle/>
                    <a:p>
                      <a:pPr algn="l"/>
                      <a:r>
                        <a:rPr sz="1300" b="0">
                          <a:solidFill>
                            <a:srgbClr val="FF8FA3"/>
                          </a:solidFill>
                          <a:latin typeface="DM Sans"/>
                        </a:rPr>
                        <a:t>no</a:t>
                      </a:r>
                    </a:p>
                  </a:txBody>
                  <a:tcPr marL="91440" marR="91440" marT="36576" marB="36576" anchor="ctr">
                    <a:lnL w="0">
                      <a:noFill/>
                    </a:lnL>
                    <a:lnR w="0">
                      <a:noFill/>
                    </a:lnR>
                    <a:lnT w="0">
                      <a:noFill/>
                    </a:lnT>
                    <a:lnB w="6350">
                      <a:solidFill>
                        <a:srgbClr val="FFFFFF">
                          <a:alpha val="14000"/>
                        </a:srgbClr>
                      </a:solidFill>
                    </a:lnB>
                    <a:noFill/>
                  </a:tcPr>
                </a:tc>
              </a:tr>
              <a:tr h="475488">
                <a:tc>
                  <a:txBody>
                    <a:bodyPr wrap="square"/>
                    <a:lstStyle/>
                    <a:p>
                      <a:pPr algn="l"/>
                      <a:r>
                        <a:rPr sz="1300" b="0">
                          <a:solidFill>
                            <a:srgbClr val="FFFFFF"/>
                          </a:solidFill>
                          <a:latin typeface="DM Sans"/>
                        </a:rPr>
                        <a:t>Follow Bossard's KPI</a:t>
                      </a:r>
                    </a:p>
                  </a:txBody>
                  <a:tcPr marL="91440" marR="91440" marT="36576" marB="36576" anchor="ctr">
                    <a:lnL w="0">
                      <a:noFill/>
                    </a:lnL>
                    <a:lnR w="0">
                      <a:noFill/>
                    </a:lnR>
                    <a:lnT w="0">
                      <a:noFill/>
                    </a:lnT>
                    <a:lnB w="6350">
                      <a:solidFill>
                        <a:srgbClr val="FFFFFF">
                          <a:alpha val="14000"/>
                        </a:srgbClr>
                      </a:solidFill>
                    </a:lnB>
                    <a:noFill/>
                  </a:tcPr>
                </a:tc>
                <a:tc>
                  <a:txBody>
                    <a:bodyPr wrap="square"/>
                    <a:lstStyle/>
                    <a:p>
                      <a:pPr algn="l"/>
                      <a:r>
                        <a:rPr sz="1300" b="0">
                          <a:solidFill>
                            <a:srgbClr val="B8C4D9"/>
                          </a:solidFill>
                          <a:latin typeface="DM Sans"/>
                        </a:rPr>
                        <a:t>Pushes scales to setting 1, where the sensor barely reacts</a:t>
                      </a:r>
                    </a:p>
                  </a:txBody>
                  <a:tcPr marL="91440" marR="91440" marT="36576" marB="36576" anchor="ctr">
                    <a:lnL w="0">
                      <a:noFill/>
                    </a:lnL>
                    <a:lnR w="0">
                      <a:noFill/>
                    </a:lnR>
                    <a:lnT w="0">
                      <a:noFill/>
                    </a:lnT>
                    <a:lnB w="6350">
                      <a:solidFill>
                        <a:srgbClr val="FFFFFF">
                          <a:alpha val="14000"/>
                        </a:srgbClr>
                      </a:solidFill>
                    </a:lnB>
                    <a:noFill/>
                  </a:tcPr>
                </a:tc>
                <a:tc>
                  <a:txBody>
                    <a:bodyPr wrap="square"/>
                    <a:lstStyle/>
                    <a:p>
                      <a:pPr algn="l"/>
                      <a:r>
                        <a:rPr sz="1300" b="0">
                          <a:solidFill>
                            <a:srgbClr val="FF8FA3"/>
                          </a:solidFill>
                          <a:latin typeface="DM Sans"/>
                        </a:rPr>
                        <a:t>no</a:t>
                      </a:r>
                    </a:p>
                  </a:txBody>
                  <a:tcPr marL="91440" marR="91440" marT="36576" marB="36576" anchor="ctr">
                    <a:lnL w="0">
                      <a:noFill/>
                    </a:lnL>
                    <a:lnR w="0">
                      <a:noFill/>
                    </a:lnR>
                    <a:lnT w="0">
                      <a:noFill/>
                    </a:lnT>
                    <a:lnB w="6350">
                      <a:solidFill>
                        <a:srgbClr val="FFFFFF">
                          <a:alpha val="14000"/>
                        </a:srgbClr>
                      </a:solidFill>
                    </a:lnB>
                    <a:noFill/>
                  </a:tcPr>
                </a:tc>
              </a:tr>
              <a:tr h="475488">
                <a:tc>
                  <a:txBody>
                    <a:bodyPr wrap="square"/>
                    <a:lstStyle/>
                    <a:p>
                      <a:pPr algn="l"/>
                      <a:r>
                        <a:rPr sz="1300" b="0">
                          <a:solidFill>
                            <a:srgbClr val="FFFFFF"/>
                          </a:solidFill>
                          <a:latin typeface="DM Sans"/>
                        </a:rPr>
                        <a:t>A table by pick size or item weight</a:t>
                      </a:r>
                    </a:p>
                  </a:txBody>
                  <a:tcPr marL="91440" marR="91440" marT="36576" marB="36576" anchor="ctr">
                    <a:lnL w="0">
                      <a:noFill/>
                    </a:lnL>
                    <a:lnR w="0">
                      <a:noFill/>
                    </a:lnR>
                    <a:lnT w="0">
                      <a:noFill/>
                    </a:lnT>
                    <a:lnB w="6350">
                      <a:solidFill>
                        <a:srgbClr val="FFFFFF">
                          <a:alpha val="14000"/>
                        </a:srgbClr>
                      </a:solidFill>
                    </a:lnB>
                    <a:noFill/>
                  </a:tcPr>
                </a:tc>
                <a:tc>
                  <a:txBody>
                    <a:bodyPr wrap="square"/>
                    <a:lstStyle/>
                    <a:p>
                      <a:pPr algn="l"/>
                      <a:r>
                        <a:rPr sz="1300" b="0">
                          <a:solidFill>
                            <a:srgbClr val="B8C4D9"/>
                          </a:solidFill>
                          <a:latin typeface="DM Sans"/>
                        </a:rPr>
                        <a:t>Chooses the same setting for almost every scale</a:t>
                      </a:r>
                    </a:p>
                  </a:txBody>
                  <a:tcPr marL="91440" marR="91440" marT="36576" marB="36576" anchor="ctr">
                    <a:lnL w="0">
                      <a:noFill/>
                    </a:lnL>
                    <a:lnR w="0">
                      <a:noFill/>
                    </a:lnR>
                    <a:lnT w="0">
                      <a:noFill/>
                    </a:lnT>
                    <a:lnB w="6350">
                      <a:solidFill>
                        <a:srgbClr val="FFFFFF">
                          <a:alpha val="14000"/>
                        </a:srgbClr>
                      </a:solidFill>
                    </a:lnB>
                    <a:noFill/>
                  </a:tcPr>
                </a:tc>
                <a:tc>
                  <a:txBody>
                    <a:bodyPr wrap="square"/>
                    <a:lstStyle/>
                    <a:p>
                      <a:pPr algn="l"/>
                      <a:r>
                        <a:rPr sz="1300" b="0">
                          <a:solidFill>
                            <a:srgbClr val="FF8FA3"/>
                          </a:solidFill>
                          <a:latin typeface="DM Sans"/>
                        </a:rPr>
                        <a:t>no gain</a:t>
                      </a:r>
                    </a:p>
                  </a:txBody>
                  <a:tcPr marL="91440" marR="91440" marT="36576" marB="36576" anchor="ctr">
                    <a:lnL w="0">
                      <a:noFill/>
                    </a:lnL>
                    <a:lnR w="0">
                      <a:noFill/>
                    </a:lnR>
                    <a:lnT w="0">
                      <a:noFill/>
                    </a:lnT>
                    <a:lnB w="6350">
                      <a:solidFill>
                        <a:srgbClr val="FFFFFF">
                          <a:alpha val="14000"/>
                        </a:srgbClr>
                      </a:solidFill>
                    </a:lnB>
                    <a:noFill/>
                  </a:tcPr>
                </a:tc>
              </a:tr>
              <a:tr h="475488">
                <a:tc>
                  <a:txBody>
                    <a:bodyPr wrap="square"/>
                    <a:lstStyle/>
                    <a:p>
                      <a:pPr algn="l"/>
                      <a:r>
                        <a:rPr sz="1300" b="0">
                          <a:solidFill>
                            <a:srgbClr val="FFFFFF"/>
                          </a:solidFill>
                          <a:latin typeface="DM Sans"/>
                        </a:rPr>
                        <a:t>Sensor off at quiet hours</a:t>
                      </a:r>
                    </a:p>
                  </a:txBody>
                  <a:tcPr marL="91440" marR="91440" marT="36576" marB="36576" anchor="ctr">
                    <a:lnL w="0">
                      <a:noFill/>
                    </a:lnL>
                    <a:lnR w="0">
                      <a:noFill/>
                    </a:lnR>
                    <a:lnT w="0">
                      <a:noFill/>
                    </a:lnT>
                    <a:lnB w="6350">
                      <a:solidFill>
                        <a:srgbClr val="FFFFFF">
                          <a:alpha val="14000"/>
                        </a:srgbClr>
                      </a:solidFill>
                    </a:lnB>
                    <a:noFill/>
                  </a:tcPr>
                </a:tc>
                <a:tc>
                  <a:txBody>
                    <a:bodyPr wrap="square"/>
                    <a:lstStyle/>
                    <a:p>
                      <a:pPr algn="l"/>
                      <a:r>
                        <a:rPr sz="1300" b="0">
                          <a:solidFill>
                            <a:srgbClr val="B8C4D9"/>
                          </a:solidFill>
                          <a:latin typeface="DM Sans"/>
                        </a:rPr>
                        <a:t>Saves only 6%, and real picks happen then too</a:t>
                      </a:r>
                    </a:p>
                  </a:txBody>
                  <a:tcPr marL="91440" marR="91440" marT="36576" marB="36576" anchor="ctr">
                    <a:lnL w="0">
                      <a:noFill/>
                    </a:lnL>
                    <a:lnR w="0">
                      <a:noFill/>
                    </a:lnR>
                    <a:lnT w="0">
                      <a:noFill/>
                    </a:lnT>
                    <a:lnB w="6350">
                      <a:solidFill>
                        <a:srgbClr val="FFFFFF">
                          <a:alpha val="14000"/>
                        </a:srgbClr>
                      </a:solidFill>
                    </a:lnB>
                    <a:noFill/>
                  </a:tcPr>
                </a:tc>
                <a:tc>
                  <a:txBody>
                    <a:bodyPr wrap="square"/>
                    <a:lstStyle/>
                    <a:p>
                      <a:pPr algn="l"/>
                      <a:r>
                        <a:rPr sz="1300" b="0">
                          <a:solidFill>
                            <a:srgbClr val="FF8FA3"/>
                          </a:solidFill>
                          <a:latin typeface="DM Sans"/>
                        </a:rPr>
                        <a:t>no</a:t>
                      </a:r>
                    </a:p>
                  </a:txBody>
                  <a:tcPr marL="91440" marR="91440" marT="36576" marB="36576" anchor="ctr">
                    <a:lnL w="0">
                      <a:noFill/>
                    </a:lnL>
                    <a:lnR w="0">
                      <a:noFill/>
                    </a:lnR>
                    <a:lnT w="0">
                      <a:noFill/>
                    </a:lnT>
                    <a:lnB w="6350">
                      <a:solidFill>
                        <a:srgbClr val="FFFFFF">
                          <a:alpha val="14000"/>
                        </a:srgbClr>
                      </a:solidFill>
                    </a:lnB>
                    <a:noFill/>
                  </a:tcPr>
                </a:tc>
              </a:tr>
              <a:tr h="475488">
                <a:tc>
                  <a:txBody>
                    <a:bodyPr wrap="square"/>
                    <a:lstStyle/>
                    <a:p>
                      <a:pPr algn="l"/>
                      <a:r>
                        <a:rPr sz="1300" b="0">
                          <a:solidFill>
                            <a:srgbClr val="FFFFFF"/>
                          </a:solidFill>
                          <a:latin typeface="DM Sans"/>
                        </a:rPr>
                        <a:t>Extra night check for every scale</a:t>
                      </a:r>
                    </a:p>
                  </a:txBody>
                  <a:tcPr marL="91440" marR="91440" marT="36576" marB="36576" anchor="ctr">
                    <a:lnL w="0">
                      <a:noFill/>
                    </a:lnL>
                    <a:lnR w="0">
                      <a:noFill/>
                    </a:lnR>
                    <a:lnT w="0">
                      <a:noFill/>
                    </a:lnT>
                    <a:lnB w="6350">
                      <a:solidFill>
                        <a:srgbClr val="FFFFFF">
                          <a:alpha val="14000"/>
                        </a:srgbClr>
                      </a:solidFill>
                    </a:lnB>
                    <a:noFill/>
                  </a:tcPr>
                </a:tc>
                <a:tc>
                  <a:txBody>
                    <a:bodyPr wrap="square"/>
                    <a:lstStyle/>
                    <a:p>
                      <a:pPr algn="l"/>
                      <a:r>
                        <a:rPr sz="1300" b="0">
                          <a:solidFill>
                            <a:srgbClr val="B8C4D9"/>
                          </a:solidFill>
                          <a:latin typeface="DM Sans"/>
                        </a:rPr>
                        <a:t>Eats a third of the savings</a:t>
                      </a:r>
                    </a:p>
                  </a:txBody>
                  <a:tcPr marL="91440" marR="91440" marT="36576" marB="36576" anchor="ctr">
                    <a:lnL w="0">
                      <a:noFill/>
                    </a:lnL>
                    <a:lnR w="0">
                      <a:noFill/>
                    </a:lnR>
                    <a:lnT w="0">
                      <a:noFill/>
                    </a:lnT>
                    <a:lnB w="6350">
                      <a:solidFill>
                        <a:srgbClr val="FFFFFF">
                          <a:alpha val="14000"/>
                        </a:srgbClr>
                      </a:solidFill>
                    </a:lnB>
                    <a:noFill/>
                  </a:tcPr>
                </a:tc>
                <a:tc>
                  <a:txBody>
                    <a:bodyPr wrap="square"/>
                    <a:lstStyle/>
                    <a:p>
                      <a:pPr algn="l"/>
                      <a:r>
                        <a:rPr sz="1300" b="0">
                          <a:solidFill>
                            <a:srgbClr val="FF8FA3"/>
                          </a:solidFill>
                          <a:latin typeface="DM Sans"/>
                        </a:rPr>
                        <a:t>no</a:t>
                      </a:r>
                    </a:p>
                  </a:txBody>
                  <a:tcPr marL="91440" marR="91440" marT="36576" marB="36576" anchor="ctr">
                    <a:lnL w="0">
                      <a:noFill/>
                    </a:lnL>
                    <a:lnR w="0">
                      <a:noFill/>
                    </a:lnR>
                    <a:lnT w="0">
                      <a:noFill/>
                    </a:lnT>
                    <a:lnB w="6350">
                      <a:solidFill>
                        <a:srgbClr val="FFFFFF">
                          <a:alpha val="14000"/>
                        </a:srgbClr>
                      </a:solidFill>
                    </a:lnB>
                    <a:noFill/>
                  </a:tcPr>
                </a:tc>
              </a:tr>
              <a:tr h="475488">
                <a:tc>
                  <a:txBody>
                    <a:bodyPr wrap="square"/>
                    <a:lstStyle/>
                    <a:p>
                      <a:pPr algn="l"/>
                      <a:r>
                        <a:rPr sz="1300" b="0">
                          <a:solidFill>
                            <a:srgbClr val="FFFFFF"/>
                          </a:solidFill>
                          <a:latin typeface="DM Sans"/>
                        </a:rPr>
                        <a:t>Longer wait time between weighings</a:t>
                      </a:r>
                    </a:p>
                  </a:txBody>
                  <a:tcPr marL="91440" marR="91440" marT="36576" marB="36576" anchor="ctr">
                    <a:lnL w="0">
                      <a:noFill/>
                    </a:lnL>
                    <a:lnR w="0">
                      <a:noFill/>
                    </a:lnR>
                    <a:lnT w="0">
                      <a:noFill/>
                    </a:lnT>
                    <a:lnB w="6350">
                      <a:solidFill>
                        <a:srgbClr val="FFFFFF">
                          <a:alpha val="14000"/>
                        </a:srgbClr>
                      </a:solidFill>
                    </a:lnB>
                    <a:noFill/>
                  </a:tcPr>
                </a:tc>
                <a:tc>
                  <a:txBody>
                    <a:bodyPr wrap="square"/>
                    <a:lstStyle/>
                    <a:p>
                      <a:pPr algn="l"/>
                      <a:r>
                        <a:rPr sz="1300" b="0">
                          <a:solidFill>
                            <a:srgbClr val="B8C4D9"/>
                          </a:solidFill>
                          <a:latin typeface="DM Sans"/>
                        </a:rPr>
                        <a:t>Only used in two factories, cannot be measured</a:t>
                      </a:r>
                    </a:p>
                  </a:txBody>
                  <a:tcPr marL="91440" marR="91440" marT="36576" marB="36576" anchor="ctr">
                    <a:lnL w="0">
                      <a:noFill/>
                    </a:lnL>
                    <a:lnR w="0">
                      <a:noFill/>
                    </a:lnR>
                    <a:lnT w="0">
                      <a:noFill/>
                    </a:lnT>
                    <a:lnB w="6350">
                      <a:solidFill>
                        <a:srgbClr val="FFFFFF">
                          <a:alpha val="14000"/>
                        </a:srgbClr>
                      </a:solidFill>
                    </a:lnB>
                    <a:noFill/>
                  </a:tcPr>
                </a:tc>
                <a:tc>
                  <a:txBody>
                    <a:bodyPr wrap="square"/>
                    <a:lstStyle/>
                    <a:p>
                      <a:pPr algn="l"/>
                      <a:r>
                        <a:rPr sz="1300" b="0">
                          <a:solidFill>
                            <a:srgbClr val="FF8FA3"/>
                          </a:solidFill>
                          <a:latin typeface="DM Sans"/>
                        </a:rPr>
                        <a:t>open</a:t>
                      </a:r>
                    </a:p>
                  </a:txBody>
                  <a:tcPr marL="91440" marR="91440" marT="36576" marB="36576" anchor="ctr">
                    <a:lnL w="0">
                      <a:noFill/>
                    </a:lnL>
                    <a:lnR w="0">
                      <a:noFill/>
                    </a:lnR>
                    <a:lnT w="0">
                      <a:noFill/>
                    </a:lnT>
                    <a:lnB w="6350">
                      <a:solidFill>
                        <a:srgbClr val="FFFFFF">
                          <a:alpha val="14000"/>
                        </a:srgbClr>
                      </a:solidFill>
                    </a:lnB>
                    <a:noFill/>
                  </a:tcPr>
                </a:tc>
              </a:tr>
              <a:tr h="475488">
                <a:tc>
                  <a:txBody>
                    <a:bodyPr wrap="square"/>
                    <a:lstStyle/>
                    <a:p>
                      <a:pPr algn="l"/>
                      <a:r>
                        <a:rPr sz="1300" b="0">
                          <a:solidFill>
                            <a:srgbClr val="FFFFFF"/>
                          </a:solidFill>
                          <a:latin typeface="DM Sans"/>
                        </a:rPr>
                        <a:t>Bundle wake-ups into one weighing</a:t>
                      </a:r>
                    </a:p>
                  </a:txBody>
                  <a:tcPr marL="91440" marR="91440" marT="36576" marB="36576" anchor="ctr">
                    <a:lnL w="0">
                      <a:noFill/>
                    </a:lnL>
                    <a:lnR w="0">
                      <a:noFill/>
                    </a:lnR>
                    <a:lnT w="0">
                      <a:noFill/>
                    </a:lnT>
                    <a:lnB w="6350">
                      <a:solidFill>
                        <a:srgbClr val="FFFFFF">
                          <a:alpha val="14000"/>
                        </a:srgbClr>
                      </a:solidFill>
                    </a:lnB>
                    <a:noFill/>
                  </a:tcPr>
                </a:tc>
                <a:tc>
                  <a:txBody>
                    <a:bodyPr wrap="square"/>
                    <a:lstStyle/>
                    <a:p>
                      <a:pPr algn="l"/>
                      <a:r>
                        <a:rPr sz="1300" b="0">
                          <a:solidFill>
                            <a:srgbClr val="B8C4D9"/>
                          </a:solidFill>
                          <a:latin typeface="DM Sans"/>
                        </a:rPr>
                        <a:t>Saves a few % more, needs a firmware change</a:t>
                      </a:r>
                    </a:p>
                  </a:txBody>
                  <a:tcPr marL="91440" marR="91440" marT="36576" marB="36576" anchor="ctr">
                    <a:lnL w="0">
                      <a:noFill/>
                    </a:lnL>
                    <a:lnR w="0">
                      <a:noFill/>
                    </a:lnR>
                    <a:lnT w="0">
                      <a:noFill/>
                    </a:lnT>
                    <a:lnB w="6350">
                      <a:solidFill>
                        <a:srgbClr val="FFFFFF">
                          <a:alpha val="14000"/>
                        </a:srgbClr>
                      </a:solidFill>
                    </a:lnB>
                    <a:noFill/>
                  </a:tcPr>
                </a:tc>
                <a:tc>
                  <a:txBody>
                    <a:bodyPr wrap="square"/>
                    <a:lstStyle/>
                    <a:p>
                      <a:pPr algn="l"/>
                      <a:r>
                        <a:rPr sz="1300" b="0">
                          <a:solidFill>
                            <a:srgbClr val="FF8FA3"/>
                          </a:solidFill>
                          <a:latin typeface="DM Sans"/>
                        </a:rPr>
                        <a:t>maybe later</a:t>
                      </a:r>
                    </a:p>
                  </a:txBody>
                  <a:tcPr marL="91440" marR="91440" marT="36576" marB="36576" anchor="ctr">
                    <a:lnL w="0">
                      <a:noFill/>
                    </a:lnL>
                    <a:lnR w="0">
                      <a:noFill/>
                    </a:lnR>
                    <a:lnT w="0">
                      <a:noFill/>
                    </a:lnT>
                    <a:lnB w="6350">
                      <a:solidFill>
                        <a:srgbClr val="FFFFFF">
                          <a:alpha val="14000"/>
                        </a:srgbClr>
                      </a:solidFill>
                    </a:lnB>
                    <a:noFill/>
                  </a:tcPr>
                </a:tc>
              </a:tr>
            </a:tbl>
          </a:graphicData>
        </a:graphic>
      </p:graphicFrame>
      <p:sp>
        <p:nvSpPr>
          <p:cNvPr id="6" name="TextBox 5"/>
          <p:cNvSpPr txBox="1"/>
          <p:nvPr/>
        </p:nvSpPr>
        <p:spPr>
          <a:xfrm>
            <a:off x="813816" y="6419088"/>
            <a:ext cx="9875520" cy="228600"/>
          </a:xfrm>
          <a:prstGeom prst="rect">
            <a:avLst/>
          </a:prstGeom>
          <a:noFill/>
        </p:spPr>
        <p:txBody>
          <a:bodyPr wrap="square" lIns="0" rIns="0" tIns="0" bIns="0" anchor="t">
            <a:spAutoFit/>
          </a:bodyPr>
          <a:lstStyle/>
          <a:p>
            <a:pPr algn="l">
              <a:lnSpc>
                <a:spcPct val="100000"/>
              </a:lnSpc>
            </a:pPr>
            <a:r>
              <a:rPr sz="900" b="0">
                <a:solidFill>
                  <a:srgbClr val="8D99B0"/>
                </a:solidFill>
                <a:latin typeface="DM Sans"/>
              </a:rPr>
              <a:t>Source: own analysis of the Bossard SmartBin data, 1 Mar to 20 Jun 2022 · Report §6.3, §6.5</a:t>
            </a:r>
          </a:p>
        </p:txBody>
      </p:sp>
      <p:sp>
        <p:nvSpPr>
          <p:cNvPr id="7" name="TextBox 6"/>
          <p:cNvSpPr txBox="1"/>
          <p:nvPr/>
        </p:nvSpPr>
        <p:spPr>
          <a:xfrm>
            <a:off x="10927080" y="6419088"/>
            <a:ext cx="457200" cy="228600"/>
          </a:xfrm>
          <a:prstGeom prst="rect">
            <a:avLst/>
          </a:prstGeom>
          <a:noFill/>
        </p:spPr>
        <p:txBody>
          <a:bodyPr wrap="square" lIns="0" rIns="0" tIns="0" bIns="0" anchor="t">
            <a:spAutoFit/>
          </a:bodyPr>
          <a:lstStyle/>
          <a:p>
            <a:pPr algn="r">
              <a:lnSpc>
                <a:spcPct val="112000"/>
              </a:lnSpc>
            </a:pPr>
            <a:r>
              <a:rPr sz="900" b="0">
                <a:solidFill>
                  <a:srgbClr val="8D99B0"/>
                </a:solidFill>
                <a:latin typeface="DM Sans"/>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A1020"/>
        </a:solidFill>
        <a:effectLst/>
      </p:bgPr>
    </p:bg>
    <p:spTree>
      <p:nvGrpSpPr>
        <p:cNvPr id="1" name=""/>
        <p:cNvGrpSpPr/>
        <p:nvPr/>
      </p:nvGrpSpPr>
      <p:grpSpPr/>
      <p:sp>
        <p:nvSpPr>
          <p:cNvPr id="2" name="Rectangle 1"/>
          <p:cNvSpPr/>
          <p:nvPr/>
        </p:nvSpPr>
        <p:spPr>
          <a:xfrm>
            <a:off x="6986016" y="0"/>
            <a:ext cx="5202936" cy="4059936"/>
          </a:xfrm>
          <a:prstGeom prst="rect">
            <a:avLst/>
          </a:prstGeom>
          <a:gradFill rotWithShape="1">
            <a:gsLst>
              <a:gs pos="0">
                <a:srgbClr val="8EA2FF">
                  <a:alpha val="18000"/>
                </a:srgbClr>
              </a:gs>
              <a:gs pos="65000">
                <a:srgbClr val="8EA2FF">
                  <a:alpha val="0"/>
                </a:srgbClr>
              </a:gs>
            </a:gsLst>
            <a:path path="circle">
              <a:fillToRect l="70000" t="25000" r="30000" b="75000"/>
            </a:path>
          </a:gradFill>
          <a:ln>
            <a:noFill/>
          </a:ln>
        </p:spPr>
        <p:txBody>
          <a:bodyPr rtlCol="0" anchor="ctr"/>
          <a:lstStyle/>
          <a:p>
            <a:pPr algn="ctr"/>
          </a:p>
        </p:txBody>
      </p:sp>
      <p:sp>
        <p:nvSpPr>
          <p:cNvPr id="3" name="TextBox 2"/>
          <p:cNvSpPr txBox="1"/>
          <p:nvPr/>
        </p:nvSpPr>
        <p:spPr>
          <a:xfrm>
            <a:off x="813816" y="502920"/>
            <a:ext cx="10570464" cy="228600"/>
          </a:xfrm>
          <a:prstGeom prst="rect">
            <a:avLst/>
          </a:prstGeom>
          <a:noFill/>
        </p:spPr>
        <p:txBody>
          <a:bodyPr wrap="square" lIns="0" rIns="0" tIns="0" bIns="0" anchor="t">
            <a:spAutoFit/>
          </a:bodyPr>
          <a:lstStyle/>
          <a:p>
            <a:pPr algn="l">
              <a:lnSpc>
                <a:spcPct val="112000"/>
              </a:lnSpc>
            </a:pPr>
            <a:r>
              <a:rPr sz="1100" b="1" spc="150">
                <a:solidFill>
                  <a:srgbClr val="5EEAD4"/>
                </a:solidFill>
                <a:latin typeface="DM Sans"/>
              </a:rPr>
              <a:t>BACKUP · ROBUSTNESS</a:t>
            </a:r>
          </a:p>
        </p:txBody>
      </p:sp>
      <p:sp>
        <p:nvSpPr>
          <p:cNvPr id="4" name="TextBox 3"/>
          <p:cNvSpPr txBox="1"/>
          <p:nvPr/>
        </p:nvSpPr>
        <p:spPr>
          <a:xfrm>
            <a:off x="813816" y="777240"/>
            <a:ext cx="10570464" cy="408939"/>
          </a:xfrm>
          <a:prstGeom prst="rect">
            <a:avLst/>
          </a:prstGeom>
          <a:noFill/>
        </p:spPr>
        <p:txBody>
          <a:bodyPr wrap="square" lIns="0" rIns="0" tIns="0" bIns="0" anchor="t">
            <a:spAutoFit/>
          </a:bodyPr>
          <a:lstStyle/>
          <a:p>
            <a:pPr algn="l">
              <a:lnSpc>
                <a:spcPct val="100000"/>
              </a:lnSpc>
            </a:pPr>
            <a:r>
              <a:rPr sz="2800" b="1">
                <a:solidFill>
                  <a:srgbClr val="FFFFFF"/>
                </a:solidFill>
                <a:latin typeface="Space Grotesk"/>
              </a:rPr>
              <a:t>Without the looping scales, every key result holds</a:t>
            </a:r>
          </a:p>
        </p:txBody>
      </p:sp>
      <p:graphicFrame>
        <p:nvGraphicFramePr>
          <p:cNvPr id="5" name="Table 4"/>
          <p:cNvGraphicFramePr>
            <a:graphicFrameLocks noGrp="1"/>
          </p:cNvGraphicFramePr>
          <p:nvPr/>
        </p:nvGraphicFramePr>
        <p:xfrm>
          <a:off x="813816" y="1506220"/>
          <a:ext cx="10570463" cy="3017520"/>
        </p:xfrm>
        <a:graphic>
          <a:graphicData uri="http://schemas.openxmlformats.org/drawingml/2006/table">
            <a:tbl>
              <a:tblPr firstRow="0" bandRow="0"/>
              <a:tblGrid>
                <a:gridCol w="5467481"/>
                <a:gridCol w="2551491"/>
                <a:gridCol w="2551491"/>
              </a:tblGrid>
              <a:tr h="502920">
                <a:tc>
                  <a:txBody>
                    <a:bodyPr wrap="square"/>
                    <a:lstStyle/>
                    <a:p>
                      <a:pPr algn="l"/>
                      <a:r>
                        <a:rPr sz="1300" b="1">
                          <a:solidFill>
                            <a:srgbClr val="5EEAD4"/>
                          </a:solidFill>
                          <a:latin typeface="Space Grotesk"/>
                        </a:rPr>
                        <a:t>Result</a:t>
                      </a:r>
                    </a:p>
                  </a:txBody>
                  <a:tcPr marL="91440" marR="91440" marT="36576" marB="36576" anchor="ctr">
                    <a:lnL w="0">
                      <a:noFill/>
                    </a:lnL>
                    <a:lnR w="0">
                      <a:noFill/>
                    </a:lnR>
                    <a:lnT w="0">
                      <a:noFill/>
                    </a:lnT>
                    <a:lnB w="6350">
                      <a:solidFill>
                        <a:srgbClr val="FFFFFF">
                          <a:alpha val="40000"/>
                        </a:srgbClr>
                      </a:solidFill>
                    </a:lnB>
                    <a:noFill/>
                  </a:tcPr>
                </a:tc>
                <a:tc>
                  <a:txBody>
                    <a:bodyPr wrap="square"/>
                    <a:lstStyle/>
                    <a:p>
                      <a:pPr algn="r"/>
                      <a:r>
                        <a:rPr sz="1300" b="1">
                          <a:solidFill>
                            <a:srgbClr val="5EEAD4"/>
                          </a:solidFill>
                          <a:latin typeface="Space Grotesk"/>
                        </a:rPr>
                        <a:t>All scales</a:t>
                      </a:r>
                    </a:p>
                  </a:txBody>
                  <a:tcPr marL="91440" marR="91440" marT="36576" marB="36576" anchor="ctr">
                    <a:lnL w="0">
                      <a:noFill/>
                    </a:lnL>
                    <a:lnR w="0">
                      <a:noFill/>
                    </a:lnR>
                    <a:lnT w="0">
                      <a:noFill/>
                    </a:lnT>
                    <a:lnB w="6350">
                      <a:solidFill>
                        <a:srgbClr val="FFFFFF">
                          <a:alpha val="40000"/>
                        </a:srgbClr>
                      </a:solidFill>
                    </a:lnB>
                    <a:noFill/>
                  </a:tcPr>
                </a:tc>
                <a:tc>
                  <a:txBody>
                    <a:bodyPr wrap="square"/>
                    <a:lstStyle/>
                    <a:p>
                      <a:pPr algn="r"/>
                      <a:r>
                        <a:rPr sz="1300" b="1">
                          <a:solidFill>
                            <a:srgbClr val="5EEAD4"/>
                          </a:solidFill>
                          <a:latin typeface="Space Grotesk"/>
                        </a:rPr>
                        <a:t>Without looping scales</a:t>
                      </a:r>
                    </a:p>
                  </a:txBody>
                  <a:tcPr marL="91440" marR="91440" marT="36576" marB="36576" anchor="ctr">
                    <a:lnL w="0">
                      <a:noFill/>
                    </a:lnL>
                    <a:lnR w="0">
                      <a:noFill/>
                    </a:lnR>
                    <a:lnT w="0">
                      <a:noFill/>
                    </a:lnT>
                    <a:lnB w="6350">
                      <a:solidFill>
                        <a:srgbClr val="FFFFFF">
                          <a:alpha val="40000"/>
                        </a:srgbClr>
                      </a:solidFill>
                    </a:lnB>
                    <a:noFill/>
                  </a:tcPr>
                </a:tc>
              </a:tr>
              <a:tr h="502920">
                <a:tc>
                  <a:txBody>
                    <a:bodyPr wrap="square"/>
                    <a:lstStyle/>
                    <a:p>
                      <a:pPr algn="l"/>
                      <a:r>
                        <a:rPr sz="1300" b="0">
                          <a:solidFill>
                            <a:srgbClr val="B8C4D9"/>
                          </a:solidFill>
                          <a:latin typeface="DM Sans"/>
                        </a:rPr>
                        <a:t>Empty wake-ups per week, typical scale (20 kg / 6 kg)</a:t>
                      </a:r>
                    </a:p>
                  </a:txBody>
                  <a:tcPr marL="91440" marR="91440" marT="36576" marB="36576" anchor="ctr">
                    <a:lnL w="0">
                      <a:noFill/>
                    </a:lnL>
                    <a:lnR w="0">
                      <a:noFill/>
                    </a:lnR>
                    <a:lnT w="0">
                      <a:noFill/>
                    </a:lnT>
                    <a:lnB w="6350">
                      <a:solidFill>
                        <a:srgbClr val="FFFFFF">
                          <a:alpha val="14000"/>
                        </a:srgbClr>
                      </a:solidFill>
                    </a:lnB>
                    <a:noFill/>
                  </a:tcPr>
                </a:tc>
                <a:tc>
                  <a:txBody>
                    <a:bodyPr wrap="square"/>
                    <a:lstStyle/>
                    <a:p>
                      <a:pPr algn="r"/>
                      <a:r>
                        <a:rPr sz="1300" b="0">
                          <a:solidFill>
                            <a:srgbClr val="B8C4D9"/>
                          </a:solidFill>
                          <a:latin typeface="DM Sans"/>
                        </a:rPr>
                        <a:t>13.5 / 8.5</a:t>
                      </a:r>
                    </a:p>
                  </a:txBody>
                  <a:tcPr marL="91440" marR="91440" marT="36576" marB="36576" anchor="ctr">
                    <a:lnL w="0">
                      <a:noFill/>
                    </a:lnL>
                    <a:lnR w="0">
                      <a:noFill/>
                    </a:lnR>
                    <a:lnT w="0">
                      <a:noFill/>
                    </a:lnT>
                    <a:lnB w="6350">
                      <a:solidFill>
                        <a:srgbClr val="FFFFFF">
                          <a:alpha val="14000"/>
                        </a:srgbClr>
                      </a:solidFill>
                    </a:lnB>
                    <a:noFill/>
                  </a:tcPr>
                </a:tc>
                <a:tc>
                  <a:txBody>
                    <a:bodyPr wrap="square"/>
                    <a:lstStyle/>
                    <a:p>
                      <a:pPr algn="r"/>
                      <a:r>
                        <a:rPr sz="1300" b="0">
                          <a:solidFill>
                            <a:srgbClr val="B8C4D9"/>
                          </a:solidFill>
                          <a:latin typeface="DM Sans"/>
                        </a:rPr>
                        <a:t>13.5 / 8.4</a:t>
                      </a:r>
                    </a:p>
                  </a:txBody>
                  <a:tcPr marL="91440" marR="91440" marT="36576" marB="36576" anchor="ctr">
                    <a:lnL w="0">
                      <a:noFill/>
                    </a:lnL>
                    <a:lnR w="0">
                      <a:noFill/>
                    </a:lnR>
                    <a:lnT w="0">
                      <a:noFill/>
                    </a:lnT>
                    <a:lnB w="6350">
                      <a:solidFill>
                        <a:srgbClr val="FFFFFF">
                          <a:alpha val="14000"/>
                        </a:srgbClr>
                      </a:solidFill>
                    </a:lnB>
                    <a:noFill/>
                  </a:tcPr>
                </a:tc>
              </a:tr>
              <a:tr h="502920">
                <a:tc>
                  <a:txBody>
                    <a:bodyPr wrap="square"/>
                    <a:lstStyle/>
                    <a:p>
                      <a:pPr algn="l"/>
                      <a:r>
                        <a:rPr sz="1300" b="0">
                          <a:solidFill>
                            <a:srgbClr val="B8C4D9"/>
                          </a:solidFill>
                          <a:latin typeface="DM Sans"/>
                        </a:rPr>
                        <a:t>Empty wake-ups linked to picks nearby</a:t>
                      </a:r>
                    </a:p>
                  </a:txBody>
                  <a:tcPr marL="91440" marR="91440" marT="36576" marB="36576" anchor="ctr">
                    <a:lnL w="0">
                      <a:noFill/>
                    </a:lnL>
                    <a:lnR w="0">
                      <a:noFill/>
                    </a:lnR>
                    <a:lnT w="0">
                      <a:noFill/>
                    </a:lnT>
                    <a:lnB w="6350">
                      <a:solidFill>
                        <a:srgbClr val="FFFFFF">
                          <a:alpha val="14000"/>
                        </a:srgbClr>
                      </a:solidFill>
                    </a:lnB>
                    <a:solidFill>
                      <a:srgbClr val="5EEAD4">
                        <a:alpha val="10000"/>
                      </a:srgbClr>
                    </a:solidFill>
                  </a:tcPr>
                </a:tc>
                <a:tc>
                  <a:txBody>
                    <a:bodyPr wrap="square"/>
                    <a:lstStyle/>
                    <a:p>
                      <a:pPr algn="r"/>
                      <a:r>
                        <a:rPr sz="1300" b="0">
                          <a:solidFill>
                            <a:srgbClr val="B8C4D9"/>
                          </a:solidFill>
                          <a:latin typeface="DM Sans"/>
                        </a:rPr>
                        <a:t>45%</a:t>
                      </a:r>
                    </a:p>
                  </a:txBody>
                  <a:tcPr marL="91440" marR="91440" marT="36576" marB="36576" anchor="ctr">
                    <a:lnL w="0">
                      <a:noFill/>
                    </a:lnL>
                    <a:lnR w="0">
                      <a:noFill/>
                    </a:lnR>
                    <a:lnT w="0">
                      <a:noFill/>
                    </a:lnT>
                    <a:lnB w="6350">
                      <a:solidFill>
                        <a:srgbClr val="FFFFFF">
                          <a:alpha val="14000"/>
                        </a:srgbClr>
                      </a:solidFill>
                    </a:lnB>
                    <a:solidFill>
                      <a:srgbClr val="5EEAD4">
                        <a:alpha val="10000"/>
                      </a:srgbClr>
                    </a:solidFill>
                  </a:tcPr>
                </a:tc>
                <a:tc>
                  <a:txBody>
                    <a:bodyPr wrap="square"/>
                    <a:lstStyle/>
                    <a:p>
                      <a:pPr algn="r"/>
                      <a:r>
                        <a:rPr sz="1300" b="1">
                          <a:solidFill>
                            <a:srgbClr val="FFFFFF"/>
                          </a:solidFill>
                          <a:latin typeface="DM Sans"/>
                        </a:rPr>
                        <a:t>55%</a:t>
                      </a:r>
                    </a:p>
                  </a:txBody>
                  <a:tcPr marL="91440" marR="91440" marT="36576" marB="36576" anchor="ctr">
                    <a:lnL w="0">
                      <a:noFill/>
                    </a:lnL>
                    <a:lnR w="0">
                      <a:noFill/>
                    </a:lnR>
                    <a:lnT w="0">
                      <a:noFill/>
                    </a:lnT>
                    <a:lnB w="6350">
                      <a:solidFill>
                        <a:srgbClr val="FFFFFF">
                          <a:alpha val="14000"/>
                        </a:srgbClr>
                      </a:solidFill>
                    </a:lnB>
                    <a:solidFill>
                      <a:srgbClr val="5EEAD4">
                        <a:alpha val="10000"/>
                      </a:srgbClr>
                    </a:solidFill>
                  </a:tcPr>
                </a:tc>
              </a:tr>
              <a:tr h="502920">
                <a:tc>
                  <a:txBody>
                    <a:bodyPr wrap="square"/>
                    <a:lstStyle/>
                    <a:p>
                      <a:pPr algn="l"/>
                      <a:r>
                        <a:rPr sz="1300" b="0">
                          <a:solidFill>
                            <a:srgbClr val="B8C4D9"/>
                          </a:solidFill>
                          <a:latin typeface="DM Sans"/>
                        </a:rPr>
                        <a:t>Setting 8 → 7: fewer empty wake-ups</a:t>
                      </a:r>
                    </a:p>
                  </a:txBody>
                  <a:tcPr marL="91440" marR="91440" marT="36576" marB="36576" anchor="ctr">
                    <a:lnL w="0">
                      <a:noFill/>
                    </a:lnL>
                    <a:lnR w="0">
                      <a:noFill/>
                    </a:lnR>
                    <a:lnT w="0">
                      <a:noFill/>
                    </a:lnT>
                    <a:lnB w="6350">
                      <a:solidFill>
                        <a:srgbClr val="FFFFFF">
                          <a:alpha val="14000"/>
                        </a:srgbClr>
                      </a:solidFill>
                    </a:lnB>
                    <a:noFill/>
                  </a:tcPr>
                </a:tc>
                <a:tc>
                  <a:txBody>
                    <a:bodyPr wrap="square"/>
                    <a:lstStyle/>
                    <a:p>
                      <a:pPr algn="r"/>
                      <a:r>
                        <a:rPr sz="1300" b="0">
                          <a:solidFill>
                            <a:srgbClr val="B8C4D9"/>
                          </a:solidFill>
                          <a:latin typeface="DM Sans"/>
                        </a:rPr>
                        <a:t>59% / 68%</a:t>
                      </a:r>
                    </a:p>
                  </a:txBody>
                  <a:tcPr marL="91440" marR="91440" marT="36576" marB="36576" anchor="ctr">
                    <a:lnL w="0">
                      <a:noFill/>
                    </a:lnL>
                    <a:lnR w="0">
                      <a:noFill/>
                    </a:lnR>
                    <a:lnT w="0">
                      <a:noFill/>
                    </a:lnT>
                    <a:lnB w="6350">
                      <a:solidFill>
                        <a:srgbClr val="FFFFFF">
                          <a:alpha val="14000"/>
                        </a:srgbClr>
                      </a:solidFill>
                    </a:lnB>
                    <a:noFill/>
                  </a:tcPr>
                </a:tc>
                <a:tc>
                  <a:txBody>
                    <a:bodyPr wrap="square"/>
                    <a:lstStyle/>
                    <a:p>
                      <a:pPr algn="r"/>
                      <a:r>
                        <a:rPr sz="1300" b="0">
                          <a:solidFill>
                            <a:srgbClr val="B8C4D9"/>
                          </a:solidFill>
                          <a:latin typeface="DM Sans"/>
                        </a:rPr>
                        <a:t>52% / 59%</a:t>
                      </a:r>
                    </a:p>
                  </a:txBody>
                  <a:tcPr marL="91440" marR="91440" marT="36576" marB="36576" anchor="ctr">
                    <a:lnL w="0">
                      <a:noFill/>
                    </a:lnL>
                    <a:lnR w="0">
                      <a:noFill/>
                    </a:lnR>
                    <a:lnT w="0">
                      <a:noFill/>
                    </a:lnT>
                    <a:lnB w="6350">
                      <a:solidFill>
                        <a:srgbClr val="FFFFFF">
                          <a:alpha val="14000"/>
                        </a:srgbClr>
                      </a:solidFill>
                    </a:lnB>
                    <a:noFill/>
                  </a:tcPr>
                </a:tc>
              </a:tr>
              <a:tr h="502920">
                <a:tc>
                  <a:txBody>
                    <a:bodyPr wrap="square"/>
                    <a:lstStyle/>
                    <a:p>
                      <a:pPr algn="l"/>
                      <a:r>
                        <a:rPr sz="1300" b="0">
                          <a:solidFill>
                            <a:srgbClr val="B8C4D9"/>
                          </a:solidFill>
                          <a:latin typeface="DM Sans"/>
                        </a:rPr>
                        <a:t>Our rule: fewer weighings</a:t>
                      </a:r>
                    </a:p>
                  </a:txBody>
                  <a:tcPr marL="91440" marR="91440" marT="36576" marB="36576" anchor="ctr">
                    <a:lnL w="0">
                      <a:noFill/>
                    </a:lnL>
                    <a:lnR w="0">
                      <a:noFill/>
                    </a:lnR>
                    <a:lnT w="0">
                      <a:noFill/>
                    </a:lnT>
                    <a:lnB w="6350">
                      <a:solidFill>
                        <a:srgbClr val="FFFFFF">
                          <a:alpha val="14000"/>
                        </a:srgbClr>
                      </a:solidFill>
                    </a:lnB>
                    <a:noFill/>
                  </a:tcPr>
                </a:tc>
                <a:tc>
                  <a:txBody>
                    <a:bodyPr wrap="square"/>
                    <a:lstStyle/>
                    <a:p>
                      <a:pPr algn="r"/>
                      <a:r>
                        <a:rPr sz="1300" b="0">
                          <a:solidFill>
                            <a:srgbClr val="B8C4D9"/>
                          </a:solidFill>
                          <a:latin typeface="DM Sans"/>
                        </a:rPr>
                        <a:t>−61% / −55%</a:t>
                      </a:r>
                    </a:p>
                  </a:txBody>
                  <a:tcPr marL="91440" marR="91440" marT="36576" marB="36576" anchor="ctr">
                    <a:lnL w="0">
                      <a:noFill/>
                    </a:lnL>
                    <a:lnR w="0">
                      <a:noFill/>
                    </a:lnR>
                    <a:lnT w="0">
                      <a:noFill/>
                    </a:lnT>
                    <a:lnB w="6350">
                      <a:solidFill>
                        <a:srgbClr val="FFFFFF">
                          <a:alpha val="14000"/>
                        </a:srgbClr>
                      </a:solidFill>
                    </a:lnB>
                    <a:noFill/>
                  </a:tcPr>
                </a:tc>
                <a:tc>
                  <a:txBody>
                    <a:bodyPr wrap="square"/>
                    <a:lstStyle/>
                    <a:p>
                      <a:pPr algn="r"/>
                      <a:r>
                        <a:rPr sz="1300" b="0">
                          <a:solidFill>
                            <a:srgbClr val="B8C4D9"/>
                          </a:solidFill>
                          <a:latin typeface="DM Sans"/>
                        </a:rPr>
                        <a:t>−61% / −55%</a:t>
                      </a:r>
                    </a:p>
                  </a:txBody>
                  <a:tcPr marL="91440" marR="91440" marT="36576" marB="36576" anchor="ctr">
                    <a:lnL w="0">
                      <a:noFill/>
                    </a:lnL>
                    <a:lnR w="0">
                      <a:noFill/>
                    </a:lnR>
                    <a:lnT w="0">
                      <a:noFill/>
                    </a:lnT>
                    <a:lnB w="6350">
                      <a:solidFill>
                        <a:srgbClr val="FFFFFF">
                          <a:alpha val="14000"/>
                        </a:srgbClr>
                      </a:solidFill>
                    </a:lnB>
                    <a:noFill/>
                  </a:tcPr>
                </a:tc>
              </a:tr>
              <a:tr h="502920">
                <a:tc>
                  <a:txBody>
                    <a:bodyPr wrap="square"/>
                    <a:lstStyle/>
                    <a:p>
                      <a:pPr algn="l"/>
                      <a:r>
                        <a:rPr sz="1300" b="0">
                          <a:solidFill>
                            <a:srgbClr val="B8C4D9"/>
                          </a:solidFill>
                          <a:latin typeface="DM Sans"/>
                        </a:rPr>
                        <a:t>Our rule: picks missed, typical scale</a:t>
                      </a:r>
                    </a:p>
                  </a:txBody>
                  <a:tcPr marL="91440" marR="91440" marT="36576" marB="36576" anchor="ctr">
                    <a:lnL w="0">
                      <a:noFill/>
                    </a:lnL>
                    <a:lnR w="0">
                      <a:noFill/>
                    </a:lnR>
                    <a:lnT w="0">
                      <a:noFill/>
                    </a:lnT>
                    <a:lnB w="6350">
                      <a:solidFill>
                        <a:srgbClr val="FFFFFF">
                          <a:alpha val="14000"/>
                        </a:srgbClr>
                      </a:solidFill>
                    </a:lnB>
                    <a:noFill/>
                  </a:tcPr>
                </a:tc>
                <a:tc>
                  <a:txBody>
                    <a:bodyPr wrap="square"/>
                    <a:lstStyle/>
                    <a:p>
                      <a:pPr algn="r"/>
                      <a:r>
                        <a:rPr sz="1300" b="0">
                          <a:solidFill>
                            <a:srgbClr val="B8C4D9"/>
                          </a:solidFill>
                          <a:latin typeface="DM Sans"/>
                        </a:rPr>
                        <a:t>11% / 12%</a:t>
                      </a:r>
                    </a:p>
                  </a:txBody>
                  <a:tcPr marL="91440" marR="91440" marT="36576" marB="36576" anchor="ctr">
                    <a:lnL w="0">
                      <a:noFill/>
                    </a:lnL>
                    <a:lnR w="0">
                      <a:noFill/>
                    </a:lnR>
                    <a:lnT w="0">
                      <a:noFill/>
                    </a:lnT>
                    <a:lnB w="6350">
                      <a:solidFill>
                        <a:srgbClr val="FFFFFF">
                          <a:alpha val="14000"/>
                        </a:srgbClr>
                      </a:solidFill>
                    </a:lnB>
                    <a:noFill/>
                  </a:tcPr>
                </a:tc>
                <a:tc>
                  <a:txBody>
                    <a:bodyPr wrap="square"/>
                    <a:lstStyle/>
                    <a:p>
                      <a:pPr algn="r"/>
                      <a:r>
                        <a:rPr sz="1300" b="0">
                          <a:solidFill>
                            <a:srgbClr val="B8C4D9"/>
                          </a:solidFill>
                          <a:latin typeface="DM Sans"/>
                        </a:rPr>
                        <a:t>11% / 11%</a:t>
                      </a:r>
                    </a:p>
                  </a:txBody>
                  <a:tcPr marL="91440" marR="91440" marT="36576" marB="36576" anchor="ctr">
                    <a:lnL w="0">
                      <a:noFill/>
                    </a:lnL>
                    <a:lnR w="0">
                      <a:noFill/>
                    </a:lnR>
                    <a:lnT w="0">
                      <a:noFill/>
                    </a:lnT>
                    <a:lnB w="6350">
                      <a:solidFill>
                        <a:srgbClr val="FFFFFF">
                          <a:alpha val="14000"/>
                        </a:srgbClr>
                      </a:solidFill>
                    </a:lnB>
                    <a:noFill/>
                  </a:tcPr>
                </a:tc>
              </a:tr>
            </a:tbl>
          </a:graphicData>
        </a:graphic>
      </p:graphicFrame>
      <p:sp>
        <p:nvSpPr>
          <p:cNvPr id="6" name="TextBox 5"/>
          <p:cNvSpPr txBox="1"/>
          <p:nvPr/>
        </p:nvSpPr>
        <p:spPr>
          <a:xfrm>
            <a:off x="813816" y="4798060"/>
            <a:ext cx="10570464" cy="731520"/>
          </a:xfrm>
          <a:prstGeom prst="rect">
            <a:avLst/>
          </a:prstGeom>
          <a:noFill/>
        </p:spPr>
        <p:txBody>
          <a:bodyPr wrap="square" lIns="0" rIns="0" tIns="0" bIns="0" anchor="t">
            <a:spAutoFit/>
          </a:bodyPr>
          <a:lstStyle/>
          <a:p>
            <a:pPr algn="l">
              <a:lnSpc>
                <a:spcPct val="112000"/>
              </a:lnSpc>
            </a:pPr>
            <a:r>
              <a:rPr sz="1250" b="0">
                <a:solidFill>
                  <a:srgbClr val="B8C4D9"/>
                </a:solidFill>
                <a:latin typeface="DM Sans"/>
              </a:rPr>
              <a:t>3 looping scales left their looping setting and later came back to it. 2 of them looped again. Setting 3 was never used again after the April trial.</a:t>
            </a:r>
          </a:p>
        </p:txBody>
      </p:sp>
      <p:sp>
        <p:nvSpPr>
          <p:cNvPr id="7" name="TextBox 6"/>
          <p:cNvSpPr txBox="1"/>
          <p:nvPr/>
        </p:nvSpPr>
        <p:spPr>
          <a:xfrm>
            <a:off x="813816" y="6419088"/>
            <a:ext cx="9875520" cy="228600"/>
          </a:xfrm>
          <a:prstGeom prst="rect">
            <a:avLst/>
          </a:prstGeom>
          <a:noFill/>
        </p:spPr>
        <p:txBody>
          <a:bodyPr wrap="square" lIns="0" rIns="0" tIns="0" bIns="0" anchor="t">
            <a:spAutoFit/>
          </a:bodyPr>
          <a:lstStyle/>
          <a:p>
            <a:pPr algn="l">
              <a:lnSpc>
                <a:spcPct val="100000"/>
              </a:lnSpc>
            </a:pPr>
            <a:r>
              <a:rPr sz="900" b="0">
                <a:solidFill>
                  <a:srgbClr val="8D99B0"/>
                </a:solidFill>
                <a:latin typeface="DM Sans"/>
              </a:rPr>
              <a:t>Source: own analysis of the Bossard SmartBin data, 1 Mar to 20 Jun 2022 · report/robustness_loops.py · Report Appendix C</a:t>
            </a:r>
          </a:p>
        </p:txBody>
      </p:sp>
      <p:sp>
        <p:nvSpPr>
          <p:cNvPr id="8" name="TextBox 7"/>
          <p:cNvSpPr txBox="1"/>
          <p:nvPr/>
        </p:nvSpPr>
        <p:spPr>
          <a:xfrm>
            <a:off x="10927080" y="6419088"/>
            <a:ext cx="457200" cy="228600"/>
          </a:xfrm>
          <a:prstGeom prst="rect">
            <a:avLst/>
          </a:prstGeom>
          <a:noFill/>
        </p:spPr>
        <p:txBody>
          <a:bodyPr wrap="square" lIns="0" rIns="0" tIns="0" bIns="0" anchor="t">
            <a:spAutoFit/>
          </a:bodyPr>
          <a:lstStyle/>
          <a:p>
            <a:pPr algn="r">
              <a:lnSpc>
                <a:spcPct val="112000"/>
              </a:lnSpc>
            </a:pPr>
            <a:r>
              <a:rPr sz="900" b="0">
                <a:solidFill>
                  <a:srgbClr val="8D99B0"/>
                </a:solidFill>
                <a:latin typeface="DM Sans"/>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E1628"/>
        </a:solidFill>
        <a:effectLst/>
      </p:bgPr>
    </p:bg>
    <p:spTree>
      <p:nvGrpSpPr>
        <p:cNvPr id="1" name=""/>
        <p:cNvGrpSpPr/>
        <p:nvPr/>
      </p:nvGrpSpPr>
      <p:grpSpPr/>
      <p:sp>
        <p:nvSpPr>
          <p:cNvPr id="2" name="Rectangle 1"/>
          <p:cNvSpPr/>
          <p:nvPr/>
        </p:nvSpPr>
        <p:spPr>
          <a:xfrm>
            <a:off x="6986016" y="0"/>
            <a:ext cx="5202936" cy="4059936"/>
          </a:xfrm>
          <a:prstGeom prst="rect">
            <a:avLst/>
          </a:prstGeom>
          <a:gradFill rotWithShape="1">
            <a:gsLst>
              <a:gs pos="0">
                <a:srgbClr val="8EA2FF">
                  <a:alpha val="18000"/>
                </a:srgbClr>
              </a:gs>
              <a:gs pos="65000">
                <a:srgbClr val="8EA2FF">
                  <a:alpha val="0"/>
                </a:srgbClr>
              </a:gs>
            </a:gsLst>
            <a:path path="circle">
              <a:fillToRect l="70000" t="25000" r="30000" b="75000"/>
            </a:path>
          </a:gradFill>
          <a:ln>
            <a:noFill/>
          </a:ln>
        </p:spPr>
        <p:txBody>
          <a:bodyPr rtlCol="0" anchor="ctr"/>
          <a:lstStyle/>
          <a:p>
            <a:pPr algn="ctr"/>
          </a:p>
        </p:txBody>
      </p:sp>
      <p:sp>
        <p:nvSpPr>
          <p:cNvPr id="3" name="TextBox 2"/>
          <p:cNvSpPr txBox="1"/>
          <p:nvPr/>
        </p:nvSpPr>
        <p:spPr>
          <a:xfrm>
            <a:off x="813816" y="502920"/>
            <a:ext cx="10570464" cy="228600"/>
          </a:xfrm>
          <a:prstGeom prst="rect">
            <a:avLst/>
          </a:prstGeom>
          <a:noFill/>
        </p:spPr>
        <p:txBody>
          <a:bodyPr wrap="square" lIns="0" rIns="0" tIns="0" bIns="0" anchor="t">
            <a:spAutoFit/>
          </a:bodyPr>
          <a:lstStyle/>
          <a:p>
            <a:pPr algn="l">
              <a:lnSpc>
                <a:spcPct val="112000"/>
              </a:lnSpc>
            </a:pPr>
            <a:r>
              <a:rPr sz="1100" b="1" spc="150">
                <a:solidFill>
                  <a:srgbClr val="5EEAD4"/>
                </a:solidFill>
                <a:latin typeface="DM Sans"/>
              </a:rPr>
              <a:t>BACKUP · BATTERY</a:t>
            </a:r>
          </a:p>
        </p:txBody>
      </p:sp>
      <p:sp>
        <p:nvSpPr>
          <p:cNvPr id="4" name="TextBox 3"/>
          <p:cNvSpPr txBox="1"/>
          <p:nvPr/>
        </p:nvSpPr>
        <p:spPr>
          <a:xfrm>
            <a:off x="813816" y="777240"/>
            <a:ext cx="10570464" cy="408939"/>
          </a:xfrm>
          <a:prstGeom prst="rect">
            <a:avLst/>
          </a:prstGeom>
          <a:noFill/>
        </p:spPr>
        <p:txBody>
          <a:bodyPr wrap="square" lIns="0" rIns="0" tIns="0" bIns="0" anchor="t">
            <a:spAutoFit/>
          </a:bodyPr>
          <a:lstStyle/>
          <a:p>
            <a:pPr algn="l">
              <a:lnSpc>
                <a:spcPct val="100000"/>
              </a:lnSpc>
            </a:pPr>
            <a:r>
              <a:rPr sz="2800" b="1">
                <a:solidFill>
                  <a:srgbClr val="FFFFFF"/>
                </a:solidFill>
                <a:latin typeface="Space Grotesk"/>
              </a:rPr>
              <a:t>Why the battery gains less than the network</a:t>
            </a:r>
          </a:p>
        </p:txBody>
      </p:sp>
      <p:sp>
        <p:nvSpPr>
          <p:cNvPr id="5" name="Oval 4"/>
          <p:cNvSpPr/>
          <p:nvPr/>
        </p:nvSpPr>
        <p:spPr>
          <a:xfrm>
            <a:off x="813816" y="1506220"/>
            <a:ext cx="329184" cy="329184"/>
          </a:xfrm>
          <a:prstGeom prst="ellipse">
            <a:avLst/>
          </a:prstGeom>
          <a:solidFill>
            <a:srgbClr val="5EEAD4"/>
          </a:solidFill>
          <a:ln>
            <a:noFill/>
          </a:ln>
        </p:spPr>
        <p:txBody>
          <a:bodyPr rtlCol="0" anchor="ctr" lIns="0" rIns="0" tIns="0" bIns="0"/>
          <a:lstStyle/>
          <a:p>
            <a:pPr algn="ctr"/>
            <a:r>
              <a:rPr sz="1300" b="1">
                <a:solidFill>
                  <a:srgbClr val="0A1020"/>
                </a:solidFill>
                <a:latin typeface="Space Grotesk"/>
              </a:rPr>
              <a:t>1</a:t>
            </a:r>
          </a:p>
        </p:txBody>
      </p:sp>
      <p:sp>
        <p:nvSpPr>
          <p:cNvPr id="6" name="TextBox 5"/>
          <p:cNvSpPr txBox="1"/>
          <p:nvPr/>
        </p:nvSpPr>
        <p:spPr>
          <a:xfrm>
            <a:off x="1316736" y="1524508"/>
            <a:ext cx="2103120" cy="365760"/>
          </a:xfrm>
          <a:prstGeom prst="rect">
            <a:avLst/>
          </a:prstGeom>
          <a:noFill/>
        </p:spPr>
        <p:txBody>
          <a:bodyPr wrap="square" lIns="0" rIns="0" tIns="0" bIns="0" anchor="t">
            <a:spAutoFit/>
          </a:bodyPr>
          <a:lstStyle/>
          <a:p>
            <a:pPr algn="l">
              <a:lnSpc>
                <a:spcPct val="112000"/>
              </a:lnSpc>
            </a:pPr>
            <a:r>
              <a:rPr sz="1400" b="1">
                <a:solidFill>
                  <a:srgbClr val="FFFFFF"/>
                </a:solidFill>
                <a:latin typeface="Space Grotesk"/>
              </a:rPr>
              <a:t>Sleeping</a:t>
            </a:r>
          </a:p>
        </p:txBody>
      </p:sp>
      <p:sp>
        <p:nvSpPr>
          <p:cNvPr id="7" name="TextBox 6"/>
          <p:cNvSpPr txBox="1"/>
          <p:nvPr/>
        </p:nvSpPr>
        <p:spPr>
          <a:xfrm>
            <a:off x="3465576" y="1542796"/>
            <a:ext cx="7863840" cy="457200"/>
          </a:xfrm>
          <a:prstGeom prst="rect">
            <a:avLst/>
          </a:prstGeom>
          <a:noFill/>
        </p:spPr>
        <p:txBody>
          <a:bodyPr wrap="square" lIns="0" rIns="0" tIns="0" bIns="0" anchor="t">
            <a:spAutoFit/>
          </a:bodyPr>
          <a:lstStyle/>
          <a:p>
            <a:pPr algn="l">
              <a:lnSpc>
                <a:spcPct val="112000"/>
              </a:lnSpc>
            </a:pPr>
            <a:r>
              <a:rPr sz="1300" b="0">
                <a:solidFill>
                  <a:srgbClr val="D7DEFF"/>
                </a:solidFill>
                <a:latin typeface="DM Sans"/>
              </a:rPr>
              <a:t>One day of sleep = 24 hours of sleep energy.</a:t>
            </a:r>
          </a:p>
        </p:txBody>
      </p:sp>
      <p:sp>
        <p:nvSpPr>
          <p:cNvPr id="8" name="Oval 7"/>
          <p:cNvSpPr/>
          <p:nvPr/>
        </p:nvSpPr>
        <p:spPr>
          <a:xfrm>
            <a:off x="813816" y="2073148"/>
            <a:ext cx="329184" cy="329184"/>
          </a:xfrm>
          <a:prstGeom prst="ellipse">
            <a:avLst/>
          </a:prstGeom>
          <a:solidFill>
            <a:srgbClr val="5EEAD4"/>
          </a:solidFill>
          <a:ln>
            <a:noFill/>
          </a:ln>
        </p:spPr>
        <p:txBody>
          <a:bodyPr rtlCol="0" anchor="ctr" lIns="0" rIns="0" tIns="0" bIns="0"/>
          <a:lstStyle/>
          <a:p>
            <a:pPr algn="ctr"/>
            <a:r>
              <a:rPr sz="1300" b="1">
                <a:solidFill>
                  <a:srgbClr val="0A1020"/>
                </a:solidFill>
                <a:latin typeface="Space Grotesk"/>
              </a:rPr>
              <a:t>2</a:t>
            </a:r>
          </a:p>
        </p:txBody>
      </p:sp>
      <p:sp>
        <p:nvSpPr>
          <p:cNvPr id="9" name="TextBox 8"/>
          <p:cNvSpPr txBox="1"/>
          <p:nvPr/>
        </p:nvSpPr>
        <p:spPr>
          <a:xfrm>
            <a:off x="1316736" y="2091436"/>
            <a:ext cx="2103120" cy="365760"/>
          </a:xfrm>
          <a:prstGeom prst="rect">
            <a:avLst/>
          </a:prstGeom>
          <a:noFill/>
        </p:spPr>
        <p:txBody>
          <a:bodyPr wrap="square" lIns="0" rIns="0" tIns="0" bIns="0" anchor="t">
            <a:spAutoFit/>
          </a:bodyPr>
          <a:lstStyle/>
          <a:p>
            <a:pPr algn="l">
              <a:lnSpc>
                <a:spcPct val="112000"/>
              </a:lnSpc>
            </a:pPr>
            <a:r>
              <a:rPr sz="1400" b="1">
                <a:solidFill>
                  <a:srgbClr val="FFFFFF"/>
                </a:solidFill>
                <a:latin typeface="Space Grotesk"/>
              </a:rPr>
              <a:t>One weighing</a:t>
            </a:r>
          </a:p>
        </p:txBody>
      </p:sp>
      <p:sp>
        <p:nvSpPr>
          <p:cNvPr id="10" name="TextBox 9"/>
          <p:cNvSpPr txBox="1"/>
          <p:nvPr/>
        </p:nvSpPr>
        <p:spPr>
          <a:xfrm>
            <a:off x="3465576" y="2109724"/>
            <a:ext cx="7863840" cy="457200"/>
          </a:xfrm>
          <a:prstGeom prst="rect">
            <a:avLst/>
          </a:prstGeom>
          <a:noFill/>
        </p:spPr>
        <p:txBody>
          <a:bodyPr wrap="square" lIns="0" rIns="0" tIns="0" bIns="0" anchor="t">
            <a:spAutoFit/>
          </a:bodyPr>
          <a:lstStyle/>
          <a:p>
            <a:pPr algn="l">
              <a:lnSpc>
                <a:spcPct val="112000"/>
              </a:lnSpc>
            </a:pPr>
            <a:r>
              <a:rPr sz="1300" b="0">
                <a:solidFill>
                  <a:srgbClr val="D7DEFF"/>
                </a:solidFill>
                <a:latin typeface="DM Sans"/>
              </a:rPr>
              <a:t>About 2 s at about 3,000 times the sleep power = 1.7 hours of sleep energy.</a:t>
            </a:r>
          </a:p>
        </p:txBody>
      </p:sp>
      <p:sp>
        <p:nvSpPr>
          <p:cNvPr id="11" name="Oval 10"/>
          <p:cNvSpPr/>
          <p:nvPr/>
        </p:nvSpPr>
        <p:spPr>
          <a:xfrm>
            <a:off x="813816" y="2640076"/>
            <a:ext cx="329184" cy="329184"/>
          </a:xfrm>
          <a:prstGeom prst="ellipse">
            <a:avLst/>
          </a:prstGeom>
          <a:solidFill>
            <a:srgbClr val="5EEAD4"/>
          </a:solidFill>
          <a:ln>
            <a:noFill/>
          </a:ln>
        </p:spPr>
        <p:txBody>
          <a:bodyPr rtlCol="0" anchor="ctr" lIns="0" rIns="0" tIns="0" bIns="0"/>
          <a:lstStyle/>
          <a:p>
            <a:pPr algn="ctr"/>
            <a:r>
              <a:rPr sz="1300" b="1">
                <a:solidFill>
                  <a:srgbClr val="0A1020"/>
                </a:solidFill>
                <a:latin typeface="Space Grotesk"/>
              </a:rPr>
              <a:t>3</a:t>
            </a:r>
          </a:p>
        </p:txBody>
      </p:sp>
      <p:sp>
        <p:nvSpPr>
          <p:cNvPr id="12" name="TextBox 11"/>
          <p:cNvSpPr txBox="1"/>
          <p:nvPr/>
        </p:nvSpPr>
        <p:spPr>
          <a:xfrm>
            <a:off x="1316736" y="2658364"/>
            <a:ext cx="2103120" cy="365760"/>
          </a:xfrm>
          <a:prstGeom prst="rect">
            <a:avLst/>
          </a:prstGeom>
          <a:noFill/>
        </p:spPr>
        <p:txBody>
          <a:bodyPr wrap="square" lIns="0" rIns="0" tIns="0" bIns="0" anchor="t">
            <a:spAutoFit/>
          </a:bodyPr>
          <a:lstStyle/>
          <a:p>
            <a:pPr algn="l">
              <a:lnSpc>
                <a:spcPct val="112000"/>
              </a:lnSpc>
            </a:pPr>
            <a:r>
              <a:rPr sz="1400" b="1">
                <a:solidFill>
                  <a:srgbClr val="FFFFFF"/>
                </a:solidFill>
                <a:latin typeface="Space Grotesk"/>
              </a:rPr>
              <a:t>Today</a:t>
            </a:r>
          </a:p>
        </p:txBody>
      </p:sp>
      <p:sp>
        <p:nvSpPr>
          <p:cNvPr id="13" name="TextBox 12"/>
          <p:cNvSpPr txBox="1"/>
          <p:nvPr/>
        </p:nvSpPr>
        <p:spPr>
          <a:xfrm>
            <a:off x="3465576" y="2676652"/>
            <a:ext cx="7863840" cy="457200"/>
          </a:xfrm>
          <a:prstGeom prst="rect">
            <a:avLst/>
          </a:prstGeom>
          <a:noFill/>
        </p:spPr>
        <p:txBody>
          <a:bodyPr wrap="square" lIns="0" rIns="0" tIns="0" bIns="0" anchor="t">
            <a:spAutoFit/>
          </a:bodyPr>
          <a:lstStyle/>
          <a:p>
            <a:pPr algn="l">
              <a:lnSpc>
                <a:spcPct val="112000"/>
              </a:lnSpc>
            </a:pPr>
            <a:r>
              <a:rPr sz="1300" b="0">
                <a:solidFill>
                  <a:srgbClr val="D7DEFF"/>
                </a:solidFill>
                <a:latin typeface="DM Sans"/>
              </a:rPr>
              <a:t>A typical 20 kg scale weighs 2.5 times a day: 24 + 2.5 × 1.7 = 28.2 hours.</a:t>
            </a:r>
          </a:p>
        </p:txBody>
      </p:sp>
      <p:sp>
        <p:nvSpPr>
          <p:cNvPr id="14" name="Oval 13"/>
          <p:cNvSpPr/>
          <p:nvPr/>
        </p:nvSpPr>
        <p:spPr>
          <a:xfrm>
            <a:off x="813816" y="3207004"/>
            <a:ext cx="329184" cy="329184"/>
          </a:xfrm>
          <a:prstGeom prst="ellipse">
            <a:avLst/>
          </a:prstGeom>
          <a:solidFill>
            <a:srgbClr val="5EEAD4"/>
          </a:solidFill>
          <a:ln>
            <a:noFill/>
          </a:ln>
        </p:spPr>
        <p:txBody>
          <a:bodyPr rtlCol="0" anchor="ctr" lIns="0" rIns="0" tIns="0" bIns="0"/>
          <a:lstStyle/>
          <a:p>
            <a:pPr algn="ctr"/>
            <a:r>
              <a:rPr sz="1300" b="1">
                <a:solidFill>
                  <a:srgbClr val="0A1020"/>
                </a:solidFill>
                <a:latin typeface="Space Grotesk"/>
              </a:rPr>
              <a:t>4</a:t>
            </a:r>
          </a:p>
        </p:txBody>
      </p:sp>
      <p:sp>
        <p:nvSpPr>
          <p:cNvPr id="15" name="TextBox 14"/>
          <p:cNvSpPr txBox="1"/>
          <p:nvPr/>
        </p:nvSpPr>
        <p:spPr>
          <a:xfrm>
            <a:off x="1316736" y="3225292"/>
            <a:ext cx="2103120" cy="365760"/>
          </a:xfrm>
          <a:prstGeom prst="rect">
            <a:avLst/>
          </a:prstGeom>
          <a:noFill/>
        </p:spPr>
        <p:txBody>
          <a:bodyPr wrap="square" lIns="0" rIns="0" tIns="0" bIns="0" anchor="t">
            <a:spAutoFit/>
          </a:bodyPr>
          <a:lstStyle/>
          <a:p>
            <a:pPr algn="l">
              <a:lnSpc>
                <a:spcPct val="112000"/>
              </a:lnSpc>
            </a:pPr>
            <a:r>
              <a:rPr sz="1400" b="1">
                <a:solidFill>
                  <a:srgbClr val="FFFFFF"/>
                </a:solidFill>
                <a:latin typeface="Space Grotesk"/>
              </a:rPr>
              <a:t>With our rule</a:t>
            </a:r>
          </a:p>
        </p:txBody>
      </p:sp>
      <p:sp>
        <p:nvSpPr>
          <p:cNvPr id="16" name="TextBox 15"/>
          <p:cNvSpPr txBox="1"/>
          <p:nvPr/>
        </p:nvSpPr>
        <p:spPr>
          <a:xfrm>
            <a:off x="3465576" y="3243580"/>
            <a:ext cx="7863840" cy="457200"/>
          </a:xfrm>
          <a:prstGeom prst="rect">
            <a:avLst/>
          </a:prstGeom>
          <a:noFill/>
        </p:spPr>
        <p:txBody>
          <a:bodyPr wrap="square" lIns="0" rIns="0" tIns="0" bIns="0" anchor="t">
            <a:spAutoFit/>
          </a:bodyPr>
          <a:lstStyle/>
          <a:p>
            <a:pPr algn="l">
              <a:lnSpc>
                <a:spcPct val="112000"/>
              </a:lnSpc>
            </a:pPr>
            <a:r>
              <a:rPr sz="1300" b="0">
                <a:solidFill>
                  <a:srgbClr val="D7DEFF"/>
                </a:solidFill>
                <a:latin typeface="DM Sans"/>
              </a:rPr>
              <a:t>1.0 weighings a day: 24 + 1.0 × 1.7 = 25.6 hours.</a:t>
            </a:r>
          </a:p>
        </p:txBody>
      </p:sp>
      <p:sp>
        <p:nvSpPr>
          <p:cNvPr id="17" name="Oval 16"/>
          <p:cNvSpPr/>
          <p:nvPr/>
        </p:nvSpPr>
        <p:spPr>
          <a:xfrm>
            <a:off x="813816" y="3773932"/>
            <a:ext cx="329184" cy="329184"/>
          </a:xfrm>
          <a:prstGeom prst="ellipse">
            <a:avLst/>
          </a:prstGeom>
          <a:solidFill>
            <a:srgbClr val="8EA2FF"/>
          </a:solidFill>
          <a:ln>
            <a:noFill/>
          </a:ln>
        </p:spPr>
        <p:txBody>
          <a:bodyPr rtlCol="0" anchor="ctr" lIns="0" rIns="0" tIns="0" bIns="0"/>
          <a:lstStyle/>
          <a:p>
            <a:pPr algn="ctr"/>
            <a:r>
              <a:rPr sz="1300" b="1">
                <a:solidFill>
                  <a:srgbClr val="0A1020"/>
                </a:solidFill>
                <a:latin typeface="Space Grotesk"/>
              </a:rPr>
              <a:t>5</a:t>
            </a:r>
          </a:p>
        </p:txBody>
      </p:sp>
      <p:sp>
        <p:nvSpPr>
          <p:cNvPr id="18" name="TextBox 17"/>
          <p:cNvSpPr txBox="1"/>
          <p:nvPr/>
        </p:nvSpPr>
        <p:spPr>
          <a:xfrm>
            <a:off x="1316736" y="3792220"/>
            <a:ext cx="2103120" cy="365760"/>
          </a:xfrm>
          <a:prstGeom prst="rect">
            <a:avLst/>
          </a:prstGeom>
          <a:noFill/>
        </p:spPr>
        <p:txBody>
          <a:bodyPr wrap="square" lIns="0" rIns="0" tIns="0" bIns="0" anchor="t">
            <a:spAutoFit/>
          </a:bodyPr>
          <a:lstStyle/>
          <a:p>
            <a:pPr algn="l">
              <a:lnSpc>
                <a:spcPct val="112000"/>
              </a:lnSpc>
            </a:pPr>
            <a:r>
              <a:rPr sz="1400" b="1">
                <a:solidFill>
                  <a:srgbClr val="FFFFFF"/>
                </a:solidFill>
                <a:latin typeface="Space Grotesk"/>
              </a:rPr>
              <a:t>Battery life</a:t>
            </a:r>
          </a:p>
        </p:txBody>
      </p:sp>
      <p:sp>
        <p:nvSpPr>
          <p:cNvPr id="19" name="TextBox 18"/>
          <p:cNvSpPr txBox="1"/>
          <p:nvPr/>
        </p:nvSpPr>
        <p:spPr>
          <a:xfrm>
            <a:off x="3465576" y="3810508"/>
            <a:ext cx="7863840" cy="457200"/>
          </a:xfrm>
          <a:prstGeom prst="rect">
            <a:avLst/>
          </a:prstGeom>
          <a:noFill/>
        </p:spPr>
        <p:txBody>
          <a:bodyPr wrap="square" lIns="0" rIns="0" tIns="0" bIns="0" anchor="t">
            <a:spAutoFit/>
          </a:bodyPr>
          <a:lstStyle/>
          <a:p>
            <a:pPr algn="l">
              <a:lnSpc>
                <a:spcPct val="112000"/>
              </a:lnSpc>
            </a:pPr>
            <a:r>
              <a:rPr sz="1300" b="0">
                <a:solidFill>
                  <a:srgbClr val="D7DEFF"/>
                </a:solidFill>
                <a:latin typeface="DM Sans"/>
              </a:rPr>
              <a:t>28.2 ÷ 25.6 = 1.10, about +10% for this scale. Over all scales: +8% (20 kg) and +5% (6 kg).</a:t>
            </a:r>
          </a:p>
        </p:txBody>
      </p:sp>
      <p:sp>
        <p:nvSpPr>
          <p:cNvPr id="20" name="Rounded Rectangle 19"/>
          <p:cNvSpPr/>
          <p:nvPr/>
        </p:nvSpPr>
        <p:spPr>
          <a:xfrm>
            <a:off x="813816" y="4523740"/>
            <a:ext cx="10570464" cy="777240"/>
          </a:xfrm>
          <a:prstGeom prst="roundRect">
            <a:avLst>
              <a:gd name="adj" fmla="val 14117"/>
            </a:avLst>
          </a:prstGeom>
          <a:solidFill>
            <a:srgbClr val="5EEAD4">
              <a:alpha val="13000"/>
            </a:srgbClr>
          </a:solidFill>
          <a:ln w="6350">
            <a:solidFill>
              <a:srgbClr val="5EEAD4">
                <a:alpha val="50000"/>
              </a:srgbClr>
            </a:solidFill>
          </a:ln>
        </p:spPr>
        <p:txBody>
          <a:bodyPr rtlCol="0" anchor="ctr"/>
          <a:lstStyle/>
          <a:p>
            <a:pPr algn="ctr"/>
          </a:p>
        </p:txBody>
      </p:sp>
      <p:sp>
        <p:nvSpPr>
          <p:cNvPr id="21" name="TextBox 20"/>
          <p:cNvSpPr txBox="1"/>
          <p:nvPr/>
        </p:nvSpPr>
        <p:spPr>
          <a:xfrm>
            <a:off x="1042416" y="4523740"/>
            <a:ext cx="10113264" cy="777240"/>
          </a:xfrm>
          <a:prstGeom prst="rect">
            <a:avLst/>
          </a:prstGeom>
          <a:noFill/>
        </p:spPr>
        <p:txBody>
          <a:bodyPr wrap="square" lIns="0" rIns="0" tIns="0" bIns="0" anchor="ctr">
            <a:spAutoFit/>
          </a:bodyPr>
          <a:lstStyle/>
          <a:p>
            <a:pPr algn="l">
              <a:lnSpc>
                <a:spcPct val="112000"/>
              </a:lnSpc>
            </a:pPr>
            <a:r>
              <a:rPr sz="1350" b="1">
                <a:solidFill>
                  <a:srgbClr val="FFFFFF"/>
                </a:solidFill>
                <a:latin typeface="DM Sans"/>
              </a:rPr>
              <a:t>Sleep uses most of the energy.</a:t>
            </a:r>
            <a:r>
              <a:rPr sz="1350" b="0">
                <a:solidFill>
                  <a:srgbClr val="D7DEFF"/>
                </a:solidFill>
                <a:latin typeface="DM Sans"/>
              </a:rPr>
              <a:t> So fewer weighings help the battery a little, but they help the network, the cloud and ARIMS a lot.</a:t>
            </a:r>
          </a:p>
        </p:txBody>
      </p:sp>
      <p:sp>
        <p:nvSpPr>
          <p:cNvPr id="22" name="TextBox 21"/>
          <p:cNvSpPr txBox="1"/>
          <p:nvPr/>
        </p:nvSpPr>
        <p:spPr>
          <a:xfrm>
            <a:off x="813816" y="6419088"/>
            <a:ext cx="9875520" cy="228600"/>
          </a:xfrm>
          <a:prstGeom prst="rect">
            <a:avLst/>
          </a:prstGeom>
          <a:noFill/>
        </p:spPr>
        <p:txBody>
          <a:bodyPr wrap="square" lIns="0" rIns="0" tIns="0" bIns="0" anchor="t">
            <a:spAutoFit/>
          </a:bodyPr>
          <a:lstStyle/>
          <a:p>
            <a:pPr algn="l">
              <a:lnSpc>
                <a:spcPct val="100000"/>
              </a:lnSpc>
            </a:pPr>
            <a:r>
              <a:rPr sz="900" b="0">
                <a:solidFill>
                  <a:srgbClr val="8D99B0"/>
                </a:solidFill>
                <a:latin typeface="DM Sans"/>
              </a:rPr>
              <a:t>Assumption from the case description Bossard / D ONE (2026): a weighing takes about 2 s at about 3,000 times the sleep power · Report §6.3</a:t>
            </a:r>
          </a:p>
        </p:txBody>
      </p:sp>
      <p:sp>
        <p:nvSpPr>
          <p:cNvPr id="23" name="TextBox 22"/>
          <p:cNvSpPr txBox="1"/>
          <p:nvPr/>
        </p:nvSpPr>
        <p:spPr>
          <a:xfrm>
            <a:off x="10927080" y="6419088"/>
            <a:ext cx="457200" cy="228600"/>
          </a:xfrm>
          <a:prstGeom prst="rect">
            <a:avLst/>
          </a:prstGeom>
          <a:noFill/>
        </p:spPr>
        <p:txBody>
          <a:bodyPr wrap="square" lIns="0" rIns="0" tIns="0" bIns="0" anchor="t">
            <a:spAutoFit/>
          </a:bodyPr>
          <a:lstStyle/>
          <a:p>
            <a:pPr algn="r">
              <a:lnSpc>
                <a:spcPct val="112000"/>
              </a:lnSpc>
            </a:pPr>
            <a:r>
              <a:rPr sz="900" b="0">
                <a:solidFill>
                  <a:srgbClr val="8D99B0"/>
                </a:solidFill>
                <a:latin typeface="DM Sans"/>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A1020"/>
        </a:solidFill>
        <a:effectLst/>
      </p:bgPr>
    </p:bg>
    <p:spTree>
      <p:nvGrpSpPr>
        <p:cNvPr id="1" name=""/>
        <p:cNvGrpSpPr/>
        <p:nvPr/>
      </p:nvGrpSpPr>
      <p:grpSpPr/>
      <p:sp>
        <p:nvSpPr>
          <p:cNvPr id="2" name="Rectangle 1"/>
          <p:cNvSpPr/>
          <p:nvPr/>
        </p:nvSpPr>
        <p:spPr>
          <a:xfrm>
            <a:off x="6986016" y="0"/>
            <a:ext cx="5202936" cy="4059936"/>
          </a:xfrm>
          <a:prstGeom prst="rect">
            <a:avLst/>
          </a:prstGeom>
          <a:gradFill rotWithShape="1">
            <a:gsLst>
              <a:gs pos="0">
                <a:srgbClr val="8EA2FF">
                  <a:alpha val="18000"/>
                </a:srgbClr>
              </a:gs>
              <a:gs pos="65000">
                <a:srgbClr val="8EA2FF">
                  <a:alpha val="0"/>
                </a:srgbClr>
              </a:gs>
            </a:gsLst>
            <a:path path="circle">
              <a:fillToRect l="70000" t="25000" r="30000" b="75000"/>
            </a:path>
          </a:gradFill>
          <a:ln>
            <a:noFill/>
          </a:ln>
        </p:spPr>
        <p:txBody>
          <a:bodyPr rtlCol="0" anchor="ctr"/>
          <a:lstStyle/>
          <a:p>
            <a:pPr algn="ctr"/>
          </a:p>
        </p:txBody>
      </p:sp>
      <p:sp>
        <p:nvSpPr>
          <p:cNvPr id="3" name="TextBox 2"/>
          <p:cNvSpPr txBox="1"/>
          <p:nvPr/>
        </p:nvSpPr>
        <p:spPr>
          <a:xfrm>
            <a:off x="813816" y="502920"/>
            <a:ext cx="10570464" cy="228600"/>
          </a:xfrm>
          <a:prstGeom prst="rect">
            <a:avLst/>
          </a:prstGeom>
          <a:noFill/>
        </p:spPr>
        <p:txBody>
          <a:bodyPr wrap="square" lIns="0" rIns="0" tIns="0" bIns="0" anchor="t">
            <a:spAutoFit/>
          </a:bodyPr>
          <a:lstStyle/>
          <a:p>
            <a:pPr algn="l">
              <a:lnSpc>
                <a:spcPct val="112000"/>
              </a:lnSpc>
            </a:pPr>
            <a:r>
              <a:rPr sz="1100" b="1" spc="150">
                <a:solidFill>
                  <a:srgbClr val="5EEAD4"/>
                </a:solidFill>
                <a:latin typeface="DM Sans"/>
              </a:rPr>
              <a:t>BACKUP · METHODS</a:t>
            </a:r>
          </a:p>
        </p:txBody>
      </p:sp>
      <p:sp>
        <p:nvSpPr>
          <p:cNvPr id="4" name="TextBox 3"/>
          <p:cNvSpPr txBox="1"/>
          <p:nvPr/>
        </p:nvSpPr>
        <p:spPr>
          <a:xfrm>
            <a:off x="813816" y="777240"/>
            <a:ext cx="10570464" cy="408939"/>
          </a:xfrm>
          <a:prstGeom prst="rect">
            <a:avLst/>
          </a:prstGeom>
          <a:noFill/>
        </p:spPr>
        <p:txBody>
          <a:bodyPr wrap="square" lIns="0" rIns="0" tIns="0" bIns="0" anchor="t">
            <a:spAutoFit/>
          </a:bodyPr>
          <a:lstStyle/>
          <a:p>
            <a:pPr algn="l">
              <a:lnSpc>
                <a:spcPct val="100000"/>
              </a:lnSpc>
            </a:pPr>
            <a:r>
              <a:rPr sz="2800" b="1">
                <a:solidFill>
                  <a:srgbClr val="FFFFFF"/>
                </a:solidFill>
                <a:latin typeface="Space Grotesk"/>
              </a:rPr>
              <a:t>Four methods, each answering one question</a:t>
            </a:r>
          </a:p>
        </p:txBody>
      </p:sp>
      <p:sp>
        <p:nvSpPr>
          <p:cNvPr id="5" name="Rounded Rectangle 4"/>
          <p:cNvSpPr/>
          <p:nvPr/>
        </p:nvSpPr>
        <p:spPr>
          <a:xfrm>
            <a:off x="813816" y="1506220"/>
            <a:ext cx="5148072" cy="1645920"/>
          </a:xfrm>
          <a:prstGeom prst="roundRect">
            <a:avLst>
              <a:gd name="adj" fmla="val 6666"/>
            </a:avLst>
          </a:prstGeom>
          <a:solidFill>
            <a:srgbClr val="5EEAD4">
              <a:alpha val="8000"/>
            </a:srgbClr>
          </a:solidFill>
          <a:ln w="6350">
            <a:solidFill>
              <a:srgbClr val="5EEAD4">
                <a:alpha val="50000"/>
              </a:srgbClr>
            </a:solidFill>
          </a:ln>
        </p:spPr>
        <p:txBody>
          <a:bodyPr rtlCol="0" anchor="ctr"/>
          <a:lstStyle/>
          <a:p>
            <a:pPr algn="ctr"/>
          </a:p>
        </p:txBody>
      </p:sp>
      <p:sp>
        <p:nvSpPr>
          <p:cNvPr id="6" name="TextBox 5"/>
          <p:cNvSpPr txBox="1"/>
          <p:nvPr/>
        </p:nvSpPr>
        <p:spPr>
          <a:xfrm>
            <a:off x="1042416" y="1689100"/>
            <a:ext cx="4690872" cy="320040"/>
          </a:xfrm>
          <a:prstGeom prst="rect">
            <a:avLst/>
          </a:prstGeom>
          <a:noFill/>
        </p:spPr>
        <p:txBody>
          <a:bodyPr wrap="square" lIns="0" rIns="0" tIns="0" bIns="0" anchor="t">
            <a:spAutoFit/>
          </a:bodyPr>
          <a:lstStyle/>
          <a:p>
            <a:pPr algn="l">
              <a:lnSpc>
                <a:spcPct val="112000"/>
              </a:lnSpc>
            </a:pPr>
            <a:r>
              <a:rPr sz="1500" b="1">
                <a:solidFill>
                  <a:srgbClr val="FFFFFF"/>
                </a:solidFill>
                <a:latin typeface="Space Grotesk"/>
              </a:rPr>
              <a:t>Does the setting cause the change?</a:t>
            </a:r>
          </a:p>
        </p:txBody>
      </p:sp>
      <p:sp>
        <p:nvSpPr>
          <p:cNvPr id="7" name="TextBox 6"/>
          <p:cNvSpPr txBox="1"/>
          <p:nvPr/>
        </p:nvSpPr>
        <p:spPr>
          <a:xfrm>
            <a:off x="1042416" y="2100580"/>
            <a:ext cx="4690872" cy="1005840"/>
          </a:xfrm>
          <a:prstGeom prst="rect">
            <a:avLst/>
          </a:prstGeom>
          <a:noFill/>
        </p:spPr>
        <p:txBody>
          <a:bodyPr wrap="square" lIns="0" rIns="0" tIns="0" bIns="0" anchor="t">
            <a:spAutoFit/>
          </a:bodyPr>
          <a:lstStyle/>
          <a:p>
            <a:pPr algn="l">
              <a:lnSpc>
                <a:spcPct val="112000"/>
              </a:lnSpc>
            </a:pPr>
            <a:r>
              <a:rPr sz="1250" b="0">
                <a:solidFill>
                  <a:srgbClr val="B8C4D9"/>
                </a:solidFill>
                <a:latin typeface="DM Sans"/>
              </a:rPr>
              <a:t>Each scale before and after its change in April, minus the change of scales that kept their setting (difference in differences).</a:t>
            </a:r>
          </a:p>
        </p:txBody>
      </p:sp>
      <p:sp>
        <p:nvSpPr>
          <p:cNvPr id="8" name="Rounded Rectangle 7"/>
          <p:cNvSpPr/>
          <p:nvPr/>
        </p:nvSpPr>
        <p:spPr>
          <a:xfrm>
            <a:off x="6236207" y="1506220"/>
            <a:ext cx="5148072" cy="1645920"/>
          </a:xfrm>
          <a:prstGeom prst="roundRect">
            <a:avLst>
              <a:gd name="adj" fmla="val 6666"/>
            </a:avLst>
          </a:prstGeom>
          <a:solidFill>
            <a:srgbClr val="8EA2FF">
              <a:alpha val="8000"/>
            </a:srgbClr>
          </a:solidFill>
          <a:ln w="6350">
            <a:solidFill>
              <a:srgbClr val="8EA2FF">
                <a:alpha val="50000"/>
              </a:srgbClr>
            </a:solidFill>
          </a:ln>
        </p:spPr>
        <p:txBody>
          <a:bodyPr rtlCol="0" anchor="ctr"/>
          <a:lstStyle/>
          <a:p>
            <a:pPr algn="ctr"/>
          </a:p>
        </p:txBody>
      </p:sp>
      <p:sp>
        <p:nvSpPr>
          <p:cNvPr id="9" name="TextBox 8"/>
          <p:cNvSpPr txBox="1"/>
          <p:nvPr/>
        </p:nvSpPr>
        <p:spPr>
          <a:xfrm>
            <a:off x="6464807" y="1689100"/>
            <a:ext cx="4690872" cy="320040"/>
          </a:xfrm>
          <a:prstGeom prst="rect">
            <a:avLst/>
          </a:prstGeom>
          <a:noFill/>
        </p:spPr>
        <p:txBody>
          <a:bodyPr wrap="square" lIns="0" rIns="0" tIns="0" bIns="0" anchor="t">
            <a:spAutoFit/>
          </a:bodyPr>
          <a:lstStyle/>
          <a:p>
            <a:pPr algn="l">
              <a:lnSpc>
                <a:spcPct val="112000"/>
              </a:lnSpc>
            </a:pPr>
            <a:r>
              <a:rPr sz="1500" b="1">
                <a:solidFill>
                  <a:srgbClr val="FFFFFF"/>
                </a:solidFill>
                <a:latin typeface="Space Grotesk"/>
              </a:rPr>
              <a:t>Are empty wake-ups linked to picks?</a:t>
            </a:r>
          </a:p>
        </p:txBody>
      </p:sp>
      <p:sp>
        <p:nvSpPr>
          <p:cNvPr id="10" name="TextBox 9"/>
          <p:cNvSpPr txBox="1"/>
          <p:nvPr/>
        </p:nvSpPr>
        <p:spPr>
          <a:xfrm>
            <a:off x="6464807" y="2100580"/>
            <a:ext cx="4690872" cy="1005840"/>
          </a:xfrm>
          <a:prstGeom prst="rect">
            <a:avLst/>
          </a:prstGeom>
          <a:noFill/>
        </p:spPr>
        <p:txBody>
          <a:bodyPr wrap="square" lIns="0" rIns="0" tIns="0" bIns="0" anchor="t">
            <a:spAutoFit/>
          </a:bodyPr>
          <a:lstStyle/>
          <a:p>
            <a:pPr algn="l">
              <a:lnSpc>
                <a:spcPct val="112000"/>
              </a:lnSpc>
            </a:pPr>
            <a:r>
              <a:rPr sz="1250" b="0">
                <a:solidFill>
                  <a:srgbClr val="B8C4D9"/>
                </a:solidFill>
                <a:latin typeface="DM Sans"/>
              </a:rPr>
              <a:t>Count picks at other scales of the same factory within 14 s, minus the chance level one minute later (event coincidence analysis).</a:t>
            </a:r>
          </a:p>
        </p:txBody>
      </p:sp>
      <p:sp>
        <p:nvSpPr>
          <p:cNvPr id="11" name="Rounded Rectangle 10"/>
          <p:cNvSpPr/>
          <p:nvPr/>
        </p:nvSpPr>
        <p:spPr>
          <a:xfrm>
            <a:off x="813816" y="3335020"/>
            <a:ext cx="5148072" cy="1645920"/>
          </a:xfrm>
          <a:prstGeom prst="roundRect">
            <a:avLst>
              <a:gd name="adj" fmla="val 6666"/>
            </a:avLst>
          </a:prstGeom>
          <a:solidFill>
            <a:srgbClr val="5EEAD4">
              <a:alpha val="8000"/>
            </a:srgbClr>
          </a:solidFill>
          <a:ln w="6350">
            <a:solidFill>
              <a:srgbClr val="5EEAD4">
                <a:alpha val="50000"/>
              </a:srgbClr>
            </a:solidFill>
          </a:ln>
        </p:spPr>
        <p:txBody>
          <a:bodyPr rtlCol="0" anchor="ctr"/>
          <a:lstStyle/>
          <a:p>
            <a:pPr algn="ctr"/>
          </a:p>
        </p:txBody>
      </p:sp>
      <p:sp>
        <p:nvSpPr>
          <p:cNvPr id="12" name="TextBox 11"/>
          <p:cNvSpPr txBox="1"/>
          <p:nvPr/>
        </p:nvSpPr>
        <p:spPr>
          <a:xfrm>
            <a:off x="1042416" y="3517900"/>
            <a:ext cx="4690872" cy="320040"/>
          </a:xfrm>
          <a:prstGeom prst="rect">
            <a:avLst/>
          </a:prstGeom>
          <a:noFill/>
        </p:spPr>
        <p:txBody>
          <a:bodyPr wrap="square" lIns="0" rIns="0" tIns="0" bIns="0" anchor="t">
            <a:spAutoFit/>
          </a:bodyPr>
          <a:lstStyle/>
          <a:p>
            <a:pPr algn="l">
              <a:lnSpc>
                <a:spcPct val="112000"/>
              </a:lnSpc>
            </a:pPr>
            <a:r>
              <a:rPr sz="1500" b="1">
                <a:solidFill>
                  <a:srgbClr val="FFFFFF"/>
                </a:solidFill>
                <a:latin typeface="Space Grotesk"/>
              </a:rPr>
              <a:t>How small a pick can a scale see?</a:t>
            </a:r>
          </a:p>
        </p:txBody>
      </p:sp>
      <p:sp>
        <p:nvSpPr>
          <p:cNvPr id="13" name="TextBox 12"/>
          <p:cNvSpPr txBox="1"/>
          <p:nvPr/>
        </p:nvSpPr>
        <p:spPr>
          <a:xfrm>
            <a:off x="1042416" y="3929380"/>
            <a:ext cx="4690872" cy="1005840"/>
          </a:xfrm>
          <a:prstGeom prst="rect">
            <a:avLst/>
          </a:prstGeom>
          <a:noFill/>
        </p:spPr>
        <p:txBody>
          <a:bodyPr wrap="square" lIns="0" rIns="0" tIns="0" bIns="0" anchor="t">
            <a:spAutoFit/>
          </a:bodyPr>
          <a:lstStyle/>
          <a:p>
            <a:pPr algn="l">
              <a:lnSpc>
                <a:spcPct val="112000"/>
              </a:lnSpc>
            </a:pPr>
            <a:r>
              <a:rPr sz="1250" b="0">
                <a:solidFill>
                  <a:srgbClr val="B8C4D9"/>
                </a:solidFill>
                <a:latin typeface="DM Sans"/>
              </a:rPr>
              <a:t>The weight change behind each label. Below about 23 g (20 kg) or 5 g (6 kg) a pick is invisible.</a:t>
            </a:r>
          </a:p>
        </p:txBody>
      </p:sp>
      <p:sp>
        <p:nvSpPr>
          <p:cNvPr id="14" name="Rounded Rectangle 13"/>
          <p:cNvSpPr/>
          <p:nvPr/>
        </p:nvSpPr>
        <p:spPr>
          <a:xfrm>
            <a:off x="6236207" y="3335020"/>
            <a:ext cx="5148072" cy="1645920"/>
          </a:xfrm>
          <a:prstGeom prst="roundRect">
            <a:avLst>
              <a:gd name="adj" fmla="val 6666"/>
            </a:avLst>
          </a:prstGeom>
          <a:solidFill>
            <a:srgbClr val="8EA2FF">
              <a:alpha val="8000"/>
            </a:srgbClr>
          </a:solidFill>
          <a:ln w="6350">
            <a:solidFill>
              <a:srgbClr val="8EA2FF">
                <a:alpha val="50000"/>
              </a:srgbClr>
            </a:solidFill>
          </a:ln>
        </p:spPr>
        <p:txBody>
          <a:bodyPr rtlCol="0" anchor="ctr"/>
          <a:lstStyle/>
          <a:p>
            <a:pPr algn="ctr"/>
          </a:p>
        </p:txBody>
      </p:sp>
      <p:sp>
        <p:nvSpPr>
          <p:cNvPr id="15" name="TextBox 14"/>
          <p:cNvSpPr txBox="1"/>
          <p:nvPr/>
        </p:nvSpPr>
        <p:spPr>
          <a:xfrm>
            <a:off x="6464807" y="3517900"/>
            <a:ext cx="4690872" cy="320040"/>
          </a:xfrm>
          <a:prstGeom prst="rect">
            <a:avLst/>
          </a:prstGeom>
          <a:noFill/>
        </p:spPr>
        <p:txBody>
          <a:bodyPr wrap="square" lIns="0" rIns="0" tIns="0" bIns="0" anchor="t">
            <a:spAutoFit/>
          </a:bodyPr>
          <a:lstStyle/>
          <a:p>
            <a:pPr algn="l">
              <a:lnSpc>
                <a:spcPct val="112000"/>
              </a:lnSpc>
            </a:pPr>
            <a:r>
              <a:rPr sz="1500" b="1">
                <a:solidFill>
                  <a:srgbClr val="FFFFFF"/>
                </a:solidFill>
                <a:latin typeface="Space Grotesk"/>
              </a:rPr>
              <a:t>Which rule is best?</a:t>
            </a:r>
          </a:p>
        </p:txBody>
      </p:sp>
      <p:sp>
        <p:nvSpPr>
          <p:cNvPr id="16" name="TextBox 15"/>
          <p:cNvSpPr txBox="1"/>
          <p:nvPr/>
        </p:nvSpPr>
        <p:spPr>
          <a:xfrm>
            <a:off x="6464807" y="3929380"/>
            <a:ext cx="4690872" cy="1005840"/>
          </a:xfrm>
          <a:prstGeom prst="rect">
            <a:avLst/>
          </a:prstGeom>
          <a:noFill/>
        </p:spPr>
        <p:txBody>
          <a:bodyPr wrap="square" lIns="0" rIns="0" tIns="0" bIns="0" anchor="t">
            <a:spAutoFit/>
          </a:bodyPr>
          <a:lstStyle/>
          <a:p>
            <a:pPr algn="l">
              <a:lnSpc>
                <a:spcPct val="112000"/>
              </a:lnSpc>
            </a:pPr>
            <a:r>
              <a:rPr sz="1250" b="0">
                <a:solidFill>
                  <a:srgbClr val="B8C4D9"/>
                </a:solidFill>
                <a:latin typeface="DM Sans"/>
              </a:rPr>
              <a:t>Each scale's own behaviour on setting 8, times the measured effect of each setting. 9 rules, 16 weeks, 5 repeats.</a:t>
            </a:r>
          </a:p>
        </p:txBody>
      </p:sp>
      <p:sp>
        <p:nvSpPr>
          <p:cNvPr id="17" name="TextBox 16"/>
          <p:cNvSpPr txBox="1"/>
          <p:nvPr/>
        </p:nvSpPr>
        <p:spPr>
          <a:xfrm>
            <a:off x="813816" y="6419088"/>
            <a:ext cx="9875520" cy="228600"/>
          </a:xfrm>
          <a:prstGeom prst="rect">
            <a:avLst/>
          </a:prstGeom>
          <a:noFill/>
        </p:spPr>
        <p:txBody>
          <a:bodyPr wrap="square" lIns="0" rIns="0" tIns="0" bIns="0" anchor="t">
            <a:spAutoFit/>
          </a:bodyPr>
          <a:lstStyle/>
          <a:p>
            <a:pPr algn="l">
              <a:lnSpc>
                <a:spcPct val="100000"/>
              </a:lnSpc>
            </a:pPr>
            <a:r>
              <a:rPr sz="900" b="0">
                <a:solidFill>
                  <a:srgbClr val="8D99B0"/>
                </a:solidFill>
                <a:latin typeface="DM Sans"/>
              </a:rPr>
              <a:t>Angrist &amp; Pischke (2009) · Donges et al. (2016) · Green &amp; Swets (1966) · Report Appendix A</a:t>
            </a:r>
          </a:p>
        </p:txBody>
      </p:sp>
      <p:sp>
        <p:nvSpPr>
          <p:cNvPr id="18" name="TextBox 17"/>
          <p:cNvSpPr txBox="1"/>
          <p:nvPr/>
        </p:nvSpPr>
        <p:spPr>
          <a:xfrm>
            <a:off x="10927080" y="6419088"/>
            <a:ext cx="457200" cy="228600"/>
          </a:xfrm>
          <a:prstGeom prst="rect">
            <a:avLst/>
          </a:prstGeom>
          <a:noFill/>
        </p:spPr>
        <p:txBody>
          <a:bodyPr wrap="square" lIns="0" rIns="0" tIns="0" bIns="0" anchor="t">
            <a:spAutoFit/>
          </a:bodyPr>
          <a:lstStyle/>
          <a:p>
            <a:pPr algn="r">
              <a:lnSpc>
                <a:spcPct val="112000"/>
              </a:lnSpc>
            </a:pPr>
            <a:r>
              <a:rPr sz="900" b="0">
                <a:solidFill>
                  <a:srgbClr val="8D99B0"/>
                </a:solidFill>
                <a:latin typeface="DM Sans"/>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E1628"/>
        </a:solidFill>
        <a:effectLst/>
      </p:bgPr>
    </p:bg>
    <p:spTree>
      <p:nvGrpSpPr>
        <p:cNvPr id="1" name=""/>
        <p:cNvGrpSpPr/>
        <p:nvPr/>
      </p:nvGrpSpPr>
      <p:grpSpPr/>
      <p:sp>
        <p:nvSpPr>
          <p:cNvPr id="2" name="Rectangle 1"/>
          <p:cNvSpPr/>
          <p:nvPr/>
        </p:nvSpPr>
        <p:spPr>
          <a:xfrm>
            <a:off x="6986016" y="0"/>
            <a:ext cx="5202936" cy="4059936"/>
          </a:xfrm>
          <a:prstGeom prst="rect">
            <a:avLst/>
          </a:prstGeom>
          <a:gradFill rotWithShape="1">
            <a:gsLst>
              <a:gs pos="0">
                <a:srgbClr val="8EA2FF">
                  <a:alpha val="18000"/>
                </a:srgbClr>
              </a:gs>
              <a:gs pos="65000">
                <a:srgbClr val="8EA2FF">
                  <a:alpha val="0"/>
                </a:srgbClr>
              </a:gs>
            </a:gsLst>
            <a:path path="circle">
              <a:fillToRect l="70000" t="25000" r="30000" b="75000"/>
            </a:path>
          </a:gradFill>
          <a:ln>
            <a:noFill/>
          </a:ln>
        </p:spPr>
        <p:txBody>
          <a:bodyPr rtlCol="0" anchor="ctr"/>
          <a:lstStyle/>
          <a:p>
            <a:pPr algn="ctr"/>
          </a:p>
        </p:txBody>
      </p:sp>
      <p:sp>
        <p:nvSpPr>
          <p:cNvPr id="3" name="TextBox 2"/>
          <p:cNvSpPr txBox="1"/>
          <p:nvPr/>
        </p:nvSpPr>
        <p:spPr>
          <a:xfrm>
            <a:off x="813816" y="502920"/>
            <a:ext cx="10570464" cy="228600"/>
          </a:xfrm>
          <a:prstGeom prst="rect">
            <a:avLst/>
          </a:prstGeom>
          <a:noFill/>
        </p:spPr>
        <p:txBody>
          <a:bodyPr wrap="square" lIns="0" rIns="0" tIns="0" bIns="0" anchor="t">
            <a:spAutoFit/>
          </a:bodyPr>
          <a:lstStyle/>
          <a:p>
            <a:pPr algn="l">
              <a:lnSpc>
                <a:spcPct val="112000"/>
              </a:lnSpc>
            </a:pPr>
            <a:r>
              <a:rPr sz="1100" b="1" spc="150">
                <a:solidFill>
                  <a:srgbClr val="5EEAD4"/>
                </a:solidFill>
                <a:latin typeface="DM Sans"/>
              </a:rPr>
              <a:t>BACKUP · CODE</a:t>
            </a:r>
          </a:p>
        </p:txBody>
      </p:sp>
      <p:sp>
        <p:nvSpPr>
          <p:cNvPr id="4" name="TextBox 3"/>
          <p:cNvSpPr txBox="1"/>
          <p:nvPr/>
        </p:nvSpPr>
        <p:spPr>
          <a:xfrm>
            <a:off x="813816" y="777240"/>
            <a:ext cx="10570464" cy="408939"/>
          </a:xfrm>
          <a:prstGeom prst="rect">
            <a:avLst/>
          </a:prstGeom>
          <a:noFill/>
        </p:spPr>
        <p:txBody>
          <a:bodyPr wrap="square" lIns="0" rIns="0" tIns="0" bIns="0" anchor="t">
            <a:spAutoFit/>
          </a:bodyPr>
          <a:lstStyle/>
          <a:p>
            <a:pPr algn="l">
              <a:lnSpc>
                <a:spcPct val="100000"/>
              </a:lnSpc>
            </a:pPr>
            <a:r>
              <a:rPr sz="2800" b="1">
                <a:solidFill>
                  <a:srgbClr val="FFFFFF"/>
                </a:solidFill>
                <a:latin typeface="Space Grotesk"/>
              </a:rPr>
              <a:t>One pipeline from raw data to this deck</a:t>
            </a:r>
          </a:p>
        </p:txBody>
      </p:sp>
      <p:graphicFrame>
        <p:nvGraphicFramePr>
          <p:cNvPr id="5" name="Table 4"/>
          <p:cNvGraphicFramePr>
            <a:graphicFrameLocks noGrp="1"/>
          </p:cNvGraphicFramePr>
          <p:nvPr/>
        </p:nvGraphicFramePr>
        <p:xfrm>
          <a:off x="813816" y="1506220"/>
          <a:ext cx="6949440" cy="3328416"/>
        </p:xfrm>
        <a:graphic>
          <a:graphicData uri="http://schemas.openxmlformats.org/drawingml/2006/table">
            <a:tbl>
              <a:tblPr firstRow="0" bandRow="0"/>
              <a:tblGrid>
                <a:gridCol w="1828800"/>
                <a:gridCol w="5120640"/>
              </a:tblGrid>
              <a:tr h="475488">
                <a:tc>
                  <a:txBody>
                    <a:bodyPr wrap="square"/>
                    <a:lstStyle/>
                    <a:p>
                      <a:pPr algn="l"/>
                      <a:r>
                        <a:rPr sz="1250" b="1">
                          <a:solidFill>
                            <a:srgbClr val="5EEAD4"/>
                          </a:solidFill>
                          <a:latin typeface="Space Grotesk"/>
                        </a:rPr>
                        <a:t>Step</a:t>
                      </a:r>
                    </a:p>
                  </a:txBody>
                  <a:tcPr marL="91440" marR="91440" marT="36576" marB="36576" anchor="ctr">
                    <a:lnL w="0">
                      <a:noFill/>
                    </a:lnL>
                    <a:lnR w="0">
                      <a:noFill/>
                    </a:lnR>
                    <a:lnT w="0">
                      <a:noFill/>
                    </a:lnT>
                    <a:lnB w="6350">
                      <a:solidFill>
                        <a:srgbClr val="FFFFFF">
                          <a:alpha val="40000"/>
                        </a:srgbClr>
                      </a:solidFill>
                    </a:lnB>
                    <a:noFill/>
                  </a:tcPr>
                </a:tc>
                <a:tc>
                  <a:txBody>
                    <a:bodyPr wrap="square"/>
                    <a:lstStyle/>
                    <a:p>
                      <a:pPr algn="l"/>
                      <a:r>
                        <a:rPr sz="1250" b="1">
                          <a:solidFill>
                            <a:srgbClr val="5EEAD4"/>
                          </a:solidFill>
                          <a:latin typeface="Space Grotesk"/>
                        </a:rPr>
                        <a:t>What it does</a:t>
                      </a:r>
                    </a:p>
                  </a:txBody>
                  <a:tcPr marL="91440" marR="91440" marT="36576" marB="36576" anchor="ctr">
                    <a:lnL w="0">
                      <a:noFill/>
                    </a:lnL>
                    <a:lnR w="0">
                      <a:noFill/>
                    </a:lnR>
                    <a:lnT w="0">
                      <a:noFill/>
                    </a:lnT>
                    <a:lnB w="6350">
                      <a:solidFill>
                        <a:srgbClr val="FFFFFF">
                          <a:alpha val="40000"/>
                        </a:srgbClr>
                      </a:solidFill>
                    </a:lnB>
                    <a:noFill/>
                  </a:tcPr>
                </a:tc>
              </a:tr>
              <a:tr h="475488">
                <a:tc>
                  <a:txBody>
                    <a:bodyPr wrap="square"/>
                    <a:lstStyle/>
                    <a:p>
                      <a:pPr algn="l"/>
                      <a:r>
                        <a:rPr sz="1250" b="0">
                          <a:solidFill>
                            <a:srgbClr val="B8C4D9"/>
                          </a:solidFill>
                          <a:latin typeface="DM Sans"/>
                        </a:rPr>
                        <a:t>Load and check</a:t>
                      </a:r>
                    </a:p>
                  </a:txBody>
                  <a:tcPr marL="91440" marR="91440" marT="36576" marB="36576" anchor="ctr">
                    <a:lnL w="0">
                      <a:noFill/>
                    </a:lnL>
                    <a:lnR w="0">
                      <a:noFill/>
                    </a:lnR>
                    <a:lnT w="0">
                      <a:noFill/>
                    </a:lnT>
                    <a:lnB w="6350">
                      <a:solidFill>
                        <a:srgbClr val="FFFFFF">
                          <a:alpha val="14000"/>
                        </a:srgbClr>
                      </a:solidFill>
                    </a:lnB>
                    <a:noFill/>
                  </a:tcPr>
                </a:tc>
                <a:tc>
                  <a:txBody>
                    <a:bodyPr wrap="square"/>
                    <a:lstStyle/>
                    <a:p>
                      <a:pPr algn="l"/>
                      <a:r>
                        <a:rPr sz="1250" b="0">
                          <a:solidFill>
                            <a:srgbClr val="B8C4D9"/>
                          </a:solidFill>
                          <a:latin typeface="DM Sans"/>
                        </a:rPr>
                        <a:t>load 7.6 M rows into DuckDB, delete broken rows, mark the rest</a:t>
                      </a:r>
                    </a:p>
                  </a:txBody>
                  <a:tcPr marL="91440" marR="91440" marT="36576" marB="36576" anchor="ctr">
                    <a:lnL w="0">
                      <a:noFill/>
                    </a:lnL>
                    <a:lnR w="0">
                      <a:noFill/>
                    </a:lnR>
                    <a:lnT w="0">
                      <a:noFill/>
                    </a:lnT>
                    <a:lnB w="6350">
                      <a:solidFill>
                        <a:srgbClr val="FFFFFF">
                          <a:alpha val="14000"/>
                        </a:srgbClr>
                      </a:solidFill>
                    </a:lnB>
                    <a:noFill/>
                  </a:tcPr>
                </a:tc>
              </a:tr>
              <a:tr h="475488">
                <a:tc>
                  <a:txBody>
                    <a:bodyPr wrap="square"/>
                    <a:lstStyle/>
                    <a:p>
                      <a:pPr algn="l"/>
                      <a:r>
                        <a:rPr sz="1250" b="0">
                          <a:solidFill>
                            <a:srgbClr val="B8C4D9"/>
                          </a:solidFill>
                          <a:latin typeface="DM Sans"/>
                        </a:rPr>
                        <a:t>Build tables</a:t>
                      </a:r>
                    </a:p>
                  </a:txBody>
                  <a:tcPr marL="91440" marR="91440" marT="36576" marB="36576" anchor="ctr">
                    <a:lnL w="0">
                      <a:noFill/>
                    </a:lnL>
                    <a:lnR w="0">
                      <a:noFill/>
                    </a:lnR>
                    <a:lnT w="0">
                      <a:noFill/>
                    </a:lnT>
                    <a:lnB w="6350">
                      <a:solidFill>
                        <a:srgbClr val="FFFFFF">
                          <a:alpha val="14000"/>
                        </a:srgbClr>
                      </a:solidFill>
                    </a:lnB>
                    <a:noFill/>
                  </a:tcPr>
                </a:tc>
                <a:tc>
                  <a:txBody>
                    <a:bodyPr wrap="square"/>
                    <a:lstStyle/>
                    <a:p>
                      <a:pPr algn="l"/>
                      <a:r>
                        <a:rPr sz="1250" b="0">
                          <a:solidFill>
                            <a:srgbClr val="B8C4D9"/>
                          </a:solidFill>
                          <a:latin typeface="DM Sans"/>
                        </a:rPr>
                        <a:t>weight change per weighing; one record per scale and setting</a:t>
                      </a:r>
                    </a:p>
                  </a:txBody>
                  <a:tcPr marL="91440" marR="91440" marT="36576" marB="36576" anchor="ctr">
                    <a:lnL w="0">
                      <a:noFill/>
                    </a:lnL>
                    <a:lnR w="0">
                      <a:noFill/>
                    </a:lnR>
                    <a:lnT w="0">
                      <a:noFill/>
                    </a:lnT>
                    <a:lnB w="6350">
                      <a:solidFill>
                        <a:srgbClr val="FFFFFF">
                          <a:alpha val="14000"/>
                        </a:srgbClr>
                      </a:solidFill>
                    </a:lnB>
                    <a:noFill/>
                  </a:tcPr>
                </a:tc>
              </a:tr>
              <a:tr h="475488">
                <a:tc>
                  <a:txBody>
                    <a:bodyPr wrap="square"/>
                    <a:lstStyle/>
                    <a:p>
                      <a:pPr algn="l"/>
                      <a:r>
                        <a:rPr sz="1250" b="0">
                          <a:solidFill>
                            <a:srgbClr val="B8C4D9"/>
                          </a:solidFill>
                          <a:latin typeface="DM Sans"/>
                        </a:rPr>
                        <a:t>Analyse</a:t>
                      </a:r>
                    </a:p>
                  </a:txBody>
                  <a:tcPr marL="91440" marR="91440" marT="36576" marB="36576" anchor="ctr">
                    <a:lnL w="0">
                      <a:noFill/>
                    </a:lnL>
                    <a:lnR w="0">
                      <a:noFill/>
                    </a:lnR>
                    <a:lnT w="0">
                      <a:noFill/>
                    </a:lnT>
                    <a:lnB w="6350">
                      <a:solidFill>
                        <a:srgbClr val="FFFFFF">
                          <a:alpha val="14000"/>
                        </a:srgbClr>
                      </a:solidFill>
                    </a:lnB>
                    <a:noFill/>
                  </a:tcPr>
                </a:tc>
                <a:tc>
                  <a:txBody>
                    <a:bodyPr wrap="square"/>
                    <a:lstStyle/>
                    <a:p>
                      <a:pPr algn="l"/>
                      <a:r>
                        <a:rPr sz="1250" b="0">
                          <a:solidFill>
                            <a:srgbClr val="B8C4D9"/>
                          </a:solidFill>
                          <a:latin typeface="DM Sans"/>
                        </a:rPr>
                        <a:t>today, the setting, parameters, factories, pick size, picks nearby, simulation</a:t>
                      </a:r>
                    </a:p>
                  </a:txBody>
                  <a:tcPr marL="91440" marR="91440" marT="36576" marB="36576" anchor="ctr">
                    <a:lnL w="0">
                      <a:noFill/>
                    </a:lnL>
                    <a:lnR w="0">
                      <a:noFill/>
                    </a:lnR>
                    <a:lnT w="0">
                      <a:noFill/>
                    </a:lnT>
                    <a:lnB w="6350">
                      <a:solidFill>
                        <a:srgbClr val="FFFFFF">
                          <a:alpha val="14000"/>
                        </a:srgbClr>
                      </a:solidFill>
                    </a:lnB>
                    <a:noFill/>
                  </a:tcPr>
                </a:tc>
              </a:tr>
              <a:tr h="475488">
                <a:tc>
                  <a:txBody>
                    <a:bodyPr wrap="square"/>
                    <a:lstStyle/>
                    <a:p>
                      <a:pPr algn="l"/>
                      <a:r>
                        <a:rPr sz="1250" b="0">
                          <a:solidFill>
                            <a:srgbClr val="B8C4D9"/>
                          </a:solidFill>
                          <a:latin typeface="DM Sans"/>
                        </a:rPr>
                        <a:t>Validate</a:t>
                      </a:r>
                    </a:p>
                  </a:txBody>
                  <a:tcPr marL="91440" marR="91440" marT="36576" marB="36576" anchor="ctr">
                    <a:lnL w="0">
                      <a:noFill/>
                    </a:lnL>
                    <a:lnR w="0">
                      <a:noFill/>
                    </a:lnR>
                    <a:lnT w="0">
                      <a:noFill/>
                    </a:lnT>
                    <a:lnB w="6350">
                      <a:solidFill>
                        <a:srgbClr val="FFFFFF">
                          <a:alpha val="14000"/>
                        </a:srgbClr>
                      </a:solidFill>
                    </a:lnB>
                    <a:noFill/>
                  </a:tcPr>
                </a:tc>
                <a:tc>
                  <a:txBody>
                    <a:bodyPr wrap="square"/>
                    <a:lstStyle/>
                    <a:p>
                      <a:pPr algn="l"/>
                      <a:r>
                        <a:rPr sz="1250" b="0">
                          <a:solidFill>
                            <a:srgbClr val="B8C4D9"/>
                          </a:solidFill>
                          <a:latin typeface="DM Sans"/>
                        </a:rPr>
                        <a:t>a simulated fleet with known answers. The pipeline must find them first.</a:t>
                      </a:r>
                    </a:p>
                  </a:txBody>
                  <a:tcPr marL="91440" marR="91440" marT="36576" marB="36576" anchor="ctr">
                    <a:lnL w="0">
                      <a:noFill/>
                    </a:lnL>
                    <a:lnR w="0">
                      <a:noFill/>
                    </a:lnR>
                    <a:lnT w="0">
                      <a:noFill/>
                    </a:lnT>
                    <a:lnB w="6350">
                      <a:solidFill>
                        <a:srgbClr val="FFFFFF">
                          <a:alpha val="14000"/>
                        </a:srgbClr>
                      </a:solidFill>
                    </a:lnB>
                    <a:noFill/>
                  </a:tcPr>
                </a:tc>
              </a:tr>
              <a:tr h="475488">
                <a:tc>
                  <a:txBody>
                    <a:bodyPr wrap="square"/>
                    <a:lstStyle/>
                    <a:p>
                      <a:pPr algn="l"/>
                      <a:r>
                        <a:rPr sz="1250" b="0">
                          <a:solidFill>
                            <a:srgbClr val="B8C4D9"/>
                          </a:solidFill>
                          <a:latin typeface="DM Sans"/>
                        </a:rPr>
                        <a:t>Report</a:t>
                      </a:r>
                    </a:p>
                  </a:txBody>
                  <a:tcPr marL="91440" marR="91440" marT="36576" marB="36576" anchor="ctr">
                    <a:lnL w="0">
                      <a:noFill/>
                    </a:lnL>
                    <a:lnR w="0">
                      <a:noFill/>
                    </a:lnR>
                    <a:lnT w="0">
                      <a:noFill/>
                    </a:lnT>
                    <a:lnB w="6350">
                      <a:solidFill>
                        <a:srgbClr val="FFFFFF">
                          <a:alpha val="14000"/>
                        </a:srgbClr>
                      </a:solidFill>
                    </a:lnB>
                    <a:noFill/>
                  </a:tcPr>
                </a:tc>
                <a:tc>
                  <a:txBody>
                    <a:bodyPr wrap="square"/>
                    <a:lstStyle/>
                    <a:p>
                      <a:pPr algn="l"/>
                      <a:r>
                        <a:rPr sz="1250" b="0">
                          <a:solidFill>
                            <a:srgbClr val="B8C4D9"/>
                          </a:solidFill>
                          <a:latin typeface="DM Sans"/>
                        </a:rPr>
                        <a:t>summary tables, figures, the written report and this deck</a:t>
                      </a:r>
                    </a:p>
                  </a:txBody>
                  <a:tcPr marL="91440" marR="91440" marT="36576" marB="36576" anchor="ctr">
                    <a:lnL w="0">
                      <a:noFill/>
                    </a:lnL>
                    <a:lnR w="0">
                      <a:noFill/>
                    </a:lnR>
                    <a:lnT w="0">
                      <a:noFill/>
                    </a:lnT>
                    <a:lnB w="6350">
                      <a:solidFill>
                        <a:srgbClr val="FFFFFF">
                          <a:alpha val="14000"/>
                        </a:srgbClr>
                      </a:solidFill>
                    </a:lnB>
                    <a:noFill/>
                  </a:tcPr>
                </a:tc>
              </a:tr>
              <a:tr h="475488">
                <a:tc>
                  <a:txBody>
                    <a:bodyPr wrap="square"/>
                    <a:lstStyle/>
                    <a:p>
                      <a:pPr algn="l"/>
                      <a:r>
                        <a:rPr sz="1250" b="0">
                          <a:solidFill>
                            <a:srgbClr val="B8C4D9"/>
                          </a:solidFill>
                          <a:latin typeface="DM Sans"/>
                        </a:rPr>
                        <a:t>Robustness</a:t>
                      </a:r>
                    </a:p>
                  </a:txBody>
                  <a:tcPr marL="91440" marR="91440" marT="36576" marB="36576" anchor="ctr">
                    <a:lnL w="0">
                      <a:noFill/>
                    </a:lnL>
                    <a:lnR w="0">
                      <a:noFill/>
                    </a:lnR>
                    <a:lnT w="0">
                      <a:noFill/>
                    </a:lnT>
                    <a:lnB w="6350">
                      <a:solidFill>
                        <a:srgbClr val="FFFFFF">
                          <a:alpha val="14000"/>
                        </a:srgbClr>
                      </a:solidFill>
                    </a:lnB>
                    <a:noFill/>
                  </a:tcPr>
                </a:tc>
                <a:tc>
                  <a:txBody>
                    <a:bodyPr wrap="square"/>
                    <a:lstStyle/>
                    <a:p>
                      <a:pPr algn="l"/>
                      <a:r>
                        <a:rPr sz="1250" b="0">
                          <a:solidFill>
                            <a:srgbClr val="B8C4D9"/>
                          </a:solidFill>
                          <a:latin typeface="DM Sans"/>
                        </a:rPr>
                        <a:t>every key result again without the looping scales</a:t>
                      </a:r>
                    </a:p>
                  </a:txBody>
                  <a:tcPr marL="91440" marR="91440" marT="36576" marB="36576" anchor="ctr">
                    <a:lnL w="0">
                      <a:noFill/>
                    </a:lnL>
                    <a:lnR w="0">
                      <a:noFill/>
                    </a:lnR>
                    <a:lnT w="0">
                      <a:noFill/>
                    </a:lnT>
                    <a:lnB w="6350">
                      <a:solidFill>
                        <a:srgbClr val="FFFFFF">
                          <a:alpha val="14000"/>
                        </a:srgbClr>
                      </a:solidFill>
                    </a:lnB>
                    <a:noFill/>
                  </a:tcPr>
                </a:tc>
              </a:tr>
            </a:tbl>
          </a:graphicData>
        </a:graphic>
      </p:graphicFrame>
      <p:sp>
        <p:nvSpPr>
          <p:cNvPr id="6" name="Rounded Rectangle 5"/>
          <p:cNvSpPr/>
          <p:nvPr/>
        </p:nvSpPr>
        <p:spPr>
          <a:xfrm>
            <a:off x="8046720" y="1506220"/>
            <a:ext cx="3337560" cy="3337560"/>
          </a:xfrm>
          <a:prstGeom prst="roundRect">
            <a:avLst>
              <a:gd name="adj" fmla="val 3287"/>
            </a:avLst>
          </a:prstGeom>
          <a:solidFill>
            <a:srgbClr val="FFFFFF">
              <a:alpha val="5000"/>
            </a:srgbClr>
          </a:solidFill>
          <a:ln w="6350">
            <a:solidFill>
              <a:srgbClr val="FFFFFF">
                <a:alpha val="12000"/>
              </a:srgbClr>
            </a:solidFill>
          </a:ln>
        </p:spPr>
        <p:txBody>
          <a:bodyPr rtlCol="0" anchor="ctr"/>
          <a:lstStyle/>
          <a:p>
            <a:pPr algn="ctr"/>
          </a:p>
        </p:txBody>
      </p:sp>
      <p:sp>
        <p:nvSpPr>
          <p:cNvPr id="7" name="TextBox 6"/>
          <p:cNvSpPr txBox="1"/>
          <p:nvPr/>
        </p:nvSpPr>
        <p:spPr>
          <a:xfrm>
            <a:off x="8229600" y="1689100"/>
            <a:ext cx="3017520" cy="274320"/>
          </a:xfrm>
          <a:prstGeom prst="rect">
            <a:avLst/>
          </a:prstGeom>
          <a:noFill/>
        </p:spPr>
        <p:txBody>
          <a:bodyPr wrap="square" lIns="0" rIns="0" tIns="0" bIns="0" anchor="t">
            <a:spAutoFit/>
          </a:bodyPr>
          <a:lstStyle/>
          <a:p>
            <a:pPr algn="l">
              <a:lnSpc>
                <a:spcPct val="112000"/>
              </a:lnSpc>
            </a:pPr>
            <a:r>
              <a:rPr sz="1050" b="1" spc="120">
                <a:solidFill>
                  <a:srgbClr val="5EEAD4"/>
                </a:solidFill>
                <a:latin typeface="DM Sans"/>
              </a:rPr>
              <a:t>RUN IT</a:t>
            </a:r>
          </a:p>
        </p:txBody>
      </p:sp>
      <p:sp>
        <p:nvSpPr>
          <p:cNvPr id="8" name="TextBox 7"/>
          <p:cNvSpPr txBox="1"/>
          <p:nvPr/>
        </p:nvSpPr>
        <p:spPr>
          <a:xfrm>
            <a:off x="8229600" y="2009139"/>
            <a:ext cx="3017520" cy="2743200"/>
          </a:xfrm>
          <a:prstGeom prst="rect">
            <a:avLst/>
          </a:prstGeom>
          <a:noFill/>
        </p:spPr>
        <p:txBody>
          <a:bodyPr wrap="square" lIns="0" rIns="0" tIns="0" bIns="0" anchor="t">
            <a:spAutoFit/>
          </a:bodyPr>
          <a:lstStyle/>
          <a:p>
            <a:pPr algn="l">
              <a:lnSpc>
                <a:spcPct val="112000"/>
              </a:lnSpc>
              <a:spcAft>
                <a:spcPts val="500"/>
              </a:spcAft>
            </a:pPr>
            <a:r>
              <a:rPr sz="1150" b="0">
                <a:solidFill>
                  <a:srgbClr val="D7DEFF"/>
                </a:solidFill>
                <a:latin typeface="DM Sans"/>
              </a:rPr>
              <a:t>bash run_bossard.sh</a:t>
            </a:r>
          </a:p>
          <a:p>
            <a:pPr algn="l">
              <a:lnSpc>
                <a:spcPct val="112000"/>
              </a:lnSpc>
              <a:spcAft>
                <a:spcPts val="500"/>
              </a:spcAft>
            </a:pPr>
            <a:r>
              <a:rPr sz="1150" b="0">
                <a:solidFill>
                  <a:srgbClr val="D7DEFF"/>
                </a:solidFill>
                <a:latin typeface="DM Sans"/>
              </a:rPr>
              <a:t>python report/build_figures.py</a:t>
            </a:r>
          </a:p>
          <a:p>
            <a:pPr algn="l">
              <a:lnSpc>
                <a:spcPct val="112000"/>
              </a:lnSpc>
              <a:spcAft>
                <a:spcPts val="500"/>
              </a:spcAft>
            </a:pPr>
            <a:r>
              <a:rPr sz="1150" b="0">
                <a:solidFill>
                  <a:srgbClr val="D7DEFF"/>
                </a:solidFill>
                <a:latin typeface="DM Sans"/>
              </a:rPr>
              <a:t>python report/robustness_loops.py</a:t>
            </a:r>
          </a:p>
          <a:p>
            <a:pPr algn="l">
              <a:lnSpc>
                <a:spcPct val="112000"/>
              </a:lnSpc>
              <a:spcAft>
                <a:spcPts val="500"/>
              </a:spcAft>
            </a:pPr>
            <a:r>
              <a:rPr sz="1150" b="0">
                <a:solidFill>
                  <a:srgbClr val="D7DEFF"/>
                </a:solidFill>
                <a:latin typeface="DM Sans"/>
              </a:rPr>
              <a:t>quarto render report/report.qmd</a:t>
            </a:r>
          </a:p>
          <a:p>
            <a:pPr algn="l">
              <a:lnSpc>
                <a:spcPct val="112000"/>
              </a:lnSpc>
              <a:spcAft>
                <a:spcPts val="500"/>
              </a:spcAft>
            </a:pPr>
            <a:r>
              <a:rPr sz="1150" b="0">
                <a:solidFill>
                  <a:srgbClr val="D7DEFF"/>
                </a:solidFill>
                <a:latin typeface="DM Sans"/>
              </a:rPr>
              <a:t>python presentation/build_cto_deck.py</a:t>
            </a:r>
          </a:p>
        </p:txBody>
      </p:sp>
      <p:sp>
        <p:nvSpPr>
          <p:cNvPr id="9" name="TextBox 8"/>
          <p:cNvSpPr txBox="1"/>
          <p:nvPr/>
        </p:nvSpPr>
        <p:spPr>
          <a:xfrm>
            <a:off x="813816" y="5118100"/>
            <a:ext cx="10570464" cy="365760"/>
          </a:xfrm>
          <a:prstGeom prst="rect">
            <a:avLst/>
          </a:prstGeom>
          <a:noFill/>
        </p:spPr>
        <p:txBody>
          <a:bodyPr wrap="square" lIns="0" rIns="0" tIns="0" bIns="0" anchor="t">
            <a:spAutoFit/>
          </a:bodyPr>
          <a:lstStyle/>
          <a:p>
            <a:pPr algn="l">
              <a:lnSpc>
                <a:spcPct val="112000"/>
              </a:lnSpc>
            </a:pPr>
            <a:r>
              <a:rPr sz="1250" b="0">
                <a:solidFill>
                  <a:srgbClr val="B8C4D9"/>
                </a:solidFill>
                <a:latin typeface="DM Sans"/>
              </a:rPr>
              <a:t>Raw data never goes into the repository. Only summary tables do.</a:t>
            </a:r>
          </a:p>
        </p:txBody>
      </p:sp>
      <p:sp>
        <p:nvSpPr>
          <p:cNvPr id="10" name="TextBox 9"/>
          <p:cNvSpPr txBox="1"/>
          <p:nvPr/>
        </p:nvSpPr>
        <p:spPr>
          <a:xfrm>
            <a:off x="813816" y="6419088"/>
            <a:ext cx="9875520" cy="228600"/>
          </a:xfrm>
          <a:prstGeom prst="rect">
            <a:avLst/>
          </a:prstGeom>
          <a:noFill/>
        </p:spPr>
        <p:txBody>
          <a:bodyPr wrap="square" lIns="0" rIns="0" tIns="0" bIns="0" anchor="t">
            <a:spAutoFit/>
          </a:bodyPr>
          <a:lstStyle/>
          <a:p>
            <a:pPr algn="l">
              <a:lnSpc>
                <a:spcPct val="100000"/>
              </a:lnSpc>
            </a:pPr>
            <a:r>
              <a:rPr sz="900" b="0">
                <a:solidFill>
                  <a:srgbClr val="8D99B0"/>
                </a:solidFill>
                <a:latin typeface="DM Sans"/>
              </a:rPr>
              <a:t>Source: project repository (private)</a:t>
            </a:r>
          </a:p>
        </p:txBody>
      </p:sp>
      <p:sp>
        <p:nvSpPr>
          <p:cNvPr id="11" name="TextBox 10"/>
          <p:cNvSpPr txBox="1"/>
          <p:nvPr/>
        </p:nvSpPr>
        <p:spPr>
          <a:xfrm>
            <a:off x="10927080" y="6419088"/>
            <a:ext cx="457200" cy="228600"/>
          </a:xfrm>
          <a:prstGeom prst="rect">
            <a:avLst/>
          </a:prstGeom>
          <a:noFill/>
        </p:spPr>
        <p:txBody>
          <a:bodyPr wrap="square" lIns="0" rIns="0" tIns="0" bIns="0" anchor="t">
            <a:spAutoFit/>
          </a:bodyPr>
          <a:lstStyle/>
          <a:p>
            <a:pPr algn="r">
              <a:lnSpc>
                <a:spcPct val="112000"/>
              </a:lnSpc>
            </a:pPr>
            <a:r>
              <a:rPr sz="900" b="0">
                <a:solidFill>
                  <a:srgbClr val="8D99B0"/>
                </a:solidFill>
                <a:latin typeface="DM Sans"/>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A1020"/>
        </a:solidFill>
        <a:effectLst/>
      </p:bgPr>
    </p:bg>
    <p:spTree>
      <p:nvGrpSpPr>
        <p:cNvPr id="1" name=""/>
        <p:cNvGrpSpPr/>
        <p:nvPr/>
      </p:nvGrpSpPr>
      <p:grpSpPr/>
      <p:sp>
        <p:nvSpPr>
          <p:cNvPr id="2" name="Rectangle 1"/>
          <p:cNvSpPr/>
          <p:nvPr/>
        </p:nvSpPr>
        <p:spPr>
          <a:xfrm>
            <a:off x="6986016" y="0"/>
            <a:ext cx="5202936" cy="4059936"/>
          </a:xfrm>
          <a:prstGeom prst="rect">
            <a:avLst/>
          </a:prstGeom>
          <a:gradFill rotWithShape="1">
            <a:gsLst>
              <a:gs pos="0">
                <a:srgbClr val="8EA2FF">
                  <a:alpha val="18000"/>
                </a:srgbClr>
              </a:gs>
              <a:gs pos="65000">
                <a:srgbClr val="8EA2FF">
                  <a:alpha val="0"/>
                </a:srgbClr>
              </a:gs>
            </a:gsLst>
            <a:path path="circle">
              <a:fillToRect l="70000" t="25000" r="30000" b="75000"/>
            </a:path>
          </a:gradFill>
          <a:ln>
            <a:noFill/>
          </a:ln>
        </p:spPr>
        <p:txBody>
          <a:bodyPr rtlCol="0" anchor="ctr"/>
          <a:lstStyle/>
          <a:p>
            <a:pPr algn="ctr"/>
          </a:p>
        </p:txBody>
      </p:sp>
      <p:sp>
        <p:nvSpPr>
          <p:cNvPr id="3" name="TextBox 2"/>
          <p:cNvSpPr txBox="1"/>
          <p:nvPr/>
        </p:nvSpPr>
        <p:spPr>
          <a:xfrm>
            <a:off x="813816" y="502920"/>
            <a:ext cx="10570464" cy="228600"/>
          </a:xfrm>
          <a:prstGeom prst="rect">
            <a:avLst/>
          </a:prstGeom>
          <a:noFill/>
        </p:spPr>
        <p:txBody>
          <a:bodyPr wrap="square" lIns="0" rIns="0" tIns="0" bIns="0" anchor="t">
            <a:spAutoFit/>
          </a:bodyPr>
          <a:lstStyle/>
          <a:p>
            <a:pPr algn="l">
              <a:lnSpc>
                <a:spcPct val="112000"/>
              </a:lnSpc>
            </a:pPr>
            <a:r>
              <a:rPr sz="1100" b="1" spc="150">
                <a:solidFill>
                  <a:srgbClr val="5EEAD4"/>
                </a:solidFill>
                <a:latin typeface="DM Sans"/>
              </a:rPr>
              <a:t>REFERENCES</a:t>
            </a:r>
          </a:p>
        </p:txBody>
      </p:sp>
      <p:sp>
        <p:nvSpPr>
          <p:cNvPr id="4" name="TextBox 3"/>
          <p:cNvSpPr txBox="1"/>
          <p:nvPr/>
        </p:nvSpPr>
        <p:spPr>
          <a:xfrm>
            <a:off x="813816" y="777240"/>
            <a:ext cx="10570464" cy="408939"/>
          </a:xfrm>
          <a:prstGeom prst="rect">
            <a:avLst/>
          </a:prstGeom>
          <a:noFill/>
        </p:spPr>
        <p:txBody>
          <a:bodyPr wrap="square" lIns="0" rIns="0" tIns="0" bIns="0" anchor="t">
            <a:spAutoFit/>
          </a:bodyPr>
          <a:lstStyle/>
          <a:p>
            <a:pPr algn="l">
              <a:lnSpc>
                <a:spcPct val="100000"/>
              </a:lnSpc>
            </a:pPr>
            <a:r>
              <a:rPr sz="2800" b="1">
                <a:solidFill>
                  <a:srgbClr val="FFFFFF"/>
                </a:solidFill>
                <a:latin typeface="Space Grotesk"/>
              </a:rPr>
              <a:t>Sources</a:t>
            </a:r>
          </a:p>
        </p:txBody>
      </p:sp>
      <p:sp>
        <p:nvSpPr>
          <p:cNvPr id="5" name="TextBox 4"/>
          <p:cNvSpPr txBox="1"/>
          <p:nvPr/>
        </p:nvSpPr>
        <p:spPr>
          <a:xfrm>
            <a:off x="813816" y="1414779"/>
            <a:ext cx="10570464" cy="4480560"/>
          </a:xfrm>
          <a:prstGeom prst="rect">
            <a:avLst/>
          </a:prstGeom>
          <a:noFill/>
        </p:spPr>
        <p:txBody>
          <a:bodyPr wrap="square" lIns="0" rIns="0" tIns="0" bIns="0" anchor="t">
            <a:spAutoFit/>
          </a:bodyPr>
          <a:lstStyle/>
          <a:p>
            <a:pPr algn="l">
              <a:lnSpc>
                <a:spcPct val="108000"/>
              </a:lnSpc>
              <a:spcAft>
                <a:spcPts val="500"/>
              </a:spcAft>
            </a:pPr>
            <a:r>
              <a:rPr sz="1100" b="0">
                <a:solidFill>
                  <a:srgbClr val="B8C4D9"/>
                </a:solidFill>
                <a:latin typeface="DM Sans"/>
              </a:rPr>
              <a:t>Anastasi, G., Conti, M., Di Francesco, M., &amp; Passarella, A. (2009). Energy conservation in wireless sensor networks: A survey. Ad Hoc Networks, 7(3), 537–568. https://doi.org/10.1016/j.adhoc.2008.06.003</a:t>
            </a:r>
          </a:p>
          <a:p>
            <a:pPr algn="l">
              <a:lnSpc>
                <a:spcPct val="108000"/>
              </a:lnSpc>
              <a:spcAft>
                <a:spcPts val="500"/>
              </a:spcAft>
            </a:pPr>
            <a:r>
              <a:rPr sz="1100" b="0">
                <a:solidFill>
                  <a:srgbClr val="B8C4D9"/>
                </a:solidFill>
                <a:latin typeface="DM Sans"/>
              </a:rPr>
              <a:t>Angrist, J. D., &amp; Pischke, J.-S. (2009). Mostly harmless econometrics: An empiricist's companion. Princeton University Press.</a:t>
            </a:r>
          </a:p>
          <a:p>
            <a:pPr algn="l">
              <a:lnSpc>
                <a:spcPct val="108000"/>
              </a:lnSpc>
              <a:spcAft>
                <a:spcPts val="500"/>
              </a:spcAft>
            </a:pPr>
            <a:r>
              <a:rPr sz="1100" b="0">
                <a:solidFill>
                  <a:srgbClr val="B8C4D9"/>
                </a:solidFill>
                <a:latin typeface="DM Sans"/>
              </a:rPr>
              <a:t>Bossard AG. (n.d.). SmartBin Cloud. Retrieved 6 October 2026, from https://www.bossard.com/ch-en/smart-factory-logistics/systems/smartbin-cloud/</a:t>
            </a:r>
          </a:p>
          <a:p>
            <a:pPr algn="l">
              <a:lnSpc>
                <a:spcPct val="108000"/>
              </a:lnSpc>
              <a:spcAft>
                <a:spcPts val="500"/>
              </a:spcAft>
            </a:pPr>
            <a:r>
              <a:rPr sz="1100" b="0">
                <a:solidFill>
                  <a:srgbClr val="B8C4D9"/>
                </a:solidFill>
                <a:latin typeface="DM Sans"/>
              </a:rPr>
              <a:t>Bossard AG &amp; D ONE Solutions AG. (2026). Smart Factory Logistics: SmartBin Cloud [Lecture slides, case description and case data]. HSLU, module Data-driven Supply Chain Management and Logistics. Confidential (NDA).</a:t>
            </a:r>
          </a:p>
          <a:p>
            <a:pPr algn="l">
              <a:lnSpc>
                <a:spcPct val="108000"/>
              </a:lnSpc>
              <a:spcAft>
                <a:spcPts val="500"/>
              </a:spcAft>
            </a:pPr>
            <a:r>
              <a:rPr sz="1100" b="0">
                <a:solidFill>
                  <a:srgbClr val="B8C4D9"/>
                </a:solidFill>
                <a:latin typeface="DM Sans"/>
              </a:rPr>
              <a:t>Chapman, P., Clinton, J., Kerber, R., Khabaza, T., Reinartz, T., Shearer, C., &amp; Wirth, R. (2000). CRISP-DM 1.0: Step-by-step data mining guide. SPSS Inc.</a:t>
            </a:r>
          </a:p>
          <a:p>
            <a:pPr algn="l">
              <a:lnSpc>
                <a:spcPct val="108000"/>
              </a:lnSpc>
              <a:spcAft>
                <a:spcPts val="500"/>
              </a:spcAft>
            </a:pPr>
            <a:r>
              <a:rPr sz="1100" b="0">
                <a:solidFill>
                  <a:srgbClr val="B8C4D9"/>
                </a:solidFill>
                <a:latin typeface="DM Sans"/>
              </a:rPr>
              <a:t>Donges, J. F., Schleussner, C.-F., Siegmund, J. F., &amp; Donner, R. V. (2016). Event coincidence analysis for quantifying statistical interrelationships between event time series. The European Physical Journal Special Topics, 225(3), 471–487. https://doi.org/10.1140/epjst/e2015-50233-y</a:t>
            </a:r>
          </a:p>
          <a:p>
            <a:pPr algn="l">
              <a:lnSpc>
                <a:spcPct val="108000"/>
              </a:lnSpc>
              <a:spcAft>
                <a:spcPts val="500"/>
              </a:spcAft>
            </a:pPr>
            <a:r>
              <a:rPr sz="1100" b="0">
                <a:solidFill>
                  <a:srgbClr val="B8C4D9"/>
                </a:solidFill>
                <a:latin typeface="DM Sans"/>
              </a:rPr>
              <a:t>Green, D. M., &amp; Swets, J. A. (1966). Signal detection theory and psychophysics. Wiley.</a:t>
            </a:r>
          </a:p>
          <a:p>
            <a:pPr algn="l">
              <a:lnSpc>
                <a:spcPct val="108000"/>
              </a:lnSpc>
              <a:spcAft>
                <a:spcPts val="500"/>
              </a:spcAft>
            </a:pPr>
            <a:r>
              <a:rPr sz="1100" b="0">
                <a:solidFill>
                  <a:srgbClr val="B8C4D9"/>
                </a:solidFill>
                <a:latin typeface="DM Sans"/>
              </a:rPr>
              <a:t>Grömping, U. (2006). Relative importance for linear regression in R: The package relaimpo. Journal of Statistical Software, 17(1), 1–27. https://doi.org/10.18637/jss.v017.i01</a:t>
            </a:r>
          </a:p>
          <a:p>
            <a:pPr algn="l">
              <a:lnSpc>
                <a:spcPct val="108000"/>
              </a:lnSpc>
              <a:spcAft>
                <a:spcPts val="500"/>
              </a:spcAft>
            </a:pPr>
            <a:r>
              <a:rPr sz="1100" b="0">
                <a:solidFill>
                  <a:srgbClr val="B8C4D9"/>
                </a:solidFill>
                <a:latin typeface="DM Sans"/>
              </a:rPr>
              <a:t>Shrout, P. E., &amp; Fleiss, J. L. (1979). Intraclass correlations: Uses in assessing rater reliability. Psychological Bulletin, 86(2), 420–428. https://doi.org/10.1037/0033-2909.86.2.420</a:t>
            </a:r>
          </a:p>
          <a:p>
            <a:pPr algn="l">
              <a:lnSpc>
                <a:spcPct val="108000"/>
              </a:lnSpc>
              <a:spcAft>
                <a:spcPts val="500"/>
              </a:spcAft>
            </a:pPr>
            <a:r>
              <a:rPr sz="1100" b="0">
                <a:solidFill>
                  <a:srgbClr val="B8C4D9"/>
                </a:solidFill>
                <a:latin typeface="DM Sans"/>
              </a:rPr>
              <a:t>Strathern, M. (1997). 'Improving ratings': Audit in the British university system. European Review, 5(3), 305–321.</a:t>
            </a:r>
          </a:p>
        </p:txBody>
      </p:sp>
      <p:sp>
        <p:nvSpPr>
          <p:cNvPr id="6" name="TextBox 5"/>
          <p:cNvSpPr txBox="1"/>
          <p:nvPr/>
        </p:nvSpPr>
        <p:spPr>
          <a:xfrm>
            <a:off x="813816" y="6419088"/>
            <a:ext cx="9875520" cy="228600"/>
          </a:xfrm>
          <a:prstGeom prst="rect">
            <a:avLst/>
          </a:prstGeom>
          <a:noFill/>
        </p:spPr>
        <p:txBody>
          <a:bodyPr wrap="square" lIns="0" rIns="0" tIns="0" bIns="0" anchor="t">
            <a:spAutoFit/>
          </a:bodyPr>
          <a:lstStyle/>
          <a:p>
            <a:pPr algn="l">
              <a:lnSpc>
                <a:spcPct val="100000"/>
              </a:lnSpc>
            </a:pPr>
            <a:r>
              <a:rPr sz="900" b="0">
                <a:solidFill>
                  <a:srgbClr val="8D99B0"/>
                </a:solidFill>
                <a:latin typeface="DM Sans"/>
              </a:rPr>
              <a:t/>
            </a:r>
          </a:p>
        </p:txBody>
      </p:sp>
      <p:sp>
        <p:nvSpPr>
          <p:cNvPr id="7" name="TextBox 6"/>
          <p:cNvSpPr txBox="1"/>
          <p:nvPr/>
        </p:nvSpPr>
        <p:spPr>
          <a:xfrm>
            <a:off x="10927080" y="6419088"/>
            <a:ext cx="457200" cy="228600"/>
          </a:xfrm>
          <a:prstGeom prst="rect">
            <a:avLst/>
          </a:prstGeom>
          <a:noFill/>
        </p:spPr>
        <p:txBody>
          <a:bodyPr wrap="square" lIns="0" rIns="0" tIns="0" bIns="0" anchor="t">
            <a:spAutoFit/>
          </a:bodyPr>
          <a:lstStyle/>
          <a:p>
            <a:pPr algn="r">
              <a:lnSpc>
                <a:spcPct val="112000"/>
              </a:lnSpc>
            </a:pPr>
            <a:r>
              <a:rPr sz="900" b="0">
                <a:solidFill>
                  <a:srgbClr val="8D99B0"/>
                </a:solidFill>
                <a:latin typeface="DM Sans"/>
              </a:rPr>
              <a:t>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SmartBin Cloud – wake up for picks, not for noise</dc:title>
  <dc:subject>HSLU · Data-driven Supply Chain Management and Logistics · Smart Logistics Service Optimisation</dc:subject>
  <dc:creator>Erenalp Çakıroğlu</dc:creator>
  <cp:keywords>SmartBin; IoT; sensitivity; Bossard; case study</cp:keywords>
  <dc:description/>
  <cp:lastModifiedBy>Erenalp Çakıroğlu</cp:lastModifiedBy>
  <cp:revision>1</cp:revision>
  <dcterms:created xsi:type="dcterms:W3CDTF">2026-10-22T15:54:27Z</dcterms:created>
  <dcterms:modified xsi:type="dcterms:W3CDTF">2026-10-22T15:54:27Z</dcterms:modified>
  <cp:category/>
</cp:coreProperties>
</file>