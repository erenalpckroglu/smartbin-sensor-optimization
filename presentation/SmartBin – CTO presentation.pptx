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 seconds.</a:t>
            </a:r>
          </a:p>
          <a:p>
            <a:r>
              <a:t>Bossard's SmartBin scales weigh a bin every time a vibration sensor wakes them up. Today three out of four of these weighings find nothing.</a:t>
            </a:r>
          </a:p>
          <a:p>
            <a:r>
              <a:t>The question of the case: how should the sensor sensitivity be set?</a:t>
            </a:r>
          </a:p>
          <a:p>
            <a:r>
              <a:t>Our answer in one sentence: there is no single right setting – every scale has to learn its own, from data the cloud already has.</a:t>
            </a:r>
          </a:p>
          <a:p>
            <a:r>
              <a:t>The three numbers on the right are the story: half the weighings can go, more than half of the empty wake-ups come from picking nearby, and a tiny group of broken scales caused a quarter of the load.</a:t>
            </a:r>
          </a:p>
          <a:p>
            <a:r>
              <a:t>Key line: "Wake up for picks, not for noise."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How a SmartBin works: a worker picks, the vibration sensor wakes the scale, the scale weighs and sends the new stock level to ARIMS, which reorders.</a:t>
            </a:r>
          </a:p>
          <a:p>
            <a:r>
              <a:t>A weighing is expensive: about 3,000 times the sleep power, plus radio, cloud and ARIMS traffic.</a:t>
            </a:r>
          </a:p>
          <a:p>
            <a:r>
              <a:t>Two ways to fail. Too sensitive: the scale wakes up and nothing changed – TOO_MANY. Too insensitive: it sleeps through a pick and the stock is wrong until a later weighing – TOO_FEW.</a:t>
            </a:r>
          </a:p>
          <a:p>
            <a:r>
              <a:t>Today the balance is clearly off: 76% of all automatic weighings are empty. The typical 20 kg scale wakes up empty 13.5 times a week for 1.5 real picks.</a:t>
            </a:r>
          </a:p>
          <a:p>
            <a:r>
              <a:t>Only 6% of the 20 kg and 19% of the 6 kg scales meet both targets.</a:t>
            </a:r>
          </a:p>
          <a:p>
            <a:r>
              <a:t>Key line: "The sensor is set for safety – and pays for it with noise."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The data: 7.6 million weighings of 18,455 scales over 16 weeks in 2022. Each weighing is labelled: real pick, empty wake-up, nothing missed, or a missed change.</a:t>
            </a:r>
          </a:p>
          <a:p>
            <a:r>
              <a:t>Four steps. Clean: we delete only what is technically broken – 5,733 duplicate copies and 5 impossible weights. Everything else that is unfit for the KPIs is flagged but kept, because the next weighing needs it to compute the weight change.</a:t>
            </a:r>
          </a:p>
          <a:p>
            <a:r>
              <a:t>Measure: one record per scale and level, summarised with the median. Otherwise a handful of noisy scales would drive every number.</a:t>
            </a:r>
          </a:p>
          <a:p>
            <a:r>
              <a:t>Explain and decide: the strongest evidence comes from April, when Bossard moved 7,846 scales away from level 8. We compare each of them with itself and with the scales that stayed on 8.</a:t>
            </a:r>
          </a:p>
          <a:p>
            <a:r>
              <a:t>Key line: "We let the data run its own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 (live or screenshot).</a:t>
            </a:r>
          </a:p>
          <a:p>
            <a:r>
              <a:t>Walk through the dashboard in three clicks: the KPI cards (fraction and TOO_FEW per scale type), the level filter, and the consistency chart that shows how wide the spread is within every level.</a:t>
            </a:r>
          </a:p>
          <a:p>
            <a:r>
              <a:t>Point out: whatever level you pick, the spread inside the level is wider than the difference between levels – the first hint that one setting for all cannot work.</a:t>
            </a:r>
          </a:p>
          <a:p>
            <a:r>
              <a:t>Key line: "The level matters – but where and how a bin is used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minutes.</a:t>
            </a:r>
          </a:p>
          <a:p>
            <a:r>
              <a:t>First finding: the problem is one-sided. Almost every scale meets the TOO_FEW target, almost none the TOO_MANY target. So the real question is how far we can lower the sensitivity before we start missing picks.</a:t>
            </a:r>
          </a:p>
          <a:p>
            <a:r>
              <a:t>Second: Bossard's KPI, the TOO_MANY fraction, is the wrong compass. It divides two numbers that both fall when you lower the sensitivity. On level 1 the sensor is practically off – yet the fraction looks better.</a:t>
            </a:r>
          </a:p>
          <a:p>
            <a:r>
              <a:t>Third: the fraction punishes slow-moving parts. A bin that is picked once a week can never have a good fraction.</a:t>
            </a:r>
          </a:p>
          <a:p>
            <a:r>
              <a:t>So we propose KPI 2.0: count empty wake-ups per week, and measure the share of real changes that were missed. That is what the battery and the customer actually feel.</a:t>
            </a:r>
          </a:p>
          <a:p>
            <a:r>
              <a:t>Key line: "Count what costs money, not a ratio."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minutes. This is the key insight – slow down here.</a:t>
            </a:r>
          </a:p>
          <a:p>
            <a:r>
              <a:t>Here is one real moment from the data: a worker picks from Bin A. Within seconds three neighbouring bins wake up, weigh, and find nothing.</a:t>
            </a:r>
          </a:p>
          <a:p>
            <a:r>
              <a:t>This is not a rare story. For every empty wake-up we looked for a real pick at another bin of the same site in a window of plus or minus 14 seconds. After subtracting what you would expect by chance, 55% of the empty wake-ups of normally working scales are linked to picking nearby.</a:t>
            </a:r>
          </a:p>
          <a:p>
            <a:r>
              <a:t>What does it mean? The sensor reacts to the rack, not only to its own bin. Lowering the sensitivity filters part of it; the rest is mechanical – damping or mounting.</a:t>
            </a:r>
          </a:p>
          <a:p>
            <a:r>
              <a:t>Be honest about the rest: it has no link to picking nearby, and the data cannot tell us what it is.</a:t>
            </a:r>
          </a:p>
          <a:p>
            <a:r>
              <a:t>Transition: "A claim like this needs proof. Here are four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minutes.</a:t>
            </a:r>
          </a:p>
          <a:p>
            <a:r>
              <a:t>Four tests, each closing a loophole.</a:t>
            </a:r>
          </a:p>
          <a:p>
            <a:r>
              <a:t>One: around an empty wake-up, picks at other bins of the site pile up sharply at zero seconds – from about 1.2 to 9.9 per minute. Both sensors wait the same 30 seconds before they weigh, so the peak sits exactly at zero.</a:t>
            </a:r>
          </a:p>
          <a:p>
            <a:r>
              <a:t>Two: a busy site has picks all the time. So we compare with a window one minute later – same hour, same activity. That is the chance level, and we subtract it.</a:t>
            </a:r>
          </a:p>
          <a:p>
            <a:r>
              <a:t>Three, the placebo: we take picks at a different site of similar size at the same second. If this were just the time of day, the placebo would show the same effect. It shows almost nothing – 0.7 percent.</a:t>
            </a:r>
          </a:p>
          <a:p>
            <a:r>
              <a:t>Four: the busier the site in that hour, the stronger the coupling, and it holds for practically every scale, not for a few.</a:t>
            </a:r>
          </a:p>
          <a:p>
            <a:r>
              <a:t>Limit: the data cannot separate vibration through the rack from a worker touching the bin. A short on-site test with an accelerometer or a damping pad settles that.</a:t>
            </a:r>
          </a:p>
          <a:p>
            <a:r>
              <a:t>Key line: "It is the rack, not the clock."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Third finding, and the most surprising one: a small group of scales is simply broken. They wake up every 90 seconds, around the clock – that is exactly the minimum wait time plus the measurement delay, so the scale keeps triggering itself.</a:t>
            </a:r>
          </a:p>
          <a:p>
            <a:r>
              <a:t>274 scales, 1.5 percent of the fleet, caused 27 percent of all automatic weighings. Most of them during the four-week trial of level 3 in April – that is why the case says "ignore level 3". But 59 scales looped on normal levels too.</a:t>
            </a:r>
          </a:p>
          <a:p>
            <a:r>
              <a:t>A loop drains a five-year battery in a few weeks.</a:t>
            </a:r>
          </a:p>
          <a:p>
            <a:r>
              <a:t>Important for trust: we took these scales out and re-ran everything. The results hold, and the coupling becomes even clearer, because a looping scale wakes up at night when nobody picks.</a:t>
            </a:r>
          </a:p>
          <a:p>
            <a:r>
              <a:t>Key line: "You cannot tune a broken scale – you flag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minutes.</a:t>
            </a:r>
          </a:p>
          <a:p>
            <a:r>
              <a:t>Left: what the knob really does, measured on the same scales before and after Bossard switched them, corrected for the trend of scales that stayed on 8. The first step, 8 to 7, removes about 52% to 59% of the empty wake-ups and costs only a few points of misses. Below level 6 the price rises steeply.</a:t>
            </a:r>
          </a:p>
          <a:p>
            <a:r>
              <a:t>Right: what drives the result between scales. Site and usage of the bin dominate. Box type and item weight – the only things Bossard knows before installing a bin – hardly matter.</a:t>
            </a:r>
          </a:p>
          <a:p>
            <a:r>
              <a:t>That is the logical turning point of the project. If the decisive facts only show once the scale runs, no master-data table can set the level. We tested it: a table by pick size ends up choosing the same level as one level for all.</a:t>
            </a:r>
          </a:p>
          <a:p>
            <a:r>
              <a:t>Key line: "The right setting is not in the master data – it is in the scale's own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Show one site with a good and one with a bad median on the same level. The differences between sites are large and reproducible: 40 to 42 percent of the variation lies between sites, and two random halves of each site agree closely.</a:t>
            </a:r>
          </a:p>
          <a:p>
            <a:r>
              <a:t>Key line: "Same knob, different factory, different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Our recommendation has three parts, and none of them needs new hardware.</a:t>
            </a:r>
          </a:p>
          <a:p>
            <a:r>
              <a:t>Flag: a daily rule finds the broken scales and takes them out of the tuning – they go to service.</a:t>
            </a:r>
          </a:p>
          <a:p>
            <a:r>
              <a:t>Tune: every scale starts on level 7 and then moves one step at a time, every two weeks, based on its own empty wake-ups and misses.</a:t>
            </a:r>
          </a:p>
          <a:p>
            <a:r>
              <a:t>Watch: KPI 2.0 per scale, the existing 24-hour check as the safety net, and extra attention for the few scales where misses concentrate.</a:t>
            </a:r>
          </a:p>
          <a:p>
            <a:r>
              <a:t>Roll-out in three phases: the detector and the new default can start now; the rule goes into an eight-week pilot with control sites; then roll out.</a:t>
            </a:r>
          </a:p>
          <a:p>
            <a:r>
              <a:t>Key line: "Flag what is broken, tune what works, watch what the customer feels."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How do you find a broken scale? Two numbers per scale and level over the last week: r, the share of wake-ups that come within two minutes of the previous one, and n, wake-ups per day. If more than half come in rapid succession and there are more than 20 a day, it is a loop.</a:t>
            </a:r>
          </a:p>
          <a:p>
            <a:r>
              <a:t>The chart shows why this is easy: normal scales and looping scales sit in completely different corners. The typical looping scale wakes up 630 times a day; even the 99th percentile of normal scales stays at about 48 wake-ups a day and 30% quick re-triggers.</a:t>
            </a:r>
          </a:p>
          <a:p>
            <a:r>
              <a:t>What happens then? First, the scale is set back to 7 remotely. If it keeps looping for two days, a service ticket. And the list goes to the firmware team.</a:t>
            </a:r>
          </a:p>
          <a:p>
            <a:r>
              <a:t>We do not send anyone to service ourselves: we deliver the rule as code and today's list; Bossard runs it daily in the cloud.</a:t>
            </a:r>
          </a:p>
          <a:p>
            <a:r>
              <a:t>Key line: "Two numbers, one rule, every 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minutes. This is the method the client takes home – make it concrete.</a:t>
            </a:r>
          </a:p>
          <a:p>
            <a:r>
              <a:t>Every two weeks the cloud counts three numbers per scale: empty wake-ups E, picks caught P, and misses M that a later weighing found. The miss share m is M over P plus M.</a:t>
            </a:r>
          </a:p>
          <a:p>
            <a:r>
              <a:t>Then one of three things happens. Too many misses – more than 10 percent, or more than two a week – one step more sensitive. Many empty wake-ups – more than seven a week – while misses are comfortably low: one step less sensitive. Otherwise: stay.</a:t>
            </a:r>
          </a:p>
          <a:p>
            <a:r>
              <a:t>The example: a busy bin starts on 7, steps down twice, misses one pick on level 5, steps back up to 6 and stays there – with about two thirds fewer empty wake-ups than today.</a:t>
            </a:r>
          </a:p>
          <a:p>
            <a:r>
              <a:t>The honest trade-off: because the rule keeps testing the next level down, the typical scale ends at about 11 percent missed, just above the 10 percent limit. The pilot decides whether to make the step-down stricter.</a:t>
            </a:r>
          </a:p>
          <a:p>
            <a:r>
              <a:t>Key line: "Every scale finds its own level –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The natural worry: if the sensor sleeps more, does stock stay wrong for days?</a:t>
            </a:r>
          </a:p>
          <a:p>
            <a:r>
              <a:t>The data answer it. A missed pick is found by the next weighing – any later wake-up, or the 24-hour idle check that Bossard already runs. That check finds 91% of all detected misses. The median time to find a miss is about a day and a half; three quarters or more are found within two days.</a:t>
            </a:r>
          </a:p>
          <a:p>
            <a:r>
              <a:t>One percent take up to a week – that is today already, probably scales that are offline. A cheap alarm for scales without any weighing for 48 hours closes that gap.</a:t>
            </a:r>
          </a:p>
          <a:p>
            <a:r>
              <a:t>And misses are concentrated: ten percent of the scales produce half of them. Those go on a watch list.</a:t>
            </a:r>
          </a:p>
          <a:p>
            <a:r>
              <a:t>What we do not recommend is a nightly check for every scale – it would eat a third of the savings.</a:t>
            </a:r>
          </a:p>
          <a:p>
            <a:r>
              <a:t>Key line: "We keep the safety net – and point it at the few scales that need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We simulated nine policies on every scale, using each scale's own behaviour and the measured effect of the knob.</a:t>
            </a:r>
          </a:p>
          <a:p>
            <a:r>
              <a:t>The chart shows the trade-off: further left means fewer weighings, higher means more misses. One level for all, tuned to Bossard's KPIs, saves the most – but misses 38 to 46 percent of all changes: it simply switches the sensor off. Steering by the fraction ends in the same place.</a:t>
            </a:r>
          </a:p>
          <a:p>
            <a:r>
              <a:t>Our rule sits in the sweet spot: about 61 and 55 percent fewer weighings, with the typical scale missing about 11 to 12 percent – and those misses are found by the 24-hour check.</a:t>
            </a:r>
          </a:p>
          <a:p>
            <a:r>
              <a:t>Across the installed base that would be roughly 2.1 million weighings a week – an illustration, not a promise.</a:t>
            </a:r>
          </a:p>
          <a:p>
            <a:r>
              <a:t>Key line: "Half the noise, and nothing goes unseen."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 – or skip and keep for questions.</a:t>
            </a:r>
          </a:p>
          <a:p>
            <a:r>
              <a:t>We tested the obvious shortcuts. One level for everyone looks great on Bossard's KPIs and misses almost half of the changes. Steering by the fraction does the same.</a:t>
            </a:r>
          </a:p>
          <a:p>
            <a:r>
              <a:t>Quiet hours sound attractive, but empty wake-ups follow the working day exactly like real picks – so you would block real picks too.</a:t>
            </a:r>
          </a:p>
          <a:p>
            <a:r>
              <a:t>A nightly check for every scale eats a third of the savings. A longer wait time could not be measured, because it was only used at two sites.</a:t>
            </a:r>
          </a:p>
          <a:p>
            <a:r>
              <a:t>Merging bursts is not wrong – it is an optional firmware item that adds a few percent.</a:t>
            </a:r>
          </a:p>
          <a:p>
            <a:r>
              <a:t>Key line: "Every shortcut either switches the sensor off or ignores what makes each bin different."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minute.</a:t>
            </a:r>
          </a:p>
          <a:p>
            <a:r>
              <a:t>What should Bossard do on Monday? Two things are low-risk and can start now: run the loop detector, and change the factory default from 8 to 7 – we measured that step on hundreds of scales.</a:t>
            </a:r>
          </a:p>
          <a:p>
            <a:r>
              <a:t>The rule itself goes into an eight-week pilot at about ten sites, each compared with a matched control site. The pilot also decides how strict the step-down threshold should be.</a:t>
            </a:r>
          </a:p>
          <a:p>
            <a:r>
              <a:t>In parallel: a vibration test at the sites with the most coupling, a firmware fix for the loops, and three facts we inferred from the data and want Bossard to confirm.</a:t>
            </a:r>
          </a:p>
          <a:p>
            <a:r>
              <a:t>Limits, briefly: one season of data, the switch was not randomised, and TOO_FEW undercounts misses. That is exactly why we recommend a pilot, not a big-bang roll-out.</a:t>
            </a:r>
          </a:p>
          <a:p>
            <a:r>
              <a:t>Key line: "Start the safe part now, let the pilot decide the rest."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during questions. Backup slides answer the likely technical questions: data cleaning, robustness without the loop scales, methods, pick size, the code and the KPI 2.0 dashboard.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 'Did you check for duplicates?' Yes – and they were not all identical, which is why conflicting copies keep the weight chain but lose their label.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'Should the broken scales not be removed first?' Yes – this slide shows every key number with and without them. Medians and the recommendation are unchanged; the coupling gets stronger.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about a method. The simulator is somewhat optimistic in the back-test and predicts single scales only roughly – it compares policies, it is not a forecast.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'Does the pick size matter?' Yes for placement, not for a table: the efficient level is 6–8 for almost every pick size, which is why the rule starts on 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data scientists in the room: everything is reproducible from the three raw files.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shows how the WATCH step would look in operation.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cited on the slides. Case data are confidential and used under the module 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28"/>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9999"/>
          </a:solidFill>
          <a:ln>
            <a:noFill/>
          </a:ln>
        </p:spPr>
        <p:txBody>
          <a:bodyPr rtlCol="0" anchor="ctr"/>
          <a:lstStyle/>
          <a:p>
            <a:pPr algn="ctr"/>
          </a:p>
        </p:txBody>
      </p:sp>
      <p:sp>
        <p:nvSpPr>
          <p:cNvPr id="3" name="TextBox 2"/>
          <p:cNvSpPr txBox="1"/>
          <p:nvPr/>
        </p:nvSpPr>
        <p:spPr>
          <a:xfrm>
            <a:off x="822960" y="777240"/>
            <a:ext cx="10058400" cy="274320"/>
          </a:xfrm>
          <a:prstGeom prst="rect">
            <a:avLst/>
          </a:prstGeom>
          <a:noFill/>
        </p:spPr>
        <p:txBody>
          <a:bodyPr wrap="square" lIns="0" rIns="0" tIns="0" bIns="0" anchor="t">
            <a:spAutoFit/>
          </a:bodyPr>
          <a:lstStyle/>
          <a:p>
            <a:pPr algn="l">
              <a:lnSpc>
                <a:spcPct val="112000"/>
              </a:lnSpc>
            </a:pPr>
            <a:r>
              <a:rPr sz="1100" b="1" i="0" spc="120">
                <a:solidFill>
                  <a:srgbClr val="00FFB9"/>
                </a:solidFill>
                <a:latin typeface="Arial"/>
              </a:rPr>
              <a:t>DATA-DRIVEN SUPPLY CHAIN MANAGEMENT AND LOGISTICS · CASE STUDY BOSSARD × D ONE</a:t>
            </a:r>
          </a:p>
        </p:txBody>
      </p:sp>
      <p:sp>
        <p:nvSpPr>
          <p:cNvPr id="4" name="TextBox 3"/>
          <p:cNvSpPr txBox="1"/>
          <p:nvPr/>
        </p:nvSpPr>
        <p:spPr>
          <a:xfrm>
            <a:off x="822960" y="1234440"/>
            <a:ext cx="6858000" cy="1645920"/>
          </a:xfrm>
          <a:prstGeom prst="rect">
            <a:avLst/>
          </a:prstGeom>
          <a:noFill/>
        </p:spPr>
        <p:txBody>
          <a:bodyPr wrap="square" lIns="0" rIns="0" tIns="0" bIns="0" anchor="t">
            <a:spAutoFit/>
          </a:bodyPr>
          <a:lstStyle/>
          <a:p>
            <a:pPr algn="l">
              <a:lnSpc>
                <a:spcPct val="100000"/>
              </a:lnSpc>
            </a:pPr>
            <a:r>
              <a:rPr sz="3800" b="1" i="0">
                <a:solidFill>
                  <a:srgbClr val="FFFFFF"/>
                </a:solidFill>
                <a:latin typeface="Arial"/>
              </a:rPr>
              <a:t>SmartBin Cloud:</a:t>
            </a:r>
          </a:p>
          <a:p>
            <a:pPr algn="l">
              <a:lnSpc>
                <a:spcPct val="100000"/>
              </a:lnSpc>
            </a:pPr>
            <a:r>
              <a:rPr sz="3800" b="1" i="0">
                <a:solidFill>
                  <a:srgbClr val="FFFFFF"/>
                </a:solidFill>
                <a:latin typeface="Arial"/>
              </a:rPr>
              <a:t>wake up for picks,</a:t>
            </a:r>
          </a:p>
          <a:p>
            <a:pPr algn="l">
              <a:lnSpc>
                <a:spcPct val="100000"/>
              </a:lnSpc>
            </a:pPr>
            <a:r>
              <a:rPr sz="3800" b="1" i="0">
                <a:solidFill>
                  <a:srgbClr val="FFFFFF"/>
                </a:solidFill>
                <a:latin typeface="Arial"/>
              </a:rPr>
              <a:t>not for noise</a:t>
            </a:r>
          </a:p>
        </p:txBody>
      </p:sp>
      <p:sp>
        <p:nvSpPr>
          <p:cNvPr id="5" name="TextBox 4"/>
          <p:cNvSpPr txBox="1"/>
          <p:nvPr/>
        </p:nvSpPr>
        <p:spPr>
          <a:xfrm>
            <a:off x="822960" y="3248406"/>
            <a:ext cx="6400800" cy="822960"/>
          </a:xfrm>
          <a:prstGeom prst="rect">
            <a:avLst/>
          </a:prstGeom>
          <a:noFill/>
        </p:spPr>
        <p:txBody>
          <a:bodyPr wrap="square" lIns="0" rIns="0" tIns="0" bIns="0" anchor="t">
            <a:spAutoFit/>
          </a:bodyPr>
          <a:lstStyle/>
          <a:p>
            <a:pPr algn="l">
              <a:lnSpc>
                <a:spcPct val="115000"/>
              </a:lnSpc>
            </a:pPr>
            <a:r>
              <a:rPr sz="1700" b="0" i="0">
                <a:solidFill>
                  <a:srgbClr val="C9CBE0"/>
                </a:solidFill>
                <a:latin typeface="Arial"/>
              </a:rPr>
              <a:t>How every scale can learn its own sensor sensitivity – from 7.6 million weighings</a:t>
            </a:r>
          </a:p>
        </p:txBody>
      </p:sp>
      <p:sp>
        <p:nvSpPr>
          <p:cNvPr id="6" name="TextBox 5"/>
          <p:cNvSpPr txBox="1"/>
          <p:nvPr/>
        </p:nvSpPr>
        <p:spPr>
          <a:xfrm>
            <a:off x="822960" y="5806440"/>
            <a:ext cx="7315200" cy="548640"/>
          </a:xfrm>
          <a:prstGeom prst="rect">
            <a:avLst/>
          </a:prstGeom>
          <a:noFill/>
        </p:spPr>
        <p:txBody>
          <a:bodyPr wrap="square" lIns="0" rIns="0" tIns="0" bIns="0" anchor="t">
            <a:spAutoFit/>
          </a:bodyPr>
          <a:lstStyle/>
          <a:p>
            <a:pPr algn="l">
              <a:lnSpc>
                <a:spcPct val="112000"/>
              </a:lnSpc>
            </a:pPr>
            <a:r>
              <a:rPr sz="1200" b="0" i="0">
                <a:solidFill>
                  <a:srgbClr val="C9CBE0"/>
                </a:solidFill>
                <a:latin typeface="Arial"/>
              </a:rPr>
              <a:t>Erenalp Çakıroğlu · MSc Applied Information and Data Science, HSLU</a:t>
            </a:r>
          </a:p>
        </p:txBody>
      </p:sp>
      <p:sp>
        <p:nvSpPr>
          <p:cNvPr id="7" name="TextBox 6"/>
          <p:cNvSpPr txBox="1"/>
          <p:nvPr/>
        </p:nvSpPr>
        <p:spPr>
          <a:xfrm>
            <a:off x="8001000" y="1280160"/>
            <a:ext cx="3657600" cy="274320"/>
          </a:xfrm>
          <a:prstGeom prst="rect">
            <a:avLst/>
          </a:prstGeom>
          <a:noFill/>
        </p:spPr>
        <p:txBody>
          <a:bodyPr wrap="square" lIns="0" rIns="0" tIns="0" bIns="0" anchor="t">
            <a:spAutoFit/>
          </a:bodyPr>
          <a:lstStyle/>
          <a:p>
            <a:pPr algn="l">
              <a:lnSpc>
                <a:spcPct val="112000"/>
              </a:lnSpc>
            </a:pPr>
            <a:r>
              <a:rPr sz="1050" b="1" i="0" spc="120">
                <a:solidFill>
                  <a:srgbClr val="00FFB9"/>
                </a:solidFill>
                <a:latin typeface="Arial"/>
              </a:rPr>
              <a:t>THE ANSWER IN THREE NUMBERS</a:t>
            </a:r>
          </a:p>
        </p:txBody>
      </p:sp>
      <p:cxnSp>
        <p:nvCxnSpPr>
          <p:cNvPr id="8" name="Connector 7"/>
          <p:cNvCxnSpPr/>
          <p:nvPr/>
        </p:nvCxnSpPr>
        <p:spPr>
          <a:xfrm>
            <a:off x="8001000" y="1645920"/>
            <a:ext cx="3566160" cy="0"/>
          </a:xfrm>
          <a:prstGeom prst="line">
            <a:avLst/>
          </a:prstGeom>
          <a:ln w="9525">
            <a:solidFill>
              <a:srgbClr val="2E315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001000" y="1783080"/>
            <a:ext cx="3566160" cy="400050"/>
          </a:xfrm>
          <a:prstGeom prst="rect">
            <a:avLst/>
          </a:prstGeom>
          <a:noFill/>
        </p:spPr>
        <p:txBody>
          <a:bodyPr wrap="square" lIns="0" rIns="0" tIns="0" bIns="0" anchor="t">
            <a:spAutoFit/>
          </a:bodyPr>
          <a:lstStyle/>
          <a:p>
            <a:pPr algn="l">
              <a:lnSpc>
                <a:spcPct val="95000"/>
              </a:lnSpc>
            </a:pPr>
            <a:r>
              <a:rPr sz="3000" b="1" i="0">
                <a:solidFill>
                  <a:srgbClr val="FFFFFF"/>
                </a:solidFill>
                <a:latin typeface="Arial"/>
              </a:rPr>
              <a:t>−61% / −55%</a:t>
            </a:r>
          </a:p>
        </p:txBody>
      </p:sp>
      <p:sp>
        <p:nvSpPr>
          <p:cNvPr id="10" name="TextBox 9"/>
          <p:cNvSpPr txBox="1"/>
          <p:nvPr/>
        </p:nvSpPr>
        <p:spPr>
          <a:xfrm>
            <a:off x="8001000" y="2210562"/>
            <a:ext cx="3566160" cy="274320"/>
          </a:xfrm>
          <a:prstGeom prst="rect">
            <a:avLst/>
          </a:prstGeom>
          <a:noFill/>
        </p:spPr>
        <p:txBody>
          <a:bodyPr wrap="square" lIns="0" rIns="0" tIns="0" bIns="0" anchor="t">
            <a:spAutoFit/>
          </a:bodyPr>
          <a:lstStyle/>
          <a:p>
            <a:pPr algn="l">
              <a:lnSpc>
                <a:spcPct val="110000"/>
              </a:lnSpc>
            </a:pPr>
            <a:r>
              <a:rPr sz="1200" b="0" i="0">
                <a:solidFill>
                  <a:srgbClr val="C9CBE0"/>
                </a:solidFill>
                <a:latin typeface="Arial"/>
              </a:rPr>
              <a:t>weighings with the recommended rule (20 kg / 6 kg scales)</a:t>
            </a:r>
          </a:p>
        </p:txBody>
      </p:sp>
      <p:cxnSp>
        <p:nvCxnSpPr>
          <p:cNvPr id="11" name="Connector 10"/>
          <p:cNvCxnSpPr/>
          <p:nvPr/>
        </p:nvCxnSpPr>
        <p:spPr>
          <a:xfrm>
            <a:off x="8001000" y="2831439"/>
            <a:ext cx="3566160" cy="0"/>
          </a:xfrm>
          <a:prstGeom prst="line">
            <a:avLst/>
          </a:prstGeom>
          <a:ln w="9525">
            <a:solidFill>
              <a:srgbClr val="2E31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0" y="2968599"/>
            <a:ext cx="3566160" cy="400050"/>
          </a:xfrm>
          <a:prstGeom prst="rect">
            <a:avLst/>
          </a:prstGeom>
          <a:noFill/>
        </p:spPr>
        <p:txBody>
          <a:bodyPr wrap="square" lIns="0" rIns="0" tIns="0" bIns="0" anchor="t">
            <a:spAutoFit/>
          </a:bodyPr>
          <a:lstStyle/>
          <a:p>
            <a:pPr algn="l">
              <a:lnSpc>
                <a:spcPct val="95000"/>
              </a:lnSpc>
            </a:pPr>
            <a:r>
              <a:rPr sz="3000" b="1" i="0">
                <a:solidFill>
                  <a:srgbClr val="FFFFFF"/>
                </a:solidFill>
                <a:latin typeface="Arial"/>
              </a:rPr>
              <a:t>55%</a:t>
            </a:r>
          </a:p>
        </p:txBody>
      </p:sp>
      <p:sp>
        <p:nvSpPr>
          <p:cNvPr id="13" name="TextBox 12"/>
          <p:cNvSpPr txBox="1"/>
          <p:nvPr/>
        </p:nvSpPr>
        <p:spPr>
          <a:xfrm>
            <a:off x="8001000" y="3396081"/>
            <a:ext cx="3566160" cy="274320"/>
          </a:xfrm>
          <a:prstGeom prst="rect">
            <a:avLst/>
          </a:prstGeom>
          <a:noFill/>
        </p:spPr>
        <p:txBody>
          <a:bodyPr wrap="square" lIns="0" rIns="0" tIns="0" bIns="0" anchor="t">
            <a:spAutoFit/>
          </a:bodyPr>
          <a:lstStyle/>
          <a:p>
            <a:pPr algn="l">
              <a:lnSpc>
                <a:spcPct val="110000"/>
              </a:lnSpc>
            </a:pPr>
            <a:r>
              <a:rPr sz="1200" b="0" i="0">
                <a:solidFill>
                  <a:srgbClr val="C9CBE0"/>
                </a:solidFill>
                <a:latin typeface="Arial"/>
              </a:rPr>
              <a:t>of the empty wake-ups of normally working scales coincide with a pick at the same site – beyond chance</a:t>
            </a:r>
          </a:p>
        </p:txBody>
      </p:sp>
      <p:cxnSp>
        <p:nvCxnSpPr>
          <p:cNvPr id="14" name="Connector 13"/>
          <p:cNvCxnSpPr/>
          <p:nvPr/>
        </p:nvCxnSpPr>
        <p:spPr>
          <a:xfrm>
            <a:off x="8001000" y="4213098"/>
            <a:ext cx="3566160" cy="0"/>
          </a:xfrm>
          <a:prstGeom prst="line">
            <a:avLst/>
          </a:prstGeom>
          <a:ln w="9525">
            <a:solidFill>
              <a:srgbClr val="2E315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01000" y="4350258"/>
            <a:ext cx="3566160" cy="400050"/>
          </a:xfrm>
          <a:prstGeom prst="rect">
            <a:avLst/>
          </a:prstGeom>
          <a:noFill/>
        </p:spPr>
        <p:txBody>
          <a:bodyPr wrap="square" lIns="0" rIns="0" tIns="0" bIns="0" anchor="t">
            <a:spAutoFit/>
          </a:bodyPr>
          <a:lstStyle/>
          <a:p>
            <a:pPr algn="l">
              <a:lnSpc>
                <a:spcPct val="95000"/>
              </a:lnSpc>
            </a:pPr>
            <a:r>
              <a:rPr sz="3000" b="1" i="0">
                <a:solidFill>
                  <a:srgbClr val="FFFFFF"/>
                </a:solidFill>
                <a:latin typeface="Arial"/>
              </a:rPr>
              <a:t>1.5% → 27%</a:t>
            </a:r>
          </a:p>
        </p:txBody>
      </p:sp>
      <p:sp>
        <p:nvSpPr>
          <p:cNvPr id="16" name="TextBox 15"/>
          <p:cNvSpPr txBox="1"/>
          <p:nvPr/>
        </p:nvSpPr>
        <p:spPr>
          <a:xfrm>
            <a:off x="8001000" y="4777740"/>
            <a:ext cx="3566160" cy="274320"/>
          </a:xfrm>
          <a:prstGeom prst="rect">
            <a:avLst/>
          </a:prstGeom>
          <a:noFill/>
        </p:spPr>
        <p:txBody>
          <a:bodyPr wrap="square" lIns="0" rIns="0" tIns="0" bIns="0" anchor="t">
            <a:spAutoFit/>
          </a:bodyPr>
          <a:lstStyle/>
          <a:p>
            <a:pPr algn="l">
              <a:lnSpc>
                <a:spcPct val="110000"/>
              </a:lnSpc>
            </a:pPr>
            <a:r>
              <a:rPr sz="1200" b="0" i="0">
                <a:solidFill>
                  <a:srgbClr val="C9CBE0"/>
                </a:solidFill>
                <a:latin typeface="Arial"/>
              </a:rPr>
              <a:t>1.5% of the scales were stuck in a trigger loop and caused 27% of all automatic weighings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THE PROBLEM</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Three out of four automatic weighings find nothing</a:t>
            </a:r>
          </a:p>
        </p:txBody>
      </p:sp>
      <p:sp>
        <p:nvSpPr>
          <p:cNvPr id="5" name="Rectangle 4"/>
          <p:cNvSpPr/>
          <p:nvPr/>
        </p:nvSpPr>
        <p:spPr>
          <a:xfrm>
            <a:off x="566928" y="1316736"/>
            <a:ext cx="1481328" cy="1097280"/>
          </a:xfrm>
          <a:prstGeom prst="rect">
            <a:avLst/>
          </a:prstGeom>
          <a:solidFill>
            <a:srgbClr val="F3F3F0"/>
          </a:solidFill>
          <a:ln>
            <a:noFill/>
          </a:ln>
        </p:spPr>
        <p:txBody>
          <a:bodyPr rtlCol="0" anchor="ctr"/>
          <a:lstStyle/>
          <a:p>
            <a:pPr algn="ctr"/>
          </a:p>
        </p:txBody>
      </p:sp>
      <p:sp>
        <p:nvSpPr>
          <p:cNvPr id="6" name="Rectangle 5"/>
          <p:cNvSpPr/>
          <p:nvPr/>
        </p:nvSpPr>
        <p:spPr>
          <a:xfrm>
            <a:off x="566928" y="1316736"/>
            <a:ext cx="1481328" cy="54864"/>
          </a:xfrm>
          <a:prstGeom prst="rect">
            <a:avLst/>
          </a:prstGeom>
          <a:solidFill>
            <a:srgbClr val="009999"/>
          </a:solidFill>
          <a:ln>
            <a:noFill/>
          </a:ln>
        </p:spPr>
        <p:txBody>
          <a:bodyPr rtlCol="0" anchor="ctr"/>
          <a:lstStyle/>
          <a:p>
            <a:pPr algn="ctr"/>
          </a:p>
        </p:txBody>
      </p:sp>
      <p:sp>
        <p:nvSpPr>
          <p:cNvPr id="7" name="TextBox 6"/>
          <p:cNvSpPr txBox="1"/>
          <p:nvPr/>
        </p:nvSpPr>
        <p:spPr>
          <a:xfrm>
            <a:off x="676656" y="1481328"/>
            <a:ext cx="1261872" cy="91440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A worker picks</a:t>
            </a:r>
          </a:p>
          <a:p>
            <a:pPr algn="l">
              <a:lnSpc>
                <a:spcPct val="110000"/>
              </a:lnSpc>
            </a:pPr>
            <a:r>
              <a:rPr sz="1200" b="0" i="0">
                <a:solidFill>
                  <a:srgbClr val="000028"/>
                </a:solidFill>
                <a:latin typeface="Arial"/>
              </a:rPr>
              <a:t>from a bin</a:t>
            </a:r>
          </a:p>
        </p:txBody>
      </p:sp>
      <p:cxnSp>
        <p:nvCxnSpPr>
          <p:cNvPr id="8" name="Connector 7"/>
          <p:cNvCxnSpPr/>
          <p:nvPr/>
        </p:nvCxnSpPr>
        <p:spPr>
          <a:xfrm>
            <a:off x="2084832" y="1865376"/>
            <a:ext cx="201168"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322576" y="1316736"/>
            <a:ext cx="1481328" cy="1097280"/>
          </a:xfrm>
          <a:prstGeom prst="rect">
            <a:avLst/>
          </a:prstGeom>
          <a:solidFill>
            <a:srgbClr val="F3F3F0"/>
          </a:solidFill>
          <a:ln>
            <a:noFill/>
          </a:ln>
        </p:spPr>
        <p:txBody>
          <a:bodyPr rtlCol="0" anchor="ctr"/>
          <a:lstStyle/>
          <a:p>
            <a:pPr algn="ctr"/>
          </a:p>
        </p:txBody>
      </p:sp>
      <p:sp>
        <p:nvSpPr>
          <p:cNvPr id="10" name="Rectangle 9"/>
          <p:cNvSpPr/>
          <p:nvPr/>
        </p:nvSpPr>
        <p:spPr>
          <a:xfrm>
            <a:off x="2322576" y="1316736"/>
            <a:ext cx="1481328" cy="54864"/>
          </a:xfrm>
          <a:prstGeom prst="rect">
            <a:avLst/>
          </a:prstGeom>
          <a:solidFill>
            <a:srgbClr val="009999"/>
          </a:solidFill>
          <a:ln>
            <a:noFill/>
          </a:ln>
        </p:spPr>
        <p:txBody>
          <a:bodyPr rtlCol="0" anchor="ctr"/>
          <a:lstStyle/>
          <a:p>
            <a:pPr algn="ctr"/>
          </a:p>
        </p:txBody>
      </p:sp>
      <p:sp>
        <p:nvSpPr>
          <p:cNvPr id="11" name="TextBox 10"/>
          <p:cNvSpPr txBox="1"/>
          <p:nvPr/>
        </p:nvSpPr>
        <p:spPr>
          <a:xfrm>
            <a:off x="2432304" y="1481328"/>
            <a:ext cx="1261872" cy="91440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The vibration sensor</a:t>
            </a:r>
          </a:p>
          <a:p>
            <a:pPr algn="l">
              <a:lnSpc>
                <a:spcPct val="110000"/>
              </a:lnSpc>
            </a:pPr>
            <a:r>
              <a:rPr sz="1200" b="0" i="0">
                <a:solidFill>
                  <a:srgbClr val="000028"/>
                </a:solidFill>
                <a:latin typeface="Arial"/>
              </a:rPr>
              <a:t>wakes the scale</a:t>
            </a:r>
          </a:p>
        </p:txBody>
      </p:sp>
      <p:cxnSp>
        <p:nvCxnSpPr>
          <p:cNvPr id="12" name="Connector 11"/>
          <p:cNvCxnSpPr/>
          <p:nvPr/>
        </p:nvCxnSpPr>
        <p:spPr>
          <a:xfrm>
            <a:off x="3840480" y="1865376"/>
            <a:ext cx="201168"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78224" y="1316736"/>
            <a:ext cx="1481328" cy="1097280"/>
          </a:xfrm>
          <a:prstGeom prst="rect">
            <a:avLst/>
          </a:prstGeom>
          <a:solidFill>
            <a:srgbClr val="F3F3F0"/>
          </a:solidFill>
          <a:ln>
            <a:noFill/>
          </a:ln>
        </p:spPr>
        <p:txBody>
          <a:bodyPr rtlCol="0" anchor="ctr"/>
          <a:lstStyle/>
          <a:p>
            <a:pPr algn="ctr"/>
          </a:p>
        </p:txBody>
      </p:sp>
      <p:sp>
        <p:nvSpPr>
          <p:cNvPr id="14" name="Rectangle 13"/>
          <p:cNvSpPr/>
          <p:nvPr/>
        </p:nvSpPr>
        <p:spPr>
          <a:xfrm>
            <a:off x="4078224" y="1316736"/>
            <a:ext cx="1481328" cy="54864"/>
          </a:xfrm>
          <a:prstGeom prst="rect">
            <a:avLst/>
          </a:prstGeom>
          <a:solidFill>
            <a:srgbClr val="009999"/>
          </a:solidFill>
          <a:ln>
            <a:noFill/>
          </a:ln>
        </p:spPr>
        <p:txBody>
          <a:bodyPr rtlCol="0" anchor="ctr"/>
          <a:lstStyle/>
          <a:p>
            <a:pPr algn="ctr"/>
          </a:p>
        </p:txBody>
      </p:sp>
      <p:sp>
        <p:nvSpPr>
          <p:cNvPr id="15" name="TextBox 14"/>
          <p:cNvSpPr txBox="1"/>
          <p:nvPr/>
        </p:nvSpPr>
        <p:spPr>
          <a:xfrm>
            <a:off x="4187952" y="1481328"/>
            <a:ext cx="1261872" cy="91440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The scale weighs</a:t>
            </a:r>
          </a:p>
          <a:p>
            <a:pPr algn="l">
              <a:lnSpc>
                <a:spcPct val="110000"/>
              </a:lnSpc>
            </a:pPr>
            <a:r>
              <a:rPr sz="1200" b="0" i="0">
                <a:solidFill>
                  <a:srgbClr val="000028"/>
                </a:solidFill>
                <a:latin typeface="Arial"/>
              </a:rPr>
              <a:t>(≈ 3,000× sleep</a:t>
            </a:r>
          </a:p>
          <a:p>
            <a:pPr algn="l">
              <a:lnSpc>
                <a:spcPct val="110000"/>
              </a:lnSpc>
            </a:pPr>
            <a:r>
              <a:rPr sz="1200" b="0" i="0">
                <a:solidFill>
                  <a:srgbClr val="000028"/>
                </a:solidFill>
                <a:latin typeface="Arial"/>
              </a:rPr>
              <a:t>power)</a:t>
            </a:r>
          </a:p>
        </p:txBody>
      </p:sp>
      <p:cxnSp>
        <p:nvCxnSpPr>
          <p:cNvPr id="16" name="Connector 15"/>
          <p:cNvCxnSpPr/>
          <p:nvPr/>
        </p:nvCxnSpPr>
        <p:spPr>
          <a:xfrm>
            <a:off x="5596128" y="1865376"/>
            <a:ext cx="201168"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833872" y="1316736"/>
            <a:ext cx="1481328" cy="1097280"/>
          </a:xfrm>
          <a:prstGeom prst="rect">
            <a:avLst/>
          </a:prstGeom>
          <a:solidFill>
            <a:srgbClr val="F3F3F0"/>
          </a:solidFill>
          <a:ln>
            <a:noFill/>
          </a:ln>
        </p:spPr>
        <p:txBody>
          <a:bodyPr rtlCol="0" anchor="ctr"/>
          <a:lstStyle/>
          <a:p>
            <a:pPr algn="ctr"/>
          </a:p>
        </p:txBody>
      </p:sp>
      <p:sp>
        <p:nvSpPr>
          <p:cNvPr id="18" name="Rectangle 17"/>
          <p:cNvSpPr/>
          <p:nvPr/>
        </p:nvSpPr>
        <p:spPr>
          <a:xfrm>
            <a:off x="5833872" y="1316736"/>
            <a:ext cx="1481328" cy="54864"/>
          </a:xfrm>
          <a:prstGeom prst="rect">
            <a:avLst/>
          </a:prstGeom>
          <a:solidFill>
            <a:srgbClr val="009999"/>
          </a:solidFill>
          <a:ln>
            <a:noFill/>
          </a:ln>
        </p:spPr>
        <p:txBody>
          <a:bodyPr rtlCol="0" anchor="ctr"/>
          <a:lstStyle/>
          <a:p>
            <a:pPr algn="ctr"/>
          </a:p>
        </p:txBody>
      </p:sp>
      <p:sp>
        <p:nvSpPr>
          <p:cNvPr id="19" name="TextBox 18"/>
          <p:cNvSpPr txBox="1"/>
          <p:nvPr/>
        </p:nvSpPr>
        <p:spPr>
          <a:xfrm>
            <a:off x="5943600" y="1481328"/>
            <a:ext cx="1261872" cy="91440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New stock level</a:t>
            </a:r>
          </a:p>
          <a:p>
            <a:pPr algn="l">
              <a:lnSpc>
                <a:spcPct val="110000"/>
              </a:lnSpc>
            </a:pPr>
            <a:r>
              <a:rPr sz="1200" b="0" i="0">
                <a:solidFill>
                  <a:srgbClr val="000028"/>
                </a:solidFill>
                <a:latin typeface="Arial"/>
              </a:rPr>
              <a:t>to ARIMS →</a:t>
            </a:r>
          </a:p>
          <a:p>
            <a:pPr algn="l">
              <a:lnSpc>
                <a:spcPct val="110000"/>
              </a:lnSpc>
            </a:pPr>
            <a:r>
              <a:rPr sz="1200" b="0" i="0">
                <a:solidFill>
                  <a:srgbClr val="000028"/>
                </a:solidFill>
                <a:latin typeface="Arial"/>
              </a:rPr>
              <a:t>replenishment</a:t>
            </a:r>
          </a:p>
        </p:txBody>
      </p:sp>
      <p:sp>
        <p:nvSpPr>
          <p:cNvPr id="20" name="Rectangle 19"/>
          <p:cNvSpPr/>
          <p:nvPr/>
        </p:nvSpPr>
        <p:spPr>
          <a:xfrm>
            <a:off x="566928" y="2688336"/>
            <a:ext cx="3259836" cy="1600200"/>
          </a:xfrm>
          <a:prstGeom prst="rect">
            <a:avLst/>
          </a:prstGeom>
          <a:solidFill>
            <a:srgbClr val="F3F3F0"/>
          </a:solidFill>
          <a:ln>
            <a:noFill/>
          </a:ln>
        </p:spPr>
        <p:txBody>
          <a:bodyPr rtlCol="0" anchor="ctr"/>
          <a:lstStyle/>
          <a:p>
            <a:pPr algn="ctr"/>
          </a:p>
        </p:txBody>
      </p:sp>
      <p:sp>
        <p:nvSpPr>
          <p:cNvPr id="21" name="Rectangle 20"/>
          <p:cNvSpPr/>
          <p:nvPr/>
        </p:nvSpPr>
        <p:spPr>
          <a:xfrm>
            <a:off x="566928" y="2688336"/>
            <a:ext cx="54864" cy="1600200"/>
          </a:xfrm>
          <a:prstGeom prst="rect">
            <a:avLst/>
          </a:prstGeom>
          <a:solidFill>
            <a:srgbClr val="D72339"/>
          </a:solidFill>
          <a:ln>
            <a:noFill/>
          </a:ln>
        </p:spPr>
        <p:txBody>
          <a:bodyPr rtlCol="0" anchor="ctr"/>
          <a:lstStyle/>
          <a:p>
            <a:pPr algn="ctr"/>
          </a:p>
        </p:txBody>
      </p:sp>
      <p:sp>
        <p:nvSpPr>
          <p:cNvPr id="22" name="TextBox 21"/>
          <p:cNvSpPr txBox="1"/>
          <p:nvPr/>
        </p:nvSpPr>
        <p:spPr>
          <a:xfrm>
            <a:off x="804672" y="2871216"/>
            <a:ext cx="2839212"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Too sensitive → empty wake-up</a:t>
            </a:r>
          </a:p>
        </p:txBody>
      </p:sp>
      <p:sp>
        <p:nvSpPr>
          <p:cNvPr id="23" name="TextBox 22"/>
          <p:cNvSpPr txBox="1"/>
          <p:nvPr/>
        </p:nvSpPr>
        <p:spPr>
          <a:xfrm>
            <a:off x="804672" y="3143250"/>
            <a:ext cx="2839212" cy="1145286"/>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Label TOO_MANY. Battery, radio network, IoT cloud and ARIMS do work for nothing.</a:t>
            </a:r>
          </a:p>
        </p:txBody>
      </p:sp>
      <p:sp>
        <p:nvSpPr>
          <p:cNvPr id="24" name="Rectangle 23"/>
          <p:cNvSpPr/>
          <p:nvPr/>
        </p:nvSpPr>
        <p:spPr>
          <a:xfrm>
            <a:off x="4055364" y="2688336"/>
            <a:ext cx="3259836" cy="1600200"/>
          </a:xfrm>
          <a:prstGeom prst="rect">
            <a:avLst/>
          </a:prstGeom>
          <a:solidFill>
            <a:srgbClr val="F3F3F0"/>
          </a:solidFill>
          <a:ln>
            <a:noFill/>
          </a:ln>
        </p:spPr>
        <p:txBody>
          <a:bodyPr rtlCol="0" anchor="ctr"/>
          <a:lstStyle/>
          <a:p>
            <a:pPr algn="ctr"/>
          </a:p>
        </p:txBody>
      </p:sp>
      <p:sp>
        <p:nvSpPr>
          <p:cNvPr id="25" name="Rectangle 24"/>
          <p:cNvSpPr/>
          <p:nvPr/>
        </p:nvSpPr>
        <p:spPr>
          <a:xfrm>
            <a:off x="4055364" y="2688336"/>
            <a:ext cx="54864" cy="1600200"/>
          </a:xfrm>
          <a:prstGeom prst="rect">
            <a:avLst/>
          </a:prstGeom>
          <a:solidFill>
            <a:srgbClr val="E8A317"/>
          </a:solidFill>
          <a:ln>
            <a:noFill/>
          </a:ln>
        </p:spPr>
        <p:txBody>
          <a:bodyPr rtlCol="0" anchor="ctr"/>
          <a:lstStyle/>
          <a:p>
            <a:pPr algn="ctr"/>
          </a:p>
        </p:txBody>
      </p:sp>
      <p:sp>
        <p:nvSpPr>
          <p:cNvPr id="26" name="TextBox 25"/>
          <p:cNvSpPr txBox="1"/>
          <p:nvPr/>
        </p:nvSpPr>
        <p:spPr>
          <a:xfrm>
            <a:off x="4293108" y="2871216"/>
            <a:ext cx="2839212"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Too insensitive → missed pick</a:t>
            </a:r>
          </a:p>
        </p:txBody>
      </p:sp>
      <p:sp>
        <p:nvSpPr>
          <p:cNvPr id="27" name="TextBox 26"/>
          <p:cNvSpPr txBox="1"/>
          <p:nvPr/>
        </p:nvSpPr>
        <p:spPr>
          <a:xfrm>
            <a:off x="4293108" y="3143250"/>
            <a:ext cx="2839212" cy="1145286"/>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Label TOO_FEW. The stock level stays wrong until a later weighing finds the change.</a:t>
            </a:r>
          </a:p>
        </p:txBody>
      </p:sp>
      <p:sp>
        <p:nvSpPr>
          <p:cNvPr id="28" name="TextBox 27"/>
          <p:cNvSpPr txBox="1"/>
          <p:nvPr/>
        </p:nvSpPr>
        <p:spPr>
          <a:xfrm>
            <a:off x="7726679" y="1271016"/>
            <a:ext cx="3840480" cy="533400"/>
          </a:xfrm>
          <a:prstGeom prst="rect">
            <a:avLst/>
          </a:prstGeom>
          <a:noFill/>
        </p:spPr>
        <p:txBody>
          <a:bodyPr wrap="square" lIns="0" rIns="0" tIns="0" bIns="0" anchor="t">
            <a:spAutoFit/>
          </a:bodyPr>
          <a:lstStyle/>
          <a:p>
            <a:pPr algn="l">
              <a:lnSpc>
                <a:spcPct val="95000"/>
              </a:lnSpc>
            </a:pPr>
            <a:r>
              <a:rPr sz="4000" b="1" i="0">
                <a:solidFill>
                  <a:srgbClr val="009999"/>
                </a:solidFill>
                <a:latin typeface="Arial"/>
              </a:rPr>
              <a:t>76%</a:t>
            </a:r>
          </a:p>
        </p:txBody>
      </p:sp>
      <p:sp>
        <p:nvSpPr>
          <p:cNvPr id="29" name="TextBox 28"/>
          <p:cNvSpPr txBox="1"/>
          <p:nvPr/>
        </p:nvSpPr>
        <p:spPr>
          <a:xfrm>
            <a:off x="7726679" y="1831848"/>
            <a:ext cx="384048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of 7.1 million automatic weighings were empty</a:t>
            </a:r>
          </a:p>
        </p:txBody>
      </p:sp>
      <p:sp>
        <p:nvSpPr>
          <p:cNvPr id="30" name="TextBox 29"/>
          <p:cNvSpPr txBox="1"/>
          <p:nvPr/>
        </p:nvSpPr>
        <p:spPr>
          <a:xfrm>
            <a:off x="7726679" y="2292191"/>
            <a:ext cx="3840480" cy="533400"/>
          </a:xfrm>
          <a:prstGeom prst="rect">
            <a:avLst/>
          </a:prstGeom>
          <a:noFill/>
        </p:spPr>
        <p:txBody>
          <a:bodyPr wrap="square" lIns="0" rIns="0" tIns="0" bIns="0" anchor="t">
            <a:spAutoFit/>
          </a:bodyPr>
          <a:lstStyle/>
          <a:p>
            <a:pPr algn="l">
              <a:lnSpc>
                <a:spcPct val="95000"/>
              </a:lnSpc>
            </a:pPr>
            <a:r>
              <a:rPr sz="4000" b="1" i="0">
                <a:solidFill>
                  <a:srgbClr val="009999"/>
                </a:solidFill>
                <a:latin typeface="Arial"/>
              </a:rPr>
              <a:t>13.5 vs. 1.5</a:t>
            </a:r>
          </a:p>
        </p:txBody>
      </p:sp>
      <p:sp>
        <p:nvSpPr>
          <p:cNvPr id="31" name="TextBox 30"/>
          <p:cNvSpPr txBox="1"/>
          <p:nvPr/>
        </p:nvSpPr>
        <p:spPr>
          <a:xfrm>
            <a:off x="7726679" y="2853023"/>
            <a:ext cx="384048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empty wake-ups vs. real picks per week – typical 20 kg scale on the factory default (level 8)</a:t>
            </a:r>
          </a:p>
        </p:txBody>
      </p:sp>
      <p:sp>
        <p:nvSpPr>
          <p:cNvPr id="32" name="TextBox 31"/>
          <p:cNvSpPr txBox="1"/>
          <p:nvPr/>
        </p:nvSpPr>
        <p:spPr>
          <a:xfrm>
            <a:off x="7726679" y="3517677"/>
            <a:ext cx="3840480" cy="533400"/>
          </a:xfrm>
          <a:prstGeom prst="rect">
            <a:avLst/>
          </a:prstGeom>
          <a:noFill/>
        </p:spPr>
        <p:txBody>
          <a:bodyPr wrap="square" lIns="0" rIns="0" tIns="0" bIns="0" anchor="t">
            <a:spAutoFit/>
          </a:bodyPr>
          <a:lstStyle/>
          <a:p>
            <a:pPr algn="l">
              <a:lnSpc>
                <a:spcPct val="95000"/>
              </a:lnSpc>
            </a:pPr>
            <a:r>
              <a:rPr sz="4000" b="1" i="0">
                <a:solidFill>
                  <a:srgbClr val="009999"/>
                </a:solidFill>
                <a:latin typeface="Arial"/>
              </a:rPr>
              <a:t>6% / 19%</a:t>
            </a:r>
          </a:p>
        </p:txBody>
      </p:sp>
      <p:sp>
        <p:nvSpPr>
          <p:cNvPr id="33" name="TextBox 32"/>
          <p:cNvSpPr txBox="1"/>
          <p:nvPr/>
        </p:nvSpPr>
        <p:spPr>
          <a:xfrm>
            <a:off x="7726679" y="4078509"/>
            <a:ext cx="384048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of the 20 kg / 6 kg scales meet both Bossard targets</a:t>
            </a:r>
          </a:p>
        </p:txBody>
      </p:sp>
      <p:sp>
        <p:nvSpPr>
          <p:cNvPr id="34" name="Rectangle 33"/>
          <p:cNvSpPr/>
          <p:nvPr/>
        </p:nvSpPr>
        <p:spPr>
          <a:xfrm>
            <a:off x="566928" y="4562856"/>
            <a:ext cx="11055096" cy="685800"/>
          </a:xfrm>
          <a:prstGeom prst="rect">
            <a:avLst/>
          </a:prstGeom>
          <a:solidFill>
            <a:srgbClr val="000028"/>
          </a:solidFill>
          <a:ln>
            <a:noFill/>
          </a:ln>
        </p:spPr>
        <p:txBody>
          <a:bodyPr rtlCol="0" anchor="ctr"/>
          <a:lstStyle/>
          <a:p>
            <a:pPr algn="ctr"/>
          </a:p>
        </p:txBody>
      </p:sp>
      <p:sp>
        <p:nvSpPr>
          <p:cNvPr id="35" name="TextBox 34"/>
          <p:cNvSpPr txBox="1"/>
          <p:nvPr/>
        </p:nvSpPr>
        <p:spPr>
          <a:xfrm>
            <a:off x="795528" y="4562856"/>
            <a:ext cx="10643616" cy="685800"/>
          </a:xfrm>
          <a:prstGeom prst="rect">
            <a:avLst/>
          </a:prstGeom>
          <a:noFill/>
        </p:spPr>
        <p:txBody>
          <a:bodyPr wrap="square" lIns="0" rIns="0" tIns="0" bIns="0" anchor="ctr">
            <a:spAutoFit/>
          </a:bodyPr>
          <a:lstStyle/>
          <a:p>
            <a:pPr algn="l">
              <a:lnSpc>
                <a:spcPct val="112000"/>
              </a:lnSpc>
            </a:pPr>
            <a:r>
              <a:rPr sz="1350" b="1" i="0">
                <a:solidFill>
                  <a:srgbClr val="00FFB9"/>
                </a:solidFill>
                <a:latin typeface="Arial"/>
              </a:rPr>
              <a:t>The case question:</a:t>
            </a:r>
            <a:r>
              <a:rPr sz="1350" b="0" i="0">
                <a:solidFill>
                  <a:srgbClr val="FFFFFF"/>
                </a:solidFill>
                <a:latin typeface="Arial"/>
              </a:rPr>
              <a:t> which parameters matter – and how should the sensitivity (1–10) be set so that a scale wakes up for picks, not for noise?</a:t>
            </a:r>
          </a:p>
        </p:txBody>
      </p:sp>
      <p:sp>
        <p:nvSpPr>
          <p:cNvPr id="36" name="TextBox 35"/>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case description Bossard / D ONE (2026) · Report §2, §4.1</a:t>
            </a:r>
          </a:p>
        </p:txBody>
      </p:sp>
      <p:sp>
        <p:nvSpPr>
          <p:cNvPr id="37" name="TextBox 36"/>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DATA AND APPROACH</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7.6 million weighings, cleaned and then measured scale by scale</a:t>
            </a:r>
          </a:p>
        </p:txBody>
      </p:sp>
      <p:sp>
        <p:nvSpPr>
          <p:cNvPr id="5" name="TextBox 4"/>
          <p:cNvSpPr txBox="1"/>
          <p:nvPr/>
        </p:nvSpPr>
        <p:spPr>
          <a:xfrm>
            <a:off x="566928" y="1271016"/>
            <a:ext cx="2535174" cy="426720"/>
          </a:xfrm>
          <a:prstGeom prst="rect">
            <a:avLst/>
          </a:prstGeom>
          <a:noFill/>
        </p:spPr>
        <p:txBody>
          <a:bodyPr wrap="square" lIns="0" rIns="0" tIns="0" bIns="0" anchor="t">
            <a:spAutoFit/>
          </a:bodyPr>
          <a:lstStyle/>
          <a:p>
            <a:pPr algn="l">
              <a:lnSpc>
                <a:spcPct val="95000"/>
              </a:lnSpc>
            </a:pPr>
            <a:r>
              <a:rPr sz="3200" b="1" i="0">
                <a:solidFill>
                  <a:srgbClr val="009999"/>
                </a:solidFill>
                <a:latin typeface="Arial"/>
              </a:rPr>
              <a:t>7.6 M</a:t>
            </a:r>
          </a:p>
        </p:txBody>
      </p:sp>
      <p:sp>
        <p:nvSpPr>
          <p:cNvPr id="6" name="TextBox 5"/>
          <p:cNvSpPr txBox="1"/>
          <p:nvPr/>
        </p:nvSpPr>
        <p:spPr>
          <a:xfrm>
            <a:off x="566928" y="1725168"/>
            <a:ext cx="2535174" cy="274320"/>
          </a:xfrm>
          <a:prstGeom prst="rect">
            <a:avLst/>
          </a:prstGeom>
          <a:noFill/>
        </p:spPr>
        <p:txBody>
          <a:bodyPr wrap="square" lIns="0" rIns="0" tIns="0" bIns="0" anchor="t">
            <a:spAutoFit/>
          </a:bodyPr>
          <a:lstStyle/>
          <a:p>
            <a:pPr algn="l">
              <a:lnSpc>
                <a:spcPct val="110000"/>
              </a:lnSpc>
            </a:pPr>
            <a:r>
              <a:rPr sz="1200" b="0" i="0">
                <a:solidFill>
                  <a:srgbClr val="45465E"/>
                </a:solidFill>
                <a:latin typeface="Arial"/>
              </a:rPr>
              <a:t>weighings</a:t>
            </a:r>
          </a:p>
        </p:txBody>
      </p:sp>
      <p:sp>
        <p:nvSpPr>
          <p:cNvPr id="7" name="TextBox 6"/>
          <p:cNvSpPr txBox="1"/>
          <p:nvPr/>
        </p:nvSpPr>
        <p:spPr>
          <a:xfrm>
            <a:off x="3330702" y="1271016"/>
            <a:ext cx="2535174" cy="426720"/>
          </a:xfrm>
          <a:prstGeom prst="rect">
            <a:avLst/>
          </a:prstGeom>
          <a:noFill/>
        </p:spPr>
        <p:txBody>
          <a:bodyPr wrap="square" lIns="0" rIns="0" tIns="0" bIns="0" anchor="t">
            <a:spAutoFit/>
          </a:bodyPr>
          <a:lstStyle/>
          <a:p>
            <a:pPr algn="l">
              <a:lnSpc>
                <a:spcPct val="95000"/>
              </a:lnSpc>
            </a:pPr>
            <a:r>
              <a:rPr sz="3200" b="1" i="0">
                <a:solidFill>
                  <a:srgbClr val="009999"/>
                </a:solidFill>
                <a:latin typeface="Arial"/>
              </a:rPr>
              <a:t>18,455</a:t>
            </a:r>
          </a:p>
        </p:txBody>
      </p:sp>
      <p:sp>
        <p:nvSpPr>
          <p:cNvPr id="8" name="TextBox 7"/>
          <p:cNvSpPr txBox="1"/>
          <p:nvPr/>
        </p:nvSpPr>
        <p:spPr>
          <a:xfrm>
            <a:off x="3330702" y="1725168"/>
            <a:ext cx="2535174" cy="274320"/>
          </a:xfrm>
          <a:prstGeom prst="rect">
            <a:avLst/>
          </a:prstGeom>
          <a:noFill/>
        </p:spPr>
        <p:txBody>
          <a:bodyPr wrap="square" lIns="0" rIns="0" tIns="0" bIns="0" anchor="t">
            <a:spAutoFit/>
          </a:bodyPr>
          <a:lstStyle/>
          <a:p>
            <a:pPr algn="l">
              <a:lnSpc>
                <a:spcPct val="110000"/>
              </a:lnSpc>
            </a:pPr>
            <a:r>
              <a:rPr sz="1200" b="0" i="0">
                <a:solidFill>
                  <a:srgbClr val="45465E"/>
                </a:solidFill>
                <a:latin typeface="Arial"/>
              </a:rPr>
              <a:t>scales at customer sites</a:t>
            </a:r>
          </a:p>
        </p:txBody>
      </p:sp>
      <p:sp>
        <p:nvSpPr>
          <p:cNvPr id="9" name="TextBox 8"/>
          <p:cNvSpPr txBox="1"/>
          <p:nvPr/>
        </p:nvSpPr>
        <p:spPr>
          <a:xfrm>
            <a:off x="6094476" y="1271016"/>
            <a:ext cx="2535174" cy="426720"/>
          </a:xfrm>
          <a:prstGeom prst="rect">
            <a:avLst/>
          </a:prstGeom>
          <a:noFill/>
        </p:spPr>
        <p:txBody>
          <a:bodyPr wrap="square" lIns="0" rIns="0" tIns="0" bIns="0" anchor="t">
            <a:spAutoFit/>
          </a:bodyPr>
          <a:lstStyle/>
          <a:p>
            <a:pPr algn="l">
              <a:lnSpc>
                <a:spcPct val="95000"/>
              </a:lnSpc>
            </a:pPr>
            <a:r>
              <a:rPr sz="3200" b="1" i="0">
                <a:solidFill>
                  <a:srgbClr val="009999"/>
                </a:solidFill>
                <a:latin typeface="Arial"/>
              </a:rPr>
              <a:t>16 weeks</a:t>
            </a:r>
          </a:p>
        </p:txBody>
      </p:sp>
      <p:sp>
        <p:nvSpPr>
          <p:cNvPr id="10" name="TextBox 9"/>
          <p:cNvSpPr txBox="1"/>
          <p:nvPr/>
        </p:nvSpPr>
        <p:spPr>
          <a:xfrm>
            <a:off x="6094476" y="1725168"/>
            <a:ext cx="2535174" cy="274320"/>
          </a:xfrm>
          <a:prstGeom prst="rect">
            <a:avLst/>
          </a:prstGeom>
          <a:noFill/>
        </p:spPr>
        <p:txBody>
          <a:bodyPr wrap="square" lIns="0" rIns="0" tIns="0" bIns="0" anchor="t">
            <a:spAutoFit/>
          </a:bodyPr>
          <a:lstStyle/>
          <a:p>
            <a:pPr algn="l">
              <a:lnSpc>
                <a:spcPct val="110000"/>
              </a:lnSpc>
            </a:pPr>
            <a:r>
              <a:rPr sz="1200" b="0" i="0">
                <a:solidFill>
                  <a:srgbClr val="45465E"/>
                </a:solidFill>
                <a:latin typeface="Arial"/>
              </a:rPr>
              <a:t>1 March – 20 June 2022</a:t>
            </a:r>
          </a:p>
        </p:txBody>
      </p:sp>
      <p:sp>
        <p:nvSpPr>
          <p:cNvPr id="11" name="TextBox 10"/>
          <p:cNvSpPr txBox="1"/>
          <p:nvPr/>
        </p:nvSpPr>
        <p:spPr>
          <a:xfrm>
            <a:off x="8858249" y="1271016"/>
            <a:ext cx="2535174" cy="426720"/>
          </a:xfrm>
          <a:prstGeom prst="rect">
            <a:avLst/>
          </a:prstGeom>
          <a:noFill/>
        </p:spPr>
        <p:txBody>
          <a:bodyPr wrap="square" lIns="0" rIns="0" tIns="0" bIns="0" anchor="t">
            <a:spAutoFit/>
          </a:bodyPr>
          <a:lstStyle/>
          <a:p>
            <a:pPr algn="l">
              <a:lnSpc>
                <a:spcPct val="95000"/>
              </a:lnSpc>
            </a:pPr>
            <a:r>
              <a:rPr sz="3200" b="1" i="0">
                <a:solidFill>
                  <a:srgbClr val="009999"/>
                </a:solidFill>
                <a:latin typeface="Arial"/>
              </a:rPr>
              <a:t>7,846</a:t>
            </a:r>
          </a:p>
        </p:txBody>
      </p:sp>
      <p:sp>
        <p:nvSpPr>
          <p:cNvPr id="12" name="TextBox 11"/>
          <p:cNvSpPr txBox="1"/>
          <p:nvPr/>
        </p:nvSpPr>
        <p:spPr>
          <a:xfrm>
            <a:off x="8858249" y="1725168"/>
            <a:ext cx="2535174" cy="274320"/>
          </a:xfrm>
          <a:prstGeom prst="rect">
            <a:avLst/>
          </a:prstGeom>
          <a:noFill/>
        </p:spPr>
        <p:txBody>
          <a:bodyPr wrap="square" lIns="0" rIns="0" tIns="0" bIns="0" anchor="t">
            <a:spAutoFit/>
          </a:bodyPr>
          <a:lstStyle/>
          <a:p>
            <a:pPr algn="l">
              <a:lnSpc>
                <a:spcPct val="110000"/>
              </a:lnSpc>
            </a:pPr>
            <a:r>
              <a:rPr sz="1200" b="0" i="0">
                <a:solidFill>
                  <a:srgbClr val="45465E"/>
                </a:solidFill>
                <a:latin typeface="Arial"/>
              </a:rPr>
              <a:t>scales moved off level 8 in April: a natural experiment</a:t>
            </a:r>
          </a:p>
        </p:txBody>
      </p:sp>
      <p:sp>
        <p:nvSpPr>
          <p:cNvPr id="13" name="Rectangle 12"/>
          <p:cNvSpPr/>
          <p:nvPr/>
        </p:nvSpPr>
        <p:spPr>
          <a:xfrm>
            <a:off x="566928" y="2459736"/>
            <a:ext cx="2612898" cy="2743200"/>
          </a:xfrm>
          <a:prstGeom prst="rect">
            <a:avLst/>
          </a:prstGeom>
          <a:solidFill>
            <a:srgbClr val="F3F3F0"/>
          </a:solidFill>
          <a:ln>
            <a:noFill/>
          </a:ln>
        </p:spPr>
        <p:txBody>
          <a:bodyPr rtlCol="0" anchor="ctr"/>
          <a:lstStyle/>
          <a:p>
            <a:pPr algn="ctr"/>
          </a:p>
        </p:txBody>
      </p:sp>
      <p:sp>
        <p:nvSpPr>
          <p:cNvPr id="14" name="Oval 13"/>
          <p:cNvSpPr/>
          <p:nvPr/>
        </p:nvSpPr>
        <p:spPr>
          <a:xfrm>
            <a:off x="749808" y="2642616"/>
            <a:ext cx="457200" cy="457200"/>
          </a:xfrm>
          <a:prstGeom prst="ellipse">
            <a:avLst/>
          </a:prstGeom>
          <a:solidFill>
            <a:srgbClr val="009999"/>
          </a:solidFill>
          <a:ln>
            <a:noFill/>
          </a:ln>
        </p:spPr>
        <p:txBody>
          <a:bodyPr rtlCol="0" anchor="ctr" lIns="0" rIns="0" tIns="0" bIns="0"/>
          <a:lstStyle/>
          <a:p>
            <a:pPr algn="ctr"/>
            <a:r>
              <a:rPr sz="1400" b="1">
                <a:solidFill>
                  <a:srgbClr val="FFFFFF"/>
                </a:solidFill>
                <a:latin typeface="Arial"/>
              </a:rPr>
              <a:t>1</a:t>
            </a:r>
          </a:p>
        </p:txBody>
      </p:sp>
      <p:sp>
        <p:nvSpPr>
          <p:cNvPr id="15" name="TextBox 14"/>
          <p:cNvSpPr txBox="1"/>
          <p:nvPr/>
        </p:nvSpPr>
        <p:spPr>
          <a:xfrm>
            <a:off x="1316736" y="2715768"/>
            <a:ext cx="1698498" cy="365760"/>
          </a:xfrm>
          <a:prstGeom prst="rect">
            <a:avLst/>
          </a:prstGeom>
          <a:noFill/>
        </p:spPr>
        <p:txBody>
          <a:bodyPr wrap="square" lIns="0" rIns="0" tIns="0" bIns="0" anchor="t">
            <a:spAutoFit/>
          </a:bodyPr>
          <a:lstStyle/>
          <a:p>
            <a:pPr algn="l">
              <a:lnSpc>
                <a:spcPct val="112000"/>
              </a:lnSpc>
            </a:pPr>
            <a:r>
              <a:rPr sz="1600" b="1" i="0">
                <a:solidFill>
                  <a:srgbClr val="000028"/>
                </a:solidFill>
                <a:latin typeface="Arial"/>
              </a:rPr>
              <a:t>Clean</a:t>
            </a:r>
          </a:p>
        </p:txBody>
      </p:sp>
      <p:sp>
        <p:nvSpPr>
          <p:cNvPr id="16" name="TextBox 15"/>
          <p:cNvSpPr txBox="1"/>
          <p:nvPr/>
        </p:nvSpPr>
        <p:spPr>
          <a:xfrm>
            <a:off x="749808" y="3282696"/>
            <a:ext cx="2247138" cy="1828800"/>
          </a:xfrm>
          <a:prstGeom prst="rect">
            <a:avLst/>
          </a:prstGeom>
          <a:noFill/>
        </p:spPr>
        <p:txBody>
          <a:bodyPr wrap="square" lIns="0" rIns="0" tIns="0" bIns="0" anchor="t">
            <a:spAutoFit/>
          </a:bodyPr>
          <a:lstStyle/>
          <a:p>
            <a:pPr algn="l">
              <a:lnSpc>
                <a:spcPct val="113000"/>
              </a:lnSpc>
            </a:pPr>
            <a:r>
              <a:rPr sz="1200" b="0" i="0">
                <a:solidFill>
                  <a:srgbClr val="45465E"/>
                </a:solidFill>
                <a:latin typeface="Arial"/>
              </a:rPr>
              <a:t>Delete what is broken: 5,733 duplicate copies, 5 impossible weights. Flag, don't delete, rows unfit for KPIs (no label, unknown level, short periods) – they stay in the weight chain. 69% of the rows enter the KPI analysis.</a:t>
            </a:r>
          </a:p>
        </p:txBody>
      </p:sp>
      <p:cxnSp>
        <p:nvCxnSpPr>
          <p:cNvPr id="17" name="Connector 16"/>
          <p:cNvCxnSpPr/>
          <p:nvPr/>
        </p:nvCxnSpPr>
        <p:spPr>
          <a:xfrm>
            <a:off x="3198114" y="2871216"/>
            <a:ext cx="164592"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80994" y="2459736"/>
            <a:ext cx="2612898" cy="2743200"/>
          </a:xfrm>
          <a:prstGeom prst="rect">
            <a:avLst/>
          </a:prstGeom>
          <a:solidFill>
            <a:srgbClr val="F3F3F0"/>
          </a:solidFill>
          <a:ln>
            <a:noFill/>
          </a:ln>
        </p:spPr>
        <p:txBody>
          <a:bodyPr rtlCol="0" anchor="ctr"/>
          <a:lstStyle/>
          <a:p>
            <a:pPr algn="ctr"/>
          </a:p>
        </p:txBody>
      </p:sp>
      <p:sp>
        <p:nvSpPr>
          <p:cNvPr id="19" name="Oval 18"/>
          <p:cNvSpPr/>
          <p:nvPr/>
        </p:nvSpPr>
        <p:spPr>
          <a:xfrm>
            <a:off x="3563874" y="2642616"/>
            <a:ext cx="457200" cy="457200"/>
          </a:xfrm>
          <a:prstGeom prst="ellipse">
            <a:avLst/>
          </a:prstGeom>
          <a:solidFill>
            <a:srgbClr val="009999"/>
          </a:solidFill>
          <a:ln>
            <a:noFill/>
          </a:ln>
        </p:spPr>
        <p:txBody>
          <a:bodyPr rtlCol="0" anchor="ctr" lIns="0" rIns="0" tIns="0" bIns="0"/>
          <a:lstStyle/>
          <a:p>
            <a:pPr algn="ctr"/>
            <a:r>
              <a:rPr sz="1400" b="1">
                <a:solidFill>
                  <a:srgbClr val="FFFFFF"/>
                </a:solidFill>
                <a:latin typeface="Arial"/>
              </a:rPr>
              <a:t>2</a:t>
            </a:r>
          </a:p>
        </p:txBody>
      </p:sp>
      <p:sp>
        <p:nvSpPr>
          <p:cNvPr id="20" name="TextBox 19"/>
          <p:cNvSpPr txBox="1"/>
          <p:nvPr/>
        </p:nvSpPr>
        <p:spPr>
          <a:xfrm>
            <a:off x="4130802" y="2715768"/>
            <a:ext cx="1698498" cy="365760"/>
          </a:xfrm>
          <a:prstGeom prst="rect">
            <a:avLst/>
          </a:prstGeom>
          <a:noFill/>
        </p:spPr>
        <p:txBody>
          <a:bodyPr wrap="square" lIns="0" rIns="0" tIns="0" bIns="0" anchor="t">
            <a:spAutoFit/>
          </a:bodyPr>
          <a:lstStyle/>
          <a:p>
            <a:pPr algn="l">
              <a:lnSpc>
                <a:spcPct val="112000"/>
              </a:lnSpc>
            </a:pPr>
            <a:r>
              <a:rPr sz="1600" b="1" i="0">
                <a:solidFill>
                  <a:srgbClr val="000028"/>
                </a:solidFill>
                <a:latin typeface="Arial"/>
              </a:rPr>
              <a:t>Measure</a:t>
            </a:r>
          </a:p>
        </p:txBody>
      </p:sp>
      <p:sp>
        <p:nvSpPr>
          <p:cNvPr id="21" name="TextBox 20"/>
          <p:cNvSpPr txBox="1"/>
          <p:nvPr/>
        </p:nvSpPr>
        <p:spPr>
          <a:xfrm>
            <a:off x="3563874" y="3282696"/>
            <a:ext cx="2247138" cy="1828800"/>
          </a:xfrm>
          <a:prstGeom prst="rect">
            <a:avLst/>
          </a:prstGeom>
          <a:noFill/>
        </p:spPr>
        <p:txBody>
          <a:bodyPr wrap="square" lIns="0" rIns="0" tIns="0" bIns="0" anchor="t">
            <a:spAutoFit/>
          </a:bodyPr>
          <a:lstStyle/>
          <a:p>
            <a:pPr algn="l">
              <a:lnSpc>
                <a:spcPct val="113000"/>
              </a:lnSpc>
            </a:pPr>
            <a:r>
              <a:rPr sz="1200" b="0" i="0">
                <a:solidFill>
                  <a:srgbClr val="45465E"/>
                </a:solidFill>
                <a:latin typeface="Arial"/>
              </a:rPr>
              <a:t>One record per scale and level; the median is the 'typical scale'. Pooled rows would let a few noisy scales dominate.</a:t>
            </a:r>
          </a:p>
        </p:txBody>
      </p:sp>
      <p:cxnSp>
        <p:nvCxnSpPr>
          <p:cNvPr id="22" name="Connector 21"/>
          <p:cNvCxnSpPr/>
          <p:nvPr/>
        </p:nvCxnSpPr>
        <p:spPr>
          <a:xfrm>
            <a:off x="6012179" y="2871216"/>
            <a:ext cx="164593"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195060" y="2459736"/>
            <a:ext cx="2612898" cy="2743200"/>
          </a:xfrm>
          <a:prstGeom prst="rect">
            <a:avLst/>
          </a:prstGeom>
          <a:solidFill>
            <a:srgbClr val="F3F3F0"/>
          </a:solidFill>
          <a:ln>
            <a:noFill/>
          </a:ln>
        </p:spPr>
        <p:txBody>
          <a:bodyPr rtlCol="0" anchor="ctr"/>
          <a:lstStyle/>
          <a:p>
            <a:pPr algn="ctr"/>
          </a:p>
        </p:txBody>
      </p:sp>
      <p:sp>
        <p:nvSpPr>
          <p:cNvPr id="24" name="Oval 23"/>
          <p:cNvSpPr/>
          <p:nvPr/>
        </p:nvSpPr>
        <p:spPr>
          <a:xfrm>
            <a:off x="6377940" y="2642616"/>
            <a:ext cx="457200" cy="457200"/>
          </a:xfrm>
          <a:prstGeom prst="ellipse">
            <a:avLst/>
          </a:prstGeom>
          <a:solidFill>
            <a:srgbClr val="009999"/>
          </a:solidFill>
          <a:ln>
            <a:noFill/>
          </a:ln>
        </p:spPr>
        <p:txBody>
          <a:bodyPr rtlCol="0" anchor="ctr" lIns="0" rIns="0" tIns="0" bIns="0"/>
          <a:lstStyle/>
          <a:p>
            <a:pPr algn="ctr"/>
            <a:r>
              <a:rPr sz="1400" b="1">
                <a:solidFill>
                  <a:srgbClr val="FFFFFF"/>
                </a:solidFill>
                <a:latin typeface="Arial"/>
              </a:rPr>
              <a:t>3</a:t>
            </a:r>
          </a:p>
        </p:txBody>
      </p:sp>
      <p:sp>
        <p:nvSpPr>
          <p:cNvPr id="25" name="TextBox 24"/>
          <p:cNvSpPr txBox="1"/>
          <p:nvPr/>
        </p:nvSpPr>
        <p:spPr>
          <a:xfrm>
            <a:off x="6944868" y="2715768"/>
            <a:ext cx="1698498" cy="365760"/>
          </a:xfrm>
          <a:prstGeom prst="rect">
            <a:avLst/>
          </a:prstGeom>
          <a:noFill/>
        </p:spPr>
        <p:txBody>
          <a:bodyPr wrap="square" lIns="0" rIns="0" tIns="0" bIns="0" anchor="t">
            <a:spAutoFit/>
          </a:bodyPr>
          <a:lstStyle/>
          <a:p>
            <a:pPr algn="l">
              <a:lnSpc>
                <a:spcPct val="112000"/>
              </a:lnSpc>
            </a:pPr>
            <a:r>
              <a:rPr sz="1600" b="1" i="0">
                <a:solidFill>
                  <a:srgbClr val="000028"/>
                </a:solidFill>
                <a:latin typeface="Arial"/>
              </a:rPr>
              <a:t>Explain</a:t>
            </a:r>
          </a:p>
        </p:txBody>
      </p:sp>
      <p:sp>
        <p:nvSpPr>
          <p:cNvPr id="26" name="TextBox 25"/>
          <p:cNvSpPr txBox="1"/>
          <p:nvPr/>
        </p:nvSpPr>
        <p:spPr>
          <a:xfrm>
            <a:off x="6377940" y="3282696"/>
            <a:ext cx="2247138" cy="1828800"/>
          </a:xfrm>
          <a:prstGeom prst="rect">
            <a:avLst/>
          </a:prstGeom>
          <a:noFill/>
        </p:spPr>
        <p:txBody>
          <a:bodyPr wrap="square" lIns="0" rIns="0" tIns="0" bIns="0" anchor="t">
            <a:spAutoFit/>
          </a:bodyPr>
          <a:lstStyle/>
          <a:p>
            <a:pPr algn="l">
              <a:lnSpc>
                <a:spcPct val="113000"/>
              </a:lnSpc>
            </a:pPr>
            <a:r>
              <a:rPr sz="1200" b="0" i="0">
                <a:solidFill>
                  <a:srgbClr val="45465E"/>
                </a:solidFill>
                <a:latin typeface="Arial"/>
              </a:rPr>
              <a:t>Timing of empty wake-ups against picks at the same site, detection by pick size, site tests, a loop detector.</a:t>
            </a:r>
          </a:p>
        </p:txBody>
      </p:sp>
      <p:cxnSp>
        <p:nvCxnSpPr>
          <p:cNvPr id="27" name="Connector 26"/>
          <p:cNvCxnSpPr/>
          <p:nvPr/>
        </p:nvCxnSpPr>
        <p:spPr>
          <a:xfrm>
            <a:off x="8826246" y="2871216"/>
            <a:ext cx="164592" cy="0"/>
          </a:xfrm>
          <a:prstGeom prst="line">
            <a:avLst/>
          </a:prstGeom>
          <a:ln w="22225">
            <a:solidFill>
              <a:srgbClr val="00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09126" y="2459736"/>
            <a:ext cx="2612898" cy="2743200"/>
          </a:xfrm>
          <a:prstGeom prst="rect">
            <a:avLst/>
          </a:prstGeom>
          <a:solidFill>
            <a:srgbClr val="F3F3F0"/>
          </a:solidFill>
          <a:ln>
            <a:noFill/>
          </a:ln>
        </p:spPr>
        <p:txBody>
          <a:bodyPr rtlCol="0" anchor="ctr"/>
          <a:lstStyle/>
          <a:p>
            <a:pPr algn="ctr"/>
          </a:p>
        </p:txBody>
      </p:sp>
      <p:sp>
        <p:nvSpPr>
          <p:cNvPr id="29" name="Oval 28"/>
          <p:cNvSpPr/>
          <p:nvPr/>
        </p:nvSpPr>
        <p:spPr>
          <a:xfrm>
            <a:off x="9192005" y="2642616"/>
            <a:ext cx="457200" cy="457200"/>
          </a:xfrm>
          <a:prstGeom prst="ellipse">
            <a:avLst/>
          </a:prstGeom>
          <a:solidFill>
            <a:srgbClr val="009999"/>
          </a:solidFill>
          <a:ln>
            <a:noFill/>
          </a:ln>
        </p:spPr>
        <p:txBody>
          <a:bodyPr rtlCol="0" anchor="ctr" lIns="0" rIns="0" tIns="0" bIns="0"/>
          <a:lstStyle/>
          <a:p>
            <a:pPr algn="ctr"/>
            <a:r>
              <a:rPr sz="1400" b="1">
                <a:solidFill>
                  <a:srgbClr val="FFFFFF"/>
                </a:solidFill>
                <a:latin typeface="Arial"/>
              </a:rPr>
              <a:t>4</a:t>
            </a:r>
          </a:p>
        </p:txBody>
      </p:sp>
      <p:sp>
        <p:nvSpPr>
          <p:cNvPr id="30" name="TextBox 29"/>
          <p:cNvSpPr txBox="1"/>
          <p:nvPr/>
        </p:nvSpPr>
        <p:spPr>
          <a:xfrm>
            <a:off x="9758934" y="2715768"/>
            <a:ext cx="1698498" cy="365760"/>
          </a:xfrm>
          <a:prstGeom prst="rect">
            <a:avLst/>
          </a:prstGeom>
          <a:noFill/>
        </p:spPr>
        <p:txBody>
          <a:bodyPr wrap="square" lIns="0" rIns="0" tIns="0" bIns="0" anchor="t">
            <a:spAutoFit/>
          </a:bodyPr>
          <a:lstStyle/>
          <a:p>
            <a:pPr algn="l">
              <a:lnSpc>
                <a:spcPct val="112000"/>
              </a:lnSpc>
            </a:pPr>
            <a:r>
              <a:rPr sz="1600" b="1" i="0">
                <a:solidFill>
                  <a:srgbClr val="000028"/>
                </a:solidFill>
                <a:latin typeface="Arial"/>
              </a:rPr>
              <a:t>Decide</a:t>
            </a:r>
          </a:p>
        </p:txBody>
      </p:sp>
      <p:sp>
        <p:nvSpPr>
          <p:cNvPr id="31" name="TextBox 30"/>
          <p:cNvSpPr txBox="1"/>
          <p:nvPr/>
        </p:nvSpPr>
        <p:spPr>
          <a:xfrm>
            <a:off x="9192005" y="3282696"/>
            <a:ext cx="2247138" cy="1828800"/>
          </a:xfrm>
          <a:prstGeom prst="rect">
            <a:avLst/>
          </a:prstGeom>
          <a:noFill/>
        </p:spPr>
        <p:txBody>
          <a:bodyPr wrap="square" lIns="0" rIns="0" tIns="0" bIns="0" anchor="t">
            <a:spAutoFit/>
          </a:bodyPr>
          <a:lstStyle/>
          <a:p>
            <a:pPr algn="l">
              <a:lnSpc>
                <a:spcPct val="113000"/>
              </a:lnSpc>
            </a:pPr>
            <a:r>
              <a:rPr sz="1200" b="0" i="0">
                <a:solidFill>
                  <a:srgbClr val="45465E"/>
                </a:solidFill>
                <a:latin typeface="Arial"/>
              </a:rPr>
              <a:t>Same scale before vs. after the switch, minus the trend of scales that stayed on 8 (difference-in-differences); a simulator for 9 policies.</a:t>
            </a:r>
          </a:p>
        </p:txBody>
      </p:sp>
      <p:sp>
        <p:nvSpPr>
          <p:cNvPr id="32" name="TextBox 31"/>
          <p:cNvSpPr txBox="1"/>
          <p:nvPr/>
        </p:nvSpPr>
        <p:spPr>
          <a:xfrm>
            <a:off x="566928" y="5385816"/>
            <a:ext cx="11055096" cy="365760"/>
          </a:xfrm>
          <a:prstGeom prst="rect">
            <a:avLst/>
          </a:prstGeom>
          <a:noFill/>
        </p:spPr>
        <p:txBody>
          <a:bodyPr wrap="square" lIns="0" rIns="0" tIns="0" bIns="0" anchor="t">
            <a:spAutoFit/>
          </a:bodyPr>
          <a:lstStyle/>
          <a:p>
            <a:pPr algn="l">
              <a:lnSpc>
                <a:spcPct val="112000"/>
              </a:lnSpc>
            </a:pPr>
            <a:r>
              <a:rPr sz="1200" b="1" i="0">
                <a:solidFill>
                  <a:srgbClr val="45465E"/>
                </a:solidFill>
                <a:latin typeface="Arial"/>
              </a:rPr>
              <a:t>Built to be rerun:</a:t>
            </a:r>
            <a:r>
              <a:rPr sz="1200" b="0" i="0">
                <a:solidFill>
                  <a:srgbClr val="45465E"/>
                </a:solidFill>
                <a:latin typeface="Arial"/>
              </a:rPr>
              <a:t> Python + DuckDB pipeline (about one minute on a laptop), tested on a synthetic fleet with known ground truth; Power BI reads only aggregated tables.</a:t>
            </a:r>
          </a:p>
        </p:txBody>
      </p:sp>
      <p:sp>
        <p:nvSpPr>
          <p:cNvPr id="33" name="TextBox 32"/>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Report §2–3, Appendix A</a:t>
            </a:r>
          </a:p>
        </p:txBody>
      </p:sp>
      <p:sp>
        <p:nvSpPr>
          <p:cNvPr id="34" name="TextBox 33"/>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DASHBOARD</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Fleet overview: how far today's scales are from the targets</a:t>
            </a:r>
          </a:p>
        </p:txBody>
      </p:sp>
      <p:sp>
        <p:nvSpPr>
          <p:cNvPr id="5" name="Rectangle 4"/>
          <p:cNvSpPr/>
          <p:nvPr/>
        </p:nvSpPr>
        <p:spPr>
          <a:xfrm>
            <a:off x="566928" y="1316736"/>
            <a:ext cx="11055096" cy="4855464"/>
          </a:xfrm>
          <a:prstGeom prst="rect">
            <a:avLst/>
          </a:prstGeom>
          <a:solidFill>
            <a:srgbClr val="F3F3F0"/>
          </a:solidFill>
          <a:ln w="19050">
            <a:solidFill>
              <a:srgbClr val="009999"/>
            </a:solidFill>
            <a:prstDash val="dash"/>
          </a:ln>
        </p:spPr>
        <p:txBody>
          <a:bodyPr rtlCol="0" anchor="ctr"/>
          <a:lstStyle/>
          <a:p>
            <a:pPr algn="ctr"/>
          </a:p>
        </p:txBody>
      </p:sp>
      <p:sp>
        <p:nvSpPr>
          <p:cNvPr id="6" name="TextBox 5"/>
          <p:cNvSpPr txBox="1"/>
          <p:nvPr/>
        </p:nvSpPr>
        <p:spPr>
          <a:xfrm>
            <a:off x="566928" y="2773375"/>
            <a:ext cx="11055096" cy="457200"/>
          </a:xfrm>
          <a:prstGeom prst="rect">
            <a:avLst/>
          </a:prstGeom>
          <a:noFill/>
        </p:spPr>
        <p:txBody>
          <a:bodyPr wrap="square" lIns="0" rIns="0" tIns="0" bIns="0" anchor="t">
            <a:spAutoFit/>
          </a:bodyPr>
          <a:lstStyle/>
          <a:p>
            <a:pPr algn="ctr">
              <a:lnSpc>
                <a:spcPct val="112000"/>
              </a:lnSpc>
            </a:pPr>
            <a:r>
              <a:rPr sz="2400" b="1" i="0" spc="100">
                <a:solidFill>
                  <a:srgbClr val="009999"/>
                </a:solidFill>
                <a:latin typeface="Arial"/>
              </a:rPr>
              <a:t>POWER BI DASHBOARD A</a:t>
            </a:r>
          </a:p>
        </p:txBody>
      </p:sp>
      <p:sp>
        <p:nvSpPr>
          <p:cNvPr id="7" name="TextBox 6"/>
          <p:cNvSpPr txBox="1"/>
          <p:nvPr/>
        </p:nvSpPr>
        <p:spPr>
          <a:xfrm>
            <a:off x="1024128" y="3340303"/>
            <a:ext cx="10140696" cy="822960"/>
          </a:xfrm>
          <a:prstGeom prst="rect">
            <a:avLst/>
          </a:prstGeom>
          <a:noFill/>
        </p:spPr>
        <p:txBody>
          <a:bodyPr wrap="square" lIns="0" rIns="0" tIns="0" bIns="0" anchor="t">
            <a:spAutoFit/>
          </a:bodyPr>
          <a:lstStyle/>
          <a:p>
            <a:pPr algn="ctr">
              <a:lnSpc>
                <a:spcPct val="115000"/>
              </a:lnSpc>
            </a:pPr>
            <a:r>
              <a:rPr sz="1400" b="0" i="0">
                <a:solidFill>
                  <a:srgbClr val="000028"/>
                </a:solidFill>
                <a:latin typeface="Arial"/>
              </a:rPr>
              <a:t>Page 1 – fleet overview: KPIs by scale type and sensitivity level, consistency of every level, share of scales in target</a:t>
            </a:r>
          </a:p>
        </p:txBody>
      </p:sp>
      <p:sp>
        <p:nvSpPr>
          <p:cNvPr id="8" name="TextBox 7"/>
          <p:cNvSpPr txBox="1"/>
          <p:nvPr/>
        </p:nvSpPr>
        <p:spPr>
          <a:xfrm>
            <a:off x="1024128" y="5486400"/>
            <a:ext cx="10140696" cy="457200"/>
          </a:xfrm>
          <a:prstGeom prst="rect">
            <a:avLst/>
          </a:prstGeom>
          <a:noFill/>
        </p:spPr>
        <p:txBody>
          <a:bodyPr wrap="square" lIns="0" rIns="0" tIns="0" bIns="0" anchor="t">
            <a:spAutoFit/>
          </a:bodyPr>
          <a:lstStyle/>
          <a:p>
            <a:pPr algn="ctr">
              <a:lnSpc>
                <a:spcPct val="110000"/>
              </a:lnSpc>
            </a:pPr>
            <a:r>
              <a:rPr sz="1100" b="0" i="0">
                <a:solidFill>
                  <a:srgbClr val="7D7F93"/>
                </a:solidFill>
                <a:latin typeface="Arial"/>
              </a:rPr>
              <a:t>Insert a screenshot of Power BI page 1 here · data: fact_device_sensitivity.csv (one row per scale and level, built by the pipeline)</a:t>
            </a:r>
          </a:p>
        </p:txBody>
      </p:sp>
      <p:sp>
        <p:nvSpPr>
          <p:cNvPr id="9" name="TextBox 8"/>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Power BI report on the aggregated pipeline output (fact_device_sensitivity.csv)</a:t>
            </a:r>
          </a:p>
        </p:txBody>
      </p:sp>
      <p:sp>
        <p:nvSpPr>
          <p:cNvPr id="10" name="TextBox 9"/>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FINDING 1 · THE TARGETS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The problem is one-sided – and the KPI points the wrong way</a:t>
            </a:r>
          </a:p>
        </p:txBody>
      </p:sp>
      <p:pic>
        <p:nvPicPr>
          <p:cNvPr id="5" name="Picture 4" descr="k01_one_sided.png"/>
          <p:cNvPicPr>
            <a:picLocks noChangeAspect="1"/>
          </p:cNvPicPr>
          <p:nvPr/>
        </p:nvPicPr>
        <p:blipFill>
          <a:blip r:embed="rId2"/>
          <a:stretch>
            <a:fillRect/>
          </a:stretch>
        </p:blipFill>
        <p:spPr>
          <a:xfrm>
            <a:off x="475488" y="1271016"/>
            <a:ext cx="5760720" cy="2377440"/>
          </a:xfrm>
          <a:prstGeom prst="rect">
            <a:avLst/>
          </a:prstGeom>
        </p:spPr>
      </p:pic>
      <p:sp>
        <p:nvSpPr>
          <p:cNvPr id="6" name="TextBox 5"/>
          <p:cNvSpPr txBox="1"/>
          <p:nvPr/>
        </p:nvSpPr>
        <p:spPr>
          <a:xfrm>
            <a:off x="566928" y="3831336"/>
            <a:ext cx="5394960" cy="2194560"/>
          </a:xfrm>
          <a:prstGeom prst="rect">
            <a:avLst/>
          </a:prstGeom>
          <a:noFill/>
        </p:spPr>
        <p:txBody>
          <a:bodyPr wrap="square" lIns="0" rIns="0" tIns="0" bIns="0" anchor="t">
            <a:spAutoFit/>
          </a:bodyPr>
          <a:lstStyle/>
          <a:p>
            <a:pPr algn="l" marL="182880" indent="-182880">
              <a:lnSpc>
                <a:spcPct val="112000"/>
              </a:lnSpc>
              <a:spcAft>
                <a:spcPts val="600"/>
              </a:spcAft>
              <a:buClr>
                <a:srgbClr val="009999"/>
              </a:buClr>
              <a:buFont typeface="Arial"/>
              <a:buChar char="•"/>
            </a:pPr>
            <a:r>
              <a:rPr sz="1250" b="1" i="0">
                <a:solidFill>
                  <a:srgbClr val="000028"/>
                </a:solidFill>
                <a:latin typeface="Arial"/>
              </a:rPr>
              <a:t>Misses are rare today:</a:t>
            </a:r>
            <a:r>
              <a:rPr sz="1250" b="0" i="0">
                <a:solidFill>
                  <a:srgbClr val="000028"/>
                </a:solidFill>
                <a:latin typeface="Arial"/>
              </a:rPr>
              <a:t> 99% / 98% of the scales meet the TOO_FEW target on level 8. There is room to lower the sensitivity.</a:t>
            </a:r>
          </a:p>
          <a:p>
            <a:pPr algn="l" marL="182880" indent="-182880">
              <a:lnSpc>
                <a:spcPct val="112000"/>
              </a:lnSpc>
              <a:spcAft>
                <a:spcPts val="600"/>
              </a:spcAft>
              <a:buClr>
                <a:srgbClr val="009999"/>
              </a:buClr>
              <a:buFont typeface="Arial"/>
              <a:buChar char="•"/>
            </a:pPr>
            <a:r>
              <a:rPr sz="1250" b="1" i="0">
                <a:solidFill>
                  <a:srgbClr val="000028"/>
                </a:solidFill>
                <a:latin typeface="Arial"/>
              </a:rPr>
              <a:t>The fraction hides progress:</a:t>
            </a:r>
            <a:r>
              <a:rPr sz="1250" b="0" i="0">
                <a:solidFill>
                  <a:srgbClr val="000028"/>
                </a:solidFill>
                <a:latin typeface="Arial"/>
              </a:rPr>
              <a:t> level 8 → 1 removes 97% / 98% of the empty wake-ups, but the fraction falls only by 0.23 / 0.20 – real picks vanish too.</a:t>
            </a:r>
          </a:p>
          <a:p>
            <a:pPr algn="l" marL="182880" indent="-182880">
              <a:lnSpc>
                <a:spcPct val="112000"/>
              </a:lnSpc>
              <a:spcAft>
                <a:spcPts val="600"/>
              </a:spcAft>
              <a:buClr>
                <a:srgbClr val="009999"/>
              </a:buClr>
              <a:buFont typeface="Arial"/>
              <a:buChar char="•"/>
            </a:pPr>
            <a:r>
              <a:rPr sz="1250" b="1" i="0">
                <a:solidFill>
                  <a:srgbClr val="000028"/>
                </a:solidFill>
                <a:latin typeface="Arial"/>
              </a:rPr>
              <a:t>It punishes slow movers:</a:t>
            </a:r>
            <a:r>
              <a:rPr sz="1250" b="0" i="0">
                <a:solidFill>
                  <a:srgbClr val="000028"/>
                </a:solidFill>
                <a:latin typeface="Arial"/>
              </a:rPr>
              <a:t> least-used fifth of the 20 kg bins 1.00, most-used fifth 0.63.</a:t>
            </a:r>
          </a:p>
        </p:txBody>
      </p:sp>
      <p:sp>
        <p:nvSpPr>
          <p:cNvPr id="7" name="Rectangle 6"/>
          <p:cNvSpPr/>
          <p:nvPr/>
        </p:nvSpPr>
        <p:spPr>
          <a:xfrm>
            <a:off x="6446520" y="1271016"/>
            <a:ext cx="5196535" cy="4526280"/>
          </a:xfrm>
          <a:prstGeom prst="rect">
            <a:avLst/>
          </a:prstGeom>
          <a:solidFill>
            <a:srgbClr val="F3F3F0"/>
          </a:solidFill>
          <a:ln>
            <a:noFill/>
          </a:ln>
        </p:spPr>
        <p:txBody>
          <a:bodyPr rtlCol="0" anchor="ctr"/>
          <a:lstStyle/>
          <a:p>
            <a:pPr algn="ctr"/>
          </a:p>
        </p:txBody>
      </p:sp>
      <p:sp>
        <p:nvSpPr>
          <p:cNvPr id="8" name="Rectangle 7"/>
          <p:cNvSpPr/>
          <p:nvPr/>
        </p:nvSpPr>
        <p:spPr>
          <a:xfrm>
            <a:off x="6446520" y="1271016"/>
            <a:ext cx="5196535" cy="54864"/>
          </a:xfrm>
          <a:prstGeom prst="rect">
            <a:avLst/>
          </a:prstGeom>
          <a:solidFill>
            <a:srgbClr val="009999"/>
          </a:solidFill>
          <a:ln>
            <a:noFill/>
          </a:ln>
        </p:spPr>
        <p:txBody>
          <a:bodyPr rtlCol="0" anchor="ctr"/>
          <a:lstStyle/>
          <a:p>
            <a:pPr algn="ctr"/>
          </a:p>
        </p:txBody>
      </p:sp>
      <p:sp>
        <p:nvSpPr>
          <p:cNvPr id="9" name="TextBox 8"/>
          <p:cNvSpPr txBox="1"/>
          <p:nvPr/>
        </p:nvSpPr>
        <p:spPr>
          <a:xfrm>
            <a:off x="6720840" y="1499616"/>
            <a:ext cx="4572000" cy="27432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WE PROPOSE: KPI 2.0</a:t>
            </a:r>
          </a:p>
        </p:txBody>
      </p:sp>
      <p:sp>
        <p:nvSpPr>
          <p:cNvPr id="10" name="TextBox 9"/>
          <p:cNvSpPr txBox="1"/>
          <p:nvPr/>
        </p:nvSpPr>
        <p:spPr>
          <a:xfrm>
            <a:off x="6720840" y="1773936"/>
            <a:ext cx="4846320" cy="548640"/>
          </a:xfrm>
          <a:prstGeom prst="rect">
            <a:avLst/>
          </a:prstGeom>
          <a:noFill/>
        </p:spPr>
        <p:txBody>
          <a:bodyPr wrap="square" lIns="0" rIns="0" tIns="0" bIns="0" anchor="t">
            <a:spAutoFit/>
          </a:bodyPr>
          <a:lstStyle/>
          <a:p>
            <a:pPr algn="l">
              <a:lnSpc>
                <a:spcPct val="112000"/>
              </a:lnSpc>
            </a:pPr>
            <a:r>
              <a:rPr sz="1700" b="1" i="0">
                <a:solidFill>
                  <a:srgbClr val="000028"/>
                </a:solidFill>
                <a:latin typeface="Arial"/>
              </a:rPr>
              <a:t>Measure the load and the service directly</a:t>
            </a:r>
          </a:p>
        </p:txBody>
      </p:sp>
      <p:graphicFrame>
        <p:nvGraphicFramePr>
          <p:cNvPr id="11" name="Table 10"/>
          <p:cNvGraphicFramePr>
            <a:graphicFrameLocks noGrp="1"/>
          </p:cNvGraphicFramePr>
          <p:nvPr/>
        </p:nvGraphicFramePr>
        <p:xfrm>
          <a:off x="6720840" y="2368296"/>
          <a:ext cx="4663439" cy="2267712"/>
        </p:xfrm>
        <a:graphic>
          <a:graphicData uri="http://schemas.openxmlformats.org/drawingml/2006/table">
            <a:tbl>
              <a:tblPr firstRow="0" bandRow="0"/>
              <a:tblGrid>
                <a:gridCol w="2127183"/>
                <a:gridCol w="736332"/>
                <a:gridCol w="1799924"/>
              </a:tblGrid>
              <a:tr h="566928">
                <a:tc>
                  <a:txBody>
                    <a:bodyPr wrap="square"/>
                    <a:lstStyle/>
                    <a:p>
                      <a:pPr algn="l"/>
                      <a:r>
                        <a:rPr sz="1150" b="1">
                          <a:solidFill>
                            <a:srgbClr val="FFFFFF"/>
                          </a:solidFill>
                          <a:latin typeface="Arial"/>
                        </a:rPr>
                        <a:t>KPI per scale</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ctr"/>
                      <a:r>
                        <a:rPr sz="1150" b="1">
                          <a:solidFill>
                            <a:srgbClr val="FFFFFF"/>
                          </a:solidFill>
                          <a:latin typeface="Arial"/>
                        </a:rPr>
                        <a:t>Target</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150" b="1">
                          <a:solidFill>
                            <a:srgbClr val="FFFFFF"/>
                          </a:solidFill>
                          <a:latin typeface="Arial"/>
                        </a:rPr>
                        <a:t>Why</a:t>
                      </a:r>
                    </a:p>
                  </a:txBody>
                  <a:tcPr marL="73152" marR="73152" marT="32004" marB="32004" anchor="ctr">
                    <a:lnL w="0">
                      <a:noFill/>
                    </a:lnL>
                    <a:lnR w="0">
                      <a:noFill/>
                    </a:lnR>
                    <a:lnT w="0">
                      <a:noFill/>
                    </a:lnT>
                    <a:lnB w="9525">
                      <a:solidFill>
                        <a:srgbClr val="D4D4D9"/>
                      </a:solidFill>
                    </a:lnB>
                    <a:solidFill>
                      <a:srgbClr val="000028"/>
                    </a:solidFill>
                  </a:tcPr>
                </a:tc>
              </a:tr>
              <a:tr h="566928">
                <a:tc>
                  <a:txBody>
                    <a:bodyPr wrap="square"/>
                    <a:lstStyle/>
                    <a:p>
                      <a:pPr algn="l"/>
                      <a:r>
                        <a:rPr sz="1150" b="0">
                          <a:solidFill>
                            <a:srgbClr val="000028"/>
                          </a:solidFill>
                          <a:latin typeface="Arial"/>
                        </a:rPr>
                        <a:t>Empty wake-ups per week</a:t>
                      </a:r>
                    </a:p>
                  </a:txBody>
                  <a:tcPr marL="73152" marR="73152" marT="32004" marB="32004" anchor="ctr">
                    <a:lnL w="0">
                      <a:noFill/>
                    </a:lnL>
                    <a:lnR w="0">
                      <a:noFill/>
                    </a:lnR>
                    <a:lnT w="0">
                      <a:noFill/>
                    </a:lnT>
                    <a:lnB w="9525">
                      <a:solidFill>
                        <a:srgbClr val="D4D4D9"/>
                      </a:solidFill>
                    </a:lnB>
                    <a:noFill/>
                  </a:tcPr>
                </a:tc>
                <a:tc>
                  <a:txBody>
                    <a:bodyPr wrap="square"/>
                    <a:lstStyle/>
                    <a:p>
                      <a:pPr algn="ctr"/>
                      <a:r>
                        <a:rPr sz="1150" b="0">
                          <a:solidFill>
                            <a:srgbClr val="000028"/>
                          </a:solidFill>
                          <a:latin typeface="Arial"/>
                        </a:rPr>
                        <a:t>≤ 7</a:t>
                      </a:r>
                    </a:p>
                  </a:txBody>
                  <a:tcPr marL="73152" marR="73152" marT="32004" marB="32004" anchor="ctr">
                    <a:lnL w="0">
                      <a:noFill/>
                    </a:lnL>
                    <a:lnR w="0">
                      <a:noFill/>
                    </a:lnR>
                    <a:lnT w="0">
                      <a:noFill/>
                    </a:lnT>
                    <a:lnB w="9525">
                      <a:solidFill>
                        <a:srgbClr val="D4D4D9"/>
                      </a:solidFill>
                    </a:lnB>
                    <a:noFill/>
                  </a:tcPr>
                </a:tc>
                <a:tc>
                  <a:txBody>
                    <a:bodyPr wrap="square"/>
                    <a:lstStyle/>
                    <a:p>
                      <a:pPr algn="l"/>
                      <a:r>
                        <a:rPr sz="1150" b="0">
                          <a:solidFill>
                            <a:srgbClr val="000028"/>
                          </a:solidFill>
                          <a:latin typeface="Arial"/>
                        </a:rPr>
                        <a:t>battery, radio and cloud pay per weighing</a:t>
                      </a:r>
                    </a:p>
                  </a:txBody>
                  <a:tcPr marL="73152" marR="73152" marT="32004" marB="32004" anchor="ctr">
                    <a:lnL w="0">
                      <a:noFill/>
                    </a:lnL>
                    <a:lnR w="0">
                      <a:noFill/>
                    </a:lnR>
                    <a:lnT w="0">
                      <a:noFill/>
                    </a:lnT>
                    <a:lnB w="9525">
                      <a:solidFill>
                        <a:srgbClr val="D4D4D9"/>
                      </a:solidFill>
                    </a:lnB>
                    <a:noFill/>
                  </a:tcPr>
                </a:tc>
              </a:tr>
              <a:tr h="566928">
                <a:tc>
                  <a:txBody>
                    <a:bodyPr wrap="square"/>
                    <a:lstStyle/>
                    <a:p>
                      <a:pPr algn="l"/>
                      <a:r>
                        <a:rPr sz="1150" b="0">
                          <a:solidFill>
                            <a:srgbClr val="000028"/>
                          </a:solidFill>
                          <a:latin typeface="Arial"/>
                        </a:rPr>
                        <a:t>Share of changes missed
= TOO_FEW ÷ (picks + TOO_FEW)</a:t>
                      </a:r>
                    </a:p>
                  </a:txBody>
                  <a:tcPr marL="73152" marR="73152" marT="32004" marB="32004" anchor="ctr">
                    <a:lnL w="0">
                      <a:noFill/>
                    </a:lnL>
                    <a:lnR w="0">
                      <a:noFill/>
                    </a:lnR>
                    <a:lnT w="0">
                      <a:noFill/>
                    </a:lnT>
                    <a:lnB w="9525">
                      <a:solidFill>
                        <a:srgbClr val="D4D4D9"/>
                      </a:solidFill>
                    </a:lnB>
                    <a:noFill/>
                  </a:tcPr>
                </a:tc>
                <a:tc>
                  <a:txBody>
                    <a:bodyPr wrap="square"/>
                    <a:lstStyle/>
                    <a:p>
                      <a:pPr algn="ctr"/>
                      <a:r>
                        <a:rPr sz="1150" b="0">
                          <a:solidFill>
                            <a:srgbClr val="000028"/>
                          </a:solidFill>
                          <a:latin typeface="Arial"/>
                        </a:rPr>
                        <a:t>≤ 10%</a:t>
                      </a:r>
                    </a:p>
                  </a:txBody>
                  <a:tcPr marL="73152" marR="73152" marT="32004" marB="32004" anchor="ctr">
                    <a:lnL w="0">
                      <a:noFill/>
                    </a:lnL>
                    <a:lnR w="0">
                      <a:noFill/>
                    </a:lnR>
                    <a:lnT w="0">
                      <a:noFill/>
                    </a:lnT>
                    <a:lnB w="9525">
                      <a:solidFill>
                        <a:srgbClr val="D4D4D9"/>
                      </a:solidFill>
                    </a:lnB>
                    <a:noFill/>
                  </a:tcPr>
                </a:tc>
                <a:tc>
                  <a:txBody>
                    <a:bodyPr wrap="square"/>
                    <a:lstStyle/>
                    <a:p>
                      <a:pPr algn="l"/>
                      <a:r>
                        <a:rPr sz="1150" b="0">
                          <a:solidFill>
                            <a:srgbClr val="000028"/>
                          </a:solidFill>
                          <a:latin typeface="Arial"/>
                        </a:rPr>
                        <a:t>the service the customer feels</a:t>
                      </a:r>
                    </a:p>
                  </a:txBody>
                  <a:tcPr marL="73152" marR="73152" marT="32004" marB="32004" anchor="ctr">
                    <a:lnL w="0">
                      <a:noFill/>
                    </a:lnL>
                    <a:lnR w="0">
                      <a:noFill/>
                    </a:lnR>
                    <a:lnT w="0">
                      <a:noFill/>
                    </a:lnT>
                    <a:lnB w="9525">
                      <a:solidFill>
                        <a:srgbClr val="D4D4D9"/>
                      </a:solidFill>
                    </a:lnB>
                    <a:noFill/>
                  </a:tcPr>
                </a:tc>
              </a:tr>
              <a:tr h="566928">
                <a:tc>
                  <a:txBody>
                    <a:bodyPr wrap="square"/>
                    <a:lstStyle/>
                    <a:p>
                      <a:pPr algn="l"/>
                      <a:r>
                        <a:rPr sz="1150" b="0">
                          <a:solidFill>
                            <a:srgbClr val="000028"/>
                          </a:solidFill>
                          <a:latin typeface="Arial"/>
                        </a:rPr>
                        <a:t>TOO_FEW per week</a:t>
                      </a:r>
                    </a:p>
                  </a:txBody>
                  <a:tcPr marL="73152" marR="73152" marT="32004" marB="32004" anchor="ctr">
                    <a:lnL w="0">
                      <a:noFill/>
                    </a:lnL>
                    <a:lnR w="0">
                      <a:noFill/>
                    </a:lnR>
                    <a:lnT w="0">
                      <a:noFill/>
                    </a:lnT>
                    <a:lnB w="9525">
                      <a:solidFill>
                        <a:srgbClr val="D4D4D9"/>
                      </a:solidFill>
                    </a:lnB>
                    <a:noFill/>
                  </a:tcPr>
                </a:tc>
                <a:tc>
                  <a:txBody>
                    <a:bodyPr wrap="square"/>
                    <a:lstStyle/>
                    <a:p>
                      <a:pPr algn="ctr"/>
                      <a:r>
                        <a:rPr sz="1150" b="0">
                          <a:solidFill>
                            <a:srgbClr val="000028"/>
                          </a:solidFill>
                          <a:latin typeface="Arial"/>
                        </a:rPr>
                        <a:t>≤ 2</a:t>
                      </a:r>
                    </a:p>
                  </a:txBody>
                  <a:tcPr marL="73152" marR="73152" marT="32004" marB="32004" anchor="ctr">
                    <a:lnL w="0">
                      <a:noFill/>
                    </a:lnL>
                    <a:lnR w="0">
                      <a:noFill/>
                    </a:lnR>
                    <a:lnT w="0">
                      <a:noFill/>
                    </a:lnT>
                    <a:lnB w="9525">
                      <a:solidFill>
                        <a:srgbClr val="D4D4D9"/>
                      </a:solidFill>
                    </a:lnB>
                    <a:noFill/>
                  </a:tcPr>
                </a:tc>
                <a:tc>
                  <a:txBody>
                    <a:bodyPr wrap="square"/>
                    <a:lstStyle/>
                    <a:p>
                      <a:pPr algn="l"/>
                      <a:r>
                        <a:rPr sz="1150" b="0">
                          <a:solidFill>
                            <a:srgbClr val="000028"/>
                          </a:solidFill>
                          <a:latin typeface="Arial"/>
                        </a:rPr>
                        <a:t>Bossard's floor, kept</a:t>
                      </a:r>
                    </a:p>
                  </a:txBody>
                  <a:tcPr marL="73152" marR="73152" marT="32004" marB="32004" anchor="ctr">
                    <a:lnL w="0">
                      <a:noFill/>
                    </a:lnL>
                    <a:lnR w="0">
                      <a:noFill/>
                    </a:lnR>
                    <a:lnT w="0">
                      <a:noFill/>
                    </a:lnT>
                    <a:lnB w="9525">
                      <a:solidFill>
                        <a:srgbClr val="D4D4D9"/>
                      </a:solidFill>
                    </a:lnB>
                    <a:noFill/>
                  </a:tcPr>
                </a:tc>
              </a:tr>
            </a:tbl>
          </a:graphicData>
        </a:graphic>
      </p:graphicFrame>
      <p:sp>
        <p:nvSpPr>
          <p:cNvPr id="12" name="TextBox 11"/>
          <p:cNvSpPr txBox="1"/>
          <p:nvPr/>
        </p:nvSpPr>
        <p:spPr>
          <a:xfrm>
            <a:off x="6720840" y="4837176"/>
            <a:ext cx="4663440" cy="82296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Absolute counts instead of a ratio: a slow-moving bin is no longer punished, and switching the sensor off no longer looks like success.</a:t>
            </a:r>
          </a:p>
        </p:txBody>
      </p:sp>
      <p:sp>
        <p:nvSpPr>
          <p:cNvPr id="13" name="TextBox 12"/>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same scales before and after the switch (difference-in-differences) · Report §4.1, §4.3, §4.4, §6.1</a:t>
            </a:r>
          </a:p>
        </p:txBody>
      </p:sp>
      <p:sp>
        <p:nvSpPr>
          <p:cNvPr id="14" name="TextBox 13"/>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FINDING 2 · KEY INSIGHT</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Over half the empty wake-ups coincide with picking nearby</a:t>
            </a:r>
          </a:p>
        </p:txBody>
      </p:sp>
      <p:sp>
        <p:nvSpPr>
          <p:cNvPr id="5" name="TextBox 4"/>
          <p:cNvSpPr txBox="1"/>
          <p:nvPr/>
        </p:nvSpPr>
        <p:spPr>
          <a:xfrm>
            <a:off x="566928" y="1207008"/>
            <a:ext cx="6675120" cy="274320"/>
          </a:xfrm>
          <a:prstGeom prst="rect">
            <a:avLst/>
          </a:prstGeom>
          <a:noFill/>
        </p:spPr>
        <p:txBody>
          <a:bodyPr wrap="square" lIns="0" rIns="0" tIns="0" bIns="0" anchor="t">
            <a:spAutoFit/>
          </a:bodyPr>
          <a:lstStyle/>
          <a:p>
            <a:pPr algn="l">
              <a:lnSpc>
                <a:spcPct val="112000"/>
              </a:lnSpc>
            </a:pPr>
            <a:r>
              <a:rPr sz="1050" b="1" i="0" spc="120">
                <a:solidFill>
                  <a:srgbClr val="009999"/>
                </a:solidFill>
                <a:latin typeface="Arial"/>
              </a:rPr>
              <a:t>ONE EXAMPLE FROM THE DATA</a:t>
            </a:r>
          </a:p>
        </p:txBody>
      </p:sp>
      <p:pic>
        <p:nvPicPr>
          <p:cNvPr id="6" name="Picture 5" descr="k02_episode.png"/>
          <p:cNvPicPr>
            <a:picLocks noChangeAspect="1"/>
          </p:cNvPicPr>
          <p:nvPr/>
        </p:nvPicPr>
        <p:blipFill>
          <a:blip r:embed="rId2"/>
          <a:stretch>
            <a:fillRect/>
          </a:stretch>
        </p:blipFill>
        <p:spPr>
          <a:xfrm>
            <a:off x="475488" y="1453896"/>
            <a:ext cx="6766560" cy="3017520"/>
          </a:xfrm>
          <a:prstGeom prst="rect">
            <a:avLst/>
          </a:prstGeom>
        </p:spPr>
      </p:pic>
      <p:sp>
        <p:nvSpPr>
          <p:cNvPr id="7" name="TextBox 6"/>
          <p:cNvSpPr txBox="1"/>
          <p:nvPr/>
        </p:nvSpPr>
        <p:spPr>
          <a:xfrm>
            <a:off x="566928" y="4562856"/>
            <a:ext cx="6492240" cy="54864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One pick at Bin A. Three neighbouring bins of the same site wake up 8–14 s before it and find nothing (level 8, 21:00).</a:t>
            </a:r>
          </a:p>
        </p:txBody>
      </p:sp>
      <p:sp>
        <p:nvSpPr>
          <p:cNvPr id="8" name="TextBox 7"/>
          <p:cNvSpPr txBox="1"/>
          <p:nvPr/>
        </p:nvSpPr>
        <p:spPr>
          <a:xfrm>
            <a:off x="7589520" y="1225296"/>
            <a:ext cx="4023360" cy="720090"/>
          </a:xfrm>
          <a:prstGeom prst="rect">
            <a:avLst/>
          </a:prstGeom>
          <a:noFill/>
        </p:spPr>
        <p:txBody>
          <a:bodyPr wrap="square" lIns="0" rIns="0" tIns="0" bIns="0" anchor="t">
            <a:spAutoFit/>
          </a:bodyPr>
          <a:lstStyle/>
          <a:p>
            <a:pPr algn="l">
              <a:lnSpc>
                <a:spcPct val="95000"/>
              </a:lnSpc>
            </a:pPr>
            <a:r>
              <a:rPr sz="5400" b="1" i="0">
                <a:solidFill>
                  <a:srgbClr val="009999"/>
                </a:solidFill>
                <a:latin typeface="Arial"/>
              </a:rPr>
              <a:t>55%</a:t>
            </a:r>
          </a:p>
        </p:txBody>
      </p:sp>
      <p:sp>
        <p:nvSpPr>
          <p:cNvPr id="9" name="TextBox 8"/>
          <p:cNvSpPr txBox="1"/>
          <p:nvPr/>
        </p:nvSpPr>
        <p:spPr>
          <a:xfrm>
            <a:off x="7589520" y="1972818"/>
            <a:ext cx="402336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of the empty wake-ups of normally working scales come within ±14 s of a real pick at another bin of the same site – beyond chance (20 kg: 55%, 6 kg: 56%)</a:t>
            </a:r>
          </a:p>
        </p:txBody>
      </p:sp>
      <p:sp>
        <p:nvSpPr>
          <p:cNvPr id="10" name="Rectangle 9"/>
          <p:cNvSpPr/>
          <p:nvPr/>
        </p:nvSpPr>
        <p:spPr>
          <a:xfrm>
            <a:off x="7589520" y="2860071"/>
            <a:ext cx="4023360" cy="2011680"/>
          </a:xfrm>
          <a:prstGeom prst="rect">
            <a:avLst/>
          </a:prstGeom>
          <a:solidFill>
            <a:srgbClr val="F3F3F0"/>
          </a:solidFill>
          <a:ln>
            <a:noFill/>
          </a:ln>
        </p:spPr>
        <p:txBody>
          <a:bodyPr rtlCol="0" anchor="ctr"/>
          <a:lstStyle/>
          <a:p>
            <a:pPr algn="ctr"/>
          </a:p>
        </p:txBody>
      </p:sp>
      <p:sp>
        <p:nvSpPr>
          <p:cNvPr id="11" name="Rectangle 10"/>
          <p:cNvSpPr/>
          <p:nvPr/>
        </p:nvSpPr>
        <p:spPr>
          <a:xfrm>
            <a:off x="7589520" y="2860071"/>
            <a:ext cx="54864" cy="2011680"/>
          </a:xfrm>
          <a:prstGeom prst="rect">
            <a:avLst/>
          </a:prstGeom>
          <a:solidFill>
            <a:srgbClr val="009999"/>
          </a:solidFill>
          <a:ln>
            <a:noFill/>
          </a:ln>
        </p:spPr>
        <p:txBody>
          <a:bodyPr rtlCol="0" anchor="ctr"/>
          <a:lstStyle/>
          <a:p>
            <a:pPr algn="ctr"/>
          </a:p>
        </p:txBody>
      </p:sp>
      <p:sp>
        <p:nvSpPr>
          <p:cNvPr id="12" name="TextBox 11"/>
          <p:cNvSpPr txBox="1"/>
          <p:nvPr/>
        </p:nvSpPr>
        <p:spPr>
          <a:xfrm>
            <a:off x="7827264" y="3042951"/>
            <a:ext cx="3602736"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What it means</a:t>
            </a:r>
          </a:p>
        </p:txBody>
      </p:sp>
      <p:sp>
        <p:nvSpPr>
          <p:cNvPr id="13" name="TextBox 12"/>
          <p:cNvSpPr txBox="1"/>
          <p:nvPr/>
        </p:nvSpPr>
        <p:spPr>
          <a:xfrm>
            <a:off x="7827264" y="3314985"/>
            <a:ext cx="3602736" cy="1556766"/>
          </a:xfrm>
          <a:prstGeom prst="rect">
            <a:avLst/>
          </a:prstGeom>
          <a:noFill/>
        </p:spPr>
        <p:txBody>
          <a:bodyPr wrap="square" lIns="0" rIns="0" tIns="0" bIns="0" anchor="t">
            <a:spAutoFit/>
          </a:bodyPr>
          <a:lstStyle/>
          <a:p>
            <a:pPr algn="l" marL="182880" indent="-182880">
              <a:lnSpc>
                <a:spcPct val="113000"/>
              </a:lnSpc>
              <a:spcAft>
                <a:spcPts val="300"/>
              </a:spcAft>
              <a:buClr>
                <a:srgbClr val="009999"/>
              </a:buClr>
              <a:buFont typeface="Arial"/>
              <a:buChar char="•"/>
            </a:pPr>
            <a:r>
              <a:rPr sz="1200" b="0" i="0">
                <a:solidFill>
                  <a:srgbClr val="45465E"/>
                </a:solidFill>
                <a:latin typeface="Arial"/>
              </a:rPr>
              <a:t>The sensor reacts to activity at the rack, not only at its own bin.</a:t>
            </a:r>
          </a:p>
          <a:p>
            <a:pPr algn="l" marL="182880" indent="-182880">
              <a:lnSpc>
                <a:spcPct val="113000"/>
              </a:lnSpc>
              <a:spcAft>
                <a:spcPts val="300"/>
              </a:spcAft>
              <a:buClr>
                <a:srgbClr val="009999"/>
              </a:buClr>
              <a:buFont typeface="Arial"/>
              <a:buChar char="•"/>
            </a:pPr>
            <a:r>
              <a:rPr sz="1200" b="0" i="0">
                <a:solidFill>
                  <a:srgbClr val="45465E"/>
                </a:solidFill>
                <a:latin typeface="Arial"/>
              </a:rPr>
              <a:t>A lower sensitivity filters part of it; the rest needs mechanics (damping).</a:t>
            </a:r>
          </a:p>
          <a:p>
            <a:pPr algn="l" marL="182880" indent="-182880">
              <a:lnSpc>
                <a:spcPct val="113000"/>
              </a:lnSpc>
              <a:spcAft>
                <a:spcPts val="300"/>
              </a:spcAft>
              <a:buClr>
                <a:srgbClr val="009999"/>
              </a:buClr>
              <a:buFont typeface="Arial"/>
              <a:buChar char="•"/>
            </a:pPr>
            <a:r>
              <a:rPr sz="1200" b="0" i="0">
                <a:solidFill>
                  <a:srgbClr val="45465E"/>
                </a:solidFill>
                <a:latin typeface="Arial"/>
              </a:rPr>
              <a:t>The rest (about 45%) has no link to picking nearby – it stays unexplained.</a:t>
            </a:r>
          </a:p>
        </p:txBody>
      </p:sp>
      <p:sp>
        <p:nvSpPr>
          <p:cNvPr id="14" name="TextBox 13"/>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event coincidence analysis (Donges et al., 2016); scales in a trigger loop left out · Report §4.5</a:t>
            </a:r>
          </a:p>
        </p:txBody>
      </p:sp>
      <p:sp>
        <p:nvSpPr>
          <p:cNvPr id="15" name="TextBox 14"/>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FINDING 2 · EVIDENCE</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Four tests show the coupling is not chance</a:t>
            </a:r>
          </a:p>
        </p:txBody>
      </p:sp>
      <p:pic>
        <p:nvPicPr>
          <p:cNvPr id="5" name="Picture 4" descr="k03_correlogram.png"/>
          <p:cNvPicPr>
            <a:picLocks noChangeAspect="1"/>
          </p:cNvPicPr>
          <p:nvPr/>
        </p:nvPicPr>
        <p:blipFill>
          <a:blip r:embed="rId2"/>
          <a:stretch>
            <a:fillRect/>
          </a:stretch>
        </p:blipFill>
        <p:spPr>
          <a:xfrm>
            <a:off x="475488" y="1271016"/>
            <a:ext cx="5120640" cy="2971800"/>
          </a:xfrm>
          <a:prstGeom prst="rect">
            <a:avLst/>
          </a:prstGeom>
        </p:spPr>
      </p:pic>
      <p:pic>
        <p:nvPicPr>
          <p:cNvPr id="6" name="Picture 5" descr="k04_proof.png"/>
          <p:cNvPicPr>
            <a:picLocks noChangeAspect="1"/>
          </p:cNvPicPr>
          <p:nvPr/>
        </p:nvPicPr>
        <p:blipFill>
          <a:blip r:embed="rId3"/>
          <a:stretch>
            <a:fillRect/>
          </a:stretch>
        </p:blipFill>
        <p:spPr>
          <a:xfrm>
            <a:off x="5715000" y="1271016"/>
            <a:ext cx="6035040" cy="2971800"/>
          </a:xfrm>
          <a:prstGeom prst="rect">
            <a:avLst/>
          </a:prstGeom>
        </p:spPr>
      </p:pic>
      <p:sp>
        <p:nvSpPr>
          <p:cNvPr id="7" name="Rectangle 6"/>
          <p:cNvSpPr/>
          <p:nvPr/>
        </p:nvSpPr>
        <p:spPr>
          <a:xfrm>
            <a:off x="566928" y="4379976"/>
            <a:ext cx="2640330" cy="1600200"/>
          </a:xfrm>
          <a:prstGeom prst="rect">
            <a:avLst/>
          </a:prstGeom>
          <a:solidFill>
            <a:srgbClr val="F3F3F0"/>
          </a:solidFill>
          <a:ln>
            <a:noFill/>
          </a:ln>
        </p:spPr>
        <p:txBody>
          <a:bodyPr rtlCol="0" anchor="ctr"/>
          <a:lstStyle/>
          <a:p>
            <a:pPr algn="ctr"/>
          </a:p>
        </p:txBody>
      </p:sp>
      <p:sp>
        <p:nvSpPr>
          <p:cNvPr id="8" name="Rectangle 7"/>
          <p:cNvSpPr/>
          <p:nvPr/>
        </p:nvSpPr>
        <p:spPr>
          <a:xfrm>
            <a:off x="566928" y="4379976"/>
            <a:ext cx="54864" cy="1600200"/>
          </a:xfrm>
          <a:prstGeom prst="rect">
            <a:avLst/>
          </a:prstGeom>
          <a:solidFill>
            <a:srgbClr val="009999"/>
          </a:solidFill>
          <a:ln>
            <a:noFill/>
          </a:ln>
        </p:spPr>
        <p:txBody>
          <a:bodyPr rtlCol="0" anchor="ctr"/>
          <a:lstStyle/>
          <a:p>
            <a:pPr algn="ctr"/>
          </a:p>
        </p:txBody>
      </p:sp>
      <p:sp>
        <p:nvSpPr>
          <p:cNvPr id="9" name="TextBox 8"/>
          <p:cNvSpPr txBox="1"/>
          <p:nvPr/>
        </p:nvSpPr>
        <p:spPr>
          <a:xfrm>
            <a:off x="758952" y="4517136"/>
            <a:ext cx="2311146" cy="274320"/>
          </a:xfrm>
          <a:prstGeom prst="rect">
            <a:avLst/>
          </a:prstGeom>
          <a:noFill/>
        </p:spPr>
        <p:txBody>
          <a:bodyPr wrap="square" lIns="0" rIns="0" tIns="0" bIns="0" anchor="t">
            <a:spAutoFit/>
          </a:bodyPr>
          <a:lstStyle/>
          <a:p>
            <a:pPr algn="l">
              <a:lnSpc>
                <a:spcPct val="100000"/>
              </a:lnSpc>
            </a:pPr>
            <a:r>
              <a:rPr sz="1300" b="1" i="0">
                <a:solidFill>
                  <a:srgbClr val="000028"/>
                </a:solidFill>
                <a:latin typeface="Arial"/>
              </a:rPr>
              <a:t>1 · Peak at zero</a:t>
            </a:r>
          </a:p>
        </p:txBody>
      </p:sp>
      <p:sp>
        <p:nvSpPr>
          <p:cNvPr id="10" name="TextBox 9"/>
          <p:cNvSpPr txBox="1"/>
          <p:nvPr/>
        </p:nvSpPr>
        <p:spPr>
          <a:xfrm>
            <a:off x="758952" y="4774311"/>
            <a:ext cx="2311146" cy="1205864"/>
          </a:xfrm>
          <a:prstGeom prst="rect">
            <a:avLst/>
          </a:prstGeom>
          <a:noFill/>
        </p:spPr>
        <p:txBody>
          <a:bodyPr wrap="square" lIns="0" rIns="0" tIns="0" bIns="0" anchor="t">
            <a:spAutoFit/>
          </a:bodyPr>
          <a:lstStyle/>
          <a:p>
            <a:pPr algn="l">
              <a:lnSpc>
                <a:spcPct val="113000"/>
              </a:lnSpc>
              <a:spcAft>
                <a:spcPts val="300"/>
              </a:spcAft>
            </a:pPr>
            <a:r>
              <a:rPr sz="1150" b="0" i="0">
                <a:solidFill>
                  <a:srgbClr val="45465E"/>
                </a:solidFill>
                <a:latin typeface="Arial"/>
              </a:rPr>
              <a:t>Picks at other bins jump from 1.2 to 9.9 per minute at the moment of an empty wake-up (20 kg).</a:t>
            </a:r>
          </a:p>
        </p:txBody>
      </p:sp>
      <p:sp>
        <p:nvSpPr>
          <p:cNvPr id="11" name="Rectangle 10"/>
          <p:cNvSpPr/>
          <p:nvPr/>
        </p:nvSpPr>
        <p:spPr>
          <a:xfrm>
            <a:off x="3371850" y="4379976"/>
            <a:ext cx="2640330" cy="1600200"/>
          </a:xfrm>
          <a:prstGeom prst="rect">
            <a:avLst/>
          </a:prstGeom>
          <a:solidFill>
            <a:srgbClr val="F3F3F0"/>
          </a:solidFill>
          <a:ln>
            <a:noFill/>
          </a:ln>
        </p:spPr>
        <p:txBody>
          <a:bodyPr rtlCol="0" anchor="ctr"/>
          <a:lstStyle/>
          <a:p>
            <a:pPr algn="ctr"/>
          </a:p>
        </p:txBody>
      </p:sp>
      <p:sp>
        <p:nvSpPr>
          <p:cNvPr id="12" name="Rectangle 11"/>
          <p:cNvSpPr/>
          <p:nvPr/>
        </p:nvSpPr>
        <p:spPr>
          <a:xfrm>
            <a:off x="3371850" y="4379976"/>
            <a:ext cx="54864" cy="1600200"/>
          </a:xfrm>
          <a:prstGeom prst="rect">
            <a:avLst/>
          </a:prstGeom>
          <a:solidFill>
            <a:srgbClr val="009999"/>
          </a:solidFill>
          <a:ln>
            <a:noFill/>
          </a:ln>
        </p:spPr>
        <p:txBody>
          <a:bodyPr rtlCol="0" anchor="ctr"/>
          <a:lstStyle/>
          <a:p>
            <a:pPr algn="ctr"/>
          </a:p>
        </p:txBody>
      </p:sp>
      <p:sp>
        <p:nvSpPr>
          <p:cNvPr id="13" name="TextBox 12"/>
          <p:cNvSpPr txBox="1"/>
          <p:nvPr/>
        </p:nvSpPr>
        <p:spPr>
          <a:xfrm>
            <a:off x="3563874" y="4517136"/>
            <a:ext cx="2311146" cy="274320"/>
          </a:xfrm>
          <a:prstGeom prst="rect">
            <a:avLst/>
          </a:prstGeom>
          <a:noFill/>
        </p:spPr>
        <p:txBody>
          <a:bodyPr wrap="square" lIns="0" rIns="0" tIns="0" bIns="0" anchor="t">
            <a:spAutoFit/>
          </a:bodyPr>
          <a:lstStyle/>
          <a:p>
            <a:pPr algn="l">
              <a:lnSpc>
                <a:spcPct val="100000"/>
              </a:lnSpc>
            </a:pPr>
            <a:r>
              <a:rPr sz="1300" b="1" i="0">
                <a:solidFill>
                  <a:srgbClr val="000028"/>
                </a:solidFill>
                <a:latin typeface="Arial"/>
              </a:rPr>
              <a:t>2 · Chance window</a:t>
            </a:r>
          </a:p>
        </p:txBody>
      </p:sp>
      <p:sp>
        <p:nvSpPr>
          <p:cNvPr id="14" name="TextBox 13"/>
          <p:cNvSpPr txBox="1"/>
          <p:nvPr/>
        </p:nvSpPr>
        <p:spPr>
          <a:xfrm>
            <a:off x="3563874" y="4774311"/>
            <a:ext cx="2311146" cy="1205864"/>
          </a:xfrm>
          <a:prstGeom prst="rect">
            <a:avLst/>
          </a:prstGeom>
          <a:noFill/>
        </p:spPr>
        <p:txBody>
          <a:bodyPr wrap="square" lIns="0" rIns="0" tIns="0" bIns="0" anchor="t">
            <a:spAutoFit/>
          </a:bodyPr>
          <a:lstStyle/>
          <a:p>
            <a:pPr algn="l">
              <a:lnSpc>
                <a:spcPct val="113000"/>
              </a:lnSpc>
              <a:spcAft>
                <a:spcPts val="300"/>
              </a:spcAft>
            </a:pPr>
            <a:r>
              <a:rPr sz="1150" b="0" i="0">
                <a:solidFill>
                  <a:srgbClr val="45465E"/>
                </a:solidFill>
                <a:latin typeface="Arial"/>
              </a:rPr>
              <a:t>In a window 60 s later – same hour, same activity – only 25% have a pick nearby, against 66%.</a:t>
            </a:r>
          </a:p>
        </p:txBody>
      </p:sp>
      <p:sp>
        <p:nvSpPr>
          <p:cNvPr id="15" name="Rectangle 14"/>
          <p:cNvSpPr/>
          <p:nvPr/>
        </p:nvSpPr>
        <p:spPr>
          <a:xfrm>
            <a:off x="6176772" y="4379976"/>
            <a:ext cx="2640330" cy="1600200"/>
          </a:xfrm>
          <a:prstGeom prst="rect">
            <a:avLst/>
          </a:prstGeom>
          <a:solidFill>
            <a:srgbClr val="F3F3F0"/>
          </a:solidFill>
          <a:ln>
            <a:noFill/>
          </a:ln>
        </p:spPr>
        <p:txBody>
          <a:bodyPr rtlCol="0" anchor="ctr"/>
          <a:lstStyle/>
          <a:p>
            <a:pPr algn="ctr"/>
          </a:p>
        </p:txBody>
      </p:sp>
      <p:sp>
        <p:nvSpPr>
          <p:cNvPr id="16" name="Rectangle 15"/>
          <p:cNvSpPr/>
          <p:nvPr/>
        </p:nvSpPr>
        <p:spPr>
          <a:xfrm>
            <a:off x="6176772" y="4379976"/>
            <a:ext cx="54864" cy="1600200"/>
          </a:xfrm>
          <a:prstGeom prst="rect">
            <a:avLst/>
          </a:prstGeom>
          <a:solidFill>
            <a:srgbClr val="009999"/>
          </a:solidFill>
          <a:ln>
            <a:noFill/>
          </a:ln>
        </p:spPr>
        <p:txBody>
          <a:bodyPr rtlCol="0" anchor="ctr"/>
          <a:lstStyle/>
          <a:p>
            <a:pPr algn="ctr"/>
          </a:p>
        </p:txBody>
      </p:sp>
      <p:sp>
        <p:nvSpPr>
          <p:cNvPr id="17" name="TextBox 16"/>
          <p:cNvSpPr txBox="1"/>
          <p:nvPr/>
        </p:nvSpPr>
        <p:spPr>
          <a:xfrm>
            <a:off x="6368796" y="4517136"/>
            <a:ext cx="2311146" cy="274320"/>
          </a:xfrm>
          <a:prstGeom prst="rect">
            <a:avLst/>
          </a:prstGeom>
          <a:noFill/>
        </p:spPr>
        <p:txBody>
          <a:bodyPr wrap="square" lIns="0" rIns="0" tIns="0" bIns="0" anchor="t">
            <a:spAutoFit/>
          </a:bodyPr>
          <a:lstStyle/>
          <a:p>
            <a:pPr algn="l">
              <a:lnSpc>
                <a:spcPct val="100000"/>
              </a:lnSpc>
            </a:pPr>
            <a:r>
              <a:rPr sz="1300" b="1" i="0">
                <a:solidFill>
                  <a:srgbClr val="000028"/>
                </a:solidFill>
                <a:latin typeface="Arial"/>
              </a:rPr>
              <a:t>3 · Placebo site</a:t>
            </a:r>
          </a:p>
        </p:txBody>
      </p:sp>
      <p:sp>
        <p:nvSpPr>
          <p:cNvPr id="18" name="TextBox 17"/>
          <p:cNvSpPr txBox="1"/>
          <p:nvPr/>
        </p:nvSpPr>
        <p:spPr>
          <a:xfrm>
            <a:off x="6368796" y="4774311"/>
            <a:ext cx="2311146" cy="1205864"/>
          </a:xfrm>
          <a:prstGeom prst="rect">
            <a:avLst/>
          </a:prstGeom>
          <a:noFill/>
        </p:spPr>
        <p:txBody>
          <a:bodyPr wrap="square" lIns="0" rIns="0" tIns="0" bIns="0" anchor="t">
            <a:spAutoFit/>
          </a:bodyPr>
          <a:lstStyle/>
          <a:p>
            <a:pPr algn="l">
              <a:lnSpc>
                <a:spcPct val="113000"/>
              </a:lnSpc>
              <a:spcAft>
                <a:spcPts val="300"/>
              </a:spcAft>
            </a:pPr>
            <a:r>
              <a:rPr sz="1150" b="0" i="0">
                <a:solidFill>
                  <a:srgbClr val="45465E"/>
                </a:solidFill>
                <a:latin typeface="Arial"/>
              </a:rPr>
              <a:t>Picks at another site of similar size at the same second: 0.7% beyond chance. It is local, not the clock.</a:t>
            </a:r>
          </a:p>
        </p:txBody>
      </p:sp>
      <p:sp>
        <p:nvSpPr>
          <p:cNvPr id="19" name="Rectangle 18"/>
          <p:cNvSpPr/>
          <p:nvPr/>
        </p:nvSpPr>
        <p:spPr>
          <a:xfrm>
            <a:off x="8981694" y="4379976"/>
            <a:ext cx="2640330" cy="1600200"/>
          </a:xfrm>
          <a:prstGeom prst="rect">
            <a:avLst/>
          </a:prstGeom>
          <a:solidFill>
            <a:srgbClr val="F3F3F0"/>
          </a:solidFill>
          <a:ln>
            <a:noFill/>
          </a:ln>
        </p:spPr>
        <p:txBody>
          <a:bodyPr rtlCol="0" anchor="ctr"/>
          <a:lstStyle/>
          <a:p>
            <a:pPr algn="ctr"/>
          </a:p>
        </p:txBody>
      </p:sp>
      <p:sp>
        <p:nvSpPr>
          <p:cNvPr id="20" name="Rectangle 19"/>
          <p:cNvSpPr/>
          <p:nvPr/>
        </p:nvSpPr>
        <p:spPr>
          <a:xfrm>
            <a:off x="8981694" y="4379976"/>
            <a:ext cx="54864" cy="1600200"/>
          </a:xfrm>
          <a:prstGeom prst="rect">
            <a:avLst/>
          </a:prstGeom>
          <a:solidFill>
            <a:srgbClr val="009999"/>
          </a:solidFill>
          <a:ln>
            <a:noFill/>
          </a:ln>
        </p:spPr>
        <p:txBody>
          <a:bodyPr rtlCol="0" anchor="ctr"/>
          <a:lstStyle/>
          <a:p>
            <a:pPr algn="ctr"/>
          </a:p>
        </p:txBody>
      </p:sp>
      <p:sp>
        <p:nvSpPr>
          <p:cNvPr id="21" name="TextBox 20"/>
          <p:cNvSpPr txBox="1"/>
          <p:nvPr/>
        </p:nvSpPr>
        <p:spPr>
          <a:xfrm>
            <a:off x="9173718" y="4517136"/>
            <a:ext cx="2311146" cy="274320"/>
          </a:xfrm>
          <a:prstGeom prst="rect">
            <a:avLst/>
          </a:prstGeom>
          <a:noFill/>
        </p:spPr>
        <p:txBody>
          <a:bodyPr wrap="square" lIns="0" rIns="0" tIns="0" bIns="0" anchor="t">
            <a:spAutoFit/>
          </a:bodyPr>
          <a:lstStyle/>
          <a:p>
            <a:pPr algn="l">
              <a:lnSpc>
                <a:spcPct val="100000"/>
              </a:lnSpc>
            </a:pPr>
            <a:r>
              <a:rPr sz="1300" b="1" i="0">
                <a:solidFill>
                  <a:srgbClr val="000028"/>
                </a:solidFill>
                <a:latin typeface="Arial"/>
              </a:rPr>
              <a:t>4 · Dose and spread</a:t>
            </a:r>
          </a:p>
        </p:txBody>
      </p:sp>
      <p:sp>
        <p:nvSpPr>
          <p:cNvPr id="22" name="TextBox 21"/>
          <p:cNvSpPr txBox="1"/>
          <p:nvPr/>
        </p:nvSpPr>
        <p:spPr>
          <a:xfrm>
            <a:off x="9173718" y="4774311"/>
            <a:ext cx="2311146" cy="1205864"/>
          </a:xfrm>
          <a:prstGeom prst="rect">
            <a:avLst/>
          </a:prstGeom>
          <a:noFill/>
        </p:spPr>
        <p:txBody>
          <a:bodyPr wrap="square" lIns="0" rIns="0" tIns="0" bIns="0" anchor="t">
            <a:spAutoFit/>
          </a:bodyPr>
          <a:lstStyle/>
          <a:p>
            <a:pPr algn="l">
              <a:lnSpc>
                <a:spcPct val="113000"/>
              </a:lnSpc>
              <a:spcAft>
                <a:spcPts val="300"/>
              </a:spcAft>
            </a:pPr>
            <a:r>
              <a:rPr sz="1150" b="0" i="0">
                <a:solidFill>
                  <a:srgbClr val="45465E"/>
                </a:solidFill>
                <a:latin typeface="Arial"/>
              </a:rPr>
              <a:t>Coupling rises from 38% to 69% with site activity; 99.8% of the scales are above chance.</a:t>
            </a:r>
          </a:p>
        </p:txBody>
      </p:sp>
      <p:sp>
        <p:nvSpPr>
          <p:cNvPr id="23" name="TextBox 22"/>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scales in a trigger loop left out; chance window 60–88 s after the wake-up; placebo = site paired by number of picks · Report §4.5, Appendix C</a:t>
            </a:r>
          </a:p>
        </p:txBody>
      </p:sp>
      <p:sp>
        <p:nvSpPr>
          <p:cNvPr id="24" name="TextBox 23"/>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FINDING 3 · A DEFECT, NOT A SETTING</a:t>
            </a:r>
          </a:p>
        </p:txBody>
      </p:sp>
      <p:sp>
        <p:nvSpPr>
          <p:cNvPr id="4" name="TextBox 3"/>
          <p:cNvSpPr txBox="1"/>
          <p:nvPr/>
        </p:nvSpPr>
        <p:spPr>
          <a:xfrm>
            <a:off x="566928" y="640080"/>
            <a:ext cx="11055096" cy="768096"/>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1.5% of the scales were stuck in a loop – and caused 27% of all weighings</a:t>
            </a:r>
          </a:p>
        </p:txBody>
      </p:sp>
      <p:sp>
        <p:nvSpPr>
          <p:cNvPr id="5" name="TextBox 4"/>
          <p:cNvSpPr txBox="1"/>
          <p:nvPr/>
        </p:nvSpPr>
        <p:spPr>
          <a:xfrm>
            <a:off x="566928" y="1591056"/>
            <a:ext cx="6035040" cy="274320"/>
          </a:xfrm>
          <a:prstGeom prst="rect">
            <a:avLst/>
          </a:prstGeom>
          <a:noFill/>
        </p:spPr>
        <p:txBody>
          <a:bodyPr wrap="square" lIns="0" rIns="0" tIns="0" bIns="0" anchor="t">
            <a:spAutoFit/>
          </a:bodyPr>
          <a:lstStyle/>
          <a:p>
            <a:pPr algn="l">
              <a:lnSpc>
                <a:spcPct val="112000"/>
              </a:lnSpc>
            </a:pPr>
            <a:r>
              <a:rPr sz="1050" b="1" i="0" spc="120">
                <a:solidFill>
                  <a:srgbClr val="009999"/>
                </a:solidFill>
                <a:latin typeface="Arial"/>
              </a:rPr>
              <a:t>ONE LOOPING SCALE, ONE DAY</a:t>
            </a:r>
          </a:p>
        </p:txBody>
      </p:sp>
      <p:pic>
        <p:nvPicPr>
          <p:cNvPr id="6" name="Picture 5" descr="k05_loopday.png"/>
          <p:cNvPicPr>
            <a:picLocks noChangeAspect="1"/>
          </p:cNvPicPr>
          <p:nvPr/>
        </p:nvPicPr>
        <p:blipFill>
          <a:blip r:embed="rId2"/>
          <a:stretch>
            <a:fillRect/>
          </a:stretch>
        </p:blipFill>
        <p:spPr>
          <a:xfrm>
            <a:off x="475488" y="1837944"/>
            <a:ext cx="6126480" cy="2743200"/>
          </a:xfrm>
          <a:prstGeom prst="rect">
            <a:avLst/>
          </a:prstGeom>
        </p:spPr>
      </p:pic>
      <p:sp>
        <p:nvSpPr>
          <p:cNvPr id="7" name="TextBox 6"/>
          <p:cNvSpPr txBox="1"/>
          <p:nvPr/>
        </p:nvSpPr>
        <p:spPr>
          <a:xfrm>
            <a:off x="566928" y="4672584"/>
            <a:ext cx="5852160" cy="64008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A wake-up every 90 s, day and night: exactly the minimum wait time (60 s) plus the measurement delay (30 s). The scale triggers itself.</a:t>
            </a:r>
          </a:p>
        </p:txBody>
      </p:sp>
      <p:pic>
        <p:nvPicPr>
          <p:cNvPr id="8" name="Picture 7" descr="k06_loops.png"/>
          <p:cNvPicPr>
            <a:picLocks noChangeAspect="1"/>
          </p:cNvPicPr>
          <p:nvPr/>
        </p:nvPicPr>
        <p:blipFill>
          <a:blip r:embed="rId3"/>
          <a:stretch>
            <a:fillRect/>
          </a:stretch>
        </p:blipFill>
        <p:spPr>
          <a:xfrm>
            <a:off x="6629400" y="1609344"/>
            <a:ext cx="4937760" cy="1737360"/>
          </a:xfrm>
          <a:prstGeom prst="rect">
            <a:avLst/>
          </a:prstGeom>
        </p:spPr>
      </p:pic>
      <p:sp>
        <p:nvSpPr>
          <p:cNvPr id="9" name="TextBox 8"/>
          <p:cNvSpPr txBox="1"/>
          <p:nvPr/>
        </p:nvSpPr>
        <p:spPr>
          <a:xfrm>
            <a:off x="6720840" y="3438144"/>
            <a:ext cx="4846320" cy="2103120"/>
          </a:xfrm>
          <a:prstGeom prst="rect">
            <a:avLst/>
          </a:prstGeom>
          <a:noFill/>
        </p:spPr>
        <p:txBody>
          <a:bodyPr wrap="square" lIns="0" rIns="0" tIns="0" bIns="0" anchor="t">
            <a:spAutoFit/>
          </a:bodyPr>
          <a:lstStyle/>
          <a:p>
            <a:pPr algn="l" marL="182880" indent="-182880">
              <a:lnSpc>
                <a:spcPct val="112000"/>
              </a:lnSpc>
              <a:spcAft>
                <a:spcPts val="600"/>
              </a:spcAft>
              <a:buClr>
                <a:srgbClr val="009999"/>
              </a:buClr>
              <a:buFont typeface="Arial"/>
              <a:buChar char="•"/>
            </a:pPr>
            <a:r>
              <a:rPr sz="1250" b="1" i="0">
                <a:solidFill>
                  <a:srgbClr val="000028"/>
                </a:solidFill>
                <a:latin typeface="Arial"/>
              </a:rPr>
              <a:t>219 scales</a:t>
            </a:r>
            <a:r>
              <a:rPr sz="1250" b="0" i="0">
                <a:solidFill>
                  <a:srgbClr val="000028"/>
                </a:solidFill>
                <a:latin typeface="Arial"/>
              </a:rPr>
              <a:t> looped during the four-week trial of level 3 (April 2022); </a:t>
            </a:r>
            <a:r>
              <a:rPr sz="1250" b="1" i="0">
                <a:solidFill>
                  <a:srgbClr val="000028"/>
                </a:solidFill>
                <a:latin typeface="Arial"/>
              </a:rPr>
              <a:t>59 on other levels</a:t>
            </a:r>
            <a:r>
              <a:rPr sz="1250" b="0" i="0">
                <a:solidFill>
                  <a:srgbClr val="000028"/>
                </a:solidFill>
                <a:latin typeface="Arial"/>
              </a:rPr>
              <a:t> still caused 10% of all automatic weighings.</a:t>
            </a:r>
          </a:p>
          <a:p>
            <a:pPr algn="l" marL="182880" indent="-182880">
              <a:lnSpc>
                <a:spcPct val="112000"/>
              </a:lnSpc>
              <a:spcAft>
                <a:spcPts val="600"/>
              </a:spcAft>
              <a:buClr>
                <a:srgbClr val="009999"/>
              </a:buClr>
              <a:buFont typeface="Arial"/>
              <a:buChar char="•"/>
            </a:pPr>
            <a:r>
              <a:rPr sz="1250" b="0" i="0">
                <a:solidFill>
                  <a:srgbClr val="000028"/>
                </a:solidFill>
                <a:latin typeface="Arial"/>
              </a:rPr>
              <a:t>A loop empties a battery designed for five years in </a:t>
            </a:r>
            <a:r>
              <a:rPr sz="1250" b="1" i="0">
                <a:solidFill>
                  <a:srgbClr val="000028"/>
                </a:solidFill>
                <a:latin typeface="Arial"/>
              </a:rPr>
              <a:t>6–14 weeks</a:t>
            </a:r>
            <a:r>
              <a:rPr sz="1250" b="0" i="0">
                <a:solidFill>
                  <a:srgbClr val="000028"/>
                </a:solidFill>
                <a:latin typeface="Arial"/>
              </a:rPr>
              <a:t>.</a:t>
            </a:r>
          </a:p>
          <a:p>
            <a:pPr algn="l" marL="182880" indent="-182880">
              <a:lnSpc>
                <a:spcPct val="112000"/>
              </a:lnSpc>
              <a:spcAft>
                <a:spcPts val="600"/>
              </a:spcAft>
              <a:buClr>
                <a:srgbClr val="009999"/>
              </a:buClr>
              <a:buFont typeface="Arial"/>
              <a:buChar char="•"/>
            </a:pPr>
            <a:r>
              <a:rPr sz="1250" b="0" i="0">
                <a:solidFill>
                  <a:srgbClr val="000028"/>
                </a:solidFill>
                <a:latin typeface="Arial"/>
              </a:rPr>
              <a:t>Same picture for any threshold: 24–28% of the weighings.</a:t>
            </a:r>
          </a:p>
        </p:txBody>
      </p:sp>
      <p:sp>
        <p:nvSpPr>
          <p:cNvPr id="10" name="Rectangle 9"/>
          <p:cNvSpPr/>
          <p:nvPr/>
        </p:nvSpPr>
        <p:spPr>
          <a:xfrm>
            <a:off x="566928" y="5440680"/>
            <a:ext cx="11055096" cy="685800"/>
          </a:xfrm>
          <a:prstGeom prst="rect">
            <a:avLst/>
          </a:prstGeom>
          <a:solidFill>
            <a:srgbClr val="000028"/>
          </a:solidFill>
          <a:ln>
            <a:noFill/>
          </a:ln>
        </p:spPr>
        <p:txBody>
          <a:bodyPr rtlCol="0" anchor="ctr"/>
          <a:lstStyle/>
          <a:p>
            <a:pPr algn="ctr"/>
          </a:p>
        </p:txBody>
      </p:sp>
      <p:sp>
        <p:nvSpPr>
          <p:cNvPr id="11" name="TextBox 10"/>
          <p:cNvSpPr txBox="1"/>
          <p:nvPr/>
        </p:nvSpPr>
        <p:spPr>
          <a:xfrm>
            <a:off x="795528" y="5440680"/>
            <a:ext cx="10643616" cy="685800"/>
          </a:xfrm>
          <a:prstGeom prst="rect">
            <a:avLst/>
          </a:prstGeom>
          <a:noFill/>
        </p:spPr>
        <p:txBody>
          <a:bodyPr wrap="square" lIns="0" rIns="0" tIns="0" bIns="0" anchor="ctr">
            <a:spAutoFit/>
          </a:bodyPr>
          <a:lstStyle/>
          <a:p>
            <a:pPr algn="l">
              <a:lnSpc>
                <a:spcPct val="112000"/>
              </a:lnSpc>
            </a:pPr>
            <a:r>
              <a:rPr sz="1300" b="1" i="0">
                <a:solidFill>
                  <a:srgbClr val="00FFB9"/>
                </a:solidFill>
                <a:latin typeface="Arial"/>
              </a:rPr>
              <a:t>We separated these scales and re-ran every analysis:</a:t>
            </a:r>
            <a:r>
              <a:rPr sz="1300" b="0" i="0">
                <a:solidFill>
                  <a:srgbClr val="FFFFFF"/>
                </a:solidFill>
                <a:latin typeface="Arial"/>
              </a:rPr>
              <a:t> the findings hold, and the coupling gets stronger (45% → 55%). A different sensitivity is not the fix – service and firmware are.</a:t>
            </a:r>
          </a:p>
        </p:txBody>
      </p:sp>
      <p:sp>
        <p:nvSpPr>
          <p:cNvPr id="12" name="TextBox 11"/>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battery: case assumption of ≈ 2 s per weighing at ≈ 3,000× sleep power · Report §5.3, Appendix C</a:t>
            </a:r>
          </a:p>
        </p:txBody>
      </p:sp>
      <p:sp>
        <p:nvSpPr>
          <p:cNvPr id="13" name="TextBox 12"/>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FINDING 4 · THE KNOB</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The knob works – but the right level is different for every bin</a:t>
            </a:r>
          </a:p>
        </p:txBody>
      </p:sp>
      <p:pic>
        <p:nvPicPr>
          <p:cNvPr id="5" name="Picture 4" descr="k07_knob.png"/>
          <p:cNvPicPr>
            <a:picLocks noChangeAspect="1"/>
          </p:cNvPicPr>
          <p:nvPr/>
        </p:nvPicPr>
        <p:blipFill>
          <a:blip r:embed="rId2"/>
          <a:stretch>
            <a:fillRect/>
          </a:stretch>
        </p:blipFill>
        <p:spPr>
          <a:xfrm>
            <a:off x="475488" y="1271016"/>
            <a:ext cx="6035040" cy="3017520"/>
          </a:xfrm>
          <a:prstGeom prst="rect">
            <a:avLst/>
          </a:prstGeom>
        </p:spPr>
      </p:pic>
      <p:sp>
        <p:nvSpPr>
          <p:cNvPr id="6" name="TextBox 5"/>
          <p:cNvSpPr txBox="1"/>
          <p:nvPr/>
        </p:nvSpPr>
        <p:spPr>
          <a:xfrm>
            <a:off x="566928" y="4379976"/>
            <a:ext cx="5760720" cy="914400"/>
          </a:xfrm>
          <a:prstGeom prst="rect">
            <a:avLst/>
          </a:prstGeom>
          <a:noFill/>
        </p:spPr>
        <p:txBody>
          <a:bodyPr wrap="square" lIns="0" rIns="0" tIns="0" bIns="0" anchor="t">
            <a:spAutoFit/>
          </a:bodyPr>
          <a:lstStyle/>
          <a:p>
            <a:pPr algn="l">
              <a:lnSpc>
                <a:spcPct val="112000"/>
              </a:lnSpc>
            </a:pPr>
            <a:r>
              <a:rPr sz="1250" b="0" i="0">
                <a:solidFill>
                  <a:srgbClr val="000028"/>
                </a:solidFill>
                <a:latin typeface="Arial"/>
              </a:rPr>
              <a:t>Same scales before and after the switch: 8 → 7 removes 52% / 59% of the empty wake-ups for 2 / 3 points more misses. Below 6, misses climb steeply.</a:t>
            </a:r>
          </a:p>
        </p:txBody>
      </p:sp>
      <p:pic>
        <p:nvPicPr>
          <p:cNvPr id="7" name="Picture 6" descr="k08_drivers.png"/>
          <p:cNvPicPr>
            <a:picLocks noChangeAspect="1"/>
          </p:cNvPicPr>
          <p:nvPr/>
        </p:nvPicPr>
        <p:blipFill>
          <a:blip r:embed="rId3"/>
          <a:stretch>
            <a:fillRect/>
          </a:stretch>
        </p:blipFill>
        <p:spPr>
          <a:xfrm>
            <a:off x="6446520" y="1271016"/>
            <a:ext cx="5120640" cy="3017520"/>
          </a:xfrm>
          <a:prstGeom prst="rect">
            <a:avLst/>
          </a:prstGeom>
        </p:spPr>
      </p:pic>
      <p:sp>
        <p:nvSpPr>
          <p:cNvPr id="8" name="TextBox 7"/>
          <p:cNvSpPr txBox="1"/>
          <p:nvPr/>
        </p:nvSpPr>
        <p:spPr>
          <a:xfrm>
            <a:off x="6537960" y="4379976"/>
            <a:ext cx="4937760" cy="914400"/>
          </a:xfrm>
          <a:prstGeom prst="rect">
            <a:avLst/>
          </a:prstGeom>
          <a:noFill/>
        </p:spPr>
        <p:txBody>
          <a:bodyPr wrap="square" lIns="0" rIns="0" tIns="0" bIns="0" anchor="t">
            <a:spAutoFit/>
          </a:bodyPr>
          <a:lstStyle/>
          <a:p>
            <a:pPr algn="l">
              <a:lnSpc>
                <a:spcPct val="112000"/>
              </a:lnSpc>
            </a:pPr>
            <a:r>
              <a:rPr sz="1250" b="0" i="0">
                <a:solidFill>
                  <a:srgbClr val="000028"/>
                </a:solidFill>
                <a:latin typeface="Arial"/>
              </a:rPr>
              <a:t>Site and usage spread the result most; box type and item weight – the facts known before installation – matter little.</a:t>
            </a:r>
          </a:p>
        </p:txBody>
      </p:sp>
      <p:sp>
        <p:nvSpPr>
          <p:cNvPr id="9" name="Rectangle 8"/>
          <p:cNvSpPr/>
          <p:nvPr/>
        </p:nvSpPr>
        <p:spPr>
          <a:xfrm>
            <a:off x="566928" y="5440680"/>
            <a:ext cx="11055096" cy="685800"/>
          </a:xfrm>
          <a:prstGeom prst="rect">
            <a:avLst/>
          </a:prstGeom>
          <a:solidFill>
            <a:srgbClr val="000028"/>
          </a:solidFill>
          <a:ln>
            <a:noFill/>
          </a:ln>
        </p:spPr>
        <p:txBody>
          <a:bodyPr rtlCol="0" anchor="ctr"/>
          <a:lstStyle/>
          <a:p>
            <a:pPr algn="ctr"/>
          </a:p>
        </p:txBody>
      </p:sp>
      <p:sp>
        <p:nvSpPr>
          <p:cNvPr id="10" name="TextBox 9"/>
          <p:cNvSpPr txBox="1"/>
          <p:nvPr/>
        </p:nvSpPr>
        <p:spPr>
          <a:xfrm>
            <a:off x="795528" y="5440680"/>
            <a:ext cx="10643616" cy="685800"/>
          </a:xfrm>
          <a:prstGeom prst="rect">
            <a:avLst/>
          </a:prstGeom>
          <a:noFill/>
        </p:spPr>
        <p:txBody>
          <a:bodyPr wrap="square" lIns="0" rIns="0" tIns="0" bIns="0" anchor="ctr">
            <a:spAutoFit/>
          </a:bodyPr>
          <a:lstStyle/>
          <a:p>
            <a:pPr algn="l">
              <a:lnSpc>
                <a:spcPct val="112000"/>
              </a:lnSpc>
            </a:pPr>
            <a:r>
              <a:rPr sz="1300" b="1" i="0">
                <a:solidFill>
                  <a:srgbClr val="00FFB9"/>
                </a:solidFill>
                <a:latin typeface="Arial"/>
              </a:rPr>
              <a:t>So a lookup table cannot carry the setting:</a:t>
            </a:r>
            <a:r>
              <a:rPr sz="1300" b="0" i="0">
                <a:solidFill>
                  <a:srgbClr val="FFFFFF"/>
                </a:solidFill>
                <a:latin typeface="Arial"/>
              </a:rPr>
              <a:t> a table by pick size picks the same level as 'one level for all' for 95–99% of the scales. </a:t>
            </a:r>
            <a:r>
              <a:rPr sz="1300" b="1" i="0">
                <a:solidFill>
                  <a:srgbClr val="00FFB9"/>
                </a:solidFill>
                <a:latin typeface="Arial"/>
              </a:rPr>
              <a:t>Each scale has to learn its level.</a:t>
            </a:r>
          </a:p>
        </p:txBody>
      </p:sp>
      <p:sp>
        <p:nvSpPr>
          <p:cNvPr id="11" name="TextBox 10"/>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difference-in-differences with a fixed-effects Poisson model, scales in a trigger loop left out · Report §4.8, §5.1, §6.2</a:t>
            </a:r>
          </a:p>
        </p:txBody>
      </p:sp>
      <p:sp>
        <p:nvSpPr>
          <p:cNvPr id="12" name="TextBox 11"/>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DASHBOARD</a:t>
            </a:r>
          </a:p>
        </p:txBody>
      </p:sp>
      <p:sp>
        <p:nvSpPr>
          <p:cNvPr id="4" name="TextBox 3"/>
          <p:cNvSpPr txBox="1"/>
          <p:nvPr/>
        </p:nvSpPr>
        <p:spPr>
          <a:xfrm>
            <a:off x="566928" y="640080"/>
            <a:ext cx="11055096" cy="768096"/>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Sites and levels: the same setting behaves differently at every site</a:t>
            </a:r>
          </a:p>
        </p:txBody>
      </p:sp>
      <p:sp>
        <p:nvSpPr>
          <p:cNvPr id="5" name="Rectangle 4"/>
          <p:cNvSpPr/>
          <p:nvPr/>
        </p:nvSpPr>
        <p:spPr>
          <a:xfrm>
            <a:off x="566928" y="1700784"/>
            <a:ext cx="11055096" cy="4471416"/>
          </a:xfrm>
          <a:prstGeom prst="rect">
            <a:avLst/>
          </a:prstGeom>
          <a:solidFill>
            <a:srgbClr val="F3F3F0"/>
          </a:solidFill>
          <a:ln w="19050">
            <a:solidFill>
              <a:srgbClr val="009999"/>
            </a:solidFill>
            <a:prstDash val="dash"/>
          </a:ln>
        </p:spPr>
        <p:txBody>
          <a:bodyPr rtlCol="0" anchor="ctr"/>
          <a:lstStyle/>
          <a:p>
            <a:pPr algn="ctr"/>
          </a:p>
        </p:txBody>
      </p:sp>
      <p:sp>
        <p:nvSpPr>
          <p:cNvPr id="6" name="TextBox 5"/>
          <p:cNvSpPr txBox="1"/>
          <p:nvPr/>
        </p:nvSpPr>
        <p:spPr>
          <a:xfrm>
            <a:off x="566928" y="3042208"/>
            <a:ext cx="11055096" cy="457200"/>
          </a:xfrm>
          <a:prstGeom prst="rect">
            <a:avLst/>
          </a:prstGeom>
          <a:noFill/>
        </p:spPr>
        <p:txBody>
          <a:bodyPr wrap="square" lIns="0" rIns="0" tIns="0" bIns="0" anchor="t">
            <a:spAutoFit/>
          </a:bodyPr>
          <a:lstStyle/>
          <a:p>
            <a:pPr algn="ctr">
              <a:lnSpc>
                <a:spcPct val="112000"/>
              </a:lnSpc>
            </a:pPr>
            <a:r>
              <a:rPr sz="2400" b="1" i="0" spc="100">
                <a:solidFill>
                  <a:srgbClr val="009999"/>
                </a:solidFill>
                <a:latin typeface="Arial"/>
              </a:rPr>
              <a:t>POWER BI DASHBOARD B</a:t>
            </a:r>
          </a:p>
        </p:txBody>
      </p:sp>
      <p:sp>
        <p:nvSpPr>
          <p:cNvPr id="7" name="TextBox 6"/>
          <p:cNvSpPr txBox="1"/>
          <p:nvPr/>
        </p:nvSpPr>
        <p:spPr>
          <a:xfrm>
            <a:off x="1024128" y="3609136"/>
            <a:ext cx="10140696" cy="822960"/>
          </a:xfrm>
          <a:prstGeom prst="rect">
            <a:avLst/>
          </a:prstGeom>
          <a:noFill/>
        </p:spPr>
        <p:txBody>
          <a:bodyPr wrap="square" lIns="0" rIns="0" tIns="0" bIns="0" anchor="t">
            <a:spAutoFit/>
          </a:bodyPr>
          <a:lstStyle/>
          <a:p>
            <a:pPr algn="ctr">
              <a:lnSpc>
                <a:spcPct val="115000"/>
              </a:lnSpc>
            </a:pPr>
            <a:r>
              <a:rPr sz="1400" b="0" i="0">
                <a:solidFill>
                  <a:srgbClr val="000028"/>
                </a:solidFill>
                <a:latin typeface="Arial"/>
              </a:rPr>
              <a:t>Page 2 – sites × sensitivity level: median TOO_MANY fraction and empty wake-ups per week by site; filter by scale type</a:t>
            </a:r>
          </a:p>
        </p:txBody>
      </p:sp>
      <p:sp>
        <p:nvSpPr>
          <p:cNvPr id="8" name="TextBox 7"/>
          <p:cNvSpPr txBox="1"/>
          <p:nvPr/>
        </p:nvSpPr>
        <p:spPr>
          <a:xfrm>
            <a:off x="1024128" y="5486400"/>
            <a:ext cx="10140696" cy="457200"/>
          </a:xfrm>
          <a:prstGeom prst="rect">
            <a:avLst/>
          </a:prstGeom>
          <a:noFill/>
        </p:spPr>
        <p:txBody>
          <a:bodyPr wrap="square" lIns="0" rIns="0" tIns="0" bIns="0" anchor="t">
            <a:spAutoFit/>
          </a:bodyPr>
          <a:lstStyle/>
          <a:p>
            <a:pPr algn="ctr">
              <a:lnSpc>
                <a:spcPct val="110000"/>
              </a:lnSpc>
            </a:pPr>
            <a:r>
              <a:rPr sz="1100" b="0" i="0">
                <a:solidFill>
                  <a:srgbClr val="7D7F93"/>
                </a:solidFill>
                <a:latin typeface="Arial"/>
              </a:rPr>
              <a:t>Insert a screenshot of Power BI page 2 here · data: fact_device_sensitivity.csv (site, level, KPIs per scale)</a:t>
            </a:r>
          </a:p>
        </p:txBody>
      </p:sp>
      <p:sp>
        <p:nvSpPr>
          <p:cNvPr id="9" name="TextBox 8"/>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Power BI report on the aggregated pipeline output (fact_device_sensitivity.csv)</a:t>
            </a:r>
          </a:p>
        </p:txBody>
      </p:sp>
      <p:sp>
        <p:nvSpPr>
          <p:cNvPr id="10" name="TextBox 9"/>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OUR RECOMMENDATION</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Flag, tune, watch – three steps on data the cloud already has</a:t>
            </a:r>
          </a:p>
        </p:txBody>
      </p:sp>
      <p:sp>
        <p:nvSpPr>
          <p:cNvPr id="5" name="Rectangle 4"/>
          <p:cNvSpPr/>
          <p:nvPr/>
        </p:nvSpPr>
        <p:spPr>
          <a:xfrm>
            <a:off x="566928" y="1316736"/>
            <a:ext cx="3532632" cy="3154680"/>
          </a:xfrm>
          <a:prstGeom prst="rect">
            <a:avLst/>
          </a:prstGeom>
          <a:solidFill>
            <a:srgbClr val="F3F3F0"/>
          </a:solidFill>
          <a:ln>
            <a:noFill/>
          </a:ln>
        </p:spPr>
        <p:txBody>
          <a:bodyPr rtlCol="0" anchor="ctr"/>
          <a:lstStyle/>
          <a:p>
            <a:pPr algn="ctr"/>
          </a:p>
        </p:txBody>
      </p:sp>
      <p:sp>
        <p:nvSpPr>
          <p:cNvPr id="6" name="Rectangle 5"/>
          <p:cNvSpPr/>
          <p:nvPr/>
        </p:nvSpPr>
        <p:spPr>
          <a:xfrm>
            <a:off x="566928" y="1316736"/>
            <a:ext cx="3532632" cy="566928"/>
          </a:xfrm>
          <a:prstGeom prst="rect">
            <a:avLst/>
          </a:prstGeom>
          <a:solidFill>
            <a:srgbClr val="000028"/>
          </a:solidFill>
          <a:ln>
            <a:noFill/>
          </a:ln>
        </p:spPr>
        <p:txBody>
          <a:bodyPr rtlCol="0" anchor="ctr"/>
          <a:lstStyle/>
          <a:p>
            <a:pPr algn="ctr"/>
          </a:p>
        </p:txBody>
      </p:sp>
      <p:sp>
        <p:nvSpPr>
          <p:cNvPr id="7" name="TextBox 6"/>
          <p:cNvSpPr txBox="1"/>
          <p:nvPr/>
        </p:nvSpPr>
        <p:spPr>
          <a:xfrm>
            <a:off x="768096" y="1453896"/>
            <a:ext cx="1097280" cy="320040"/>
          </a:xfrm>
          <a:prstGeom prst="rect">
            <a:avLst/>
          </a:prstGeom>
          <a:noFill/>
        </p:spPr>
        <p:txBody>
          <a:bodyPr wrap="square" lIns="0" rIns="0" tIns="0" bIns="0" anchor="t">
            <a:spAutoFit/>
          </a:bodyPr>
          <a:lstStyle/>
          <a:p>
            <a:pPr algn="l">
              <a:lnSpc>
                <a:spcPct val="112000"/>
              </a:lnSpc>
            </a:pPr>
            <a:r>
              <a:rPr sz="1600" b="1" i="0" spc="150">
                <a:solidFill>
                  <a:srgbClr val="00FFB9"/>
                </a:solidFill>
                <a:latin typeface="Arial"/>
              </a:rPr>
              <a:t>FLAG</a:t>
            </a:r>
          </a:p>
        </p:txBody>
      </p:sp>
      <p:sp>
        <p:nvSpPr>
          <p:cNvPr id="8" name="TextBox 7"/>
          <p:cNvSpPr txBox="1"/>
          <p:nvPr/>
        </p:nvSpPr>
        <p:spPr>
          <a:xfrm>
            <a:off x="1801368" y="1472184"/>
            <a:ext cx="2161032" cy="320040"/>
          </a:xfrm>
          <a:prstGeom prst="rect">
            <a:avLst/>
          </a:prstGeom>
          <a:noFill/>
        </p:spPr>
        <p:txBody>
          <a:bodyPr wrap="square" lIns="0" rIns="0" tIns="0" bIns="0" anchor="t">
            <a:spAutoFit/>
          </a:bodyPr>
          <a:lstStyle/>
          <a:p>
            <a:pPr algn="r">
              <a:lnSpc>
                <a:spcPct val="112000"/>
              </a:lnSpc>
            </a:pPr>
            <a:r>
              <a:rPr sz="1200" b="0" i="0">
                <a:solidFill>
                  <a:srgbClr val="C9CBE0"/>
                </a:solidFill>
                <a:latin typeface="Arial"/>
              </a:rPr>
              <a:t>1 / 3</a:t>
            </a:r>
          </a:p>
        </p:txBody>
      </p:sp>
      <p:sp>
        <p:nvSpPr>
          <p:cNvPr id="9" name="TextBox 8"/>
          <p:cNvSpPr txBox="1"/>
          <p:nvPr/>
        </p:nvSpPr>
        <p:spPr>
          <a:xfrm>
            <a:off x="768096" y="2048256"/>
            <a:ext cx="3130296" cy="365760"/>
          </a:xfrm>
          <a:prstGeom prst="rect">
            <a:avLst/>
          </a:prstGeom>
          <a:noFill/>
        </p:spPr>
        <p:txBody>
          <a:bodyPr wrap="square" lIns="0" rIns="0" tIns="0" bIns="0" anchor="t">
            <a:spAutoFit/>
          </a:bodyPr>
          <a:lstStyle/>
          <a:p>
            <a:pPr algn="l">
              <a:lnSpc>
                <a:spcPct val="112000"/>
              </a:lnSpc>
            </a:pPr>
            <a:r>
              <a:rPr sz="1500" b="1" i="0">
                <a:solidFill>
                  <a:srgbClr val="000028"/>
                </a:solidFill>
                <a:latin typeface="Arial"/>
              </a:rPr>
              <a:t>Find broken scales every day</a:t>
            </a:r>
          </a:p>
        </p:txBody>
      </p:sp>
      <p:sp>
        <p:nvSpPr>
          <p:cNvPr id="10" name="TextBox 9"/>
          <p:cNvSpPr txBox="1"/>
          <p:nvPr/>
        </p:nvSpPr>
        <p:spPr>
          <a:xfrm>
            <a:off x="768096" y="2505456"/>
            <a:ext cx="3130296" cy="1371600"/>
          </a:xfrm>
          <a:prstGeom prst="rect">
            <a:avLst/>
          </a:prstGeom>
          <a:noFill/>
        </p:spPr>
        <p:txBody>
          <a:bodyPr wrap="square" lIns="0" rIns="0" tIns="0" bIns="0" anchor="t">
            <a:spAutoFit/>
          </a:bodyPr>
          <a:lstStyle/>
          <a:p>
            <a:pPr algn="l" marL="182880" indent="-182880">
              <a:lnSpc>
                <a:spcPct val="112000"/>
              </a:lnSpc>
              <a:spcAft>
                <a:spcPts val="400"/>
              </a:spcAft>
              <a:buClr>
                <a:srgbClr val="009999"/>
              </a:buClr>
              <a:buFont typeface="Arial"/>
              <a:buChar char="•"/>
            </a:pPr>
            <a:r>
              <a:rPr sz="1200" b="0" i="0">
                <a:solidFill>
                  <a:srgbClr val="45465E"/>
                </a:solidFill>
                <a:latin typeface="Arial"/>
              </a:rPr>
              <a:t>Daily loop detector on every scale and level</a:t>
            </a:r>
          </a:p>
          <a:p>
            <a:pPr algn="l" marL="182880" indent="-182880">
              <a:lnSpc>
                <a:spcPct val="112000"/>
              </a:lnSpc>
              <a:spcAft>
                <a:spcPts val="400"/>
              </a:spcAft>
              <a:buClr>
                <a:srgbClr val="009999"/>
              </a:buClr>
              <a:buFont typeface="Arial"/>
              <a:buChar char="•"/>
            </a:pPr>
            <a:r>
              <a:rPr sz="1200" b="0" i="0">
                <a:solidFill>
                  <a:srgbClr val="45465E"/>
                </a:solidFill>
                <a:latin typeface="Arial"/>
              </a:rPr>
              <a:t>Looping scale: back to 7, then service</a:t>
            </a:r>
          </a:p>
          <a:p>
            <a:pPr algn="l" marL="182880" indent="-182880">
              <a:lnSpc>
                <a:spcPct val="112000"/>
              </a:lnSpc>
              <a:spcAft>
                <a:spcPts val="400"/>
              </a:spcAft>
              <a:buClr>
                <a:srgbClr val="009999"/>
              </a:buClr>
              <a:buFont typeface="Arial"/>
              <a:buChar char="•"/>
            </a:pPr>
            <a:r>
              <a:rPr sz="1200" b="0" i="0">
                <a:solidFill>
                  <a:srgbClr val="45465E"/>
                </a:solidFill>
                <a:latin typeface="Arial"/>
              </a:rPr>
              <a:t>Level 3 off the menu until the firmware is fixed</a:t>
            </a:r>
          </a:p>
        </p:txBody>
      </p:sp>
      <p:cxnSp>
        <p:nvCxnSpPr>
          <p:cNvPr id="11" name="Connector 10"/>
          <p:cNvCxnSpPr/>
          <p:nvPr/>
        </p:nvCxnSpPr>
        <p:spPr>
          <a:xfrm>
            <a:off x="768096" y="3922776"/>
            <a:ext cx="3130296" cy="0"/>
          </a:xfrm>
          <a:prstGeom prst="line">
            <a:avLst/>
          </a:prstGeom>
          <a:ln w="9525">
            <a:solidFill>
              <a:srgbClr val="D4D4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68096" y="4014216"/>
            <a:ext cx="3130296" cy="365760"/>
          </a:xfrm>
          <a:prstGeom prst="rect">
            <a:avLst/>
          </a:prstGeom>
          <a:noFill/>
        </p:spPr>
        <p:txBody>
          <a:bodyPr wrap="square" lIns="0" rIns="0" tIns="0" bIns="0" anchor="t">
            <a:spAutoFit/>
          </a:bodyPr>
          <a:lstStyle/>
          <a:p>
            <a:pPr algn="l">
              <a:lnSpc>
                <a:spcPct val="112000"/>
              </a:lnSpc>
            </a:pPr>
            <a:r>
              <a:rPr sz="1300" b="1" i="0">
                <a:solidFill>
                  <a:srgbClr val="007B80"/>
                </a:solidFill>
                <a:latin typeface="Arial"/>
              </a:rPr>
              <a:t>274 scales (1.5%) in the data</a:t>
            </a:r>
          </a:p>
        </p:txBody>
      </p:sp>
      <p:sp>
        <p:nvSpPr>
          <p:cNvPr id="13" name="Rectangle 12"/>
          <p:cNvSpPr/>
          <p:nvPr/>
        </p:nvSpPr>
        <p:spPr>
          <a:xfrm>
            <a:off x="4328160" y="1316736"/>
            <a:ext cx="3532632" cy="3154680"/>
          </a:xfrm>
          <a:prstGeom prst="rect">
            <a:avLst/>
          </a:prstGeom>
          <a:solidFill>
            <a:srgbClr val="F3F3F0"/>
          </a:solidFill>
          <a:ln>
            <a:noFill/>
          </a:ln>
        </p:spPr>
        <p:txBody>
          <a:bodyPr rtlCol="0" anchor="ctr"/>
          <a:lstStyle/>
          <a:p>
            <a:pPr algn="ctr"/>
          </a:p>
        </p:txBody>
      </p:sp>
      <p:sp>
        <p:nvSpPr>
          <p:cNvPr id="14" name="Rectangle 13"/>
          <p:cNvSpPr/>
          <p:nvPr/>
        </p:nvSpPr>
        <p:spPr>
          <a:xfrm>
            <a:off x="4328160" y="1316736"/>
            <a:ext cx="3532632" cy="566928"/>
          </a:xfrm>
          <a:prstGeom prst="rect">
            <a:avLst/>
          </a:prstGeom>
          <a:solidFill>
            <a:srgbClr val="000028"/>
          </a:solidFill>
          <a:ln>
            <a:noFill/>
          </a:ln>
        </p:spPr>
        <p:txBody>
          <a:bodyPr rtlCol="0" anchor="ctr"/>
          <a:lstStyle/>
          <a:p>
            <a:pPr algn="ctr"/>
          </a:p>
        </p:txBody>
      </p:sp>
      <p:sp>
        <p:nvSpPr>
          <p:cNvPr id="15" name="TextBox 14"/>
          <p:cNvSpPr txBox="1"/>
          <p:nvPr/>
        </p:nvSpPr>
        <p:spPr>
          <a:xfrm>
            <a:off x="4529328" y="1453896"/>
            <a:ext cx="1097280" cy="320040"/>
          </a:xfrm>
          <a:prstGeom prst="rect">
            <a:avLst/>
          </a:prstGeom>
          <a:noFill/>
        </p:spPr>
        <p:txBody>
          <a:bodyPr wrap="square" lIns="0" rIns="0" tIns="0" bIns="0" anchor="t">
            <a:spAutoFit/>
          </a:bodyPr>
          <a:lstStyle/>
          <a:p>
            <a:pPr algn="l">
              <a:lnSpc>
                <a:spcPct val="112000"/>
              </a:lnSpc>
            </a:pPr>
            <a:r>
              <a:rPr sz="1600" b="1" i="0" spc="150">
                <a:solidFill>
                  <a:srgbClr val="00FFB9"/>
                </a:solidFill>
                <a:latin typeface="Arial"/>
              </a:rPr>
              <a:t>TUNE</a:t>
            </a:r>
          </a:p>
        </p:txBody>
      </p:sp>
      <p:sp>
        <p:nvSpPr>
          <p:cNvPr id="16" name="TextBox 15"/>
          <p:cNvSpPr txBox="1"/>
          <p:nvPr/>
        </p:nvSpPr>
        <p:spPr>
          <a:xfrm>
            <a:off x="5562600" y="1472184"/>
            <a:ext cx="2161032" cy="320040"/>
          </a:xfrm>
          <a:prstGeom prst="rect">
            <a:avLst/>
          </a:prstGeom>
          <a:noFill/>
        </p:spPr>
        <p:txBody>
          <a:bodyPr wrap="square" lIns="0" rIns="0" tIns="0" bIns="0" anchor="t">
            <a:spAutoFit/>
          </a:bodyPr>
          <a:lstStyle/>
          <a:p>
            <a:pPr algn="r">
              <a:lnSpc>
                <a:spcPct val="112000"/>
              </a:lnSpc>
            </a:pPr>
            <a:r>
              <a:rPr sz="1200" b="0" i="0">
                <a:solidFill>
                  <a:srgbClr val="C9CBE0"/>
                </a:solidFill>
                <a:latin typeface="Arial"/>
              </a:rPr>
              <a:t>2 / 3</a:t>
            </a:r>
          </a:p>
        </p:txBody>
      </p:sp>
      <p:sp>
        <p:nvSpPr>
          <p:cNvPr id="17" name="TextBox 16"/>
          <p:cNvSpPr txBox="1"/>
          <p:nvPr/>
        </p:nvSpPr>
        <p:spPr>
          <a:xfrm>
            <a:off x="4529328" y="2048256"/>
            <a:ext cx="3130296" cy="365760"/>
          </a:xfrm>
          <a:prstGeom prst="rect">
            <a:avLst/>
          </a:prstGeom>
          <a:noFill/>
        </p:spPr>
        <p:txBody>
          <a:bodyPr wrap="square" lIns="0" rIns="0" tIns="0" bIns="0" anchor="t">
            <a:spAutoFit/>
          </a:bodyPr>
          <a:lstStyle/>
          <a:p>
            <a:pPr algn="l">
              <a:lnSpc>
                <a:spcPct val="112000"/>
              </a:lnSpc>
            </a:pPr>
            <a:r>
              <a:rPr sz="1500" b="1" i="0">
                <a:solidFill>
                  <a:srgbClr val="000028"/>
                </a:solidFill>
                <a:latin typeface="Arial"/>
              </a:rPr>
              <a:t>Every scale learns its level</a:t>
            </a:r>
          </a:p>
        </p:txBody>
      </p:sp>
      <p:sp>
        <p:nvSpPr>
          <p:cNvPr id="18" name="TextBox 17"/>
          <p:cNvSpPr txBox="1"/>
          <p:nvPr/>
        </p:nvSpPr>
        <p:spPr>
          <a:xfrm>
            <a:off x="4529328" y="2505456"/>
            <a:ext cx="3130296" cy="1371600"/>
          </a:xfrm>
          <a:prstGeom prst="rect">
            <a:avLst/>
          </a:prstGeom>
          <a:noFill/>
        </p:spPr>
        <p:txBody>
          <a:bodyPr wrap="square" lIns="0" rIns="0" tIns="0" bIns="0" anchor="t">
            <a:spAutoFit/>
          </a:bodyPr>
          <a:lstStyle/>
          <a:p>
            <a:pPr algn="l" marL="182880" indent="-182880">
              <a:lnSpc>
                <a:spcPct val="112000"/>
              </a:lnSpc>
              <a:spcAft>
                <a:spcPts val="400"/>
              </a:spcAft>
              <a:buClr>
                <a:srgbClr val="009999"/>
              </a:buClr>
              <a:buFont typeface="Arial"/>
              <a:buChar char="•"/>
            </a:pPr>
            <a:r>
              <a:rPr sz="1200" b="0" i="0">
                <a:solidFill>
                  <a:srgbClr val="45465E"/>
                </a:solidFill>
                <a:latin typeface="Arial"/>
              </a:rPr>
              <a:t>Start every scale on level 7</a:t>
            </a:r>
          </a:p>
          <a:p>
            <a:pPr algn="l" marL="182880" indent="-182880">
              <a:lnSpc>
                <a:spcPct val="112000"/>
              </a:lnSpc>
              <a:spcAft>
                <a:spcPts val="400"/>
              </a:spcAft>
              <a:buClr>
                <a:srgbClr val="009999"/>
              </a:buClr>
              <a:buFont typeface="Arial"/>
              <a:buChar char="•"/>
            </a:pPr>
            <a:r>
              <a:rPr sz="1200" b="0" i="0">
                <a:solidFill>
                  <a:srgbClr val="45465E"/>
                </a:solidFill>
                <a:latin typeface="Arial"/>
              </a:rPr>
              <a:t>Every two weeks: one step up, one step down or hold</a:t>
            </a:r>
          </a:p>
          <a:p>
            <a:pPr algn="l" marL="182880" indent="-182880">
              <a:lnSpc>
                <a:spcPct val="112000"/>
              </a:lnSpc>
              <a:spcAft>
                <a:spcPts val="400"/>
              </a:spcAft>
              <a:buClr>
                <a:srgbClr val="009999"/>
              </a:buClr>
              <a:buFont typeface="Arial"/>
              <a:buChar char="•"/>
            </a:pPr>
            <a:r>
              <a:rPr sz="1200" b="0" i="0">
                <a:solidFill>
                  <a:srgbClr val="45465E"/>
                </a:solidFill>
                <a:latin typeface="Arial"/>
              </a:rPr>
              <a:t>Same rule for 6 kg and 20 kg, reported apart</a:t>
            </a:r>
          </a:p>
        </p:txBody>
      </p:sp>
      <p:cxnSp>
        <p:nvCxnSpPr>
          <p:cNvPr id="19" name="Connector 18"/>
          <p:cNvCxnSpPr/>
          <p:nvPr/>
        </p:nvCxnSpPr>
        <p:spPr>
          <a:xfrm>
            <a:off x="4529328" y="3922776"/>
            <a:ext cx="3130296" cy="0"/>
          </a:xfrm>
          <a:prstGeom prst="line">
            <a:avLst/>
          </a:prstGeom>
          <a:ln w="9525">
            <a:solidFill>
              <a:srgbClr val="D4D4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9328" y="4014216"/>
            <a:ext cx="3130296" cy="365760"/>
          </a:xfrm>
          <a:prstGeom prst="rect">
            <a:avLst/>
          </a:prstGeom>
          <a:noFill/>
        </p:spPr>
        <p:txBody>
          <a:bodyPr wrap="square" lIns="0" rIns="0" tIns="0" bIns="0" anchor="t">
            <a:spAutoFit/>
          </a:bodyPr>
          <a:lstStyle/>
          <a:p>
            <a:pPr algn="l">
              <a:lnSpc>
                <a:spcPct val="112000"/>
              </a:lnSpc>
            </a:pPr>
            <a:r>
              <a:rPr sz="1300" b="1" i="0">
                <a:solidFill>
                  <a:srgbClr val="007B80"/>
                </a:solidFill>
                <a:latin typeface="Arial"/>
              </a:rPr>
              <a:t>weighings −61% / −55%</a:t>
            </a:r>
          </a:p>
        </p:txBody>
      </p:sp>
      <p:sp>
        <p:nvSpPr>
          <p:cNvPr id="21" name="Rectangle 20"/>
          <p:cNvSpPr/>
          <p:nvPr/>
        </p:nvSpPr>
        <p:spPr>
          <a:xfrm>
            <a:off x="8089391" y="1316736"/>
            <a:ext cx="3532632" cy="3154680"/>
          </a:xfrm>
          <a:prstGeom prst="rect">
            <a:avLst/>
          </a:prstGeom>
          <a:solidFill>
            <a:srgbClr val="F3F3F0"/>
          </a:solidFill>
          <a:ln>
            <a:noFill/>
          </a:ln>
        </p:spPr>
        <p:txBody>
          <a:bodyPr rtlCol="0" anchor="ctr"/>
          <a:lstStyle/>
          <a:p>
            <a:pPr algn="ctr"/>
          </a:p>
        </p:txBody>
      </p:sp>
      <p:sp>
        <p:nvSpPr>
          <p:cNvPr id="22" name="Rectangle 21"/>
          <p:cNvSpPr/>
          <p:nvPr/>
        </p:nvSpPr>
        <p:spPr>
          <a:xfrm>
            <a:off x="8089391" y="1316736"/>
            <a:ext cx="3532632" cy="566928"/>
          </a:xfrm>
          <a:prstGeom prst="rect">
            <a:avLst/>
          </a:prstGeom>
          <a:solidFill>
            <a:srgbClr val="000028"/>
          </a:solidFill>
          <a:ln>
            <a:noFill/>
          </a:ln>
        </p:spPr>
        <p:txBody>
          <a:bodyPr rtlCol="0" anchor="ctr"/>
          <a:lstStyle/>
          <a:p>
            <a:pPr algn="ctr"/>
          </a:p>
        </p:txBody>
      </p:sp>
      <p:sp>
        <p:nvSpPr>
          <p:cNvPr id="23" name="TextBox 22"/>
          <p:cNvSpPr txBox="1"/>
          <p:nvPr/>
        </p:nvSpPr>
        <p:spPr>
          <a:xfrm>
            <a:off x="8290560" y="1453896"/>
            <a:ext cx="1097280" cy="320040"/>
          </a:xfrm>
          <a:prstGeom prst="rect">
            <a:avLst/>
          </a:prstGeom>
          <a:noFill/>
        </p:spPr>
        <p:txBody>
          <a:bodyPr wrap="square" lIns="0" rIns="0" tIns="0" bIns="0" anchor="t">
            <a:spAutoFit/>
          </a:bodyPr>
          <a:lstStyle/>
          <a:p>
            <a:pPr algn="l">
              <a:lnSpc>
                <a:spcPct val="112000"/>
              </a:lnSpc>
            </a:pPr>
            <a:r>
              <a:rPr sz="1600" b="1" i="0" spc="150">
                <a:solidFill>
                  <a:srgbClr val="00FFB9"/>
                </a:solidFill>
                <a:latin typeface="Arial"/>
              </a:rPr>
              <a:t>WATCH</a:t>
            </a:r>
          </a:p>
        </p:txBody>
      </p:sp>
      <p:sp>
        <p:nvSpPr>
          <p:cNvPr id="24" name="TextBox 23"/>
          <p:cNvSpPr txBox="1"/>
          <p:nvPr/>
        </p:nvSpPr>
        <p:spPr>
          <a:xfrm>
            <a:off x="9323831" y="1472184"/>
            <a:ext cx="2161032" cy="320040"/>
          </a:xfrm>
          <a:prstGeom prst="rect">
            <a:avLst/>
          </a:prstGeom>
          <a:noFill/>
        </p:spPr>
        <p:txBody>
          <a:bodyPr wrap="square" lIns="0" rIns="0" tIns="0" bIns="0" anchor="t">
            <a:spAutoFit/>
          </a:bodyPr>
          <a:lstStyle/>
          <a:p>
            <a:pPr algn="r">
              <a:lnSpc>
                <a:spcPct val="112000"/>
              </a:lnSpc>
            </a:pPr>
            <a:r>
              <a:rPr sz="1200" b="0" i="0">
                <a:solidFill>
                  <a:srgbClr val="C9CBE0"/>
                </a:solidFill>
                <a:latin typeface="Arial"/>
              </a:rPr>
              <a:t>3 / 3</a:t>
            </a:r>
          </a:p>
        </p:txBody>
      </p:sp>
      <p:sp>
        <p:nvSpPr>
          <p:cNvPr id="25" name="TextBox 24"/>
          <p:cNvSpPr txBox="1"/>
          <p:nvPr/>
        </p:nvSpPr>
        <p:spPr>
          <a:xfrm>
            <a:off x="8290560" y="2048256"/>
            <a:ext cx="3130296" cy="365760"/>
          </a:xfrm>
          <a:prstGeom prst="rect">
            <a:avLst/>
          </a:prstGeom>
          <a:noFill/>
        </p:spPr>
        <p:txBody>
          <a:bodyPr wrap="square" lIns="0" rIns="0" tIns="0" bIns="0" anchor="t">
            <a:spAutoFit/>
          </a:bodyPr>
          <a:lstStyle/>
          <a:p>
            <a:pPr algn="l">
              <a:lnSpc>
                <a:spcPct val="112000"/>
              </a:lnSpc>
            </a:pPr>
            <a:r>
              <a:rPr sz="1500" b="1" i="0">
                <a:solidFill>
                  <a:srgbClr val="000028"/>
                </a:solidFill>
                <a:latin typeface="Arial"/>
              </a:rPr>
              <a:t>Measure what the customer feels</a:t>
            </a:r>
          </a:p>
        </p:txBody>
      </p:sp>
      <p:sp>
        <p:nvSpPr>
          <p:cNvPr id="26" name="TextBox 25"/>
          <p:cNvSpPr txBox="1"/>
          <p:nvPr/>
        </p:nvSpPr>
        <p:spPr>
          <a:xfrm>
            <a:off x="8290560" y="2505456"/>
            <a:ext cx="3130296" cy="1371600"/>
          </a:xfrm>
          <a:prstGeom prst="rect">
            <a:avLst/>
          </a:prstGeom>
          <a:noFill/>
        </p:spPr>
        <p:txBody>
          <a:bodyPr wrap="square" lIns="0" rIns="0" tIns="0" bIns="0" anchor="t">
            <a:spAutoFit/>
          </a:bodyPr>
          <a:lstStyle/>
          <a:p>
            <a:pPr algn="l" marL="182880" indent="-182880">
              <a:lnSpc>
                <a:spcPct val="112000"/>
              </a:lnSpc>
              <a:spcAft>
                <a:spcPts val="400"/>
              </a:spcAft>
              <a:buClr>
                <a:srgbClr val="009999"/>
              </a:buClr>
              <a:buFont typeface="Arial"/>
              <a:buChar char="•"/>
            </a:pPr>
            <a:r>
              <a:rPr sz="1200" b="0" i="0">
                <a:solidFill>
                  <a:srgbClr val="45465E"/>
                </a:solidFill>
                <a:latin typeface="Arial"/>
              </a:rPr>
              <a:t>KPI 2.0 per scale</a:t>
            </a:r>
          </a:p>
          <a:p>
            <a:pPr algn="l" marL="182880" indent="-182880">
              <a:lnSpc>
                <a:spcPct val="112000"/>
              </a:lnSpc>
              <a:spcAft>
                <a:spcPts val="400"/>
              </a:spcAft>
              <a:buClr>
                <a:srgbClr val="009999"/>
              </a:buClr>
              <a:buFont typeface="Arial"/>
              <a:buChar char="•"/>
            </a:pPr>
            <a:r>
              <a:rPr sz="1200" b="0" i="0">
                <a:solidFill>
                  <a:srgbClr val="45465E"/>
                </a:solidFill>
                <a:latin typeface="Arial"/>
              </a:rPr>
              <a:t>Keep the existing 24-hour idle check</a:t>
            </a:r>
          </a:p>
          <a:p>
            <a:pPr algn="l" marL="182880" indent="-182880">
              <a:lnSpc>
                <a:spcPct val="112000"/>
              </a:lnSpc>
              <a:spcAft>
                <a:spcPts val="400"/>
              </a:spcAft>
              <a:buClr>
                <a:srgbClr val="009999"/>
              </a:buClr>
              <a:buFont typeface="Arial"/>
              <a:buChar char="•"/>
            </a:pPr>
            <a:r>
              <a:rPr sz="1200" b="0" i="0">
                <a:solidFill>
                  <a:srgbClr val="45465E"/>
                </a:solidFill>
                <a:latin typeface="Arial"/>
              </a:rPr>
              <a:t>Watch list for the 10% of scales with most misses</a:t>
            </a:r>
          </a:p>
        </p:txBody>
      </p:sp>
      <p:cxnSp>
        <p:nvCxnSpPr>
          <p:cNvPr id="27" name="Connector 26"/>
          <p:cNvCxnSpPr/>
          <p:nvPr/>
        </p:nvCxnSpPr>
        <p:spPr>
          <a:xfrm>
            <a:off x="8290560" y="3922776"/>
            <a:ext cx="3130295" cy="0"/>
          </a:xfrm>
          <a:prstGeom prst="line">
            <a:avLst/>
          </a:prstGeom>
          <a:ln w="9525">
            <a:solidFill>
              <a:srgbClr val="D4D4D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90560" y="4014216"/>
            <a:ext cx="3130296" cy="365760"/>
          </a:xfrm>
          <a:prstGeom prst="rect">
            <a:avLst/>
          </a:prstGeom>
          <a:noFill/>
        </p:spPr>
        <p:txBody>
          <a:bodyPr wrap="square" lIns="0" rIns="0" tIns="0" bIns="0" anchor="t">
            <a:spAutoFit/>
          </a:bodyPr>
          <a:lstStyle/>
          <a:p>
            <a:pPr algn="l">
              <a:lnSpc>
                <a:spcPct val="112000"/>
              </a:lnSpc>
            </a:pPr>
            <a:r>
              <a:rPr sz="1300" b="1" i="0">
                <a:solidFill>
                  <a:srgbClr val="007B80"/>
                </a:solidFill>
                <a:latin typeface="Arial"/>
              </a:rPr>
              <a:t>most misses found within 2 days</a:t>
            </a:r>
          </a:p>
        </p:txBody>
      </p:sp>
      <p:sp>
        <p:nvSpPr>
          <p:cNvPr id="29" name="Rectangle 28"/>
          <p:cNvSpPr/>
          <p:nvPr/>
        </p:nvSpPr>
        <p:spPr>
          <a:xfrm>
            <a:off x="566928" y="4855464"/>
            <a:ext cx="3639312" cy="45720"/>
          </a:xfrm>
          <a:prstGeom prst="rect">
            <a:avLst/>
          </a:prstGeom>
          <a:solidFill>
            <a:srgbClr val="009999"/>
          </a:solidFill>
          <a:ln>
            <a:noFill/>
          </a:ln>
        </p:spPr>
        <p:txBody>
          <a:bodyPr rtlCol="0" anchor="ctr"/>
          <a:lstStyle/>
          <a:p>
            <a:pPr algn="ctr"/>
          </a:p>
        </p:txBody>
      </p:sp>
      <p:sp>
        <p:nvSpPr>
          <p:cNvPr id="30" name="Oval 29"/>
          <p:cNvSpPr/>
          <p:nvPr/>
        </p:nvSpPr>
        <p:spPr>
          <a:xfrm>
            <a:off x="566928" y="4745736"/>
            <a:ext cx="274320" cy="274320"/>
          </a:xfrm>
          <a:prstGeom prst="ellipse">
            <a:avLst/>
          </a:prstGeom>
          <a:solidFill>
            <a:srgbClr val="009999"/>
          </a:solidFill>
          <a:ln>
            <a:noFill/>
          </a:ln>
        </p:spPr>
        <p:txBody>
          <a:bodyPr rtlCol="0" anchor="ctr" lIns="0" rIns="0" tIns="0" bIns="0"/>
          <a:lstStyle/>
          <a:p>
            <a:pPr algn="ctr"/>
            <a:r>
              <a:rPr sz="1400" b="1">
                <a:solidFill>
                  <a:srgbClr val="FFFFFF"/>
                </a:solidFill>
                <a:latin typeface="Arial"/>
              </a:rPr>
              <a:t/>
            </a:r>
          </a:p>
        </p:txBody>
      </p:sp>
      <p:sp>
        <p:nvSpPr>
          <p:cNvPr id="31" name="TextBox 30"/>
          <p:cNvSpPr txBox="1"/>
          <p:nvPr/>
        </p:nvSpPr>
        <p:spPr>
          <a:xfrm>
            <a:off x="566928" y="5157216"/>
            <a:ext cx="3410712" cy="274320"/>
          </a:xfrm>
          <a:prstGeom prst="rect">
            <a:avLst/>
          </a:prstGeom>
          <a:noFill/>
        </p:spPr>
        <p:txBody>
          <a:bodyPr wrap="square" lIns="0" rIns="0" tIns="0" bIns="0" anchor="t">
            <a:spAutoFit/>
          </a:bodyPr>
          <a:lstStyle/>
          <a:p>
            <a:pPr algn="l">
              <a:lnSpc>
                <a:spcPct val="112000"/>
              </a:lnSpc>
            </a:pPr>
            <a:r>
              <a:rPr sz="1100" b="1" i="0" spc="100">
                <a:solidFill>
                  <a:srgbClr val="007B80"/>
                </a:solidFill>
                <a:latin typeface="Arial"/>
              </a:rPr>
              <a:t>NOW</a:t>
            </a:r>
          </a:p>
        </p:txBody>
      </p:sp>
      <p:sp>
        <p:nvSpPr>
          <p:cNvPr id="32" name="TextBox 31"/>
          <p:cNvSpPr txBox="1"/>
          <p:nvPr/>
        </p:nvSpPr>
        <p:spPr>
          <a:xfrm>
            <a:off x="566928" y="5431536"/>
            <a:ext cx="3410712" cy="64008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Loop detector live · level 3 off the menu · factory default 8 → 7</a:t>
            </a:r>
          </a:p>
        </p:txBody>
      </p:sp>
      <p:sp>
        <p:nvSpPr>
          <p:cNvPr id="33" name="Rectangle 32"/>
          <p:cNvSpPr/>
          <p:nvPr/>
        </p:nvSpPr>
        <p:spPr>
          <a:xfrm>
            <a:off x="4251960" y="4855464"/>
            <a:ext cx="3639312" cy="45720"/>
          </a:xfrm>
          <a:prstGeom prst="rect">
            <a:avLst/>
          </a:prstGeom>
          <a:solidFill>
            <a:srgbClr val="D4D4D9"/>
          </a:solidFill>
          <a:ln>
            <a:noFill/>
          </a:ln>
        </p:spPr>
        <p:txBody>
          <a:bodyPr rtlCol="0" anchor="ctr"/>
          <a:lstStyle/>
          <a:p>
            <a:pPr algn="ctr"/>
          </a:p>
        </p:txBody>
      </p:sp>
      <p:sp>
        <p:nvSpPr>
          <p:cNvPr id="34" name="Oval 33"/>
          <p:cNvSpPr/>
          <p:nvPr/>
        </p:nvSpPr>
        <p:spPr>
          <a:xfrm>
            <a:off x="4251960" y="4745736"/>
            <a:ext cx="274320" cy="274320"/>
          </a:xfrm>
          <a:prstGeom prst="ellipse">
            <a:avLst/>
          </a:prstGeom>
          <a:solidFill>
            <a:srgbClr val="D4D4D9"/>
          </a:solidFill>
          <a:ln>
            <a:noFill/>
          </a:ln>
        </p:spPr>
        <p:txBody>
          <a:bodyPr rtlCol="0" anchor="ctr" lIns="0" rIns="0" tIns="0" bIns="0"/>
          <a:lstStyle/>
          <a:p>
            <a:pPr algn="ctr"/>
            <a:r>
              <a:rPr sz="1400" b="1">
                <a:solidFill>
                  <a:srgbClr val="FFFFFF"/>
                </a:solidFill>
                <a:latin typeface="Arial"/>
              </a:rPr>
              <a:t/>
            </a:r>
          </a:p>
        </p:txBody>
      </p:sp>
      <p:sp>
        <p:nvSpPr>
          <p:cNvPr id="35" name="TextBox 34"/>
          <p:cNvSpPr txBox="1"/>
          <p:nvPr/>
        </p:nvSpPr>
        <p:spPr>
          <a:xfrm>
            <a:off x="4251960" y="5157216"/>
            <a:ext cx="3410712" cy="274320"/>
          </a:xfrm>
          <a:prstGeom prst="rect">
            <a:avLst/>
          </a:prstGeom>
          <a:noFill/>
        </p:spPr>
        <p:txBody>
          <a:bodyPr wrap="square" lIns="0" rIns="0" tIns="0" bIns="0" anchor="t">
            <a:spAutoFit/>
          </a:bodyPr>
          <a:lstStyle/>
          <a:p>
            <a:pPr algn="l">
              <a:lnSpc>
                <a:spcPct val="112000"/>
              </a:lnSpc>
            </a:pPr>
            <a:r>
              <a:rPr sz="1100" b="1" i="0" spc="100">
                <a:solidFill>
                  <a:srgbClr val="007B80"/>
                </a:solidFill>
                <a:latin typeface="Arial"/>
              </a:rPr>
              <a:t>WEEKS 1–8</a:t>
            </a:r>
          </a:p>
        </p:txBody>
      </p:sp>
      <p:sp>
        <p:nvSpPr>
          <p:cNvPr id="36" name="TextBox 35"/>
          <p:cNvSpPr txBox="1"/>
          <p:nvPr/>
        </p:nvSpPr>
        <p:spPr>
          <a:xfrm>
            <a:off x="4251960" y="5431536"/>
            <a:ext cx="3410712" cy="64008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Pilot the rule at about 10 sites against matched control sites</a:t>
            </a:r>
          </a:p>
        </p:txBody>
      </p:sp>
      <p:sp>
        <p:nvSpPr>
          <p:cNvPr id="37" name="Rectangle 36"/>
          <p:cNvSpPr/>
          <p:nvPr/>
        </p:nvSpPr>
        <p:spPr>
          <a:xfrm>
            <a:off x="7936992" y="4855464"/>
            <a:ext cx="3639312" cy="45720"/>
          </a:xfrm>
          <a:prstGeom prst="rect">
            <a:avLst/>
          </a:prstGeom>
          <a:solidFill>
            <a:srgbClr val="D4D4D9"/>
          </a:solidFill>
          <a:ln>
            <a:noFill/>
          </a:ln>
        </p:spPr>
        <p:txBody>
          <a:bodyPr rtlCol="0" anchor="ctr"/>
          <a:lstStyle/>
          <a:p>
            <a:pPr algn="ctr"/>
          </a:p>
        </p:txBody>
      </p:sp>
      <p:sp>
        <p:nvSpPr>
          <p:cNvPr id="38" name="Oval 37"/>
          <p:cNvSpPr/>
          <p:nvPr/>
        </p:nvSpPr>
        <p:spPr>
          <a:xfrm>
            <a:off x="7936992" y="4745736"/>
            <a:ext cx="274320" cy="274320"/>
          </a:xfrm>
          <a:prstGeom prst="ellipse">
            <a:avLst/>
          </a:prstGeom>
          <a:solidFill>
            <a:srgbClr val="D4D4D9"/>
          </a:solidFill>
          <a:ln>
            <a:noFill/>
          </a:ln>
        </p:spPr>
        <p:txBody>
          <a:bodyPr rtlCol="0" anchor="ctr" lIns="0" rIns="0" tIns="0" bIns="0"/>
          <a:lstStyle/>
          <a:p>
            <a:pPr algn="ctr"/>
            <a:r>
              <a:rPr sz="1400" b="1">
                <a:solidFill>
                  <a:srgbClr val="FFFFFF"/>
                </a:solidFill>
                <a:latin typeface="Arial"/>
              </a:rPr>
              <a:t/>
            </a:r>
          </a:p>
        </p:txBody>
      </p:sp>
      <p:sp>
        <p:nvSpPr>
          <p:cNvPr id="39" name="TextBox 38"/>
          <p:cNvSpPr txBox="1"/>
          <p:nvPr/>
        </p:nvSpPr>
        <p:spPr>
          <a:xfrm>
            <a:off x="7936992" y="5157216"/>
            <a:ext cx="3410712" cy="274320"/>
          </a:xfrm>
          <a:prstGeom prst="rect">
            <a:avLst/>
          </a:prstGeom>
          <a:noFill/>
        </p:spPr>
        <p:txBody>
          <a:bodyPr wrap="square" lIns="0" rIns="0" tIns="0" bIns="0" anchor="t">
            <a:spAutoFit/>
          </a:bodyPr>
          <a:lstStyle/>
          <a:p>
            <a:pPr algn="l">
              <a:lnSpc>
                <a:spcPct val="112000"/>
              </a:lnSpc>
            </a:pPr>
            <a:r>
              <a:rPr sz="1100" b="1" i="0" spc="100">
                <a:solidFill>
                  <a:srgbClr val="007B80"/>
                </a:solidFill>
                <a:latin typeface="Arial"/>
              </a:rPr>
              <a:t>THEN</a:t>
            </a:r>
          </a:p>
        </p:txBody>
      </p:sp>
      <p:sp>
        <p:nvSpPr>
          <p:cNvPr id="40" name="TextBox 39"/>
          <p:cNvSpPr txBox="1"/>
          <p:nvPr/>
        </p:nvSpPr>
        <p:spPr>
          <a:xfrm>
            <a:off x="7936992" y="5431536"/>
            <a:ext cx="3410712" cy="64008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Roll out; tune the thresholds with the pilot results</a:t>
            </a:r>
          </a:p>
        </p:txBody>
      </p:sp>
      <p:sp>
        <p:nvSpPr>
          <p:cNvPr id="41" name="TextBox 40"/>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simulation over 16 weeks, scales in a trigger loop left out of the savings · Report §6.3–6.4</a:t>
            </a:r>
          </a:p>
        </p:txBody>
      </p:sp>
      <p:sp>
        <p:nvSpPr>
          <p:cNvPr id="42" name="TextBox 41"/>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STEP 1 · FLAG</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A two-number rule finds the broken scales every day</a:t>
            </a:r>
          </a:p>
        </p:txBody>
      </p:sp>
      <p:sp>
        <p:nvSpPr>
          <p:cNvPr id="5" name="Rectangle 4"/>
          <p:cNvSpPr/>
          <p:nvPr/>
        </p:nvSpPr>
        <p:spPr>
          <a:xfrm>
            <a:off x="566928" y="1271016"/>
            <a:ext cx="5669280" cy="1965960"/>
          </a:xfrm>
          <a:prstGeom prst="rect">
            <a:avLst/>
          </a:prstGeom>
          <a:solidFill>
            <a:srgbClr val="000028"/>
          </a:solidFill>
          <a:ln>
            <a:noFill/>
          </a:ln>
        </p:spPr>
        <p:txBody>
          <a:bodyPr rtlCol="0" anchor="ctr"/>
          <a:lstStyle/>
          <a:p>
            <a:pPr algn="ctr"/>
          </a:p>
        </p:txBody>
      </p:sp>
      <p:sp>
        <p:nvSpPr>
          <p:cNvPr id="6" name="TextBox 5"/>
          <p:cNvSpPr txBox="1"/>
          <p:nvPr/>
        </p:nvSpPr>
        <p:spPr>
          <a:xfrm>
            <a:off x="841247" y="1426464"/>
            <a:ext cx="5120640" cy="274320"/>
          </a:xfrm>
          <a:prstGeom prst="rect">
            <a:avLst/>
          </a:prstGeom>
          <a:noFill/>
        </p:spPr>
        <p:txBody>
          <a:bodyPr wrap="square" lIns="0" rIns="0" tIns="0" bIns="0" anchor="t">
            <a:spAutoFit/>
          </a:bodyPr>
          <a:lstStyle/>
          <a:p>
            <a:pPr algn="l">
              <a:lnSpc>
                <a:spcPct val="112000"/>
              </a:lnSpc>
            </a:pPr>
            <a:r>
              <a:rPr sz="1000" b="1" i="0" spc="100">
                <a:solidFill>
                  <a:srgbClr val="00FFB9"/>
                </a:solidFill>
                <a:latin typeface="Arial"/>
              </a:rPr>
              <a:t>FOR EVERY SCALE AND LEVEL · LAST 7 DAYS (≥ 5 WITH DATA)</a:t>
            </a:r>
          </a:p>
        </p:txBody>
      </p:sp>
      <p:sp>
        <p:nvSpPr>
          <p:cNvPr id="7" name="TextBox 6"/>
          <p:cNvSpPr txBox="1"/>
          <p:nvPr/>
        </p:nvSpPr>
        <p:spPr>
          <a:xfrm>
            <a:off x="841247" y="1773936"/>
            <a:ext cx="5212080" cy="1371600"/>
          </a:xfrm>
          <a:prstGeom prst="rect">
            <a:avLst/>
          </a:prstGeom>
          <a:noFill/>
        </p:spPr>
        <p:txBody>
          <a:bodyPr wrap="square" lIns="0" rIns="0" tIns="0" bIns="0" anchor="t">
            <a:spAutoFit/>
          </a:bodyPr>
          <a:lstStyle/>
          <a:p>
            <a:pPr algn="l">
              <a:lnSpc>
                <a:spcPct val="120000"/>
              </a:lnSpc>
              <a:spcAft>
                <a:spcPts val="600"/>
              </a:spcAft>
            </a:pPr>
            <a:r>
              <a:rPr sz="1400" b="0" i="0">
                <a:solidFill>
                  <a:srgbClr val="FFFFFF"/>
                </a:solidFill>
                <a:latin typeface="Arial"/>
              </a:rPr>
              <a:t>r = wake-ups within 2 min of the previous one ÷ all wake-ups</a:t>
            </a:r>
          </a:p>
          <a:p>
            <a:pPr algn="l">
              <a:lnSpc>
                <a:spcPct val="120000"/>
              </a:lnSpc>
              <a:spcAft>
                <a:spcPts val="600"/>
              </a:spcAft>
            </a:pPr>
            <a:r>
              <a:rPr sz="1400" b="0" i="0">
                <a:solidFill>
                  <a:srgbClr val="FFFFFF"/>
                </a:solidFill>
                <a:latin typeface="Arial"/>
              </a:rPr>
              <a:t>n = automatic wake-ups per day</a:t>
            </a:r>
          </a:p>
          <a:p>
            <a:pPr algn="l">
              <a:lnSpc>
                <a:spcPct val="120000"/>
              </a:lnSpc>
              <a:spcAft>
                <a:spcPts val="600"/>
              </a:spcAft>
            </a:pPr>
            <a:r>
              <a:rPr sz="1400" b="1" i="0">
                <a:solidFill>
                  <a:srgbClr val="00FFB9"/>
                </a:solidFill>
                <a:latin typeface="Arial"/>
              </a:rPr>
              <a:t>Loop  ⇔  r &gt; 50%  and  n &gt; 20</a:t>
            </a:r>
          </a:p>
        </p:txBody>
      </p:sp>
      <p:graphicFrame>
        <p:nvGraphicFramePr>
          <p:cNvPr id="8" name="Table 7"/>
          <p:cNvGraphicFramePr>
            <a:graphicFrameLocks noGrp="1"/>
          </p:cNvGraphicFramePr>
          <p:nvPr/>
        </p:nvGraphicFramePr>
        <p:xfrm>
          <a:off x="566928" y="3511296"/>
          <a:ext cx="5669280" cy="1463040"/>
        </p:xfrm>
        <a:graphic>
          <a:graphicData uri="http://schemas.openxmlformats.org/drawingml/2006/table">
            <a:tbl>
              <a:tblPr firstRow="0" bandRow="0"/>
              <a:tblGrid>
                <a:gridCol w="2651760"/>
                <a:gridCol w="1005840"/>
                <a:gridCol w="822960"/>
                <a:gridCol w="1188720"/>
              </a:tblGrid>
              <a:tr h="365760">
                <a:tc>
                  <a:txBody>
                    <a:bodyPr wrap="square"/>
                    <a:lstStyle/>
                    <a:p>
                      <a:pPr algn="l"/>
                      <a:r>
                        <a:rPr sz="1200" b="1">
                          <a:solidFill>
                            <a:srgbClr val="FFFFFF"/>
                          </a:solidFill>
                          <a:latin typeface="Arial"/>
                        </a:rPr>
                        <a:t>Example (from the data)</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n per day</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r</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200" b="1">
                          <a:solidFill>
                            <a:srgbClr val="FFFFFF"/>
                          </a:solidFill>
                          <a:latin typeface="Arial"/>
                        </a:rPr>
                        <a:t>Result</a:t>
                      </a:r>
                    </a:p>
                  </a:txBody>
                  <a:tcPr marL="73152" marR="73152" marT="32004" marB="32004" anchor="ctr">
                    <a:lnL w="0">
                      <a:noFill/>
                    </a:lnL>
                    <a:lnR w="0">
                      <a:noFill/>
                    </a:lnR>
                    <a:lnT w="0">
                      <a:noFill/>
                    </a:lnT>
                    <a:lnB w="9525">
                      <a:solidFill>
                        <a:srgbClr val="D4D4D9"/>
                      </a:solidFill>
                    </a:lnB>
                    <a:solidFill>
                      <a:srgbClr val="000028"/>
                    </a:solidFill>
                  </a:tcPr>
                </a:tc>
              </a:tr>
              <a:tr h="365760">
                <a:tc>
                  <a:txBody>
                    <a:bodyPr wrap="square"/>
                    <a:lstStyle/>
                    <a:p>
                      <a:pPr algn="l"/>
                      <a:r>
                        <a:rPr sz="1200" b="0">
                          <a:solidFill>
                            <a:srgbClr val="000028"/>
                          </a:solidFill>
                          <a:latin typeface="Arial"/>
                        </a:rPr>
                        <a:t>Typical looping scale</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630</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86%</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1">
                          <a:solidFill>
                            <a:srgbClr val="000028"/>
                          </a:solidFill>
                          <a:latin typeface="Arial"/>
                        </a:rPr>
                        <a:t>LOOP</a:t>
                      </a:r>
                    </a:p>
                  </a:txBody>
                  <a:tcPr marL="73152" marR="73152" marT="32004" marB="32004" anchor="ctr">
                    <a:lnL w="0">
                      <a:noFill/>
                    </a:lnL>
                    <a:lnR w="0">
                      <a:noFill/>
                    </a:lnR>
                    <a:lnT w="0">
                      <a:noFill/>
                    </a:lnT>
                    <a:lnB w="9525">
                      <a:solidFill>
                        <a:srgbClr val="D4D4D9"/>
                      </a:solidFill>
                    </a:lnB>
                    <a:noFill/>
                  </a:tcPr>
                </a:tc>
              </a:tr>
              <a:tr h="365760">
                <a:tc>
                  <a:txBody>
                    <a:bodyPr wrap="square"/>
                    <a:lstStyle/>
                    <a:p>
                      <a:pPr algn="l"/>
                      <a:r>
                        <a:rPr sz="1200" b="0">
                          <a:solidFill>
                            <a:srgbClr val="000028"/>
                          </a:solidFill>
                          <a:latin typeface="Arial"/>
                        </a:rPr>
                        <a:t>Normal scales, 99th percentile</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48</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30%</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normal</a:t>
                      </a:r>
                    </a:p>
                  </a:txBody>
                  <a:tcPr marL="73152" marR="73152" marT="32004" marB="32004" anchor="ctr">
                    <a:lnL w="0">
                      <a:noFill/>
                    </a:lnL>
                    <a:lnR w="0">
                      <a:noFill/>
                    </a:lnR>
                    <a:lnT w="0">
                      <a:noFill/>
                    </a:lnT>
                    <a:lnB w="9525">
                      <a:solidFill>
                        <a:srgbClr val="D4D4D9"/>
                      </a:solidFill>
                    </a:lnB>
                    <a:noFill/>
                  </a:tcPr>
                </a:tc>
              </a:tr>
              <a:tr h="365760">
                <a:tc>
                  <a:txBody>
                    <a:bodyPr wrap="square"/>
                    <a:lstStyle/>
                    <a:p>
                      <a:pPr algn="l"/>
                      <a:r>
                        <a:rPr sz="1200" b="0">
                          <a:solidFill>
                            <a:srgbClr val="000028"/>
                          </a:solidFill>
                          <a:latin typeface="Arial"/>
                        </a:rPr>
                        <a:t>Typical scale</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3</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3%</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normal</a:t>
                      </a:r>
                    </a:p>
                  </a:txBody>
                  <a:tcPr marL="73152" marR="73152" marT="32004" marB="32004" anchor="ctr">
                    <a:lnL w="0">
                      <a:noFill/>
                    </a:lnL>
                    <a:lnR w="0">
                      <a:noFill/>
                    </a:lnR>
                    <a:lnT w="0">
                      <a:noFill/>
                    </a:lnT>
                    <a:lnB w="9525">
                      <a:solidFill>
                        <a:srgbClr val="D4D4D9"/>
                      </a:solidFill>
                    </a:lnB>
                    <a:noFill/>
                  </a:tcPr>
                </a:tc>
              </a:tr>
            </a:tbl>
          </a:graphicData>
        </a:graphic>
      </p:graphicFrame>
      <p:pic>
        <p:nvPicPr>
          <p:cNvPr id="9" name="Picture 8" descr="k09_detector.png"/>
          <p:cNvPicPr>
            <a:picLocks noChangeAspect="1"/>
          </p:cNvPicPr>
          <p:nvPr/>
        </p:nvPicPr>
        <p:blipFill>
          <a:blip r:embed="rId2"/>
          <a:stretch>
            <a:fillRect/>
          </a:stretch>
        </p:blipFill>
        <p:spPr>
          <a:xfrm>
            <a:off x="6400800" y="1225296"/>
            <a:ext cx="5212080" cy="3291840"/>
          </a:xfrm>
          <a:prstGeom prst="rect">
            <a:avLst/>
          </a:prstGeom>
        </p:spPr>
      </p:pic>
      <p:sp>
        <p:nvSpPr>
          <p:cNvPr id="10" name="TextBox 9"/>
          <p:cNvSpPr txBox="1"/>
          <p:nvPr/>
        </p:nvSpPr>
        <p:spPr>
          <a:xfrm>
            <a:off x="566928" y="5175504"/>
            <a:ext cx="2011680" cy="274320"/>
          </a:xfrm>
          <a:prstGeom prst="rect">
            <a:avLst/>
          </a:prstGeom>
          <a:noFill/>
        </p:spPr>
        <p:txBody>
          <a:bodyPr wrap="square" lIns="0" rIns="0" tIns="0" bIns="0" anchor="t">
            <a:spAutoFit/>
          </a:bodyPr>
          <a:lstStyle/>
          <a:p>
            <a:pPr algn="l">
              <a:lnSpc>
                <a:spcPct val="112000"/>
              </a:lnSpc>
            </a:pPr>
            <a:r>
              <a:rPr sz="1050" b="1" i="0" spc="120">
                <a:solidFill>
                  <a:srgbClr val="009999"/>
                </a:solidFill>
                <a:latin typeface="Arial"/>
              </a:rPr>
              <a:t>WHAT HAPPENS NEXT</a:t>
            </a:r>
          </a:p>
        </p:txBody>
      </p:sp>
      <p:sp>
        <p:nvSpPr>
          <p:cNvPr id="11" name="Oval 10"/>
          <p:cNvSpPr/>
          <p:nvPr/>
        </p:nvSpPr>
        <p:spPr>
          <a:xfrm>
            <a:off x="2670048" y="5148072"/>
            <a:ext cx="329184" cy="329184"/>
          </a:xfrm>
          <a:prstGeom prst="ellipse">
            <a:avLst/>
          </a:prstGeom>
          <a:solidFill>
            <a:srgbClr val="009999"/>
          </a:solidFill>
          <a:ln>
            <a:noFill/>
          </a:ln>
        </p:spPr>
        <p:txBody>
          <a:bodyPr rtlCol="0" anchor="ctr" lIns="0" rIns="0" tIns="0" bIns="0"/>
          <a:lstStyle/>
          <a:p>
            <a:pPr algn="ctr"/>
            <a:r>
              <a:rPr sz="1200" b="1">
                <a:solidFill>
                  <a:srgbClr val="FFFFFF"/>
                </a:solidFill>
                <a:latin typeface="Arial"/>
              </a:rPr>
              <a:t>1</a:t>
            </a:r>
          </a:p>
        </p:txBody>
      </p:sp>
      <p:sp>
        <p:nvSpPr>
          <p:cNvPr id="12" name="TextBox 11"/>
          <p:cNvSpPr txBox="1"/>
          <p:nvPr/>
        </p:nvSpPr>
        <p:spPr>
          <a:xfrm>
            <a:off x="3108960" y="5166359"/>
            <a:ext cx="2435352" cy="73152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Set the scale back to 7 remotely – as Bossard did for the April switch</a:t>
            </a:r>
          </a:p>
        </p:txBody>
      </p:sp>
      <p:sp>
        <p:nvSpPr>
          <p:cNvPr id="13" name="Oval 12"/>
          <p:cNvSpPr/>
          <p:nvPr/>
        </p:nvSpPr>
        <p:spPr>
          <a:xfrm>
            <a:off x="5654040" y="5148072"/>
            <a:ext cx="329184" cy="329184"/>
          </a:xfrm>
          <a:prstGeom prst="ellipse">
            <a:avLst/>
          </a:prstGeom>
          <a:solidFill>
            <a:srgbClr val="009999"/>
          </a:solidFill>
          <a:ln>
            <a:noFill/>
          </a:ln>
        </p:spPr>
        <p:txBody>
          <a:bodyPr rtlCol="0" anchor="ctr" lIns="0" rIns="0" tIns="0" bIns="0"/>
          <a:lstStyle/>
          <a:p>
            <a:pPr algn="ctr"/>
            <a:r>
              <a:rPr sz="1200" b="1">
                <a:solidFill>
                  <a:srgbClr val="FFFFFF"/>
                </a:solidFill>
                <a:latin typeface="Arial"/>
              </a:rPr>
              <a:t>2</a:t>
            </a:r>
          </a:p>
        </p:txBody>
      </p:sp>
      <p:sp>
        <p:nvSpPr>
          <p:cNvPr id="14" name="TextBox 13"/>
          <p:cNvSpPr txBox="1"/>
          <p:nvPr/>
        </p:nvSpPr>
        <p:spPr>
          <a:xfrm>
            <a:off x="6092952" y="5166359"/>
            <a:ext cx="2435352" cy="73152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Still looping after 2 days → service ticket (sensor, battery)</a:t>
            </a:r>
          </a:p>
        </p:txBody>
      </p:sp>
      <p:sp>
        <p:nvSpPr>
          <p:cNvPr id="15" name="Oval 14"/>
          <p:cNvSpPr/>
          <p:nvPr/>
        </p:nvSpPr>
        <p:spPr>
          <a:xfrm>
            <a:off x="8638031" y="5148072"/>
            <a:ext cx="329184" cy="329184"/>
          </a:xfrm>
          <a:prstGeom prst="ellipse">
            <a:avLst/>
          </a:prstGeom>
          <a:solidFill>
            <a:srgbClr val="009999"/>
          </a:solidFill>
          <a:ln>
            <a:noFill/>
          </a:ln>
        </p:spPr>
        <p:txBody>
          <a:bodyPr rtlCol="0" anchor="ctr" lIns="0" rIns="0" tIns="0" bIns="0"/>
          <a:lstStyle/>
          <a:p>
            <a:pPr algn="ctr"/>
            <a:r>
              <a:rPr sz="1200" b="1">
                <a:solidFill>
                  <a:srgbClr val="FFFFFF"/>
                </a:solidFill>
                <a:latin typeface="Arial"/>
              </a:rPr>
              <a:t>3</a:t>
            </a:r>
          </a:p>
        </p:txBody>
      </p:sp>
      <p:sp>
        <p:nvSpPr>
          <p:cNvPr id="16" name="TextBox 15"/>
          <p:cNvSpPr txBox="1"/>
          <p:nvPr/>
        </p:nvSpPr>
        <p:spPr>
          <a:xfrm>
            <a:off x="9076944" y="5166359"/>
            <a:ext cx="2435352" cy="731520"/>
          </a:xfrm>
          <a:prstGeom prst="rect">
            <a:avLst/>
          </a:prstGeom>
          <a:noFill/>
        </p:spPr>
        <p:txBody>
          <a:bodyPr wrap="square" lIns="0" rIns="0" tIns="0" bIns="0" anchor="t">
            <a:spAutoFit/>
          </a:bodyPr>
          <a:lstStyle/>
          <a:p>
            <a:pPr algn="l">
              <a:lnSpc>
                <a:spcPct val="110000"/>
              </a:lnSpc>
            </a:pPr>
            <a:r>
              <a:rPr sz="1200" b="0" i="0">
                <a:solidFill>
                  <a:srgbClr val="000028"/>
                </a:solidFill>
                <a:latin typeface="Arial"/>
              </a:rPr>
              <a:t>List to the firmware team: the 90 s pattern is a firmware loop</a:t>
            </a:r>
          </a:p>
        </p:txBody>
      </p:sp>
      <p:sp>
        <p:nvSpPr>
          <p:cNvPr id="17" name="TextBox 16"/>
          <p:cNvSpPr txBox="1"/>
          <p:nvPr/>
        </p:nvSpPr>
        <p:spPr>
          <a:xfrm>
            <a:off x="566928" y="5852159"/>
            <a:ext cx="11055096" cy="274320"/>
          </a:xfrm>
          <a:prstGeom prst="rect">
            <a:avLst/>
          </a:prstGeom>
          <a:noFill/>
        </p:spPr>
        <p:txBody>
          <a:bodyPr wrap="square" lIns="0" rIns="0" tIns="0" bIns="0" anchor="t">
            <a:spAutoFit/>
          </a:bodyPr>
          <a:lstStyle/>
          <a:p>
            <a:pPr algn="l">
              <a:lnSpc>
                <a:spcPct val="112000"/>
              </a:lnSpc>
            </a:pPr>
            <a:r>
              <a:rPr sz="1150" b="0" i="0">
                <a:solidFill>
                  <a:srgbClr val="45465E"/>
                </a:solidFill>
                <a:latin typeface="Arial"/>
              </a:rPr>
              <a:t>Robust: any threshold between 40–60% and 10–80 a day flags 233–330 scales holding 24–28% of the weighings. Delivered as about 20 lines of SQL/Python plus today's list.</a:t>
            </a:r>
          </a:p>
        </p:txBody>
      </p:sp>
      <p:sp>
        <p:nvSpPr>
          <p:cNvPr id="18" name="TextBox 17"/>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each dot = scale-levels with similar values, size = number of scale-levels · Report §5.3, Appendix C</a:t>
            </a:r>
          </a:p>
        </p:txBody>
      </p:sp>
      <p:sp>
        <p:nvSpPr>
          <p:cNvPr id="19" name="TextBox 18"/>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STEP 2 · TUNE</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Every two weeks, each scale moves one step – or stays</a:t>
            </a:r>
          </a:p>
        </p:txBody>
      </p:sp>
      <p:sp>
        <p:nvSpPr>
          <p:cNvPr id="5" name="Rectangle 4"/>
          <p:cNvSpPr/>
          <p:nvPr/>
        </p:nvSpPr>
        <p:spPr>
          <a:xfrm>
            <a:off x="566928" y="1271016"/>
            <a:ext cx="5074920" cy="3611880"/>
          </a:xfrm>
          <a:prstGeom prst="rect">
            <a:avLst/>
          </a:prstGeom>
          <a:solidFill>
            <a:srgbClr val="000028"/>
          </a:solidFill>
          <a:ln>
            <a:noFill/>
          </a:ln>
        </p:spPr>
        <p:txBody>
          <a:bodyPr rtlCol="0" anchor="ctr"/>
          <a:lstStyle/>
          <a:p>
            <a:pPr algn="ctr"/>
          </a:p>
        </p:txBody>
      </p:sp>
      <p:sp>
        <p:nvSpPr>
          <p:cNvPr id="6" name="TextBox 5"/>
          <p:cNvSpPr txBox="1"/>
          <p:nvPr/>
        </p:nvSpPr>
        <p:spPr>
          <a:xfrm>
            <a:off x="841247" y="1426464"/>
            <a:ext cx="4572000" cy="274320"/>
          </a:xfrm>
          <a:prstGeom prst="rect">
            <a:avLst/>
          </a:prstGeom>
          <a:noFill/>
        </p:spPr>
        <p:txBody>
          <a:bodyPr wrap="square" lIns="0" rIns="0" tIns="0" bIns="0" anchor="t">
            <a:spAutoFit/>
          </a:bodyPr>
          <a:lstStyle/>
          <a:p>
            <a:pPr algn="l">
              <a:lnSpc>
                <a:spcPct val="112000"/>
              </a:lnSpc>
            </a:pPr>
            <a:r>
              <a:rPr sz="1000" b="1" i="0" spc="100">
                <a:solidFill>
                  <a:srgbClr val="00FFB9"/>
                </a:solidFill>
                <a:latin typeface="Arial"/>
              </a:rPr>
              <a:t>EVERY 14 DAYS, PER SCALE</a:t>
            </a:r>
          </a:p>
        </p:txBody>
      </p:sp>
      <p:sp>
        <p:nvSpPr>
          <p:cNvPr id="7" name="TextBox 6"/>
          <p:cNvSpPr txBox="1"/>
          <p:nvPr/>
        </p:nvSpPr>
        <p:spPr>
          <a:xfrm>
            <a:off x="841247" y="1728216"/>
            <a:ext cx="4572000" cy="731520"/>
          </a:xfrm>
          <a:prstGeom prst="rect">
            <a:avLst/>
          </a:prstGeom>
          <a:noFill/>
        </p:spPr>
        <p:txBody>
          <a:bodyPr wrap="square" lIns="0" rIns="0" tIns="0" bIns="0" anchor="t">
            <a:spAutoFit/>
          </a:bodyPr>
          <a:lstStyle/>
          <a:p>
            <a:pPr algn="l">
              <a:lnSpc>
                <a:spcPct val="112000"/>
              </a:lnSpc>
            </a:pPr>
            <a:r>
              <a:rPr sz="1250" b="0" i="0">
                <a:solidFill>
                  <a:srgbClr val="C9CBE0"/>
                </a:solidFill>
                <a:latin typeface="Arial"/>
              </a:rPr>
              <a:t>Count E = empty wake-ups, P = picks caught, M = misses found later</a:t>
            </a:r>
          </a:p>
        </p:txBody>
      </p:sp>
      <p:sp>
        <p:nvSpPr>
          <p:cNvPr id="8" name="TextBox 7"/>
          <p:cNvSpPr txBox="1"/>
          <p:nvPr/>
        </p:nvSpPr>
        <p:spPr>
          <a:xfrm>
            <a:off x="841247" y="2322576"/>
            <a:ext cx="4572000" cy="365760"/>
          </a:xfrm>
          <a:prstGeom prst="rect">
            <a:avLst/>
          </a:prstGeom>
          <a:noFill/>
        </p:spPr>
        <p:txBody>
          <a:bodyPr wrap="square" lIns="0" rIns="0" tIns="0" bIns="0" anchor="t">
            <a:spAutoFit/>
          </a:bodyPr>
          <a:lstStyle/>
          <a:p>
            <a:pPr algn="l">
              <a:lnSpc>
                <a:spcPct val="112000"/>
              </a:lnSpc>
            </a:pPr>
            <a:r>
              <a:rPr sz="1700" b="1" i="0">
                <a:solidFill>
                  <a:srgbClr val="FFFFFF"/>
                </a:solidFill>
                <a:latin typeface="Arial"/>
              </a:rPr>
              <a:t>m = M ÷ (P + M)</a:t>
            </a:r>
          </a:p>
        </p:txBody>
      </p:sp>
      <p:sp>
        <p:nvSpPr>
          <p:cNvPr id="9" name="TextBox 8"/>
          <p:cNvSpPr txBox="1"/>
          <p:nvPr/>
        </p:nvSpPr>
        <p:spPr>
          <a:xfrm>
            <a:off x="841247" y="2871216"/>
            <a:ext cx="914400" cy="274320"/>
          </a:xfrm>
          <a:prstGeom prst="rect">
            <a:avLst/>
          </a:prstGeom>
          <a:noFill/>
        </p:spPr>
        <p:txBody>
          <a:bodyPr wrap="square" lIns="0" rIns="0" tIns="0" bIns="0" anchor="t">
            <a:spAutoFit/>
          </a:bodyPr>
          <a:lstStyle/>
          <a:p>
            <a:pPr algn="l">
              <a:lnSpc>
                <a:spcPct val="112000"/>
              </a:lnSpc>
            </a:pPr>
            <a:r>
              <a:rPr sz="1400" b="1" i="0">
                <a:solidFill>
                  <a:srgbClr val="E8A317"/>
                </a:solidFill>
                <a:latin typeface="Arial"/>
              </a:rPr>
              <a:t>UP</a:t>
            </a:r>
          </a:p>
        </p:txBody>
      </p:sp>
      <p:sp>
        <p:nvSpPr>
          <p:cNvPr id="10" name="TextBox 9"/>
          <p:cNvSpPr txBox="1"/>
          <p:nvPr/>
        </p:nvSpPr>
        <p:spPr>
          <a:xfrm>
            <a:off x="1755648" y="2871216"/>
            <a:ext cx="3657600" cy="274320"/>
          </a:xfrm>
          <a:prstGeom prst="rect">
            <a:avLst/>
          </a:prstGeom>
          <a:noFill/>
        </p:spPr>
        <p:txBody>
          <a:bodyPr wrap="square" lIns="0" rIns="0" tIns="0" bIns="0" anchor="t">
            <a:spAutoFit/>
          </a:bodyPr>
          <a:lstStyle/>
          <a:p>
            <a:pPr algn="l">
              <a:lnSpc>
                <a:spcPct val="112000"/>
              </a:lnSpc>
            </a:pPr>
            <a:r>
              <a:rPr sz="1250" b="0" i="0">
                <a:solidFill>
                  <a:srgbClr val="FFFFFF"/>
                </a:solidFill>
                <a:latin typeface="Arial"/>
              </a:rPr>
              <a:t>one level more sensitive · </a:t>
            </a:r>
            <a:r>
              <a:rPr sz="1250" b="1" i="0">
                <a:solidFill>
                  <a:srgbClr val="FFFFFF"/>
                </a:solidFill>
                <a:latin typeface="Arial"/>
              </a:rPr>
              <a:t>if m &gt; 10% or M &gt; 4</a:t>
            </a:r>
          </a:p>
        </p:txBody>
      </p:sp>
      <p:sp>
        <p:nvSpPr>
          <p:cNvPr id="11" name="TextBox 10"/>
          <p:cNvSpPr txBox="1"/>
          <p:nvPr/>
        </p:nvSpPr>
        <p:spPr>
          <a:xfrm>
            <a:off x="841247" y="3282696"/>
            <a:ext cx="914400" cy="274320"/>
          </a:xfrm>
          <a:prstGeom prst="rect">
            <a:avLst/>
          </a:prstGeom>
          <a:noFill/>
        </p:spPr>
        <p:txBody>
          <a:bodyPr wrap="square" lIns="0" rIns="0" tIns="0" bIns="0" anchor="t">
            <a:spAutoFit/>
          </a:bodyPr>
          <a:lstStyle/>
          <a:p>
            <a:pPr algn="l">
              <a:lnSpc>
                <a:spcPct val="112000"/>
              </a:lnSpc>
            </a:pPr>
            <a:r>
              <a:rPr sz="1400" b="1" i="0">
                <a:solidFill>
                  <a:srgbClr val="00FFB9"/>
                </a:solidFill>
                <a:latin typeface="Arial"/>
              </a:rPr>
              <a:t>DOWN</a:t>
            </a:r>
          </a:p>
        </p:txBody>
      </p:sp>
      <p:sp>
        <p:nvSpPr>
          <p:cNvPr id="12" name="TextBox 11"/>
          <p:cNvSpPr txBox="1"/>
          <p:nvPr/>
        </p:nvSpPr>
        <p:spPr>
          <a:xfrm>
            <a:off x="1755648" y="3282696"/>
            <a:ext cx="3657600" cy="274320"/>
          </a:xfrm>
          <a:prstGeom prst="rect">
            <a:avLst/>
          </a:prstGeom>
          <a:noFill/>
        </p:spPr>
        <p:txBody>
          <a:bodyPr wrap="square" lIns="0" rIns="0" tIns="0" bIns="0" anchor="t">
            <a:spAutoFit/>
          </a:bodyPr>
          <a:lstStyle/>
          <a:p>
            <a:pPr algn="l">
              <a:lnSpc>
                <a:spcPct val="112000"/>
              </a:lnSpc>
            </a:pPr>
            <a:r>
              <a:rPr sz="1250" b="0" i="0">
                <a:solidFill>
                  <a:srgbClr val="FFFFFF"/>
                </a:solidFill>
                <a:latin typeface="Arial"/>
              </a:rPr>
              <a:t>one level less sensitive · </a:t>
            </a:r>
            <a:r>
              <a:rPr sz="1250" b="1" i="0">
                <a:solidFill>
                  <a:srgbClr val="FFFFFF"/>
                </a:solidFill>
                <a:latin typeface="Arial"/>
              </a:rPr>
              <a:t>if E &gt; 14 and m ≤ 5%</a:t>
            </a:r>
          </a:p>
        </p:txBody>
      </p:sp>
      <p:sp>
        <p:nvSpPr>
          <p:cNvPr id="13" name="TextBox 12"/>
          <p:cNvSpPr txBox="1"/>
          <p:nvPr/>
        </p:nvSpPr>
        <p:spPr>
          <a:xfrm>
            <a:off x="841247" y="3694176"/>
            <a:ext cx="914400" cy="274320"/>
          </a:xfrm>
          <a:prstGeom prst="rect">
            <a:avLst/>
          </a:prstGeom>
          <a:noFill/>
        </p:spPr>
        <p:txBody>
          <a:bodyPr wrap="square" lIns="0" rIns="0" tIns="0" bIns="0" anchor="t">
            <a:spAutoFit/>
          </a:bodyPr>
          <a:lstStyle/>
          <a:p>
            <a:pPr algn="l">
              <a:lnSpc>
                <a:spcPct val="112000"/>
              </a:lnSpc>
            </a:pPr>
            <a:r>
              <a:rPr sz="1400" b="1" i="0">
                <a:solidFill>
                  <a:srgbClr val="C9CBE0"/>
                </a:solidFill>
                <a:latin typeface="Arial"/>
              </a:rPr>
              <a:t>HOLD</a:t>
            </a:r>
          </a:p>
        </p:txBody>
      </p:sp>
      <p:sp>
        <p:nvSpPr>
          <p:cNvPr id="14" name="TextBox 13"/>
          <p:cNvSpPr txBox="1"/>
          <p:nvPr/>
        </p:nvSpPr>
        <p:spPr>
          <a:xfrm>
            <a:off x="1755648" y="3694176"/>
            <a:ext cx="3657600" cy="274320"/>
          </a:xfrm>
          <a:prstGeom prst="rect">
            <a:avLst/>
          </a:prstGeom>
          <a:noFill/>
        </p:spPr>
        <p:txBody>
          <a:bodyPr wrap="square" lIns="0" rIns="0" tIns="0" bIns="0" anchor="t">
            <a:spAutoFit/>
          </a:bodyPr>
          <a:lstStyle/>
          <a:p>
            <a:pPr algn="l">
              <a:lnSpc>
                <a:spcPct val="112000"/>
              </a:lnSpc>
            </a:pPr>
            <a:r>
              <a:rPr sz="1250" b="0" i="0">
                <a:solidFill>
                  <a:srgbClr val="FFFFFF"/>
                </a:solidFill>
                <a:latin typeface="Arial"/>
              </a:rPr>
              <a:t>stay · </a:t>
            </a:r>
            <a:r>
              <a:rPr sz="1250" b="1" i="0">
                <a:solidFill>
                  <a:srgbClr val="FFFFFF"/>
                </a:solidFill>
                <a:latin typeface="Arial"/>
              </a:rPr>
              <a:t>otherwise</a:t>
            </a:r>
          </a:p>
        </p:txBody>
      </p:sp>
      <p:sp>
        <p:nvSpPr>
          <p:cNvPr id="15" name="TextBox 14"/>
          <p:cNvSpPr txBox="1"/>
          <p:nvPr/>
        </p:nvSpPr>
        <p:spPr>
          <a:xfrm>
            <a:off x="841247" y="4215384"/>
            <a:ext cx="4572000" cy="457200"/>
          </a:xfrm>
          <a:prstGeom prst="rect">
            <a:avLst/>
          </a:prstGeom>
          <a:noFill/>
        </p:spPr>
        <p:txBody>
          <a:bodyPr wrap="square" lIns="0" rIns="0" tIns="0" bIns="0" anchor="t">
            <a:spAutoFit/>
          </a:bodyPr>
          <a:lstStyle/>
          <a:p>
            <a:pPr algn="l">
              <a:lnSpc>
                <a:spcPct val="110000"/>
              </a:lnSpc>
            </a:pPr>
            <a:r>
              <a:rPr sz="1100" b="0" i="0">
                <a:solidFill>
                  <a:srgbClr val="C9CBE0"/>
                </a:solidFill>
                <a:latin typeface="Arial"/>
              </a:rPr>
              <a:t>Start on 7 · range 1–8 · level 3 blocked · thresholds = KPI 2.0 (&gt; 7 a week, &gt; 2 misses a week)</a:t>
            </a:r>
          </a:p>
        </p:txBody>
      </p:sp>
      <p:sp>
        <p:nvSpPr>
          <p:cNvPr id="16" name="TextBox 15"/>
          <p:cNvSpPr txBox="1"/>
          <p:nvPr/>
        </p:nvSpPr>
        <p:spPr>
          <a:xfrm>
            <a:off x="5989320" y="1207008"/>
            <a:ext cx="5486400" cy="274320"/>
          </a:xfrm>
          <a:prstGeom prst="rect">
            <a:avLst/>
          </a:prstGeom>
          <a:noFill/>
        </p:spPr>
        <p:txBody>
          <a:bodyPr wrap="square" lIns="0" rIns="0" tIns="0" bIns="0" anchor="t">
            <a:spAutoFit/>
          </a:bodyPr>
          <a:lstStyle/>
          <a:p>
            <a:pPr algn="l">
              <a:lnSpc>
                <a:spcPct val="112000"/>
              </a:lnSpc>
            </a:pPr>
            <a:r>
              <a:rPr sz="1050" b="1" i="0" spc="120">
                <a:solidFill>
                  <a:srgbClr val="009999"/>
                </a:solidFill>
                <a:latin typeface="Arial"/>
              </a:rPr>
              <a:t>WORKED EXAMPLE · A BUSY 20 KG BIN</a:t>
            </a:r>
          </a:p>
        </p:txBody>
      </p:sp>
      <p:graphicFrame>
        <p:nvGraphicFramePr>
          <p:cNvPr id="17" name="Table 16"/>
          <p:cNvGraphicFramePr>
            <a:graphicFrameLocks noGrp="1"/>
          </p:cNvGraphicFramePr>
          <p:nvPr/>
        </p:nvGraphicFramePr>
        <p:xfrm>
          <a:off x="5989320" y="1545336"/>
          <a:ext cx="5635443" cy="1920240"/>
        </p:xfrm>
        <a:graphic>
          <a:graphicData uri="http://schemas.openxmlformats.org/drawingml/2006/table">
            <a:tbl>
              <a:tblPr firstRow="0" bandRow="0"/>
              <a:tblGrid>
                <a:gridCol w="810855"/>
                <a:gridCol w="608141"/>
                <a:gridCol w="486513"/>
                <a:gridCol w="486513"/>
                <a:gridCol w="486513"/>
                <a:gridCol w="648684"/>
                <a:gridCol w="2108224"/>
              </a:tblGrid>
              <a:tr h="384048">
                <a:tc>
                  <a:txBody>
                    <a:bodyPr wrap="square"/>
                    <a:lstStyle/>
                    <a:p>
                      <a:pPr algn="ctr"/>
                      <a:r>
                        <a:rPr sz="1200" b="1">
                          <a:solidFill>
                            <a:srgbClr val="FFFFFF"/>
                          </a:solidFill>
                          <a:latin typeface="Arial"/>
                        </a:rPr>
                        <a:t>Weeks</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ctr"/>
                      <a:r>
                        <a:rPr sz="1200" b="1">
                          <a:solidFill>
                            <a:srgbClr val="FFFFFF"/>
                          </a:solidFill>
                          <a:latin typeface="Arial"/>
                        </a:rPr>
                        <a:t>Level</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E</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P</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M</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00" b="1">
                          <a:solidFill>
                            <a:srgbClr val="FFFFFF"/>
                          </a:solidFill>
                          <a:latin typeface="Arial"/>
                        </a:rPr>
                        <a:t>m</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200" b="1">
                          <a:solidFill>
                            <a:srgbClr val="FFFFFF"/>
                          </a:solidFill>
                          <a:latin typeface="Arial"/>
                        </a:rPr>
                        <a:t>Decision</a:t>
                      </a:r>
                    </a:p>
                  </a:txBody>
                  <a:tcPr marL="73152" marR="73152" marT="32004" marB="32004" anchor="ctr">
                    <a:lnL w="0">
                      <a:noFill/>
                    </a:lnL>
                    <a:lnR w="0">
                      <a:noFill/>
                    </a:lnR>
                    <a:lnT w="0">
                      <a:noFill/>
                    </a:lnT>
                    <a:lnB w="9525">
                      <a:solidFill>
                        <a:srgbClr val="D4D4D9"/>
                      </a:solidFill>
                    </a:lnB>
                    <a:solidFill>
                      <a:srgbClr val="000028"/>
                    </a:solidFill>
                  </a:tcPr>
                </a:tc>
              </a:tr>
              <a:tr h="384048">
                <a:tc>
                  <a:txBody>
                    <a:bodyPr wrap="square"/>
                    <a:lstStyle/>
                    <a:p>
                      <a:pPr algn="ctr"/>
                      <a:r>
                        <a:rPr sz="1200" b="0">
                          <a:solidFill>
                            <a:srgbClr val="000028"/>
                          </a:solidFill>
                          <a:latin typeface="Arial"/>
                        </a:rPr>
                        <a:t>1–2</a:t>
                      </a:r>
                    </a:p>
                  </a:txBody>
                  <a:tcPr marL="73152" marR="73152" marT="32004" marB="32004" anchor="ctr">
                    <a:lnL w="0">
                      <a:noFill/>
                    </a:lnL>
                    <a:lnR w="0">
                      <a:noFill/>
                    </a:lnR>
                    <a:lnT w="0">
                      <a:noFill/>
                    </a:lnT>
                    <a:lnB w="9525">
                      <a:solidFill>
                        <a:srgbClr val="D4D4D9"/>
                      </a:solidFill>
                    </a:lnB>
                    <a:noFill/>
                  </a:tcPr>
                </a:tc>
                <a:tc>
                  <a:txBody>
                    <a:bodyPr wrap="square"/>
                    <a:lstStyle/>
                    <a:p>
                      <a:pPr algn="ctr"/>
                      <a:r>
                        <a:rPr sz="1200" b="0">
                          <a:solidFill>
                            <a:srgbClr val="000028"/>
                          </a:solidFill>
                          <a:latin typeface="Arial"/>
                        </a:rPr>
                        <a:t>7</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22</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4</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E &gt; 14, m ≤ 5% → </a:t>
                      </a:r>
                      <a:r>
                        <a:rPr sz="1200" b="1">
                          <a:solidFill>
                            <a:srgbClr val="000028"/>
                          </a:solidFill>
                          <a:latin typeface="Arial"/>
                        </a:rPr>
                        <a:t>down</a:t>
                      </a:r>
                    </a:p>
                  </a:txBody>
                  <a:tcPr marL="73152" marR="73152" marT="32004" marB="32004" anchor="ctr">
                    <a:lnL w="0">
                      <a:noFill/>
                    </a:lnL>
                    <a:lnR w="0">
                      <a:noFill/>
                    </a:lnR>
                    <a:lnT w="0">
                      <a:noFill/>
                    </a:lnT>
                    <a:lnB w="9525">
                      <a:solidFill>
                        <a:srgbClr val="D4D4D9"/>
                      </a:solidFill>
                    </a:lnB>
                    <a:noFill/>
                  </a:tcPr>
                </a:tc>
              </a:tr>
              <a:tr h="384048">
                <a:tc>
                  <a:txBody>
                    <a:bodyPr wrap="square"/>
                    <a:lstStyle/>
                    <a:p>
                      <a:pPr algn="ctr"/>
                      <a:r>
                        <a:rPr sz="1200" b="0">
                          <a:solidFill>
                            <a:srgbClr val="000028"/>
                          </a:solidFill>
                          <a:latin typeface="Arial"/>
                        </a:rPr>
                        <a:t>3–4</a:t>
                      </a:r>
                    </a:p>
                  </a:txBody>
                  <a:tcPr marL="73152" marR="73152" marT="32004" marB="32004" anchor="ctr">
                    <a:lnL w="0">
                      <a:noFill/>
                    </a:lnL>
                    <a:lnR w="0">
                      <a:noFill/>
                    </a:lnR>
                    <a:lnT w="0">
                      <a:noFill/>
                    </a:lnT>
                    <a:lnB w="9525">
                      <a:solidFill>
                        <a:srgbClr val="D4D4D9"/>
                      </a:solidFill>
                    </a:lnB>
                    <a:noFill/>
                  </a:tcPr>
                </a:tc>
                <a:tc>
                  <a:txBody>
                    <a:bodyPr wrap="square"/>
                    <a:lstStyle/>
                    <a:p>
                      <a:pPr algn="ctr"/>
                      <a:r>
                        <a:rPr sz="1200" b="0">
                          <a:solidFill>
                            <a:srgbClr val="000028"/>
                          </a:solidFill>
                          <a:latin typeface="Arial"/>
                        </a:rPr>
                        <a:t>6</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15</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3</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E &gt; 14, m ≤ 5% → </a:t>
                      </a:r>
                      <a:r>
                        <a:rPr sz="1200" b="1">
                          <a:solidFill>
                            <a:srgbClr val="000028"/>
                          </a:solidFill>
                          <a:latin typeface="Arial"/>
                        </a:rPr>
                        <a:t>down</a:t>
                      </a:r>
                    </a:p>
                  </a:txBody>
                  <a:tcPr marL="73152" marR="73152" marT="32004" marB="32004" anchor="ctr">
                    <a:lnL w="0">
                      <a:noFill/>
                    </a:lnL>
                    <a:lnR w="0">
                      <a:noFill/>
                    </a:lnR>
                    <a:lnT w="0">
                      <a:noFill/>
                    </a:lnT>
                    <a:lnB w="9525">
                      <a:solidFill>
                        <a:srgbClr val="D4D4D9"/>
                      </a:solidFill>
                    </a:lnB>
                    <a:noFill/>
                  </a:tcPr>
                </a:tc>
              </a:tr>
              <a:tr h="384048">
                <a:tc>
                  <a:txBody>
                    <a:bodyPr wrap="square"/>
                    <a:lstStyle/>
                    <a:p>
                      <a:pPr algn="ctr"/>
                      <a:r>
                        <a:rPr sz="1200" b="0">
                          <a:solidFill>
                            <a:srgbClr val="000028"/>
                          </a:solidFill>
                          <a:latin typeface="Arial"/>
                        </a:rPr>
                        <a:t>5–6</a:t>
                      </a:r>
                    </a:p>
                  </a:txBody>
                  <a:tcPr marL="73152" marR="73152" marT="32004" marB="32004" anchor="ctr">
                    <a:lnL w="0">
                      <a:noFill/>
                    </a:lnL>
                    <a:lnR w="0">
                      <a:noFill/>
                    </a:lnR>
                    <a:lnT w="0">
                      <a:noFill/>
                    </a:lnT>
                    <a:lnB w="9525">
                      <a:solidFill>
                        <a:srgbClr val="D4D4D9"/>
                      </a:solidFill>
                    </a:lnB>
                    <a:noFill/>
                  </a:tcPr>
                </a:tc>
                <a:tc>
                  <a:txBody>
                    <a:bodyPr wrap="square"/>
                    <a:lstStyle/>
                    <a:p>
                      <a:pPr algn="ctr"/>
                      <a:r>
                        <a:rPr sz="1200" b="0">
                          <a:solidFill>
                            <a:srgbClr val="000028"/>
                          </a:solidFill>
                          <a:latin typeface="Arial"/>
                        </a:rPr>
                        <a:t>5</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6</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2</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1</a:t>
                      </a:r>
                    </a:p>
                  </a:txBody>
                  <a:tcPr marL="73152" marR="73152" marT="32004" marB="32004" anchor="ctr">
                    <a:lnL w="0">
                      <a:noFill/>
                    </a:lnL>
                    <a:lnR w="0">
                      <a:noFill/>
                    </a:lnR>
                    <a:lnT w="0">
                      <a:noFill/>
                    </a:lnT>
                    <a:lnB w="9525">
                      <a:solidFill>
                        <a:srgbClr val="D4D4D9"/>
                      </a:solidFill>
                    </a:lnB>
                    <a:noFill/>
                  </a:tcPr>
                </a:tc>
                <a:tc>
                  <a:txBody>
                    <a:bodyPr wrap="square"/>
                    <a:lstStyle/>
                    <a:p>
                      <a:pPr algn="r"/>
                      <a:r>
                        <a:rPr sz="1200" b="0">
                          <a:solidFill>
                            <a:srgbClr val="000028"/>
                          </a:solidFill>
                          <a:latin typeface="Arial"/>
                        </a:rPr>
                        <a:t>33%</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m &gt; 10% → </a:t>
                      </a:r>
                      <a:r>
                        <a:rPr sz="1200" b="1">
                          <a:solidFill>
                            <a:srgbClr val="000028"/>
                          </a:solidFill>
                          <a:latin typeface="Arial"/>
                        </a:rPr>
                        <a:t>up</a:t>
                      </a:r>
                    </a:p>
                  </a:txBody>
                  <a:tcPr marL="73152" marR="73152" marT="32004" marB="32004" anchor="ctr">
                    <a:lnL w="0">
                      <a:noFill/>
                    </a:lnL>
                    <a:lnR w="0">
                      <a:noFill/>
                    </a:lnR>
                    <a:lnT w="0">
                      <a:noFill/>
                    </a:lnT>
                    <a:lnB w="9525">
                      <a:solidFill>
                        <a:srgbClr val="D4D4D9"/>
                      </a:solidFill>
                    </a:lnB>
                    <a:noFill/>
                  </a:tcPr>
                </a:tc>
              </a:tr>
              <a:tr h="384048">
                <a:tc>
                  <a:txBody>
                    <a:bodyPr wrap="square"/>
                    <a:lstStyle/>
                    <a:p>
                      <a:pPr algn="ctr"/>
                      <a:r>
                        <a:rPr sz="1200" b="0">
                          <a:solidFill>
                            <a:srgbClr val="000028"/>
                          </a:solidFill>
                          <a:latin typeface="Arial"/>
                        </a:rPr>
                        <a:t>7–8</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ctr"/>
                      <a:r>
                        <a:rPr sz="1200" b="0">
                          <a:solidFill>
                            <a:srgbClr val="000028"/>
                          </a:solidFill>
                          <a:latin typeface="Arial"/>
                        </a:rPr>
                        <a:t>6</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00" b="0">
                          <a:solidFill>
                            <a:srgbClr val="000028"/>
                          </a:solidFill>
                          <a:latin typeface="Arial"/>
                        </a:rPr>
                        <a:t>12</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00" b="0">
                          <a:solidFill>
                            <a:srgbClr val="000028"/>
                          </a:solidFill>
                          <a:latin typeface="Arial"/>
                        </a:rPr>
                        <a:t>3</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00" b="0">
                          <a:solidFill>
                            <a:srgbClr val="000028"/>
                          </a:solidFill>
                          <a:latin typeface="Arial"/>
                        </a:rPr>
                        <a:t>0%</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l"/>
                      <a:r>
                        <a:rPr sz="1200" b="0">
                          <a:solidFill>
                            <a:srgbClr val="000028"/>
                          </a:solidFill>
                          <a:latin typeface="Arial"/>
                        </a:rPr>
                        <a:t>E ≤ 14 → </a:t>
                      </a:r>
                      <a:r>
                        <a:rPr sz="1200" b="1">
                          <a:solidFill>
                            <a:srgbClr val="000028"/>
                          </a:solidFill>
                          <a:latin typeface="Arial"/>
                        </a:rPr>
                        <a:t>hold</a:t>
                      </a:r>
                    </a:p>
                  </a:txBody>
                  <a:tcPr marL="73152" marR="73152" marT="32004" marB="32004" anchor="ctr">
                    <a:lnL w="0">
                      <a:noFill/>
                    </a:lnL>
                    <a:lnR w="0">
                      <a:noFill/>
                    </a:lnR>
                    <a:lnT w="0">
                      <a:noFill/>
                    </a:lnT>
                    <a:lnB w="9525">
                      <a:solidFill>
                        <a:srgbClr val="D4D4D9"/>
                      </a:solidFill>
                    </a:lnB>
                    <a:solidFill>
                      <a:srgbClr val="E3F4F4"/>
                    </a:solidFill>
                  </a:tcPr>
                </a:tc>
              </a:tr>
            </a:tbl>
          </a:graphicData>
        </a:graphic>
      </p:graphicFrame>
      <p:sp>
        <p:nvSpPr>
          <p:cNvPr id="18" name="TextBox 17"/>
          <p:cNvSpPr txBox="1"/>
          <p:nvPr/>
        </p:nvSpPr>
        <p:spPr>
          <a:xfrm>
            <a:off x="5989320" y="3602736"/>
            <a:ext cx="5635447" cy="118872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The bin settles on level 6 with about two thirds fewer empty wake-ups than on 8 (46 per two weeks). Counts are illustrative, scaled with the measured effects of the knob.</a:t>
            </a:r>
          </a:p>
        </p:txBody>
      </p:sp>
      <p:sp>
        <p:nvSpPr>
          <p:cNvPr id="19" name="Rectangle 18"/>
          <p:cNvSpPr/>
          <p:nvPr/>
        </p:nvSpPr>
        <p:spPr>
          <a:xfrm>
            <a:off x="566928" y="5257800"/>
            <a:ext cx="11055096" cy="868680"/>
          </a:xfrm>
          <a:prstGeom prst="rect">
            <a:avLst/>
          </a:prstGeom>
          <a:solidFill>
            <a:srgbClr val="000028"/>
          </a:solidFill>
          <a:ln>
            <a:noFill/>
          </a:ln>
        </p:spPr>
        <p:txBody>
          <a:bodyPr rtlCol="0" anchor="ctr"/>
          <a:lstStyle/>
          <a:p>
            <a:pPr algn="ctr"/>
          </a:p>
        </p:txBody>
      </p:sp>
      <p:sp>
        <p:nvSpPr>
          <p:cNvPr id="20" name="TextBox 19"/>
          <p:cNvSpPr txBox="1"/>
          <p:nvPr/>
        </p:nvSpPr>
        <p:spPr>
          <a:xfrm>
            <a:off x="795528" y="5257800"/>
            <a:ext cx="10643616" cy="868680"/>
          </a:xfrm>
          <a:prstGeom prst="rect">
            <a:avLst/>
          </a:prstGeom>
          <a:noFill/>
        </p:spPr>
        <p:txBody>
          <a:bodyPr wrap="square" lIns="0" rIns="0" tIns="0" bIns="0" anchor="ctr">
            <a:spAutoFit/>
          </a:bodyPr>
          <a:lstStyle/>
          <a:p>
            <a:pPr algn="l">
              <a:lnSpc>
                <a:spcPct val="112000"/>
              </a:lnSpc>
            </a:pPr>
            <a:r>
              <a:rPr sz="1250" b="1" i="0">
                <a:solidFill>
                  <a:srgbClr val="00FFB9"/>
                </a:solidFill>
                <a:latin typeface="Arial"/>
              </a:rPr>
              <a:t>Why this rule:</a:t>
            </a:r>
            <a:r>
              <a:rPr sz="1250" b="0" i="0">
                <a:solidFill>
                  <a:srgbClr val="FFFFFF"/>
                </a:solidFill>
                <a:latin typeface="Arial"/>
              </a:rPr>
              <a:t> it uses only counts the cloud already has, changes a scale about once a month, and every decision can be audited. </a:t>
            </a:r>
            <a:r>
              <a:rPr sz="1250" b="1" i="0">
                <a:solidFill>
                  <a:srgbClr val="00FFB9"/>
                </a:solidFill>
                <a:latin typeface="Arial"/>
              </a:rPr>
              <a:t>Trade-off:</a:t>
            </a:r>
            <a:r>
              <a:rPr sz="1250" b="0" i="0">
                <a:solidFill>
                  <a:srgbClr val="FFFFFF"/>
                </a:solidFill>
                <a:latin typeface="Arial"/>
              </a:rPr>
              <a:t> the typical scale ends at 11–12% missed (limit 10%) because the rule keeps probing – the pilot tunes the 5% step-down threshold.</a:t>
            </a:r>
          </a:p>
        </p:txBody>
      </p:sp>
      <p:sp>
        <p:nvSpPr>
          <p:cNvPr id="21" name="TextBox 20"/>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rule P7 simulated over 8 two-week cycles, 5 replications · Report §6.2–6.4</a:t>
            </a:r>
          </a:p>
        </p:txBody>
      </p:sp>
      <p:sp>
        <p:nvSpPr>
          <p:cNvPr id="22" name="TextBox 21"/>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STEP 3 · WATCH</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KPI 2.0 and the existing 24-hour check keep every miss visible</a:t>
            </a:r>
          </a:p>
        </p:txBody>
      </p:sp>
      <p:sp>
        <p:nvSpPr>
          <p:cNvPr id="5" name="Rectangle 4"/>
          <p:cNvSpPr/>
          <p:nvPr/>
        </p:nvSpPr>
        <p:spPr>
          <a:xfrm>
            <a:off x="566928" y="1271016"/>
            <a:ext cx="5120640" cy="4023360"/>
          </a:xfrm>
          <a:prstGeom prst="rect">
            <a:avLst/>
          </a:prstGeom>
          <a:solidFill>
            <a:srgbClr val="F3F3F0"/>
          </a:solidFill>
          <a:ln>
            <a:noFill/>
          </a:ln>
        </p:spPr>
        <p:txBody>
          <a:bodyPr rtlCol="0" anchor="ctr"/>
          <a:lstStyle/>
          <a:p>
            <a:pPr algn="ctr"/>
          </a:p>
        </p:txBody>
      </p:sp>
      <p:sp>
        <p:nvSpPr>
          <p:cNvPr id="6" name="Rectangle 5"/>
          <p:cNvSpPr/>
          <p:nvPr/>
        </p:nvSpPr>
        <p:spPr>
          <a:xfrm>
            <a:off x="566928" y="1271016"/>
            <a:ext cx="54864" cy="4023360"/>
          </a:xfrm>
          <a:prstGeom prst="rect">
            <a:avLst/>
          </a:prstGeom>
          <a:solidFill>
            <a:srgbClr val="009999"/>
          </a:solidFill>
          <a:ln>
            <a:noFill/>
          </a:ln>
        </p:spPr>
        <p:txBody>
          <a:bodyPr rtlCol="0" anchor="ctr"/>
          <a:lstStyle/>
          <a:p>
            <a:pPr algn="ctr"/>
          </a:p>
        </p:txBody>
      </p:sp>
      <p:sp>
        <p:nvSpPr>
          <p:cNvPr id="7" name="TextBox 6"/>
          <p:cNvSpPr txBox="1"/>
          <p:nvPr/>
        </p:nvSpPr>
        <p:spPr>
          <a:xfrm>
            <a:off x="804672" y="1453896"/>
            <a:ext cx="4700016" cy="274320"/>
          </a:xfrm>
          <a:prstGeom prst="rect">
            <a:avLst/>
          </a:prstGeom>
          <a:noFill/>
        </p:spPr>
        <p:txBody>
          <a:bodyPr wrap="square" lIns="0" rIns="0" tIns="0" bIns="0" anchor="t">
            <a:spAutoFit/>
          </a:bodyPr>
          <a:lstStyle/>
          <a:p>
            <a:pPr algn="l">
              <a:lnSpc>
                <a:spcPct val="100000"/>
              </a:lnSpc>
            </a:pPr>
            <a:r>
              <a:rPr sz="1500" b="1" i="0">
                <a:solidFill>
                  <a:srgbClr val="000028"/>
                </a:solidFill>
                <a:latin typeface="Arial"/>
              </a:rPr>
              <a:t>What happens when the sensor misses a pick?</a:t>
            </a:r>
          </a:p>
        </p:txBody>
      </p:sp>
      <p:sp>
        <p:nvSpPr>
          <p:cNvPr id="8" name="TextBox 7"/>
          <p:cNvSpPr txBox="1"/>
          <p:nvPr/>
        </p:nvSpPr>
        <p:spPr>
          <a:xfrm>
            <a:off x="804672" y="1740789"/>
            <a:ext cx="4700016" cy="3553587"/>
          </a:xfrm>
          <a:prstGeom prst="rect">
            <a:avLst/>
          </a:prstGeom>
          <a:noFill/>
        </p:spPr>
        <p:txBody>
          <a:bodyPr wrap="square" lIns="0" rIns="0" tIns="0" bIns="0" anchor="t">
            <a:spAutoFit/>
          </a:bodyPr>
          <a:lstStyle/>
          <a:p>
            <a:pPr algn="l" marL="182880" indent="-182880">
              <a:lnSpc>
                <a:spcPct val="113000"/>
              </a:lnSpc>
              <a:spcAft>
                <a:spcPts val="700"/>
              </a:spcAft>
              <a:buClr>
                <a:srgbClr val="009999"/>
              </a:buClr>
              <a:buFont typeface="Arial"/>
              <a:buChar char="•"/>
            </a:pPr>
            <a:r>
              <a:rPr sz="1250" b="1" i="0">
                <a:solidFill>
                  <a:srgbClr val="45465E"/>
                </a:solidFill>
                <a:latin typeface="Arial"/>
              </a:rPr>
              <a:t>The next weighing finds it</a:t>
            </a:r>
            <a:r>
              <a:rPr sz="1250" b="0" i="0">
                <a:solidFill>
                  <a:srgbClr val="45465E"/>
                </a:solidFill>
                <a:latin typeface="Arial"/>
              </a:rPr>
              <a:t> – a later wake-up or the 24-hour idle check, which finds 91% of all detected misses.</a:t>
            </a:r>
          </a:p>
          <a:p>
            <a:pPr algn="l" marL="182880" indent="-182880">
              <a:lnSpc>
                <a:spcPct val="113000"/>
              </a:lnSpc>
              <a:spcAft>
                <a:spcPts val="700"/>
              </a:spcAft>
              <a:buClr>
                <a:srgbClr val="009999"/>
              </a:buClr>
              <a:buFont typeface="Arial"/>
              <a:buChar char="•"/>
            </a:pPr>
            <a:r>
              <a:rPr sz="1250" b="1" i="0">
                <a:solidFill>
                  <a:srgbClr val="45465E"/>
                </a:solidFill>
                <a:latin typeface="Arial"/>
              </a:rPr>
              <a:t>Found after a median of 33 h (20 kg) / 38 h (6 kg);</a:t>
            </a:r>
            <a:r>
              <a:rPr sz="1250" b="0" i="0">
                <a:solidFill>
                  <a:srgbClr val="45465E"/>
                </a:solidFill>
                <a:latin typeface="Arial"/>
              </a:rPr>
              <a:t> 83% / 76% within 48 h.</a:t>
            </a:r>
          </a:p>
          <a:p>
            <a:pPr algn="l" marL="182880" indent="-182880">
              <a:lnSpc>
                <a:spcPct val="113000"/>
              </a:lnSpc>
              <a:spcAft>
                <a:spcPts val="700"/>
              </a:spcAft>
              <a:buClr>
                <a:srgbClr val="009999"/>
              </a:buClr>
              <a:buFont typeface="Arial"/>
              <a:buChar char="•"/>
            </a:pPr>
            <a:r>
              <a:rPr sz="1250" b="1" i="0">
                <a:solidFill>
                  <a:srgbClr val="45465E"/>
                </a:solidFill>
                <a:latin typeface="Arial"/>
              </a:rPr>
              <a:t>1% take 6–7 days</a:t>
            </a:r>
            <a:r>
              <a:rPr sz="1250" b="0" i="0">
                <a:solidFill>
                  <a:srgbClr val="45465E"/>
                </a:solidFill>
                <a:latin typeface="Arial"/>
              </a:rPr>
              <a:t> – already today. Alarm when a scale has had no weighing for 48 h.</a:t>
            </a:r>
          </a:p>
          <a:p>
            <a:pPr algn="l" marL="182880" indent="-182880">
              <a:lnSpc>
                <a:spcPct val="113000"/>
              </a:lnSpc>
              <a:spcAft>
                <a:spcPts val="700"/>
              </a:spcAft>
              <a:buClr>
                <a:srgbClr val="009999"/>
              </a:buClr>
              <a:buFont typeface="Arial"/>
              <a:buChar char="•"/>
            </a:pPr>
            <a:r>
              <a:rPr sz="1250" b="0" i="0">
                <a:solidFill>
                  <a:srgbClr val="45465E"/>
                </a:solidFill>
                <a:latin typeface="Arial"/>
              </a:rPr>
              <a:t>A one-day delay matters only if that pick crossed the reorder point and the rest lasts less than a day.</a:t>
            </a:r>
          </a:p>
        </p:txBody>
      </p:sp>
      <p:sp>
        <p:nvSpPr>
          <p:cNvPr id="9" name="TextBox 8"/>
          <p:cNvSpPr txBox="1"/>
          <p:nvPr/>
        </p:nvSpPr>
        <p:spPr>
          <a:xfrm>
            <a:off x="5943600" y="1225296"/>
            <a:ext cx="5669280" cy="453390"/>
          </a:xfrm>
          <a:prstGeom prst="rect">
            <a:avLst/>
          </a:prstGeom>
          <a:noFill/>
        </p:spPr>
        <p:txBody>
          <a:bodyPr wrap="square" lIns="0" rIns="0" tIns="0" bIns="0" anchor="t">
            <a:spAutoFit/>
          </a:bodyPr>
          <a:lstStyle/>
          <a:p>
            <a:pPr algn="l">
              <a:lnSpc>
                <a:spcPct val="95000"/>
              </a:lnSpc>
            </a:pPr>
            <a:r>
              <a:rPr sz="3400" b="1" i="0">
                <a:solidFill>
                  <a:srgbClr val="009999"/>
                </a:solidFill>
                <a:latin typeface="Arial"/>
              </a:rPr>
              <a:t>10% → 55% / 36%</a:t>
            </a:r>
          </a:p>
        </p:txBody>
      </p:sp>
      <p:sp>
        <p:nvSpPr>
          <p:cNvPr id="10" name="TextBox 9"/>
          <p:cNvSpPr txBox="1"/>
          <p:nvPr/>
        </p:nvSpPr>
        <p:spPr>
          <a:xfrm>
            <a:off x="5943600" y="1706118"/>
            <a:ext cx="566928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the 10% of scales with the most misses produce this share of all misses (20 kg / 6 kg) → they go on a watch list: 12-hour check or one level higher</a:t>
            </a:r>
          </a:p>
        </p:txBody>
      </p:sp>
      <p:sp>
        <p:nvSpPr>
          <p:cNvPr id="11" name="Rectangle 10"/>
          <p:cNvSpPr/>
          <p:nvPr/>
        </p:nvSpPr>
        <p:spPr>
          <a:xfrm>
            <a:off x="5943600" y="2389060"/>
            <a:ext cx="5681167" cy="1417320"/>
          </a:xfrm>
          <a:prstGeom prst="rect">
            <a:avLst/>
          </a:prstGeom>
          <a:solidFill>
            <a:srgbClr val="F3F3F0"/>
          </a:solidFill>
          <a:ln>
            <a:noFill/>
          </a:ln>
        </p:spPr>
        <p:txBody>
          <a:bodyPr rtlCol="0" anchor="ctr"/>
          <a:lstStyle/>
          <a:p>
            <a:pPr algn="ctr"/>
          </a:p>
        </p:txBody>
      </p:sp>
      <p:sp>
        <p:nvSpPr>
          <p:cNvPr id="12" name="Rectangle 11"/>
          <p:cNvSpPr/>
          <p:nvPr/>
        </p:nvSpPr>
        <p:spPr>
          <a:xfrm>
            <a:off x="5943600" y="2389060"/>
            <a:ext cx="54864" cy="1417320"/>
          </a:xfrm>
          <a:prstGeom prst="rect">
            <a:avLst/>
          </a:prstGeom>
          <a:solidFill>
            <a:srgbClr val="D72339"/>
          </a:solidFill>
          <a:ln>
            <a:noFill/>
          </a:ln>
        </p:spPr>
        <p:txBody>
          <a:bodyPr rtlCol="0" anchor="ctr"/>
          <a:lstStyle/>
          <a:p>
            <a:pPr algn="ctr"/>
          </a:p>
        </p:txBody>
      </p:sp>
      <p:sp>
        <p:nvSpPr>
          <p:cNvPr id="13" name="TextBox 12"/>
          <p:cNvSpPr txBox="1"/>
          <p:nvPr/>
        </p:nvSpPr>
        <p:spPr>
          <a:xfrm>
            <a:off x="6172200" y="2526220"/>
            <a:ext cx="5120640" cy="274320"/>
          </a:xfrm>
          <a:prstGeom prst="rect">
            <a:avLst/>
          </a:prstGeom>
          <a:noFill/>
        </p:spPr>
        <p:txBody>
          <a:bodyPr wrap="square" lIns="0" rIns="0" tIns="0" bIns="0" anchor="t">
            <a:spAutoFit/>
          </a:bodyPr>
          <a:lstStyle/>
          <a:p>
            <a:pPr algn="l">
              <a:lnSpc>
                <a:spcPct val="112000"/>
              </a:lnSpc>
            </a:pPr>
            <a:r>
              <a:rPr sz="1400" b="1" i="0">
                <a:solidFill>
                  <a:srgbClr val="000028"/>
                </a:solidFill>
                <a:latin typeface="Arial"/>
              </a:rPr>
              <a:t>Not recommended: a nightly check for every scale</a:t>
            </a:r>
          </a:p>
        </p:txBody>
      </p:sp>
      <p:sp>
        <p:nvSpPr>
          <p:cNvPr id="14" name="TextBox 13"/>
          <p:cNvSpPr txBox="1"/>
          <p:nvPr/>
        </p:nvSpPr>
        <p:spPr>
          <a:xfrm>
            <a:off x="6172200" y="2891980"/>
            <a:ext cx="5212080" cy="914400"/>
          </a:xfrm>
          <a:prstGeom prst="rect">
            <a:avLst/>
          </a:prstGeom>
          <a:noFill/>
        </p:spPr>
        <p:txBody>
          <a:bodyPr wrap="square" lIns="0" rIns="0" tIns="0" bIns="0" anchor="t">
            <a:spAutoFit/>
          </a:bodyPr>
          <a:lstStyle/>
          <a:p>
            <a:pPr algn="l">
              <a:lnSpc>
                <a:spcPct val="112000"/>
              </a:lnSpc>
            </a:pPr>
            <a:r>
              <a:rPr sz="1250" b="0" i="0">
                <a:solidFill>
                  <a:srgbClr val="45465E"/>
                </a:solidFill>
                <a:latin typeface="Arial"/>
              </a:rPr>
              <a:t>It would add 7 weighings per scale and week – 33–40% of what the rule saves – to find misses that the 24-hour check already finds a day later.</a:t>
            </a:r>
          </a:p>
        </p:txBody>
      </p:sp>
      <p:sp>
        <p:nvSpPr>
          <p:cNvPr id="15" name="TextBox 14"/>
          <p:cNvSpPr txBox="1"/>
          <p:nvPr/>
        </p:nvSpPr>
        <p:spPr>
          <a:xfrm>
            <a:off x="5943600" y="4034980"/>
            <a:ext cx="5681167" cy="548640"/>
          </a:xfrm>
          <a:prstGeom prst="rect">
            <a:avLst/>
          </a:prstGeom>
          <a:noFill/>
        </p:spPr>
        <p:txBody>
          <a:bodyPr wrap="square" lIns="0" rIns="0" tIns="0" bIns="0" anchor="t">
            <a:spAutoFit/>
          </a:bodyPr>
          <a:lstStyle/>
          <a:p>
            <a:pPr algn="l">
              <a:lnSpc>
                <a:spcPct val="112000"/>
              </a:lnSpc>
            </a:pPr>
            <a:r>
              <a:rPr sz="1250" b="1" i="0">
                <a:solidFill>
                  <a:srgbClr val="007B80"/>
                </a:solidFill>
                <a:latin typeface="Arial"/>
              </a:rPr>
              <a:t>Nothing is removed: the existing 24-hour idle check stays as the safety net.</a:t>
            </a:r>
          </a:p>
        </p:txBody>
      </p:sp>
      <p:sp>
        <p:nvSpPr>
          <p:cNvPr id="16" name="TextBox 15"/>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time from the previous weighing to a TOO_FEW · Report §3, §6.4</a:t>
            </a:r>
          </a:p>
        </p:txBody>
      </p:sp>
      <p:sp>
        <p:nvSpPr>
          <p:cNvPr id="17" name="TextBox 16"/>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RESULT</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Half the weighings – while misses stay low and visible</a:t>
            </a:r>
          </a:p>
        </p:txBody>
      </p:sp>
      <p:pic>
        <p:nvPicPr>
          <p:cNvPr id="5" name="Picture 4" descr="k10_policies.png"/>
          <p:cNvPicPr>
            <a:picLocks noChangeAspect="1"/>
          </p:cNvPicPr>
          <p:nvPr/>
        </p:nvPicPr>
        <p:blipFill>
          <a:blip r:embed="rId2"/>
          <a:stretch>
            <a:fillRect/>
          </a:stretch>
        </p:blipFill>
        <p:spPr>
          <a:xfrm>
            <a:off x="475488" y="1271016"/>
            <a:ext cx="6675120" cy="3566160"/>
          </a:xfrm>
          <a:prstGeom prst="rect">
            <a:avLst/>
          </a:prstGeom>
        </p:spPr>
      </p:pic>
      <p:sp>
        <p:nvSpPr>
          <p:cNvPr id="6" name="TextBox 5"/>
          <p:cNvSpPr txBox="1"/>
          <p:nvPr/>
        </p:nvSpPr>
        <p:spPr>
          <a:xfrm>
            <a:off x="7086600" y="1225296"/>
            <a:ext cx="4480560" cy="453390"/>
          </a:xfrm>
          <a:prstGeom prst="rect">
            <a:avLst/>
          </a:prstGeom>
          <a:noFill/>
        </p:spPr>
        <p:txBody>
          <a:bodyPr wrap="square" lIns="0" rIns="0" tIns="0" bIns="0" anchor="t">
            <a:spAutoFit/>
          </a:bodyPr>
          <a:lstStyle/>
          <a:p>
            <a:pPr algn="l">
              <a:lnSpc>
                <a:spcPct val="95000"/>
              </a:lnSpc>
            </a:pPr>
            <a:r>
              <a:rPr sz="3400" b="1" i="0">
                <a:solidFill>
                  <a:srgbClr val="009999"/>
                </a:solidFill>
                <a:latin typeface="Arial"/>
              </a:rPr>
              <a:t>−61% / −55%</a:t>
            </a:r>
          </a:p>
        </p:txBody>
      </p:sp>
      <p:sp>
        <p:nvSpPr>
          <p:cNvPr id="7" name="TextBox 6"/>
          <p:cNvSpPr txBox="1"/>
          <p:nvPr/>
        </p:nvSpPr>
        <p:spPr>
          <a:xfrm>
            <a:off x="7086600" y="1706118"/>
            <a:ext cx="448056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weighings with the rule (20 kg / 6 kg, scales without a loop)</a:t>
            </a:r>
          </a:p>
        </p:txBody>
      </p:sp>
      <p:sp>
        <p:nvSpPr>
          <p:cNvPr id="8" name="TextBox 7"/>
          <p:cNvSpPr txBox="1"/>
          <p:nvPr/>
        </p:nvSpPr>
        <p:spPr>
          <a:xfrm>
            <a:off x="7086600" y="2111597"/>
            <a:ext cx="4480560" cy="453390"/>
          </a:xfrm>
          <a:prstGeom prst="rect">
            <a:avLst/>
          </a:prstGeom>
          <a:noFill/>
        </p:spPr>
        <p:txBody>
          <a:bodyPr wrap="square" lIns="0" rIns="0" tIns="0" bIns="0" anchor="t">
            <a:spAutoFit/>
          </a:bodyPr>
          <a:lstStyle/>
          <a:p>
            <a:pPr algn="l">
              <a:lnSpc>
                <a:spcPct val="95000"/>
              </a:lnSpc>
            </a:pPr>
            <a:r>
              <a:rPr sz="3400" b="1" i="0">
                <a:solidFill>
                  <a:srgbClr val="009999"/>
                </a:solidFill>
                <a:latin typeface="Arial"/>
              </a:rPr>
              <a:t>11% / 12%</a:t>
            </a:r>
          </a:p>
        </p:txBody>
      </p:sp>
      <p:sp>
        <p:nvSpPr>
          <p:cNvPr id="9" name="TextBox 8"/>
          <p:cNvSpPr txBox="1"/>
          <p:nvPr/>
        </p:nvSpPr>
        <p:spPr>
          <a:xfrm>
            <a:off x="7086600" y="2592419"/>
            <a:ext cx="448056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of the changes missed by the typical scale (simulated today: 3% / 5%)</a:t>
            </a:r>
          </a:p>
        </p:txBody>
      </p:sp>
      <p:sp>
        <p:nvSpPr>
          <p:cNvPr id="10" name="TextBox 9"/>
          <p:cNvSpPr txBox="1"/>
          <p:nvPr/>
        </p:nvSpPr>
        <p:spPr>
          <a:xfrm>
            <a:off x="7086600" y="3202209"/>
            <a:ext cx="4480560" cy="453390"/>
          </a:xfrm>
          <a:prstGeom prst="rect">
            <a:avLst/>
          </a:prstGeom>
          <a:noFill/>
        </p:spPr>
        <p:txBody>
          <a:bodyPr wrap="square" lIns="0" rIns="0" tIns="0" bIns="0" anchor="t">
            <a:spAutoFit/>
          </a:bodyPr>
          <a:lstStyle/>
          <a:p>
            <a:pPr algn="l">
              <a:lnSpc>
                <a:spcPct val="95000"/>
              </a:lnSpc>
            </a:pPr>
            <a:r>
              <a:rPr sz="3400" b="1" i="0">
                <a:solidFill>
                  <a:srgbClr val="009999"/>
                </a:solidFill>
                <a:latin typeface="Arial"/>
              </a:rPr>
              <a:t>≈ 2.1 M</a:t>
            </a:r>
          </a:p>
        </p:txBody>
      </p:sp>
      <p:sp>
        <p:nvSpPr>
          <p:cNvPr id="11" name="TextBox 10"/>
          <p:cNvSpPr txBox="1"/>
          <p:nvPr/>
        </p:nvSpPr>
        <p:spPr>
          <a:xfrm>
            <a:off x="7086600" y="3683031"/>
            <a:ext cx="4480560" cy="274320"/>
          </a:xfrm>
          <a:prstGeom prst="rect">
            <a:avLst/>
          </a:prstGeom>
          <a:noFill/>
        </p:spPr>
        <p:txBody>
          <a:bodyPr wrap="square" lIns="0" rIns="0" tIns="0" bIns="0" anchor="t">
            <a:spAutoFit/>
          </a:bodyPr>
          <a:lstStyle/>
          <a:p>
            <a:pPr algn="l">
              <a:lnSpc>
                <a:spcPct val="110000"/>
              </a:lnSpc>
            </a:pPr>
            <a:r>
              <a:rPr sz="1250" b="0" i="0">
                <a:solidFill>
                  <a:srgbClr val="45465E"/>
                </a:solidFill>
                <a:latin typeface="Arial"/>
              </a:rPr>
              <a:t>weighings saved per week across 110,000 installed scales – an illustration, not a forecast</a:t>
            </a:r>
          </a:p>
        </p:txBody>
      </p:sp>
      <p:sp>
        <p:nvSpPr>
          <p:cNvPr id="12" name="TextBox 11"/>
          <p:cNvSpPr txBox="1"/>
          <p:nvPr/>
        </p:nvSpPr>
        <p:spPr>
          <a:xfrm>
            <a:off x="7086600" y="4292822"/>
            <a:ext cx="4480560" cy="731520"/>
          </a:xfrm>
          <a:prstGeom prst="rect">
            <a:avLst/>
          </a:prstGeom>
          <a:noFill/>
        </p:spPr>
        <p:txBody>
          <a:bodyPr wrap="square" lIns="0" rIns="0" tIns="0" bIns="0" anchor="t">
            <a:spAutoFit/>
          </a:bodyPr>
          <a:lstStyle/>
          <a:p>
            <a:pPr algn="l">
              <a:lnSpc>
                <a:spcPct val="112000"/>
              </a:lnSpc>
            </a:pPr>
            <a:r>
              <a:rPr sz="1150" b="0" i="0">
                <a:solidFill>
                  <a:srgbClr val="45465E"/>
                </a:solidFill>
                <a:latin typeface="Arial"/>
              </a:rPr>
              <a:t>Battery life +8% / +5%: sleep power dominates. The big gain is on radio, cloud and ARIMS – and on the looping scales.</a:t>
            </a:r>
          </a:p>
        </p:txBody>
      </p:sp>
      <p:sp>
        <p:nvSpPr>
          <p:cNvPr id="13" name="TextBox 12"/>
          <p:cNvSpPr txBox="1"/>
          <p:nvPr/>
        </p:nvSpPr>
        <p:spPr>
          <a:xfrm>
            <a:off x="566928" y="4974336"/>
            <a:ext cx="6400800" cy="548640"/>
          </a:xfrm>
          <a:prstGeom prst="rect">
            <a:avLst/>
          </a:prstGeom>
          <a:noFill/>
        </p:spPr>
        <p:txBody>
          <a:bodyPr wrap="square" lIns="0" rIns="0" tIns="0" bIns="0" anchor="t">
            <a:spAutoFit/>
          </a:bodyPr>
          <a:lstStyle/>
          <a:p>
            <a:pPr algn="l">
              <a:lnSpc>
                <a:spcPct val="112000"/>
              </a:lnSpc>
            </a:pPr>
            <a:r>
              <a:rPr sz="1150" b="0" i="0">
                <a:solidFill>
                  <a:srgbClr val="45465E"/>
                </a:solidFill>
                <a:latin typeface="Arial"/>
              </a:rPr>
              <a:t>Same result when the knob effects are estimated without the loop scales: −61% / −55%, 11% / 11% missed.</a:t>
            </a:r>
          </a:p>
        </p:txBody>
      </p:sp>
      <p:sp>
        <p:nvSpPr>
          <p:cNvPr id="14" name="TextBox 13"/>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policy simulation with each scale's own level-8 rates × measured rate ratios, 16 weeks · Report §6.3</a:t>
            </a:r>
          </a:p>
        </p:txBody>
      </p:sp>
      <p:sp>
        <p:nvSpPr>
          <p:cNvPr id="15" name="TextBox 14"/>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ALTERNATIVES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What we tested and did not recommend</a:t>
            </a:r>
          </a:p>
        </p:txBody>
      </p:sp>
      <p:graphicFrame>
        <p:nvGraphicFramePr>
          <p:cNvPr id="5" name="Table 4"/>
          <p:cNvGraphicFramePr>
            <a:graphicFrameLocks noGrp="1"/>
          </p:cNvGraphicFramePr>
          <p:nvPr/>
        </p:nvGraphicFramePr>
        <p:xfrm>
          <a:off x="566928" y="1316736"/>
          <a:ext cx="11055094" cy="3657600"/>
        </p:xfrm>
        <a:graphic>
          <a:graphicData uri="http://schemas.openxmlformats.org/drawingml/2006/table">
            <a:tbl>
              <a:tblPr firstRow="0" bandRow="0"/>
              <a:tblGrid>
                <a:gridCol w="3430891"/>
                <a:gridCol w="6099363"/>
                <a:gridCol w="1524840"/>
              </a:tblGrid>
              <a:tr h="457200">
                <a:tc>
                  <a:txBody>
                    <a:bodyPr wrap="square"/>
                    <a:lstStyle/>
                    <a:p>
                      <a:pPr algn="l"/>
                      <a:r>
                        <a:rPr sz="1200" b="1">
                          <a:solidFill>
                            <a:srgbClr val="FFFFFF"/>
                          </a:solidFill>
                          <a:latin typeface="Arial"/>
                        </a:rPr>
                        <a:t>Option</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200" b="1">
                          <a:solidFill>
                            <a:srgbClr val="FFFFFF"/>
                          </a:solidFill>
                          <a:latin typeface="Arial"/>
                        </a:rPr>
                        <a:t>What happened in the data or the simulation (20 kg / 6 kg)</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200" b="1">
                          <a:solidFill>
                            <a:srgbClr val="FFFFFF"/>
                          </a:solidFill>
                          <a:latin typeface="Arial"/>
                        </a:rPr>
                        <a:t>Verdict</a:t>
                      </a:r>
                    </a:p>
                  </a:txBody>
                  <a:tcPr marL="73152" marR="73152" marT="32004" marB="32004" anchor="ctr">
                    <a:lnL w="0">
                      <a:noFill/>
                    </a:lnL>
                    <a:lnR w="0">
                      <a:noFill/>
                    </a:lnR>
                    <a:lnT w="0">
                      <a:noFill/>
                    </a:lnT>
                    <a:lnB w="9525">
                      <a:solidFill>
                        <a:srgbClr val="D4D4D9"/>
                      </a:solidFill>
                    </a:lnB>
                    <a:solidFill>
                      <a:srgbClr val="000028"/>
                    </a:solidFill>
                  </a:tcPr>
                </a:tc>
              </a:tr>
              <a:tr h="457200">
                <a:tc>
                  <a:txBody>
                    <a:bodyPr wrap="square"/>
                    <a:lstStyle/>
                    <a:p>
                      <a:pPr algn="l"/>
                      <a:r>
                        <a:rPr sz="1200" b="0">
                          <a:solidFill>
                            <a:srgbClr val="000028"/>
                          </a:solidFill>
                          <a:latin typeface="Arial"/>
                        </a:rPr>
                        <a:t>One level for all, tuned to Bossard's KPIs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−82% / −82% weighings, but 38% / 46% of the changes missed</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reject</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Steer by the TOO_MANY fraction</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47% / 46% missed: the fraction pushes scales towards level 1</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reject</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A table by pick size or item weight</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Same level as one-for-all for 95–99% of the scales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no gain</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Quiet hours per site</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Avoids 6% / 6% of the empty wake-ups; 4% / 5% of the picks fall into them</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reject</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Nightly check for every scale</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Costs 33–40% of the savings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reject</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Longer minimum wait time (60 min)</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76% / 82% of these scales sit at two sites; no scale ran both wait times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not measurable</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Merge bursts into one weighing (10 min)</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45465E"/>
                          </a:solidFill>
                          <a:latin typeface="Arial"/>
                        </a:rPr>
                        <a:t>−5% / −4% on top of the rule; 25% of the picks reported about 5 min later</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7B80"/>
                          </a:solidFill>
                          <a:latin typeface="Arial"/>
                        </a:rPr>
                        <a:t>optional firmware</a:t>
                      </a:r>
                    </a:p>
                  </a:txBody>
                  <a:tcPr marL="73152" marR="73152" marT="32004" marB="32004" anchor="ctr">
                    <a:lnL w="0">
                      <a:noFill/>
                    </a:lnL>
                    <a:lnR w="0">
                      <a:noFill/>
                    </a:lnR>
                    <a:lnT w="0">
                      <a:noFill/>
                    </a:lnT>
                    <a:lnB w="9525">
                      <a:solidFill>
                        <a:srgbClr val="D4D4D9"/>
                      </a:solidFill>
                    </a:lnB>
                    <a:noFill/>
                  </a:tcPr>
                </a:tc>
              </a:tr>
            </a:tbl>
          </a:graphicData>
        </a:graphic>
      </p:graphicFrame>
      <p:sp>
        <p:nvSpPr>
          <p:cNvPr id="6" name="Rectangle 5"/>
          <p:cNvSpPr/>
          <p:nvPr/>
        </p:nvSpPr>
        <p:spPr>
          <a:xfrm>
            <a:off x="566928" y="5440680"/>
            <a:ext cx="11055096" cy="685800"/>
          </a:xfrm>
          <a:prstGeom prst="rect">
            <a:avLst/>
          </a:prstGeom>
          <a:solidFill>
            <a:srgbClr val="000028"/>
          </a:solidFill>
          <a:ln>
            <a:noFill/>
          </a:ln>
        </p:spPr>
        <p:txBody>
          <a:bodyPr rtlCol="0" anchor="ctr"/>
          <a:lstStyle/>
          <a:p>
            <a:pPr algn="ctr"/>
          </a:p>
        </p:txBody>
      </p:sp>
      <p:sp>
        <p:nvSpPr>
          <p:cNvPr id="7" name="TextBox 6"/>
          <p:cNvSpPr txBox="1"/>
          <p:nvPr/>
        </p:nvSpPr>
        <p:spPr>
          <a:xfrm>
            <a:off x="795528" y="5440680"/>
            <a:ext cx="10643616" cy="685800"/>
          </a:xfrm>
          <a:prstGeom prst="rect">
            <a:avLst/>
          </a:prstGeom>
          <a:noFill/>
        </p:spPr>
        <p:txBody>
          <a:bodyPr wrap="square" lIns="0" rIns="0" tIns="0" bIns="0" anchor="ctr">
            <a:spAutoFit/>
          </a:bodyPr>
          <a:lstStyle/>
          <a:p>
            <a:pPr algn="l">
              <a:lnSpc>
                <a:spcPct val="112000"/>
              </a:lnSpc>
            </a:pPr>
            <a:r>
              <a:rPr sz="1300" b="1" i="0">
                <a:solidFill>
                  <a:srgbClr val="00FFB9"/>
                </a:solidFill>
                <a:latin typeface="Arial"/>
              </a:rPr>
              <a:t>The pattern:</a:t>
            </a:r>
            <a:r>
              <a:rPr sz="1300" b="0" i="0">
                <a:solidFill>
                  <a:srgbClr val="FFFFFF"/>
                </a:solidFill>
                <a:latin typeface="Arial"/>
              </a:rPr>
              <a:t> every shortcut either switches the sensor off or ignores what makes each bin different. A rule that learns per scale avoids both.</a:t>
            </a:r>
          </a:p>
        </p:txBody>
      </p:sp>
      <p:sp>
        <p:nvSpPr>
          <p:cNvPr id="8" name="TextBox 7"/>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quiet hours learned on March–April and tested on May–June · Report §6.3, §6.5</a:t>
            </a:r>
          </a:p>
        </p:txBody>
      </p:sp>
      <p:sp>
        <p:nvSpPr>
          <p:cNvPr id="9" name="TextBox 8"/>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NEXT STEPS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An eight-week pilot turns the simulation into a decision</a:t>
            </a:r>
          </a:p>
        </p:txBody>
      </p:sp>
      <p:sp>
        <p:nvSpPr>
          <p:cNvPr id="5" name="Rectangle 4"/>
          <p:cNvSpPr/>
          <p:nvPr/>
        </p:nvSpPr>
        <p:spPr>
          <a:xfrm>
            <a:off x="566928" y="1316736"/>
            <a:ext cx="2663952" cy="2834640"/>
          </a:xfrm>
          <a:prstGeom prst="rect">
            <a:avLst/>
          </a:prstGeom>
          <a:solidFill>
            <a:srgbClr val="F3F3F0"/>
          </a:solidFill>
          <a:ln>
            <a:noFill/>
          </a:ln>
        </p:spPr>
        <p:txBody>
          <a:bodyPr rtlCol="0" anchor="ctr"/>
          <a:lstStyle/>
          <a:p>
            <a:pPr algn="ctr"/>
          </a:p>
        </p:txBody>
      </p:sp>
      <p:sp>
        <p:nvSpPr>
          <p:cNvPr id="6" name="Rectangle 5"/>
          <p:cNvSpPr/>
          <p:nvPr/>
        </p:nvSpPr>
        <p:spPr>
          <a:xfrm>
            <a:off x="566928" y="1316736"/>
            <a:ext cx="2663952" cy="457200"/>
          </a:xfrm>
          <a:prstGeom prst="rect">
            <a:avLst/>
          </a:prstGeom>
          <a:solidFill>
            <a:srgbClr val="009999"/>
          </a:solidFill>
          <a:ln>
            <a:noFill/>
          </a:ln>
        </p:spPr>
        <p:txBody>
          <a:bodyPr rtlCol="0" anchor="ctr"/>
          <a:lstStyle/>
          <a:p>
            <a:pPr algn="ctr"/>
          </a:p>
        </p:txBody>
      </p:sp>
      <p:sp>
        <p:nvSpPr>
          <p:cNvPr id="7" name="TextBox 6"/>
          <p:cNvSpPr txBox="1"/>
          <p:nvPr/>
        </p:nvSpPr>
        <p:spPr>
          <a:xfrm>
            <a:off x="749808" y="1435608"/>
            <a:ext cx="2298192" cy="274320"/>
          </a:xfrm>
          <a:prstGeom prst="rect">
            <a:avLst/>
          </a:prstGeom>
          <a:noFill/>
        </p:spPr>
        <p:txBody>
          <a:bodyPr wrap="square" lIns="0" rIns="0" tIns="0" bIns="0" anchor="t">
            <a:spAutoFit/>
          </a:bodyPr>
          <a:lstStyle/>
          <a:p>
            <a:pPr algn="l">
              <a:lnSpc>
                <a:spcPct val="112000"/>
              </a:lnSpc>
            </a:pPr>
            <a:r>
              <a:rPr sz="1200" b="1" i="0" spc="100">
                <a:solidFill>
                  <a:srgbClr val="FFFFFF"/>
                </a:solidFill>
                <a:latin typeface="Arial"/>
              </a:rPr>
              <a:t>NOW</a:t>
            </a:r>
          </a:p>
        </p:txBody>
      </p:sp>
      <p:sp>
        <p:nvSpPr>
          <p:cNvPr id="8" name="TextBox 7"/>
          <p:cNvSpPr txBox="1"/>
          <p:nvPr/>
        </p:nvSpPr>
        <p:spPr>
          <a:xfrm>
            <a:off x="749808" y="1956816"/>
            <a:ext cx="2298192" cy="2103120"/>
          </a:xfrm>
          <a:prstGeom prst="rect">
            <a:avLst/>
          </a:prstGeom>
          <a:noFill/>
        </p:spPr>
        <p:txBody>
          <a:bodyPr wrap="square" lIns="0" rIns="0" tIns="0" bIns="0" anchor="t">
            <a:spAutoFit/>
          </a:bodyPr>
          <a:lstStyle/>
          <a:p>
            <a:pPr algn="l" marL="182880" indent="-182880">
              <a:lnSpc>
                <a:spcPct val="112000"/>
              </a:lnSpc>
              <a:spcAft>
                <a:spcPts val="500"/>
              </a:spcAft>
              <a:buClr>
                <a:srgbClr val="009999"/>
              </a:buClr>
              <a:buFont typeface="Arial"/>
              <a:buChar char="•"/>
            </a:pPr>
            <a:r>
              <a:rPr sz="1250" b="0" i="0">
                <a:solidFill>
                  <a:srgbClr val="000028"/>
                </a:solidFill>
                <a:latin typeface="Arial"/>
              </a:rPr>
              <a:t>Loop detector runs daily</a:t>
            </a:r>
          </a:p>
          <a:p>
            <a:pPr algn="l" marL="182880" indent="-182880">
              <a:lnSpc>
                <a:spcPct val="112000"/>
              </a:lnSpc>
              <a:spcAft>
                <a:spcPts val="500"/>
              </a:spcAft>
              <a:buClr>
                <a:srgbClr val="009999"/>
              </a:buClr>
              <a:buFont typeface="Arial"/>
              <a:buChar char="•"/>
            </a:pPr>
            <a:r>
              <a:rPr sz="1250" b="0" i="0">
                <a:solidFill>
                  <a:srgbClr val="000028"/>
                </a:solidFill>
                <a:latin typeface="Arial"/>
              </a:rPr>
              <a:t>Level 3 off the setting menu</a:t>
            </a:r>
          </a:p>
          <a:p>
            <a:pPr algn="l" marL="182880" indent="-182880">
              <a:lnSpc>
                <a:spcPct val="112000"/>
              </a:lnSpc>
              <a:spcAft>
                <a:spcPts val="500"/>
              </a:spcAft>
              <a:buClr>
                <a:srgbClr val="009999"/>
              </a:buClr>
              <a:buFont typeface="Arial"/>
              <a:buChar char="•"/>
            </a:pPr>
            <a:r>
              <a:rPr sz="1250" b="0" i="0">
                <a:solidFill>
                  <a:srgbClr val="000028"/>
                </a:solidFill>
                <a:latin typeface="Arial"/>
              </a:rPr>
              <a:t>Factory default 8 → 7</a:t>
            </a:r>
          </a:p>
          <a:p>
            <a:pPr algn="l" marL="182880" indent="-182880">
              <a:lnSpc>
                <a:spcPct val="112000"/>
              </a:lnSpc>
              <a:spcAft>
                <a:spcPts val="500"/>
              </a:spcAft>
              <a:buClr>
                <a:srgbClr val="009999"/>
              </a:buClr>
              <a:buFont typeface="Arial"/>
              <a:buChar char="•"/>
            </a:pPr>
            <a:r>
              <a:rPr sz="1250" b="0" i="0">
                <a:solidFill>
                  <a:srgbClr val="000028"/>
                </a:solidFill>
                <a:latin typeface="Arial"/>
              </a:rPr>
              <a:t>KPI 2.0 in the dashboard</a:t>
            </a:r>
          </a:p>
        </p:txBody>
      </p:sp>
      <p:sp>
        <p:nvSpPr>
          <p:cNvPr id="9" name="Rectangle 8"/>
          <p:cNvSpPr/>
          <p:nvPr/>
        </p:nvSpPr>
        <p:spPr>
          <a:xfrm>
            <a:off x="3413760" y="1316736"/>
            <a:ext cx="2663952" cy="2834640"/>
          </a:xfrm>
          <a:prstGeom prst="rect">
            <a:avLst/>
          </a:prstGeom>
          <a:solidFill>
            <a:srgbClr val="F3F3F0"/>
          </a:solidFill>
          <a:ln>
            <a:noFill/>
          </a:ln>
        </p:spPr>
        <p:txBody>
          <a:bodyPr rtlCol="0" anchor="ctr"/>
          <a:lstStyle/>
          <a:p>
            <a:pPr algn="ctr"/>
          </a:p>
        </p:txBody>
      </p:sp>
      <p:sp>
        <p:nvSpPr>
          <p:cNvPr id="10" name="Rectangle 9"/>
          <p:cNvSpPr/>
          <p:nvPr/>
        </p:nvSpPr>
        <p:spPr>
          <a:xfrm>
            <a:off x="3413760" y="1316736"/>
            <a:ext cx="2663952" cy="457200"/>
          </a:xfrm>
          <a:prstGeom prst="rect">
            <a:avLst/>
          </a:prstGeom>
          <a:solidFill>
            <a:srgbClr val="009999"/>
          </a:solidFill>
          <a:ln>
            <a:noFill/>
          </a:ln>
        </p:spPr>
        <p:txBody>
          <a:bodyPr rtlCol="0" anchor="ctr"/>
          <a:lstStyle/>
          <a:p>
            <a:pPr algn="ctr"/>
          </a:p>
        </p:txBody>
      </p:sp>
      <p:sp>
        <p:nvSpPr>
          <p:cNvPr id="11" name="TextBox 10"/>
          <p:cNvSpPr txBox="1"/>
          <p:nvPr/>
        </p:nvSpPr>
        <p:spPr>
          <a:xfrm>
            <a:off x="3596640" y="1435608"/>
            <a:ext cx="2298192" cy="274320"/>
          </a:xfrm>
          <a:prstGeom prst="rect">
            <a:avLst/>
          </a:prstGeom>
          <a:noFill/>
        </p:spPr>
        <p:txBody>
          <a:bodyPr wrap="square" lIns="0" rIns="0" tIns="0" bIns="0" anchor="t">
            <a:spAutoFit/>
          </a:bodyPr>
          <a:lstStyle/>
          <a:p>
            <a:pPr algn="l">
              <a:lnSpc>
                <a:spcPct val="112000"/>
              </a:lnSpc>
            </a:pPr>
            <a:r>
              <a:rPr sz="1200" b="1" i="0" spc="100">
                <a:solidFill>
                  <a:srgbClr val="FFFFFF"/>
                </a:solidFill>
                <a:latin typeface="Arial"/>
              </a:rPr>
              <a:t>PILOT · WEEKS 1–8</a:t>
            </a:r>
          </a:p>
        </p:txBody>
      </p:sp>
      <p:sp>
        <p:nvSpPr>
          <p:cNvPr id="12" name="TextBox 11"/>
          <p:cNvSpPr txBox="1"/>
          <p:nvPr/>
        </p:nvSpPr>
        <p:spPr>
          <a:xfrm>
            <a:off x="3596640" y="1956816"/>
            <a:ext cx="2298192" cy="2103120"/>
          </a:xfrm>
          <a:prstGeom prst="rect">
            <a:avLst/>
          </a:prstGeom>
          <a:noFill/>
        </p:spPr>
        <p:txBody>
          <a:bodyPr wrap="square" lIns="0" rIns="0" tIns="0" bIns="0" anchor="t">
            <a:spAutoFit/>
          </a:bodyPr>
          <a:lstStyle/>
          <a:p>
            <a:pPr algn="l" marL="182880" indent="-182880">
              <a:lnSpc>
                <a:spcPct val="112000"/>
              </a:lnSpc>
              <a:spcAft>
                <a:spcPts val="500"/>
              </a:spcAft>
              <a:buClr>
                <a:srgbClr val="009999"/>
              </a:buClr>
              <a:buFont typeface="Arial"/>
              <a:buChar char="•"/>
            </a:pPr>
            <a:r>
              <a:rPr sz="1250" b="0" i="0">
                <a:solidFill>
                  <a:srgbClr val="000028"/>
                </a:solidFill>
                <a:latin typeface="Arial"/>
              </a:rPr>
              <a:t>Rule at ~10 sites vs. matched control sites</a:t>
            </a:r>
          </a:p>
          <a:p>
            <a:pPr algn="l" marL="182880" indent="-182880">
              <a:lnSpc>
                <a:spcPct val="112000"/>
              </a:lnSpc>
              <a:spcAft>
                <a:spcPts val="500"/>
              </a:spcAft>
              <a:buClr>
                <a:srgbClr val="009999"/>
              </a:buClr>
              <a:buFont typeface="Arial"/>
              <a:buChar char="•"/>
            </a:pPr>
            <a:r>
              <a:rPr sz="1250" b="0" i="0">
                <a:solidFill>
                  <a:srgbClr val="000028"/>
                </a:solidFill>
                <a:latin typeface="Arial"/>
              </a:rPr>
              <a:t>Weekly KPI 2.0 per scale</a:t>
            </a:r>
          </a:p>
          <a:p>
            <a:pPr algn="l" marL="182880" indent="-182880">
              <a:lnSpc>
                <a:spcPct val="112000"/>
              </a:lnSpc>
              <a:spcAft>
                <a:spcPts val="500"/>
              </a:spcAft>
              <a:buClr>
                <a:srgbClr val="009999"/>
              </a:buClr>
              <a:buFont typeface="Arial"/>
              <a:buChar char="•"/>
            </a:pPr>
            <a:r>
              <a:rPr sz="1250" b="0" i="0">
                <a:solidFill>
                  <a:srgbClr val="000028"/>
                </a:solidFill>
                <a:latin typeface="Arial"/>
              </a:rPr>
              <a:t>Test the step-down threshold: 5% vs. 3% missed</a:t>
            </a:r>
          </a:p>
        </p:txBody>
      </p:sp>
      <p:sp>
        <p:nvSpPr>
          <p:cNvPr id="13" name="Rectangle 12"/>
          <p:cNvSpPr/>
          <p:nvPr/>
        </p:nvSpPr>
        <p:spPr>
          <a:xfrm>
            <a:off x="6260592" y="1316736"/>
            <a:ext cx="2663952" cy="2834640"/>
          </a:xfrm>
          <a:prstGeom prst="rect">
            <a:avLst/>
          </a:prstGeom>
          <a:solidFill>
            <a:srgbClr val="F3F3F0"/>
          </a:solidFill>
          <a:ln>
            <a:noFill/>
          </a:ln>
        </p:spPr>
        <p:txBody>
          <a:bodyPr rtlCol="0" anchor="ctr"/>
          <a:lstStyle/>
          <a:p>
            <a:pPr algn="ctr"/>
          </a:p>
        </p:txBody>
      </p:sp>
      <p:sp>
        <p:nvSpPr>
          <p:cNvPr id="14" name="Rectangle 13"/>
          <p:cNvSpPr/>
          <p:nvPr/>
        </p:nvSpPr>
        <p:spPr>
          <a:xfrm>
            <a:off x="6260592" y="1316736"/>
            <a:ext cx="2663952" cy="457200"/>
          </a:xfrm>
          <a:prstGeom prst="rect">
            <a:avLst/>
          </a:prstGeom>
          <a:solidFill>
            <a:srgbClr val="000028"/>
          </a:solidFill>
          <a:ln>
            <a:noFill/>
          </a:ln>
        </p:spPr>
        <p:txBody>
          <a:bodyPr rtlCol="0" anchor="ctr"/>
          <a:lstStyle/>
          <a:p>
            <a:pPr algn="ctr"/>
          </a:p>
        </p:txBody>
      </p:sp>
      <p:sp>
        <p:nvSpPr>
          <p:cNvPr id="15" name="TextBox 14"/>
          <p:cNvSpPr txBox="1"/>
          <p:nvPr/>
        </p:nvSpPr>
        <p:spPr>
          <a:xfrm>
            <a:off x="6443472" y="1435608"/>
            <a:ext cx="2298192" cy="274320"/>
          </a:xfrm>
          <a:prstGeom prst="rect">
            <a:avLst/>
          </a:prstGeom>
          <a:noFill/>
        </p:spPr>
        <p:txBody>
          <a:bodyPr wrap="square" lIns="0" rIns="0" tIns="0" bIns="0" anchor="t">
            <a:spAutoFit/>
          </a:bodyPr>
          <a:lstStyle/>
          <a:p>
            <a:pPr algn="l">
              <a:lnSpc>
                <a:spcPct val="112000"/>
              </a:lnSpc>
            </a:pPr>
            <a:r>
              <a:rPr sz="1200" b="1" i="0" spc="100">
                <a:solidFill>
                  <a:srgbClr val="FFFFFF"/>
                </a:solidFill>
                <a:latin typeface="Arial"/>
              </a:rPr>
              <a:t>IN PARALLEL</a:t>
            </a:r>
          </a:p>
        </p:txBody>
      </p:sp>
      <p:sp>
        <p:nvSpPr>
          <p:cNvPr id="16" name="TextBox 15"/>
          <p:cNvSpPr txBox="1"/>
          <p:nvPr/>
        </p:nvSpPr>
        <p:spPr>
          <a:xfrm>
            <a:off x="6443472" y="1956816"/>
            <a:ext cx="2298192" cy="2103120"/>
          </a:xfrm>
          <a:prstGeom prst="rect">
            <a:avLst/>
          </a:prstGeom>
          <a:noFill/>
        </p:spPr>
        <p:txBody>
          <a:bodyPr wrap="square" lIns="0" rIns="0" tIns="0" bIns="0" anchor="t">
            <a:spAutoFit/>
          </a:bodyPr>
          <a:lstStyle/>
          <a:p>
            <a:pPr algn="l" marL="182880" indent="-182880">
              <a:lnSpc>
                <a:spcPct val="112000"/>
              </a:lnSpc>
              <a:spcAft>
                <a:spcPts val="500"/>
              </a:spcAft>
              <a:buClr>
                <a:srgbClr val="009999"/>
              </a:buClr>
              <a:buFont typeface="Arial"/>
              <a:buChar char="•"/>
            </a:pPr>
            <a:r>
              <a:rPr sz="1250" b="0" i="0">
                <a:solidFill>
                  <a:srgbClr val="000028"/>
                </a:solidFill>
                <a:latin typeface="Arial"/>
              </a:rPr>
              <a:t>Accelerometer / damping test at the 10 most coupled sites</a:t>
            </a:r>
          </a:p>
          <a:p>
            <a:pPr algn="l" marL="182880" indent="-182880">
              <a:lnSpc>
                <a:spcPct val="112000"/>
              </a:lnSpc>
              <a:spcAft>
                <a:spcPts val="500"/>
              </a:spcAft>
              <a:buClr>
                <a:srgbClr val="009999"/>
              </a:buClr>
              <a:buFont typeface="Arial"/>
              <a:buChar char="•"/>
            </a:pPr>
            <a:r>
              <a:rPr sz="1250" b="0" i="0">
                <a:solidFill>
                  <a:srgbClr val="000028"/>
                </a:solidFill>
                <a:latin typeface="Arial"/>
              </a:rPr>
              <a:t>Firmware fix for loops</a:t>
            </a:r>
          </a:p>
          <a:p>
            <a:pPr algn="l" marL="182880" indent="-182880">
              <a:lnSpc>
                <a:spcPct val="112000"/>
              </a:lnSpc>
              <a:spcAft>
                <a:spcPts val="500"/>
              </a:spcAft>
              <a:buClr>
                <a:srgbClr val="009999"/>
              </a:buClr>
              <a:buFont typeface="Arial"/>
              <a:buChar char="•"/>
            </a:pPr>
            <a:r>
              <a:rPr sz="1250" b="0" i="0">
                <a:solidFill>
                  <a:srgbClr val="000028"/>
                </a:solidFill>
                <a:latin typeface="Arial"/>
              </a:rPr>
              <a:t>Confirm the idle-check rule and the meaning of the levels</a:t>
            </a:r>
          </a:p>
        </p:txBody>
      </p:sp>
      <p:sp>
        <p:nvSpPr>
          <p:cNvPr id="17" name="Rectangle 16"/>
          <p:cNvSpPr/>
          <p:nvPr/>
        </p:nvSpPr>
        <p:spPr>
          <a:xfrm>
            <a:off x="9107424" y="1316736"/>
            <a:ext cx="2514600" cy="2834640"/>
          </a:xfrm>
          <a:prstGeom prst="rect">
            <a:avLst/>
          </a:prstGeom>
          <a:solidFill>
            <a:srgbClr val="FFFFFF"/>
          </a:solidFill>
          <a:ln w="9525">
            <a:solidFill>
              <a:srgbClr val="D4D4D9"/>
            </a:solidFill>
          </a:ln>
        </p:spPr>
        <p:txBody>
          <a:bodyPr rtlCol="0" anchor="ctr"/>
          <a:lstStyle/>
          <a:p>
            <a:pPr algn="ctr"/>
          </a:p>
        </p:txBody>
      </p:sp>
      <p:sp>
        <p:nvSpPr>
          <p:cNvPr id="18" name="TextBox 17"/>
          <p:cNvSpPr txBox="1"/>
          <p:nvPr/>
        </p:nvSpPr>
        <p:spPr>
          <a:xfrm>
            <a:off x="9244584" y="1435608"/>
            <a:ext cx="2240280" cy="274320"/>
          </a:xfrm>
          <a:prstGeom prst="rect">
            <a:avLst/>
          </a:prstGeom>
          <a:noFill/>
        </p:spPr>
        <p:txBody>
          <a:bodyPr wrap="square" lIns="0" rIns="0" tIns="0" bIns="0" anchor="t">
            <a:spAutoFit/>
          </a:bodyPr>
          <a:lstStyle/>
          <a:p>
            <a:pPr algn="l">
              <a:lnSpc>
                <a:spcPct val="112000"/>
              </a:lnSpc>
            </a:pPr>
            <a:r>
              <a:rPr sz="1100" b="1" i="0" spc="100">
                <a:solidFill>
                  <a:srgbClr val="D72339"/>
                </a:solidFill>
                <a:latin typeface="Arial"/>
              </a:rPr>
              <a:t>LIMITS</a:t>
            </a:r>
          </a:p>
        </p:txBody>
      </p:sp>
      <p:sp>
        <p:nvSpPr>
          <p:cNvPr id="19" name="TextBox 18"/>
          <p:cNvSpPr txBox="1"/>
          <p:nvPr/>
        </p:nvSpPr>
        <p:spPr>
          <a:xfrm>
            <a:off x="9244584" y="1773936"/>
            <a:ext cx="2240280" cy="2377440"/>
          </a:xfrm>
          <a:prstGeom prst="rect">
            <a:avLst/>
          </a:prstGeom>
          <a:noFill/>
        </p:spPr>
        <p:txBody>
          <a:bodyPr wrap="square" lIns="0" rIns="0" tIns="0" bIns="0" anchor="t">
            <a:spAutoFit/>
          </a:bodyPr>
          <a:lstStyle/>
          <a:p>
            <a:pPr algn="l" marL="182880" indent="-182880">
              <a:lnSpc>
                <a:spcPct val="108000"/>
              </a:lnSpc>
              <a:spcAft>
                <a:spcPts val="600"/>
              </a:spcAft>
              <a:buClr>
                <a:srgbClr val="009999"/>
              </a:buClr>
              <a:buFont typeface="Arial"/>
              <a:buChar char="•"/>
            </a:pPr>
            <a:r>
              <a:rPr sz="1150" b="0" i="0">
                <a:solidFill>
                  <a:srgbClr val="45465E"/>
                </a:solidFill>
                <a:latin typeface="Arial"/>
              </a:rPr>
              <a:t>One season (Mar–Jun 2022)</a:t>
            </a:r>
          </a:p>
          <a:p>
            <a:pPr algn="l" marL="182880" indent="-182880">
              <a:lnSpc>
                <a:spcPct val="108000"/>
              </a:lnSpc>
              <a:spcAft>
                <a:spcPts val="600"/>
              </a:spcAft>
              <a:buClr>
                <a:srgbClr val="009999"/>
              </a:buClr>
              <a:buFont typeface="Arial"/>
              <a:buChar char="•"/>
            </a:pPr>
            <a:r>
              <a:rPr sz="1150" b="0" i="0">
                <a:solidFill>
                  <a:srgbClr val="45465E"/>
                </a:solidFill>
                <a:latin typeface="Arial"/>
              </a:rPr>
              <a:t>Observational: busier scales were switched first</a:t>
            </a:r>
          </a:p>
          <a:p>
            <a:pPr algn="l" marL="182880" indent="-182880">
              <a:lnSpc>
                <a:spcPct val="108000"/>
              </a:lnSpc>
              <a:spcAft>
                <a:spcPts val="600"/>
              </a:spcAft>
              <a:buClr>
                <a:srgbClr val="009999"/>
              </a:buClr>
              <a:buFont typeface="Arial"/>
              <a:buChar char="•"/>
            </a:pPr>
            <a:r>
              <a:rPr sz="1150" b="0" i="0">
                <a:solidFill>
                  <a:srgbClr val="45465E"/>
                </a:solidFill>
                <a:latin typeface="Arial"/>
              </a:rPr>
              <a:t>TOO_FEW is a lower bound of misses</a:t>
            </a:r>
          </a:p>
          <a:p>
            <a:pPr algn="l" marL="182880" indent="-182880">
              <a:lnSpc>
                <a:spcPct val="108000"/>
              </a:lnSpc>
              <a:spcAft>
                <a:spcPts val="600"/>
              </a:spcAft>
              <a:buClr>
                <a:srgbClr val="009999"/>
              </a:buClr>
              <a:buFont typeface="Arial"/>
              <a:buChar char="•"/>
            </a:pPr>
            <a:r>
              <a:rPr sz="1150" b="0" i="0">
                <a:solidFill>
                  <a:srgbClr val="45465E"/>
                </a:solidFill>
                <a:latin typeface="Arial"/>
              </a:rPr>
              <a:t>No rack positions in the data</a:t>
            </a:r>
          </a:p>
        </p:txBody>
      </p:sp>
      <p:sp>
        <p:nvSpPr>
          <p:cNvPr id="20" name="Rectangle 19"/>
          <p:cNvSpPr/>
          <p:nvPr/>
        </p:nvSpPr>
        <p:spPr>
          <a:xfrm>
            <a:off x="566928" y="4425696"/>
            <a:ext cx="11055096" cy="777240"/>
          </a:xfrm>
          <a:prstGeom prst="rect">
            <a:avLst/>
          </a:prstGeom>
          <a:solidFill>
            <a:srgbClr val="000028"/>
          </a:solidFill>
          <a:ln>
            <a:noFill/>
          </a:ln>
        </p:spPr>
        <p:txBody>
          <a:bodyPr rtlCol="0" anchor="ctr"/>
          <a:lstStyle/>
          <a:p>
            <a:pPr algn="ctr"/>
          </a:p>
        </p:txBody>
      </p:sp>
      <p:sp>
        <p:nvSpPr>
          <p:cNvPr id="21" name="TextBox 20"/>
          <p:cNvSpPr txBox="1"/>
          <p:nvPr/>
        </p:nvSpPr>
        <p:spPr>
          <a:xfrm>
            <a:off x="795528" y="4425696"/>
            <a:ext cx="10643616" cy="777240"/>
          </a:xfrm>
          <a:prstGeom prst="rect">
            <a:avLst/>
          </a:prstGeom>
          <a:noFill/>
        </p:spPr>
        <p:txBody>
          <a:bodyPr wrap="square" lIns="0" rIns="0" tIns="0" bIns="0" anchor="ctr">
            <a:spAutoFit/>
          </a:bodyPr>
          <a:lstStyle/>
          <a:p>
            <a:pPr algn="l">
              <a:lnSpc>
                <a:spcPct val="112000"/>
              </a:lnSpc>
            </a:pPr>
            <a:r>
              <a:rPr sz="1350" b="1" i="0">
                <a:solidFill>
                  <a:srgbClr val="00FFB9"/>
                </a:solidFill>
                <a:latin typeface="Arial"/>
              </a:rPr>
              <a:t>Decision for Bossard today:</a:t>
            </a:r>
            <a:r>
              <a:rPr sz="1350" b="0" i="0">
                <a:solidFill>
                  <a:srgbClr val="FFFFFF"/>
                </a:solidFill>
                <a:latin typeface="Arial"/>
              </a:rPr>
              <a:t> start the loop detector and the new default 7 now – low risk, measured effect. Let the pilot decide the rule's thresholds.</a:t>
            </a:r>
          </a:p>
        </p:txBody>
      </p:sp>
      <p:sp>
        <p:nvSpPr>
          <p:cNvPr id="22" name="TextBox 21"/>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Report §7–8</a:t>
            </a:r>
          </a:p>
        </p:txBody>
      </p:sp>
      <p:sp>
        <p:nvSpPr>
          <p:cNvPr id="23" name="TextBox 22"/>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28"/>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9999"/>
          </a:solidFill>
          <a:ln>
            <a:noFill/>
          </a:ln>
        </p:spPr>
        <p:txBody>
          <a:bodyPr rtlCol="0" anchor="ctr"/>
          <a:lstStyle/>
          <a:p>
            <a:pPr algn="ctr"/>
          </a:p>
        </p:txBody>
      </p:sp>
      <p:sp>
        <p:nvSpPr>
          <p:cNvPr id="3" name="TextBox 2"/>
          <p:cNvSpPr txBox="1"/>
          <p:nvPr/>
        </p:nvSpPr>
        <p:spPr>
          <a:xfrm>
            <a:off x="822960" y="914400"/>
            <a:ext cx="10058400" cy="274320"/>
          </a:xfrm>
          <a:prstGeom prst="rect">
            <a:avLst/>
          </a:prstGeom>
          <a:noFill/>
        </p:spPr>
        <p:txBody>
          <a:bodyPr wrap="square" lIns="0" rIns="0" tIns="0" bIns="0" anchor="t">
            <a:spAutoFit/>
          </a:bodyPr>
          <a:lstStyle/>
          <a:p>
            <a:pPr algn="l">
              <a:lnSpc>
                <a:spcPct val="112000"/>
              </a:lnSpc>
            </a:pPr>
            <a:r>
              <a:rPr sz="1100" b="1" i="0" spc="150">
                <a:solidFill>
                  <a:srgbClr val="00FFB9"/>
                </a:solidFill>
                <a:latin typeface="Arial"/>
              </a:rPr>
              <a:t>THANK YOU</a:t>
            </a:r>
          </a:p>
        </p:txBody>
      </p:sp>
      <p:sp>
        <p:nvSpPr>
          <p:cNvPr id="4" name="TextBox 3"/>
          <p:cNvSpPr txBox="1"/>
          <p:nvPr/>
        </p:nvSpPr>
        <p:spPr>
          <a:xfrm>
            <a:off x="822960" y="1280160"/>
            <a:ext cx="10058400" cy="914400"/>
          </a:xfrm>
          <a:prstGeom prst="rect">
            <a:avLst/>
          </a:prstGeom>
          <a:noFill/>
        </p:spPr>
        <p:txBody>
          <a:bodyPr wrap="square" lIns="0" rIns="0" tIns="0" bIns="0" anchor="t">
            <a:spAutoFit/>
          </a:bodyPr>
          <a:lstStyle/>
          <a:p>
            <a:pPr algn="l">
              <a:lnSpc>
                <a:spcPct val="112000"/>
              </a:lnSpc>
            </a:pPr>
            <a:r>
              <a:rPr sz="4400" b="1" i="0">
                <a:solidFill>
                  <a:srgbClr val="FFFFFF"/>
                </a:solidFill>
                <a:latin typeface="Arial"/>
              </a:rPr>
              <a:t>Questions?</a:t>
            </a:r>
          </a:p>
        </p:txBody>
      </p:sp>
      <p:sp>
        <p:nvSpPr>
          <p:cNvPr id="5" name="TextBox 4"/>
          <p:cNvSpPr txBox="1"/>
          <p:nvPr/>
        </p:nvSpPr>
        <p:spPr>
          <a:xfrm>
            <a:off x="822960" y="2743200"/>
            <a:ext cx="1463040" cy="365760"/>
          </a:xfrm>
          <a:prstGeom prst="rect">
            <a:avLst/>
          </a:prstGeom>
          <a:noFill/>
        </p:spPr>
        <p:txBody>
          <a:bodyPr wrap="square" lIns="0" rIns="0" tIns="0" bIns="0" anchor="t">
            <a:spAutoFit/>
          </a:bodyPr>
          <a:lstStyle/>
          <a:p>
            <a:pPr algn="l">
              <a:lnSpc>
                <a:spcPct val="112000"/>
              </a:lnSpc>
            </a:pPr>
            <a:r>
              <a:rPr sz="1700" b="1" i="0" spc="120">
                <a:solidFill>
                  <a:srgbClr val="00FFB9"/>
                </a:solidFill>
                <a:latin typeface="Arial"/>
              </a:rPr>
              <a:t>FLAG</a:t>
            </a:r>
          </a:p>
        </p:txBody>
      </p:sp>
      <p:sp>
        <p:nvSpPr>
          <p:cNvPr id="6" name="TextBox 5"/>
          <p:cNvSpPr txBox="1"/>
          <p:nvPr/>
        </p:nvSpPr>
        <p:spPr>
          <a:xfrm>
            <a:off x="2377440" y="2761488"/>
            <a:ext cx="8686800" cy="365760"/>
          </a:xfrm>
          <a:prstGeom prst="rect">
            <a:avLst/>
          </a:prstGeom>
          <a:noFill/>
        </p:spPr>
        <p:txBody>
          <a:bodyPr wrap="square" lIns="0" rIns="0" tIns="0" bIns="0" anchor="t">
            <a:spAutoFit/>
          </a:bodyPr>
          <a:lstStyle/>
          <a:p>
            <a:pPr algn="l">
              <a:lnSpc>
                <a:spcPct val="112000"/>
              </a:lnSpc>
            </a:pPr>
            <a:r>
              <a:rPr sz="1700" b="0" i="0">
                <a:solidFill>
                  <a:srgbClr val="FFFFFF"/>
                </a:solidFill>
                <a:latin typeface="Arial"/>
              </a:rPr>
              <a:t>a two-number rule finds broken scales every day</a:t>
            </a:r>
          </a:p>
        </p:txBody>
      </p:sp>
      <p:sp>
        <p:nvSpPr>
          <p:cNvPr id="7" name="TextBox 6"/>
          <p:cNvSpPr txBox="1"/>
          <p:nvPr/>
        </p:nvSpPr>
        <p:spPr>
          <a:xfrm>
            <a:off x="822960" y="3310128"/>
            <a:ext cx="1463040" cy="365760"/>
          </a:xfrm>
          <a:prstGeom prst="rect">
            <a:avLst/>
          </a:prstGeom>
          <a:noFill/>
        </p:spPr>
        <p:txBody>
          <a:bodyPr wrap="square" lIns="0" rIns="0" tIns="0" bIns="0" anchor="t">
            <a:spAutoFit/>
          </a:bodyPr>
          <a:lstStyle/>
          <a:p>
            <a:pPr algn="l">
              <a:lnSpc>
                <a:spcPct val="112000"/>
              </a:lnSpc>
            </a:pPr>
            <a:r>
              <a:rPr sz="1700" b="1" i="0" spc="120">
                <a:solidFill>
                  <a:srgbClr val="00FFB9"/>
                </a:solidFill>
                <a:latin typeface="Arial"/>
              </a:rPr>
              <a:t>TUNE</a:t>
            </a:r>
          </a:p>
        </p:txBody>
      </p:sp>
      <p:sp>
        <p:nvSpPr>
          <p:cNvPr id="8" name="TextBox 7"/>
          <p:cNvSpPr txBox="1"/>
          <p:nvPr/>
        </p:nvSpPr>
        <p:spPr>
          <a:xfrm>
            <a:off x="2377440" y="3328416"/>
            <a:ext cx="8686800" cy="365760"/>
          </a:xfrm>
          <a:prstGeom prst="rect">
            <a:avLst/>
          </a:prstGeom>
          <a:noFill/>
        </p:spPr>
        <p:txBody>
          <a:bodyPr wrap="square" lIns="0" rIns="0" tIns="0" bIns="0" anchor="t">
            <a:spAutoFit/>
          </a:bodyPr>
          <a:lstStyle/>
          <a:p>
            <a:pPr algn="l">
              <a:lnSpc>
                <a:spcPct val="112000"/>
              </a:lnSpc>
            </a:pPr>
            <a:r>
              <a:rPr sz="1700" b="0" i="0">
                <a:solidFill>
                  <a:srgbClr val="FFFFFF"/>
                </a:solidFill>
                <a:latin typeface="Arial"/>
              </a:rPr>
              <a:t>every scale learns its level, one step every two weeks</a:t>
            </a:r>
          </a:p>
        </p:txBody>
      </p:sp>
      <p:sp>
        <p:nvSpPr>
          <p:cNvPr id="9" name="TextBox 8"/>
          <p:cNvSpPr txBox="1"/>
          <p:nvPr/>
        </p:nvSpPr>
        <p:spPr>
          <a:xfrm>
            <a:off x="822960" y="3877056"/>
            <a:ext cx="1463040" cy="365760"/>
          </a:xfrm>
          <a:prstGeom prst="rect">
            <a:avLst/>
          </a:prstGeom>
          <a:noFill/>
        </p:spPr>
        <p:txBody>
          <a:bodyPr wrap="square" lIns="0" rIns="0" tIns="0" bIns="0" anchor="t">
            <a:spAutoFit/>
          </a:bodyPr>
          <a:lstStyle/>
          <a:p>
            <a:pPr algn="l">
              <a:lnSpc>
                <a:spcPct val="112000"/>
              </a:lnSpc>
            </a:pPr>
            <a:r>
              <a:rPr sz="1700" b="1" i="0" spc="120">
                <a:solidFill>
                  <a:srgbClr val="00FFB9"/>
                </a:solidFill>
                <a:latin typeface="Arial"/>
              </a:rPr>
              <a:t>WATCH</a:t>
            </a:r>
          </a:p>
        </p:txBody>
      </p:sp>
      <p:sp>
        <p:nvSpPr>
          <p:cNvPr id="10" name="TextBox 9"/>
          <p:cNvSpPr txBox="1"/>
          <p:nvPr/>
        </p:nvSpPr>
        <p:spPr>
          <a:xfrm>
            <a:off x="2377440" y="3895344"/>
            <a:ext cx="8686800" cy="365760"/>
          </a:xfrm>
          <a:prstGeom prst="rect">
            <a:avLst/>
          </a:prstGeom>
          <a:noFill/>
        </p:spPr>
        <p:txBody>
          <a:bodyPr wrap="square" lIns="0" rIns="0" tIns="0" bIns="0" anchor="t">
            <a:spAutoFit/>
          </a:bodyPr>
          <a:lstStyle/>
          <a:p>
            <a:pPr algn="l">
              <a:lnSpc>
                <a:spcPct val="112000"/>
              </a:lnSpc>
            </a:pPr>
            <a:r>
              <a:rPr sz="1700" b="0" i="0">
                <a:solidFill>
                  <a:srgbClr val="FFFFFF"/>
                </a:solidFill>
                <a:latin typeface="Arial"/>
              </a:rPr>
              <a:t>KPI 2.0, the 24-hour check and a watch list keep misses visible</a:t>
            </a:r>
          </a:p>
        </p:txBody>
      </p:sp>
      <p:sp>
        <p:nvSpPr>
          <p:cNvPr id="11" name="TextBox 10"/>
          <p:cNvSpPr txBox="1"/>
          <p:nvPr/>
        </p:nvSpPr>
        <p:spPr>
          <a:xfrm>
            <a:off x="822960" y="5120640"/>
            <a:ext cx="10515600" cy="731520"/>
          </a:xfrm>
          <a:prstGeom prst="rect">
            <a:avLst/>
          </a:prstGeom>
          <a:noFill/>
        </p:spPr>
        <p:txBody>
          <a:bodyPr wrap="square" lIns="0" rIns="0" tIns="0" bIns="0" anchor="t">
            <a:spAutoFit/>
          </a:bodyPr>
          <a:lstStyle/>
          <a:p>
            <a:pPr algn="l">
              <a:lnSpc>
                <a:spcPct val="112000"/>
              </a:lnSpc>
            </a:pPr>
            <a:r>
              <a:rPr sz="1200" b="0" i="0">
                <a:solidFill>
                  <a:srgbClr val="C9CBE0"/>
                </a:solidFill>
                <a:latin typeface="Arial"/>
              </a:rPr>
              <a:t>Backup: data cleaning · robustness without loop scales · methods · pick size · code · dashboard C · references</a:t>
            </a:r>
          </a:p>
        </p:txBody>
      </p:sp>
      <p:sp>
        <p:nvSpPr>
          <p:cNvPr id="12" name="TextBox 11"/>
          <p:cNvSpPr txBox="1"/>
          <p:nvPr/>
        </p:nvSpPr>
        <p:spPr>
          <a:xfrm>
            <a:off x="822960" y="5806440"/>
            <a:ext cx="10515600" cy="365760"/>
          </a:xfrm>
          <a:prstGeom prst="rect">
            <a:avLst/>
          </a:prstGeom>
          <a:noFill/>
        </p:spPr>
        <p:txBody>
          <a:bodyPr wrap="square" lIns="0" rIns="0" tIns="0" bIns="0" anchor="t">
            <a:spAutoFit/>
          </a:bodyPr>
          <a:lstStyle/>
          <a:p>
            <a:pPr algn="l">
              <a:lnSpc>
                <a:spcPct val="112000"/>
              </a:lnSpc>
            </a:pPr>
            <a:r>
              <a:rPr sz="1100" b="0" i="0">
                <a:solidFill>
                  <a:srgbClr val="9A9CB8"/>
                </a:solidFill>
                <a:latin typeface="Arial"/>
              </a:rPr>
              <a:t>Erenalp Çakıroğlu · code, report and pipeline in a private repository (case data under NDA)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DATA CLEANING</a:t>
            </a:r>
          </a:p>
        </p:txBody>
      </p:sp>
      <p:sp>
        <p:nvSpPr>
          <p:cNvPr id="4" name="TextBox 3"/>
          <p:cNvSpPr txBox="1"/>
          <p:nvPr/>
        </p:nvSpPr>
        <p:spPr>
          <a:xfrm>
            <a:off x="566928" y="640080"/>
            <a:ext cx="11055096" cy="768096"/>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Delete only what is broken – flag the rest and keep the chain intact</a:t>
            </a:r>
          </a:p>
        </p:txBody>
      </p:sp>
      <p:pic>
        <p:nvPicPr>
          <p:cNvPr id="5" name="Picture 4" descr="k11_cleaning.png"/>
          <p:cNvPicPr>
            <a:picLocks noChangeAspect="1"/>
          </p:cNvPicPr>
          <p:nvPr/>
        </p:nvPicPr>
        <p:blipFill>
          <a:blip r:embed="rId2"/>
          <a:stretch>
            <a:fillRect/>
          </a:stretch>
        </p:blipFill>
        <p:spPr>
          <a:xfrm>
            <a:off x="475488" y="1609344"/>
            <a:ext cx="6583680" cy="4023360"/>
          </a:xfrm>
          <a:prstGeom prst="rect">
            <a:avLst/>
          </a:prstGeom>
        </p:spPr>
      </p:pic>
      <p:sp>
        <p:nvSpPr>
          <p:cNvPr id="6" name="TextBox 5"/>
          <p:cNvSpPr txBox="1"/>
          <p:nvPr/>
        </p:nvSpPr>
        <p:spPr>
          <a:xfrm>
            <a:off x="6949440" y="1700784"/>
            <a:ext cx="4663440" cy="4114800"/>
          </a:xfrm>
          <a:prstGeom prst="rect">
            <a:avLst/>
          </a:prstGeom>
          <a:noFill/>
        </p:spPr>
        <p:txBody>
          <a:bodyPr wrap="square" lIns="0" rIns="0" tIns="0" bIns="0" anchor="t">
            <a:spAutoFit/>
          </a:bodyPr>
          <a:lstStyle/>
          <a:p>
            <a:pPr algn="l" marL="182880" indent="-182880">
              <a:lnSpc>
                <a:spcPct val="112000"/>
              </a:lnSpc>
              <a:spcAft>
                <a:spcPts val="600"/>
              </a:spcAft>
              <a:buClr>
                <a:srgbClr val="009999"/>
              </a:buClr>
              <a:buFont typeface="Arial"/>
              <a:buChar char="•"/>
            </a:pPr>
            <a:r>
              <a:rPr sz="1200" b="1" i="0">
                <a:solidFill>
                  <a:srgbClr val="000028"/>
                </a:solidFill>
                <a:latin typeface="Arial"/>
              </a:rPr>
              <a:t>Duplicates:</a:t>
            </a:r>
            <a:r>
              <a:rPr sz="1200" b="0" i="0">
                <a:solidFill>
                  <a:srgbClr val="000028"/>
                </a:solidFill>
                <a:latin typeface="Arial"/>
              </a:rPr>
              <a:t> 5,733 copies with the same scale and millisecond. In 1,300 of 5,499 groups the copies carry different labels – one copy stays for the weight chain, its outcome counts as unknown.</a:t>
            </a:r>
          </a:p>
          <a:p>
            <a:pPr algn="l" marL="182880" indent="-182880">
              <a:lnSpc>
                <a:spcPct val="112000"/>
              </a:lnSpc>
              <a:spcAft>
                <a:spcPts val="600"/>
              </a:spcAft>
              <a:buClr>
                <a:srgbClr val="009999"/>
              </a:buClr>
              <a:buFont typeface="Arial"/>
              <a:buChar char="•"/>
            </a:pPr>
            <a:r>
              <a:rPr sz="1200" b="1" i="0">
                <a:solidFill>
                  <a:srgbClr val="000028"/>
                </a:solidFill>
                <a:latin typeface="Arial"/>
              </a:rPr>
              <a:t>Impossible weights:</a:t>
            </a:r>
            <a:r>
              <a:rPr sz="1200" b="0" i="0">
                <a:solidFill>
                  <a:srgbClr val="000028"/>
                </a:solidFill>
                <a:latin typeface="Arial"/>
              </a:rPr>
              <a:t> 5 rows (144 kg to 50 t) – exactly those D ONE marked invalid.</a:t>
            </a:r>
          </a:p>
          <a:p>
            <a:pPr algn="l" marL="182880" indent="-182880">
              <a:lnSpc>
                <a:spcPct val="112000"/>
              </a:lnSpc>
              <a:spcAft>
                <a:spcPts val="600"/>
              </a:spcAft>
              <a:buClr>
                <a:srgbClr val="009999"/>
              </a:buClr>
              <a:buFont typeface="Arial"/>
              <a:buChar char="•"/>
            </a:pPr>
            <a:r>
              <a:rPr sz="1200" b="1" i="0">
                <a:solidFill>
                  <a:srgbClr val="000028"/>
                </a:solidFill>
                <a:latin typeface="Arial"/>
              </a:rPr>
              <a:t>Why flag instead of delete:</a:t>
            </a:r>
            <a:r>
              <a:rPr sz="1200" b="0" i="0">
                <a:solidFill>
                  <a:srgbClr val="000028"/>
                </a:solidFill>
                <a:latin typeface="Arial"/>
              </a:rPr>
              <a:t> a weighing with an unknown level is useless for the KPI, but the next weighing needs it to compute its weight change, and it can be the pick that woke a neighbour.</a:t>
            </a:r>
          </a:p>
          <a:p>
            <a:pPr algn="l" marL="182880" indent="-182880">
              <a:lnSpc>
                <a:spcPct val="112000"/>
              </a:lnSpc>
              <a:spcAft>
                <a:spcPts val="600"/>
              </a:spcAft>
              <a:buClr>
                <a:srgbClr val="009999"/>
              </a:buClr>
              <a:buFont typeface="Arial"/>
              <a:buChar char="•"/>
            </a:pPr>
            <a:r>
              <a:rPr sz="1200" b="1" i="0">
                <a:solidFill>
                  <a:srgbClr val="000028"/>
                </a:solidFill>
                <a:latin typeface="Arial"/>
              </a:rPr>
              <a:t>Checks:</a:t>
            </a:r>
            <a:r>
              <a:rPr sz="1200" b="0" i="0">
                <a:solidFill>
                  <a:srgbClr val="000028"/>
                </a:solidFill>
                <a:latin typeface="Arial"/>
              </a:rPr>
              <a:t> D ONE's 'relevant period' rule re-computed on all 58,700 periods (100% match); empty wait-time values behave like the standard.</a:t>
            </a:r>
          </a:p>
          <a:p>
            <a:pPr algn="l" marL="182880" indent="-182880">
              <a:lnSpc>
                <a:spcPct val="112000"/>
              </a:lnSpc>
              <a:spcAft>
                <a:spcPts val="600"/>
              </a:spcAft>
              <a:buClr>
                <a:srgbClr val="009999"/>
              </a:buClr>
              <a:buFont typeface="Arial"/>
              <a:buChar char="•"/>
            </a:pPr>
            <a:r>
              <a:rPr sz="1200" b="1" i="0">
                <a:solidFill>
                  <a:srgbClr val="000028"/>
                </a:solidFill>
                <a:latin typeface="Arial"/>
              </a:rPr>
              <a:t>Result:</a:t>
            </a:r>
            <a:r>
              <a:rPr sz="1200" b="0" i="0">
                <a:solidFill>
                  <a:srgbClr val="000028"/>
                </a:solidFill>
                <a:latin typeface="Arial"/>
              </a:rPr>
              <a:t> 5.26 M rows (69%) enter the KPI analysis; every excluded row is exported with its reason.</a:t>
            </a:r>
          </a:p>
        </p:txBody>
      </p:sp>
      <p:sp>
        <p:nvSpPr>
          <p:cNvPr id="7" name="TextBox 6"/>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Report §3, Appendix A</a:t>
            </a:r>
          </a:p>
        </p:txBody>
      </p:sp>
      <p:sp>
        <p:nvSpPr>
          <p:cNvPr id="8" name="TextBox 7"/>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ROBUSTNESS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The findings hold when the 274 loop scales are left out</a:t>
            </a:r>
          </a:p>
        </p:txBody>
      </p:sp>
      <p:graphicFrame>
        <p:nvGraphicFramePr>
          <p:cNvPr id="5" name="Table 4"/>
          <p:cNvGraphicFramePr>
            <a:graphicFrameLocks noGrp="1"/>
          </p:cNvGraphicFramePr>
          <p:nvPr/>
        </p:nvGraphicFramePr>
        <p:xfrm>
          <a:off x="566928" y="1316736"/>
          <a:ext cx="11055094" cy="3364992"/>
        </p:xfrm>
        <a:graphic>
          <a:graphicData uri="http://schemas.openxmlformats.org/drawingml/2006/table">
            <a:tbl>
              <a:tblPr firstRow="0" bandRow="0"/>
              <a:tblGrid>
                <a:gridCol w="5908758"/>
                <a:gridCol w="2573168"/>
                <a:gridCol w="2573168"/>
              </a:tblGrid>
              <a:tr h="420624">
                <a:tc>
                  <a:txBody>
                    <a:bodyPr wrap="square"/>
                    <a:lstStyle/>
                    <a:p>
                      <a:pPr algn="l"/>
                      <a:r>
                        <a:rPr sz="1250" b="1">
                          <a:solidFill>
                            <a:srgbClr val="FFFFFF"/>
                          </a:solidFill>
                          <a:latin typeface="Arial"/>
                        </a:rPr>
                        <a:t>Result</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50" b="1">
                          <a:solidFill>
                            <a:srgbClr val="FFFFFF"/>
                          </a:solidFill>
                          <a:latin typeface="Arial"/>
                        </a:rPr>
                        <a:t>All scales</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r"/>
                      <a:r>
                        <a:rPr sz="1250" b="1">
                          <a:solidFill>
                            <a:srgbClr val="FFFFFF"/>
                          </a:solidFill>
                          <a:latin typeface="Arial"/>
                        </a:rPr>
                        <a:t>Without loop scales</a:t>
                      </a:r>
                    </a:p>
                  </a:txBody>
                  <a:tcPr marL="73152" marR="73152" marT="32004" marB="32004" anchor="ctr">
                    <a:lnL w="0">
                      <a:noFill/>
                    </a:lnL>
                    <a:lnR w="0">
                      <a:noFill/>
                    </a:lnR>
                    <a:lnT w="0">
                      <a:noFill/>
                    </a:lnT>
                    <a:lnB w="9525">
                      <a:solidFill>
                        <a:srgbClr val="D4D4D9"/>
                      </a:solidFill>
                    </a:lnB>
                    <a:solidFill>
                      <a:srgbClr val="000028"/>
                    </a:solidFill>
                  </a:tcPr>
                </a:tc>
              </a:tr>
              <a:tr h="420624">
                <a:tc>
                  <a:txBody>
                    <a:bodyPr wrap="square"/>
                    <a:lstStyle/>
                    <a:p>
                      <a:pPr algn="l"/>
                      <a:r>
                        <a:rPr sz="1250" b="0">
                          <a:solidFill>
                            <a:srgbClr val="000028"/>
                          </a:solidFill>
                          <a:latin typeface="Arial"/>
                        </a:rPr>
                        <a:t>Typical scale on level 8: empty wake-ups per week (20 kg / 6 kg)</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13.5 / 8.5</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13.5 / 8.4</a:t>
                      </a:r>
                    </a:p>
                  </a:txBody>
                  <a:tcPr marL="73152" marR="73152" marT="32004" marB="32004" anchor="ctr">
                    <a:lnL w="0">
                      <a:noFill/>
                    </a:lnL>
                    <a:lnR w="0">
                      <a:noFill/>
                    </a:lnR>
                    <a:lnT w="0">
                      <a:noFill/>
                    </a:lnT>
                    <a:lnB w="9525">
                      <a:solidFill>
                        <a:srgbClr val="D4D4D9"/>
                      </a:solidFill>
                    </a:lnB>
                    <a:noFill/>
                  </a:tcPr>
                </a:tc>
              </a:tr>
              <a:tr h="420624">
                <a:tc>
                  <a:txBody>
                    <a:bodyPr wrap="square"/>
                    <a:lstStyle/>
                    <a:p>
                      <a:pPr algn="l"/>
                      <a:r>
                        <a:rPr sz="1250" b="0">
                          <a:solidFill>
                            <a:srgbClr val="000028"/>
                          </a:solidFill>
                          <a:latin typeface="Arial"/>
                        </a:rPr>
                        <a:t>Typical TOO_MANY fraction on level 8</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0.92 / 0.74</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0.92 / 0.74</a:t>
                      </a:r>
                    </a:p>
                  </a:txBody>
                  <a:tcPr marL="73152" marR="73152" marT="32004" marB="32004" anchor="ctr">
                    <a:lnL w="0">
                      <a:noFill/>
                    </a:lnL>
                    <a:lnR w="0">
                      <a:noFill/>
                    </a:lnR>
                    <a:lnT w="0">
                      <a:noFill/>
                    </a:lnT>
                    <a:lnB w="9525">
                      <a:solidFill>
                        <a:srgbClr val="D4D4D9"/>
                      </a:solidFill>
                    </a:lnB>
                    <a:noFill/>
                  </a:tcPr>
                </a:tc>
              </a:tr>
              <a:tr h="420624">
                <a:tc>
                  <a:txBody>
                    <a:bodyPr wrap="square"/>
                    <a:lstStyle/>
                    <a:p>
                      <a:pPr algn="l"/>
                      <a:r>
                        <a:rPr sz="1250" b="0">
                          <a:solidFill>
                            <a:srgbClr val="000028"/>
                          </a:solidFill>
                          <a:latin typeface="Arial"/>
                        </a:rPr>
                        <a:t>Empty wake-ups coupled to picking nearby</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50" b="0">
                          <a:solidFill>
                            <a:srgbClr val="000028"/>
                          </a:solidFill>
                          <a:latin typeface="Arial"/>
                        </a:rPr>
                        <a:t>45%</a:t>
                      </a:r>
                    </a:p>
                  </a:txBody>
                  <a:tcPr marL="73152" marR="73152" marT="32004" marB="32004" anchor="ctr">
                    <a:lnL w="0">
                      <a:noFill/>
                    </a:lnL>
                    <a:lnR w="0">
                      <a:noFill/>
                    </a:lnR>
                    <a:lnT w="0">
                      <a:noFill/>
                    </a:lnT>
                    <a:lnB w="9525">
                      <a:solidFill>
                        <a:srgbClr val="D4D4D9"/>
                      </a:solidFill>
                    </a:lnB>
                    <a:solidFill>
                      <a:srgbClr val="E3F4F4"/>
                    </a:solidFill>
                  </a:tcPr>
                </a:tc>
                <a:tc>
                  <a:txBody>
                    <a:bodyPr wrap="square"/>
                    <a:lstStyle/>
                    <a:p>
                      <a:pPr algn="r"/>
                      <a:r>
                        <a:rPr sz="1250" b="1">
                          <a:solidFill>
                            <a:srgbClr val="000028"/>
                          </a:solidFill>
                          <a:latin typeface="Arial"/>
                        </a:rPr>
                        <a:t>55%</a:t>
                      </a:r>
                    </a:p>
                  </a:txBody>
                  <a:tcPr marL="73152" marR="73152" marT="32004" marB="32004" anchor="ctr">
                    <a:lnL w="0">
                      <a:noFill/>
                    </a:lnL>
                    <a:lnR w="0">
                      <a:noFill/>
                    </a:lnR>
                    <a:lnT w="0">
                      <a:noFill/>
                    </a:lnT>
                    <a:lnB w="9525">
                      <a:solidFill>
                        <a:srgbClr val="D4D4D9"/>
                      </a:solidFill>
                    </a:lnB>
                    <a:solidFill>
                      <a:srgbClr val="E3F4F4"/>
                    </a:solidFill>
                  </a:tcPr>
                </a:tc>
              </a:tr>
              <a:tr h="420624">
                <a:tc>
                  <a:txBody>
                    <a:bodyPr wrap="square"/>
                    <a:lstStyle/>
                    <a:p>
                      <a:pPr algn="l"/>
                      <a:r>
                        <a:rPr sz="1250" b="0">
                          <a:solidFill>
                            <a:srgbClr val="000028"/>
                          </a:solidFill>
                          <a:latin typeface="Arial"/>
                        </a:rPr>
                        <a:t>8 → 7: empty wake-ups</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−59% / −68%</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−52% / −59%</a:t>
                      </a:r>
                    </a:p>
                  </a:txBody>
                  <a:tcPr marL="73152" marR="73152" marT="32004" marB="32004" anchor="ctr">
                    <a:lnL w="0">
                      <a:noFill/>
                    </a:lnL>
                    <a:lnR w="0">
                      <a:noFill/>
                    </a:lnR>
                    <a:lnT w="0">
                      <a:noFill/>
                    </a:lnT>
                    <a:lnB w="9525">
                      <a:solidFill>
                        <a:srgbClr val="D4D4D9"/>
                      </a:solidFill>
                    </a:lnB>
                    <a:noFill/>
                  </a:tcPr>
                </a:tc>
              </a:tr>
              <a:tr h="420624">
                <a:tc>
                  <a:txBody>
                    <a:bodyPr wrap="square"/>
                    <a:lstStyle/>
                    <a:p>
                      <a:pPr algn="l"/>
                      <a:r>
                        <a:rPr sz="1250" b="0">
                          <a:solidFill>
                            <a:srgbClr val="000028"/>
                          </a:solidFill>
                          <a:latin typeface="Arial"/>
                        </a:rPr>
                        <a:t>8 → 6: empty wake-ups</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−56% / −79%</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−67% / −74%</a:t>
                      </a:r>
                    </a:p>
                  </a:txBody>
                  <a:tcPr marL="73152" marR="73152" marT="32004" marB="32004" anchor="ctr">
                    <a:lnL w="0">
                      <a:noFill/>
                    </a:lnL>
                    <a:lnR w="0">
                      <a:noFill/>
                    </a:lnR>
                    <a:lnT w="0">
                      <a:noFill/>
                    </a:lnT>
                    <a:lnB w="9525">
                      <a:solidFill>
                        <a:srgbClr val="D4D4D9"/>
                      </a:solidFill>
                    </a:lnB>
                    <a:noFill/>
                  </a:tcPr>
                </a:tc>
              </a:tr>
              <a:tr h="420624">
                <a:tc>
                  <a:txBody>
                    <a:bodyPr wrap="square"/>
                    <a:lstStyle/>
                    <a:p>
                      <a:pPr algn="l"/>
                      <a:r>
                        <a:rPr sz="1250" b="0">
                          <a:solidFill>
                            <a:srgbClr val="000028"/>
                          </a:solidFill>
                          <a:latin typeface="Arial"/>
                        </a:rPr>
                        <a:t>Recommended rule: weighings vs. today</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−61% / −55%</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−61% / −55%</a:t>
                      </a:r>
                    </a:p>
                  </a:txBody>
                  <a:tcPr marL="73152" marR="73152" marT="32004" marB="32004" anchor="ctr">
                    <a:lnL w="0">
                      <a:noFill/>
                    </a:lnL>
                    <a:lnR w="0">
                      <a:noFill/>
                    </a:lnR>
                    <a:lnT w="0">
                      <a:noFill/>
                    </a:lnT>
                    <a:lnB w="9525">
                      <a:solidFill>
                        <a:srgbClr val="D4D4D9"/>
                      </a:solidFill>
                    </a:lnB>
                    <a:noFill/>
                  </a:tcPr>
                </a:tc>
              </a:tr>
              <a:tr h="420624">
                <a:tc>
                  <a:txBody>
                    <a:bodyPr wrap="square"/>
                    <a:lstStyle/>
                    <a:p>
                      <a:pPr algn="l"/>
                      <a:r>
                        <a:rPr sz="1250" b="0">
                          <a:solidFill>
                            <a:srgbClr val="000028"/>
                          </a:solidFill>
                          <a:latin typeface="Arial"/>
                        </a:rPr>
                        <a:t>Recommended rule: changes missed (typical scale)</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11% / 12%</a:t>
                      </a:r>
                    </a:p>
                  </a:txBody>
                  <a:tcPr marL="73152" marR="73152" marT="32004" marB="32004" anchor="ctr">
                    <a:lnL w="0">
                      <a:noFill/>
                    </a:lnL>
                    <a:lnR w="0">
                      <a:noFill/>
                    </a:lnR>
                    <a:lnT w="0">
                      <a:noFill/>
                    </a:lnT>
                    <a:lnB w="9525">
                      <a:solidFill>
                        <a:srgbClr val="D4D4D9"/>
                      </a:solidFill>
                    </a:lnB>
                    <a:noFill/>
                  </a:tcPr>
                </a:tc>
                <a:tc>
                  <a:txBody>
                    <a:bodyPr wrap="square"/>
                    <a:lstStyle/>
                    <a:p>
                      <a:pPr algn="r"/>
                      <a:r>
                        <a:rPr sz="1250" b="0">
                          <a:solidFill>
                            <a:srgbClr val="000028"/>
                          </a:solidFill>
                          <a:latin typeface="Arial"/>
                        </a:rPr>
                        <a:t>11% / 11%</a:t>
                      </a:r>
                    </a:p>
                  </a:txBody>
                  <a:tcPr marL="73152" marR="73152" marT="32004" marB="32004" anchor="ctr">
                    <a:lnL w="0">
                      <a:noFill/>
                    </a:lnL>
                    <a:lnR w="0">
                      <a:noFill/>
                    </a:lnR>
                    <a:lnT w="0">
                      <a:noFill/>
                    </a:lnT>
                    <a:lnB w="9525">
                      <a:solidFill>
                        <a:srgbClr val="D4D4D9"/>
                      </a:solidFill>
                    </a:lnB>
                    <a:noFill/>
                  </a:tcPr>
                </a:tc>
              </a:tr>
            </a:tbl>
          </a:graphicData>
        </a:graphic>
      </p:graphicFrame>
      <p:sp>
        <p:nvSpPr>
          <p:cNvPr id="6" name="TextBox 5"/>
          <p:cNvSpPr txBox="1"/>
          <p:nvPr/>
        </p:nvSpPr>
        <p:spPr>
          <a:xfrm>
            <a:off x="566928" y="4882896"/>
            <a:ext cx="11055096" cy="82296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Why the coupling rises: a looping scale wakes up around the clock, also when nobody picks – its wake-ups dilute the link. Why the knob estimate moves: a few loop scales that were switched carried very large counts. The recommendation does not change.</a:t>
            </a:r>
          </a:p>
        </p:txBody>
      </p:sp>
      <p:sp>
        <p:nvSpPr>
          <p:cNvPr id="7" name="TextBox 6"/>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report/robustness_loops.py · Report Appendix C</a:t>
            </a:r>
          </a:p>
        </p:txBody>
      </p:sp>
      <p:sp>
        <p:nvSpPr>
          <p:cNvPr id="8" name="TextBox 7"/>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METHODS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Four methods, each answering one question</a:t>
            </a:r>
          </a:p>
        </p:txBody>
      </p:sp>
      <p:sp>
        <p:nvSpPr>
          <p:cNvPr id="5" name="Rectangle 4"/>
          <p:cNvSpPr/>
          <p:nvPr/>
        </p:nvSpPr>
        <p:spPr>
          <a:xfrm>
            <a:off x="566928" y="1316736"/>
            <a:ext cx="5413248" cy="1645920"/>
          </a:xfrm>
          <a:prstGeom prst="rect">
            <a:avLst/>
          </a:prstGeom>
          <a:solidFill>
            <a:srgbClr val="F3F3F0"/>
          </a:solidFill>
          <a:ln>
            <a:noFill/>
          </a:ln>
        </p:spPr>
        <p:txBody>
          <a:bodyPr rtlCol="0" anchor="ctr"/>
          <a:lstStyle/>
          <a:p>
            <a:pPr algn="ctr"/>
          </a:p>
        </p:txBody>
      </p:sp>
      <p:sp>
        <p:nvSpPr>
          <p:cNvPr id="6" name="Rectangle 5"/>
          <p:cNvSpPr/>
          <p:nvPr/>
        </p:nvSpPr>
        <p:spPr>
          <a:xfrm>
            <a:off x="566928" y="1316736"/>
            <a:ext cx="54864" cy="1645920"/>
          </a:xfrm>
          <a:prstGeom prst="rect">
            <a:avLst/>
          </a:prstGeom>
          <a:solidFill>
            <a:srgbClr val="009999"/>
          </a:solidFill>
          <a:ln>
            <a:noFill/>
          </a:ln>
        </p:spPr>
        <p:txBody>
          <a:bodyPr rtlCol="0" anchor="ctr"/>
          <a:lstStyle/>
          <a:p>
            <a:pPr algn="ctr"/>
          </a:p>
        </p:txBody>
      </p:sp>
      <p:sp>
        <p:nvSpPr>
          <p:cNvPr id="7" name="TextBox 6"/>
          <p:cNvSpPr txBox="1"/>
          <p:nvPr/>
        </p:nvSpPr>
        <p:spPr>
          <a:xfrm>
            <a:off x="804672" y="1499616"/>
            <a:ext cx="4992624"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Does the knob cause the change?</a:t>
            </a:r>
          </a:p>
        </p:txBody>
      </p:sp>
      <p:sp>
        <p:nvSpPr>
          <p:cNvPr id="8" name="TextBox 7"/>
          <p:cNvSpPr txBox="1"/>
          <p:nvPr/>
        </p:nvSpPr>
        <p:spPr>
          <a:xfrm>
            <a:off x="804672" y="1771650"/>
            <a:ext cx="4992624" cy="1191006"/>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Difference-in-differences on 7,846 switched scales: each scale after vs. before, minus the trend of scales that stayed on 8 over the same weeks. Counts with a fixed-effects Poisson model, so each scale's own baseline cancels. 95% bootstrap intervals.</a:t>
            </a:r>
          </a:p>
        </p:txBody>
      </p:sp>
      <p:sp>
        <p:nvSpPr>
          <p:cNvPr id="9" name="Rectangle 8"/>
          <p:cNvSpPr/>
          <p:nvPr/>
        </p:nvSpPr>
        <p:spPr>
          <a:xfrm>
            <a:off x="6208776" y="1316736"/>
            <a:ext cx="5413248" cy="1645920"/>
          </a:xfrm>
          <a:prstGeom prst="rect">
            <a:avLst/>
          </a:prstGeom>
          <a:solidFill>
            <a:srgbClr val="F3F3F0"/>
          </a:solidFill>
          <a:ln>
            <a:noFill/>
          </a:ln>
        </p:spPr>
        <p:txBody>
          <a:bodyPr rtlCol="0" anchor="ctr"/>
          <a:lstStyle/>
          <a:p>
            <a:pPr algn="ctr"/>
          </a:p>
        </p:txBody>
      </p:sp>
      <p:sp>
        <p:nvSpPr>
          <p:cNvPr id="10" name="Rectangle 9"/>
          <p:cNvSpPr/>
          <p:nvPr/>
        </p:nvSpPr>
        <p:spPr>
          <a:xfrm>
            <a:off x="6208776" y="1316736"/>
            <a:ext cx="54864" cy="1645920"/>
          </a:xfrm>
          <a:prstGeom prst="rect">
            <a:avLst/>
          </a:prstGeom>
          <a:solidFill>
            <a:srgbClr val="009999"/>
          </a:solidFill>
          <a:ln>
            <a:noFill/>
          </a:ln>
        </p:spPr>
        <p:txBody>
          <a:bodyPr rtlCol="0" anchor="ctr"/>
          <a:lstStyle/>
          <a:p>
            <a:pPr algn="ctr"/>
          </a:p>
        </p:txBody>
      </p:sp>
      <p:sp>
        <p:nvSpPr>
          <p:cNvPr id="11" name="TextBox 10"/>
          <p:cNvSpPr txBox="1"/>
          <p:nvPr/>
        </p:nvSpPr>
        <p:spPr>
          <a:xfrm>
            <a:off x="6446520" y="1499616"/>
            <a:ext cx="4992624"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Are empty wake-ups linked to picks?</a:t>
            </a:r>
          </a:p>
        </p:txBody>
      </p:sp>
      <p:sp>
        <p:nvSpPr>
          <p:cNvPr id="12" name="TextBox 11"/>
          <p:cNvSpPr txBox="1"/>
          <p:nvPr/>
        </p:nvSpPr>
        <p:spPr>
          <a:xfrm>
            <a:off x="6446520" y="1771650"/>
            <a:ext cx="4992624" cy="1191006"/>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Event coincidence analysis: a = (p_near − p_chance) ÷ (1 − p_chance); near = ±14 s (width of the peak), chance = 60–88 s later; placebo with a paired site.</a:t>
            </a:r>
          </a:p>
        </p:txBody>
      </p:sp>
      <p:sp>
        <p:nvSpPr>
          <p:cNvPr id="13" name="Rectangle 12"/>
          <p:cNvSpPr/>
          <p:nvPr/>
        </p:nvSpPr>
        <p:spPr>
          <a:xfrm>
            <a:off x="566928" y="3145536"/>
            <a:ext cx="5413248" cy="1645920"/>
          </a:xfrm>
          <a:prstGeom prst="rect">
            <a:avLst/>
          </a:prstGeom>
          <a:solidFill>
            <a:srgbClr val="F3F3F0"/>
          </a:solidFill>
          <a:ln>
            <a:noFill/>
          </a:ln>
        </p:spPr>
        <p:txBody>
          <a:bodyPr rtlCol="0" anchor="ctr"/>
          <a:lstStyle/>
          <a:p>
            <a:pPr algn="ctr"/>
          </a:p>
        </p:txBody>
      </p:sp>
      <p:sp>
        <p:nvSpPr>
          <p:cNvPr id="14" name="Rectangle 13"/>
          <p:cNvSpPr/>
          <p:nvPr/>
        </p:nvSpPr>
        <p:spPr>
          <a:xfrm>
            <a:off x="566928" y="3145536"/>
            <a:ext cx="54864" cy="1645920"/>
          </a:xfrm>
          <a:prstGeom prst="rect">
            <a:avLst/>
          </a:prstGeom>
          <a:solidFill>
            <a:srgbClr val="009999"/>
          </a:solidFill>
          <a:ln>
            <a:noFill/>
          </a:ln>
        </p:spPr>
        <p:txBody>
          <a:bodyPr rtlCol="0" anchor="ctr"/>
          <a:lstStyle/>
          <a:p>
            <a:pPr algn="ctr"/>
          </a:p>
        </p:txBody>
      </p:sp>
      <p:sp>
        <p:nvSpPr>
          <p:cNvPr id="15" name="TextBox 14"/>
          <p:cNvSpPr txBox="1"/>
          <p:nvPr/>
        </p:nvSpPr>
        <p:spPr>
          <a:xfrm>
            <a:off x="804672" y="3328416"/>
            <a:ext cx="4992624"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How small a pick can a scale see?</a:t>
            </a:r>
          </a:p>
        </p:txBody>
      </p:sp>
      <p:sp>
        <p:nvSpPr>
          <p:cNvPr id="16" name="TextBox 15"/>
          <p:cNvSpPr txBox="1"/>
          <p:nvPr/>
        </p:nvSpPr>
        <p:spPr>
          <a:xfrm>
            <a:off x="804672" y="3600450"/>
            <a:ext cx="4992624" cy="1191005"/>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Weight change behind every label; threshold = 5th percentile of the missed changes (≈ 23 g / 5 g); detection rate per pick size and level.</a:t>
            </a:r>
          </a:p>
        </p:txBody>
      </p:sp>
      <p:sp>
        <p:nvSpPr>
          <p:cNvPr id="17" name="Rectangle 16"/>
          <p:cNvSpPr/>
          <p:nvPr/>
        </p:nvSpPr>
        <p:spPr>
          <a:xfrm>
            <a:off x="6208776" y="3145536"/>
            <a:ext cx="5413248" cy="1645920"/>
          </a:xfrm>
          <a:prstGeom prst="rect">
            <a:avLst/>
          </a:prstGeom>
          <a:solidFill>
            <a:srgbClr val="F3F3F0"/>
          </a:solidFill>
          <a:ln>
            <a:noFill/>
          </a:ln>
        </p:spPr>
        <p:txBody>
          <a:bodyPr rtlCol="0" anchor="ctr"/>
          <a:lstStyle/>
          <a:p>
            <a:pPr algn="ctr"/>
          </a:p>
        </p:txBody>
      </p:sp>
      <p:sp>
        <p:nvSpPr>
          <p:cNvPr id="18" name="Rectangle 17"/>
          <p:cNvSpPr/>
          <p:nvPr/>
        </p:nvSpPr>
        <p:spPr>
          <a:xfrm>
            <a:off x="6208776" y="3145536"/>
            <a:ext cx="54864" cy="1645920"/>
          </a:xfrm>
          <a:prstGeom prst="rect">
            <a:avLst/>
          </a:prstGeom>
          <a:solidFill>
            <a:srgbClr val="009999"/>
          </a:solidFill>
          <a:ln>
            <a:noFill/>
          </a:ln>
        </p:spPr>
        <p:txBody>
          <a:bodyPr rtlCol="0" anchor="ctr"/>
          <a:lstStyle/>
          <a:p>
            <a:pPr algn="ctr"/>
          </a:p>
        </p:txBody>
      </p:sp>
      <p:sp>
        <p:nvSpPr>
          <p:cNvPr id="19" name="TextBox 18"/>
          <p:cNvSpPr txBox="1"/>
          <p:nvPr/>
        </p:nvSpPr>
        <p:spPr>
          <a:xfrm>
            <a:off x="6446520" y="3328416"/>
            <a:ext cx="4992624"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Which policy is best?</a:t>
            </a:r>
          </a:p>
        </p:txBody>
      </p:sp>
      <p:sp>
        <p:nvSpPr>
          <p:cNvPr id="20" name="TextBox 19"/>
          <p:cNvSpPr txBox="1"/>
          <p:nvPr/>
        </p:nvSpPr>
        <p:spPr>
          <a:xfrm>
            <a:off x="6446520" y="3600450"/>
            <a:ext cx="4992624" cy="1191005"/>
          </a:xfrm>
          <a:prstGeom prst="rect">
            <a:avLst/>
          </a:prstGeom>
          <a:noFill/>
        </p:spPr>
        <p:txBody>
          <a:bodyPr wrap="square" lIns="0" rIns="0" tIns="0" bIns="0" anchor="t">
            <a:spAutoFit/>
          </a:bodyPr>
          <a:lstStyle/>
          <a:p>
            <a:pPr algn="l">
              <a:lnSpc>
                <a:spcPct val="113000"/>
              </a:lnSpc>
              <a:spcAft>
                <a:spcPts val="300"/>
              </a:spcAft>
            </a:pPr>
            <a:r>
              <a:rPr sz="1250" b="0" i="0">
                <a:solidFill>
                  <a:srgbClr val="45465E"/>
                </a:solidFill>
                <a:latin typeface="Arial"/>
              </a:rPr>
              <a:t>Simulator: each scale's own level-8 rates, shrunk towards its type, × the measured rate ratios; 9 policies, 16 weeks, 5 replications; back-test on the real switchers.</a:t>
            </a:r>
          </a:p>
        </p:txBody>
      </p:sp>
      <p:sp>
        <p:nvSpPr>
          <p:cNvPr id="21" name="TextBox 20"/>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Angrist &amp; Pischke (2009) · Donges et al. (2016) · Green &amp; Swets (1966) · Report §5.1, §4.5, §4.6, §6.3, Appendix A</a:t>
            </a:r>
          </a:p>
        </p:txBody>
      </p:sp>
      <p:sp>
        <p:nvSpPr>
          <p:cNvPr id="22" name="TextBox 21"/>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PICK SIZE</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Below about 25 g, a 20 kg scale is practically blind</a:t>
            </a:r>
          </a:p>
        </p:txBody>
      </p:sp>
      <p:pic>
        <p:nvPicPr>
          <p:cNvPr id="5" name="Picture 4" descr="k12_blind_zone.png"/>
          <p:cNvPicPr>
            <a:picLocks noChangeAspect="1"/>
          </p:cNvPicPr>
          <p:nvPr/>
        </p:nvPicPr>
        <p:blipFill>
          <a:blip r:embed="rId2"/>
          <a:stretch>
            <a:fillRect/>
          </a:stretch>
        </p:blipFill>
        <p:spPr>
          <a:xfrm>
            <a:off x="475488" y="1271016"/>
            <a:ext cx="7315200" cy="3566160"/>
          </a:xfrm>
          <a:prstGeom prst="rect">
            <a:avLst/>
          </a:prstGeom>
        </p:spPr>
      </p:pic>
      <p:sp>
        <p:nvSpPr>
          <p:cNvPr id="6" name="TextBox 5"/>
          <p:cNvSpPr txBox="1"/>
          <p:nvPr/>
        </p:nvSpPr>
        <p:spPr>
          <a:xfrm>
            <a:off x="7680960" y="1316736"/>
            <a:ext cx="3931920" cy="3657600"/>
          </a:xfrm>
          <a:prstGeom prst="rect">
            <a:avLst/>
          </a:prstGeom>
          <a:noFill/>
        </p:spPr>
        <p:txBody>
          <a:bodyPr wrap="square" lIns="0" rIns="0" tIns="0" bIns="0" anchor="t">
            <a:spAutoFit/>
          </a:bodyPr>
          <a:lstStyle/>
          <a:p>
            <a:pPr algn="l" marL="182880" indent="-182880">
              <a:lnSpc>
                <a:spcPct val="112000"/>
              </a:lnSpc>
              <a:spcAft>
                <a:spcPts val="700"/>
              </a:spcAft>
              <a:buClr>
                <a:srgbClr val="009999"/>
              </a:buClr>
              <a:buFont typeface="Arial"/>
              <a:buChar char="•"/>
            </a:pPr>
            <a:r>
              <a:rPr sz="1250" b="1" i="0">
                <a:solidFill>
                  <a:srgbClr val="000028"/>
                </a:solidFill>
                <a:latin typeface="Arial"/>
              </a:rPr>
              <a:t>Threshold:</a:t>
            </a:r>
            <a:r>
              <a:rPr sz="1250" b="0" i="0">
                <a:solidFill>
                  <a:srgbClr val="000028"/>
                </a:solidFill>
                <a:latin typeface="Arial"/>
              </a:rPr>
              <a:t> about 23 g (20 kg) and 5 g (6 kg) – picks below it are invisible.</a:t>
            </a:r>
          </a:p>
          <a:p>
            <a:pPr algn="l" marL="182880" indent="-182880">
              <a:lnSpc>
                <a:spcPct val="112000"/>
              </a:lnSpc>
              <a:spcAft>
                <a:spcPts val="700"/>
              </a:spcAft>
              <a:buClr>
                <a:srgbClr val="009999"/>
              </a:buClr>
              <a:buFont typeface="Arial"/>
              <a:buChar char="•"/>
            </a:pPr>
            <a:r>
              <a:rPr sz="1250" b="1" i="0">
                <a:solidFill>
                  <a:srgbClr val="000028"/>
                </a:solidFill>
                <a:latin typeface="Arial"/>
              </a:rPr>
              <a:t>Levels 1–5</a:t>
            </a:r>
            <a:r>
              <a:rPr sz="1250" b="0" i="0">
                <a:solidFill>
                  <a:srgbClr val="000028"/>
                </a:solidFill>
                <a:latin typeface="Arial"/>
              </a:rPr>
              <a:t> never reach 95% detection for any pick size.</a:t>
            </a:r>
          </a:p>
          <a:p>
            <a:pPr algn="l" marL="182880" indent="-182880">
              <a:lnSpc>
                <a:spcPct val="112000"/>
              </a:lnSpc>
              <a:spcAft>
                <a:spcPts val="700"/>
              </a:spcAft>
              <a:buClr>
                <a:srgbClr val="009999"/>
              </a:buClr>
              <a:buFont typeface="Arial"/>
              <a:buChar char="•"/>
            </a:pPr>
            <a:r>
              <a:rPr sz="1250" b="1" i="0">
                <a:solidFill>
                  <a:srgbClr val="000028"/>
                </a:solidFill>
                <a:latin typeface="Arial"/>
              </a:rPr>
              <a:t>Placement rule:</a:t>
            </a:r>
            <a:r>
              <a:rPr sz="1250" b="0" i="0">
                <a:solidFill>
                  <a:srgbClr val="000028"/>
                </a:solidFill>
                <a:latin typeface="Arial"/>
              </a:rPr>
              <a:t> parts picked in amounts below about 25 g belong on 6 kg scales.</a:t>
            </a:r>
          </a:p>
        </p:txBody>
      </p:sp>
      <p:sp>
        <p:nvSpPr>
          <p:cNvPr id="7" name="TextBox 6"/>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own analysis of the Bossard SmartBin data, 1 Mar – 20 Jun 2022 · threshold = 5th percentile of the weight change of missed changes · Report §4.6</a:t>
            </a:r>
          </a:p>
        </p:txBody>
      </p:sp>
      <p:sp>
        <p:nvSpPr>
          <p:cNvPr id="8" name="TextBox 7"/>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CODE</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One pipeline from raw file to deck – rerun in about a minute</a:t>
            </a:r>
          </a:p>
        </p:txBody>
      </p:sp>
      <p:graphicFrame>
        <p:nvGraphicFramePr>
          <p:cNvPr id="5" name="Table 4"/>
          <p:cNvGraphicFramePr>
            <a:graphicFrameLocks noGrp="1"/>
          </p:cNvGraphicFramePr>
          <p:nvPr/>
        </p:nvGraphicFramePr>
        <p:xfrm>
          <a:off x="566928" y="1316736"/>
          <a:ext cx="6949440" cy="3200400"/>
        </p:xfrm>
        <a:graphic>
          <a:graphicData uri="http://schemas.openxmlformats.org/drawingml/2006/table">
            <a:tbl>
              <a:tblPr firstRow="0" bandRow="0"/>
              <a:tblGrid>
                <a:gridCol w="2011680"/>
                <a:gridCol w="4937760"/>
              </a:tblGrid>
              <a:tr h="457200">
                <a:tc>
                  <a:txBody>
                    <a:bodyPr wrap="square"/>
                    <a:lstStyle/>
                    <a:p>
                      <a:pPr algn="l"/>
                      <a:r>
                        <a:rPr sz="1200" b="1">
                          <a:solidFill>
                            <a:srgbClr val="FFFFFF"/>
                          </a:solidFill>
                          <a:latin typeface="Arial"/>
                        </a:rPr>
                        <a:t>Module</a:t>
                      </a:r>
                    </a:p>
                  </a:txBody>
                  <a:tcPr marL="73152" marR="73152" marT="32004" marB="32004" anchor="ctr">
                    <a:lnL w="0">
                      <a:noFill/>
                    </a:lnL>
                    <a:lnR w="0">
                      <a:noFill/>
                    </a:lnR>
                    <a:lnT w="0">
                      <a:noFill/>
                    </a:lnT>
                    <a:lnB w="9525">
                      <a:solidFill>
                        <a:srgbClr val="D4D4D9"/>
                      </a:solidFill>
                    </a:lnB>
                    <a:solidFill>
                      <a:srgbClr val="000028"/>
                    </a:solidFill>
                  </a:tcPr>
                </a:tc>
                <a:tc>
                  <a:txBody>
                    <a:bodyPr wrap="square"/>
                    <a:lstStyle/>
                    <a:p>
                      <a:pPr algn="l"/>
                      <a:r>
                        <a:rPr sz="1200" b="1">
                          <a:solidFill>
                            <a:srgbClr val="FFFFFF"/>
                          </a:solidFill>
                          <a:latin typeface="Arial"/>
                        </a:rPr>
                        <a:t>What it does</a:t>
                      </a:r>
                    </a:p>
                  </a:txBody>
                  <a:tcPr marL="73152" marR="73152" marT="32004" marB="32004" anchor="ctr">
                    <a:lnL w="0">
                      <a:noFill/>
                    </a:lnL>
                    <a:lnR w="0">
                      <a:noFill/>
                    </a:lnR>
                    <a:lnT w="0">
                      <a:noFill/>
                    </a:lnT>
                    <a:lnB w="9525">
                      <a:solidFill>
                        <a:srgbClr val="D4D4D9"/>
                      </a:solidFill>
                    </a:lnB>
                    <a:solidFill>
                      <a:srgbClr val="000028"/>
                    </a:solidFill>
                  </a:tcPr>
                </a:tc>
              </a:tr>
              <a:tr h="457200">
                <a:tc>
                  <a:txBody>
                    <a:bodyPr wrap="square"/>
                    <a:lstStyle/>
                    <a:p>
                      <a:pPr algn="l"/>
                      <a:r>
                        <a:rPr sz="1200" b="0">
                          <a:solidFill>
                            <a:srgbClr val="000028"/>
                          </a:solidFill>
                          <a:latin typeface="Arial"/>
                        </a:rPr>
                        <a:t>io · cleaning</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load 7.6 M rows into DuckDB; stage A deletes, stage B flags with a reason</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features · tables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event chain (previous weight, gap, change); one record per scale and level</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analysis M1–M7</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baseline, knob (DiD), parameters, sites, pick size, coupling, policy simulator</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M0 validation</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synthetic fleet with known physics: the pipeline must recover it first</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powerbi · report</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aggregated tables for Power BI; figures, report and both decks</a:t>
                      </a:r>
                    </a:p>
                  </a:txBody>
                  <a:tcPr marL="73152" marR="73152" marT="32004" marB="32004" anchor="ctr">
                    <a:lnL w="0">
                      <a:noFill/>
                    </a:lnL>
                    <a:lnR w="0">
                      <a:noFill/>
                    </a:lnR>
                    <a:lnT w="0">
                      <a:noFill/>
                    </a:lnT>
                    <a:lnB w="9525">
                      <a:solidFill>
                        <a:srgbClr val="D4D4D9"/>
                      </a:solidFill>
                    </a:lnB>
                    <a:noFill/>
                  </a:tcPr>
                </a:tc>
              </a:tr>
              <a:tr h="457200">
                <a:tc>
                  <a:txBody>
                    <a:bodyPr wrap="square"/>
                    <a:lstStyle/>
                    <a:p>
                      <a:pPr algn="l"/>
                      <a:r>
                        <a:rPr sz="1200" b="0">
                          <a:solidFill>
                            <a:srgbClr val="000028"/>
                          </a:solidFill>
                          <a:latin typeface="Arial"/>
                        </a:rPr>
                        <a:t>robustness_loops</a:t>
                      </a:r>
                    </a:p>
                  </a:txBody>
                  <a:tcPr marL="73152" marR="73152" marT="32004" marB="32004" anchor="ctr">
                    <a:lnL w="0">
                      <a:noFill/>
                    </a:lnL>
                    <a:lnR w="0">
                      <a:noFill/>
                    </a:lnR>
                    <a:lnT w="0">
                      <a:noFill/>
                    </a:lnT>
                    <a:lnB w="9525">
                      <a:solidFill>
                        <a:srgbClr val="D4D4D9"/>
                      </a:solidFill>
                    </a:lnB>
                    <a:noFill/>
                  </a:tcPr>
                </a:tc>
                <a:tc>
                  <a:txBody>
                    <a:bodyPr wrap="square"/>
                    <a:lstStyle/>
                    <a:p>
                      <a:pPr algn="l"/>
                      <a:r>
                        <a:rPr sz="1200" b="0">
                          <a:solidFill>
                            <a:srgbClr val="000028"/>
                          </a:solidFill>
                          <a:latin typeface="Arial"/>
                        </a:rPr>
                        <a:t>every key result again without the loop scales, placebo test, examples</a:t>
                      </a:r>
                    </a:p>
                  </a:txBody>
                  <a:tcPr marL="73152" marR="73152" marT="32004" marB="32004" anchor="ctr">
                    <a:lnL w="0">
                      <a:noFill/>
                    </a:lnL>
                    <a:lnR w="0">
                      <a:noFill/>
                    </a:lnR>
                    <a:lnT w="0">
                      <a:noFill/>
                    </a:lnT>
                    <a:lnB w="9525">
                      <a:solidFill>
                        <a:srgbClr val="D4D4D9"/>
                      </a:solidFill>
                    </a:lnB>
                    <a:noFill/>
                  </a:tcPr>
                </a:tc>
              </a:tr>
            </a:tbl>
          </a:graphicData>
        </a:graphic>
      </p:graphicFrame>
      <p:sp>
        <p:nvSpPr>
          <p:cNvPr id="6" name="Rectangle 5"/>
          <p:cNvSpPr/>
          <p:nvPr/>
        </p:nvSpPr>
        <p:spPr>
          <a:xfrm>
            <a:off x="7772400" y="1271016"/>
            <a:ext cx="3840480" cy="3291840"/>
          </a:xfrm>
          <a:prstGeom prst="rect">
            <a:avLst/>
          </a:prstGeom>
          <a:solidFill>
            <a:srgbClr val="F3F3F0"/>
          </a:solidFill>
          <a:ln>
            <a:noFill/>
          </a:ln>
        </p:spPr>
        <p:txBody>
          <a:bodyPr rtlCol="0" anchor="ctr"/>
          <a:lstStyle/>
          <a:p>
            <a:pPr algn="ctr"/>
          </a:p>
        </p:txBody>
      </p:sp>
      <p:sp>
        <p:nvSpPr>
          <p:cNvPr id="7" name="Rectangle 6"/>
          <p:cNvSpPr/>
          <p:nvPr/>
        </p:nvSpPr>
        <p:spPr>
          <a:xfrm>
            <a:off x="7772400" y="1271016"/>
            <a:ext cx="54864" cy="3291840"/>
          </a:xfrm>
          <a:prstGeom prst="rect">
            <a:avLst/>
          </a:prstGeom>
          <a:solidFill>
            <a:srgbClr val="009999"/>
          </a:solidFill>
          <a:ln>
            <a:noFill/>
          </a:ln>
        </p:spPr>
        <p:txBody>
          <a:bodyPr rtlCol="0" anchor="ctr"/>
          <a:lstStyle/>
          <a:p>
            <a:pPr algn="ctr"/>
          </a:p>
        </p:txBody>
      </p:sp>
      <p:sp>
        <p:nvSpPr>
          <p:cNvPr id="8" name="TextBox 7"/>
          <p:cNvSpPr txBox="1"/>
          <p:nvPr/>
        </p:nvSpPr>
        <p:spPr>
          <a:xfrm>
            <a:off x="8010144" y="1453896"/>
            <a:ext cx="3419856" cy="274320"/>
          </a:xfrm>
          <a:prstGeom prst="rect">
            <a:avLst/>
          </a:prstGeom>
          <a:noFill/>
        </p:spPr>
        <p:txBody>
          <a:bodyPr wrap="square" lIns="0" rIns="0" tIns="0" bIns="0" anchor="t">
            <a:spAutoFit/>
          </a:bodyPr>
          <a:lstStyle/>
          <a:p>
            <a:pPr algn="l">
              <a:lnSpc>
                <a:spcPct val="100000"/>
              </a:lnSpc>
            </a:pPr>
            <a:r>
              <a:rPr sz="1400" b="1" i="0">
                <a:solidFill>
                  <a:srgbClr val="000028"/>
                </a:solidFill>
                <a:latin typeface="Arial"/>
              </a:rPr>
              <a:t>Run it</a:t>
            </a:r>
          </a:p>
        </p:txBody>
      </p:sp>
      <p:sp>
        <p:nvSpPr>
          <p:cNvPr id="9" name="TextBox 8"/>
          <p:cNvSpPr txBox="1"/>
          <p:nvPr/>
        </p:nvSpPr>
        <p:spPr>
          <a:xfrm>
            <a:off x="8010144" y="1725930"/>
            <a:ext cx="3419856" cy="2836926"/>
          </a:xfrm>
          <a:prstGeom prst="rect">
            <a:avLst/>
          </a:prstGeom>
          <a:noFill/>
        </p:spPr>
        <p:txBody>
          <a:bodyPr wrap="square" lIns="0" rIns="0" tIns="0" bIns="0" anchor="t">
            <a:spAutoFit/>
          </a:bodyPr>
          <a:lstStyle/>
          <a:p>
            <a:pPr algn="l">
              <a:lnSpc>
                <a:spcPct val="113000"/>
              </a:lnSpc>
              <a:spcAft>
                <a:spcPts val="300"/>
              </a:spcAft>
            </a:pPr>
            <a:r>
              <a:rPr sz="1150" b="0" i="0">
                <a:solidFill>
                  <a:srgbClr val="45465E"/>
                </a:solidFill>
                <a:latin typeface="Arial"/>
              </a:rPr>
              <a:t>bash run_bossard.sh</a:t>
            </a:r>
          </a:p>
          <a:p>
            <a:pPr algn="l">
              <a:lnSpc>
                <a:spcPct val="113000"/>
              </a:lnSpc>
              <a:spcAft>
                <a:spcPts val="300"/>
              </a:spcAft>
            </a:pPr>
            <a:r>
              <a:rPr sz="1150" b="0" i="0">
                <a:solidFill>
                  <a:srgbClr val="45465E"/>
                </a:solidFill>
                <a:latin typeface="Arial"/>
              </a:rPr>
              <a:t>python report/build_figures.py</a:t>
            </a:r>
          </a:p>
          <a:p>
            <a:pPr algn="l">
              <a:lnSpc>
                <a:spcPct val="113000"/>
              </a:lnSpc>
              <a:spcAft>
                <a:spcPts val="300"/>
              </a:spcAft>
            </a:pPr>
            <a:r>
              <a:rPr sz="1150" b="0" i="0">
                <a:solidFill>
                  <a:srgbClr val="45465E"/>
                </a:solidFill>
                <a:latin typeface="Arial"/>
              </a:rPr>
              <a:t>python report/robustness_loops.py</a:t>
            </a:r>
          </a:p>
          <a:p>
            <a:pPr algn="l">
              <a:lnSpc>
                <a:spcPct val="113000"/>
              </a:lnSpc>
              <a:spcAft>
                <a:spcPts val="300"/>
              </a:spcAft>
            </a:pPr>
            <a:r>
              <a:rPr sz="1150" b="0" i="0">
                <a:solidFill>
                  <a:srgbClr val="45465E"/>
                </a:solidFill>
                <a:latin typeface="Arial"/>
              </a:rPr>
              <a:t>quarto render report/report.qmd</a:t>
            </a:r>
          </a:p>
          <a:p>
            <a:pPr algn="l">
              <a:lnSpc>
                <a:spcPct val="113000"/>
              </a:lnSpc>
              <a:spcAft>
                <a:spcPts val="300"/>
              </a:spcAft>
            </a:pPr>
            <a:r>
              <a:rPr sz="1150" b="0" i="0">
                <a:solidFill>
                  <a:srgbClr val="45465E"/>
                </a:solidFill>
                <a:latin typeface="Arial"/>
              </a:rPr>
              <a:t>python presentation/build_cto_deck.py</a:t>
            </a:r>
          </a:p>
        </p:txBody>
      </p:sp>
      <p:sp>
        <p:nvSpPr>
          <p:cNvPr id="10" name="TextBox 9"/>
          <p:cNvSpPr txBox="1"/>
          <p:nvPr/>
        </p:nvSpPr>
        <p:spPr>
          <a:xfrm>
            <a:off x="566928" y="4745736"/>
            <a:ext cx="11055096" cy="548640"/>
          </a:xfrm>
          <a:prstGeom prst="rect">
            <a:avLst/>
          </a:prstGeom>
          <a:noFill/>
        </p:spPr>
        <p:txBody>
          <a:bodyPr wrap="square" lIns="0" rIns="0" tIns="0" bIns="0" anchor="t">
            <a:spAutoFit/>
          </a:bodyPr>
          <a:lstStyle/>
          <a:p>
            <a:pPr algn="l">
              <a:lnSpc>
                <a:spcPct val="112000"/>
              </a:lnSpc>
            </a:pPr>
            <a:r>
              <a:rPr sz="1200" b="0" i="0">
                <a:solidFill>
                  <a:srgbClr val="45465E"/>
                </a:solidFill>
                <a:latin typeface="Arial"/>
              </a:rPr>
              <a:t>NDA: raw and row-level data and Power BI files never enter the repository; only aggregated tables do.</a:t>
            </a:r>
          </a:p>
        </p:txBody>
      </p:sp>
      <p:sp>
        <p:nvSpPr>
          <p:cNvPr id="11" name="TextBox 10"/>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project repository (private)</a:t>
            </a:r>
          </a:p>
        </p:txBody>
      </p:sp>
      <p:sp>
        <p:nvSpPr>
          <p:cNvPr id="12" name="TextBox 11"/>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BACKUP · DASHBOARD</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KPI 2.0 monitoring: which scales need attention this week</a:t>
            </a:r>
          </a:p>
        </p:txBody>
      </p:sp>
      <p:sp>
        <p:nvSpPr>
          <p:cNvPr id="5" name="Rectangle 4"/>
          <p:cNvSpPr/>
          <p:nvPr/>
        </p:nvSpPr>
        <p:spPr>
          <a:xfrm>
            <a:off x="566928" y="1316736"/>
            <a:ext cx="11055096" cy="4855464"/>
          </a:xfrm>
          <a:prstGeom prst="rect">
            <a:avLst/>
          </a:prstGeom>
          <a:solidFill>
            <a:srgbClr val="F3F3F0"/>
          </a:solidFill>
          <a:ln w="19050">
            <a:solidFill>
              <a:srgbClr val="009999"/>
            </a:solidFill>
            <a:prstDash val="dash"/>
          </a:ln>
        </p:spPr>
        <p:txBody>
          <a:bodyPr rtlCol="0" anchor="ctr"/>
          <a:lstStyle/>
          <a:p>
            <a:pPr algn="ctr"/>
          </a:p>
        </p:txBody>
      </p:sp>
      <p:sp>
        <p:nvSpPr>
          <p:cNvPr id="6" name="TextBox 5"/>
          <p:cNvSpPr txBox="1"/>
          <p:nvPr/>
        </p:nvSpPr>
        <p:spPr>
          <a:xfrm>
            <a:off x="566928" y="2773375"/>
            <a:ext cx="11055096" cy="457200"/>
          </a:xfrm>
          <a:prstGeom prst="rect">
            <a:avLst/>
          </a:prstGeom>
          <a:noFill/>
        </p:spPr>
        <p:txBody>
          <a:bodyPr wrap="square" lIns="0" rIns="0" tIns="0" bIns="0" anchor="t">
            <a:spAutoFit/>
          </a:bodyPr>
          <a:lstStyle/>
          <a:p>
            <a:pPr algn="ctr">
              <a:lnSpc>
                <a:spcPct val="112000"/>
              </a:lnSpc>
            </a:pPr>
            <a:r>
              <a:rPr sz="2400" b="1" i="0" spc="100">
                <a:solidFill>
                  <a:srgbClr val="009999"/>
                </a:solidFill>
                <a:latin typeface="Arial"/>
              </a:rPr>
              <a:t>POWER BI DASHBOARD C</a:t>
            </a:r>
          </a:p>
        </p:txBody>
      </p:sp>
      <p:sp>
        <p:nvSpPr>
          <p:cNvPr id="7" name="TextBox 6"/>
          <p:cNvSpPr txBox="1"/>
          <p:nvPr/>
        </p:nvSpPr>
        <p:spPr>
          <a:xfrm>
            <a:off x="1024128" y="3340303"/>
            <a:ext cx="10140696" cy="822960"/>
          </a:xfrm>
          <a:prstGeom prst="rect">
            <a:avLst/>
          </a:prstGeom>
          <a:noFill/>
        </p:spPr>
        <p:txBody>
          <a:bodyPr wrap="square" lIns="0" rIns="0" tIns="0" bIns="0" anchor="t">
            <a:spAutoFit/>
          </a:bodyPr>
          <a:lstStyle/>
          <a:p>
            <a:pPr algn="ctr">
              <a:lnSpc>
                <a:spcPct val="115000"/>
              </a:lnSpc>
            </a:pPr>
            <a:r>
              <a:rPr sz="1400" b="0" i="0">
                <a:solidFill>
                  <a:srgbClr val="000028"/>
                </a:solidFill>
                <a:latin typeface="Arial"/>
              </a:rPr>
              <a:t>Page 3 (optional) – KPI 2.0 per scale: empty wake-ups per week, share of changes missed, watch list of the scales with the most misses</a:t>
            </a:r>
          </a:p>
        </p:txBody>
      </p:sp>
      <p:sp>
        <p:nvSpPr>
          <p:cNvPr id="8" name="TextBox 7"/>
          <p:cNvSpPr txBox="1"/>
          <p:nvPr/>
        </p:nvSpPr>
        <p:spPr>
          <a:xfrm>
            <a:off x="1024128" y="5486400"/>
            <a:ext cx="10140696" cy="457200"/>
          </a:xfrm>
          <a:prstGeom prst="rect">
            <a:avLst/>
          </a:prstGeom>
          <a:noFill/>
        </p:spPr>
        <p:txBody>
          <a:bodyPr wrap="square" lIns="0" rIns="0" tIns="0" bIns="0" anchor="t">
            <a:spAutoFit/>
          </a:bodyPr>
          <a:lstStyle/>
          <a:p>
            <a:pPr algn="ctr">
              <a:lnSpc>
                <a:spcPct val="110000"/>
              </a:lnSpc>
            </a:pPr>
            <a:r>
              <a:rPr sz="1100" b="0" i="0">
                <a:solidFill>
                  <a:srgbClr val="7D7F93"/>
                </a:solidFill>
                <a:latin typeface="Arial"/>
              </a:rPr>
              <a:t>Insert a screenshot of Power BI page 3 here · data: fact_device_sensitivity.csv</a:t>
            </a:r>
          </a:p>
        </p:txBody>
      </p:sp>
      <p:sp>
        <p:nvSpPr>
          <p:cNvPr id="9" name="TextBox 8"/>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Source: Power BI report on the aggregated pipeline output (fact_device_sensitivity.csv)</a:t>
            </a:r>
          </a:p>
        </p:txBody>
      </p:sp>
      <p:sp>
        <p:nvSpPr>
          <p:cNvPr id="10" name="TextBox 9"/>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009999"/>
          </a:solidFill>
          <a:ln>
            <a:noFill/>
          </a:ln>
        </p:spPr>
        <p:txBody>
          <a:bodyPr rtlCol="0" anchor="ctr"/>
          <a:lstStyle/>
          <a:p>
            <a:pPr algn="ctr"/>
          </a:p>
        </p:txBody>
      </p:sp>
      <p:sp>
        <p:nvSpPr>
          <p:cNvPr id="3" name="TextBox 2"/>
          <p:cNvSpPr txBox="1"/>
          <p:nvPr/>
        </p:nvSpPr>
        <p:spPr>
          <a:xfrm>
            <a:off x="566928" y="384048"/>
            <a:ext cx="11055096" cy="228600"/>
          </a:xfrm>
          <a:prstGeom prst="rect">
            <a:avLst/>
          </a:prstGeom>
          <a:noFill/>
        </p:spPr>
        <p:txBody>
          <a:bodyPr wrap="square" lIns="0" rIns="0" tIns="0" bIns="0" anchor="t">
            <a:spAutoFit/>
          </a:bodyPr>
          <a:lstStyle/>
          <a:p>
            <a:pPr algn="l">
              <a:lnSpc>
                <a:spcPct val="112000"/>
              </a:lnSpc>
            </a:pPr>
            <a:r>
              <a:rPr sz="1100" b="1" i="0" spc="120">
                <a:solidFill>
                  <a:srgbClr val="009999"/>
                </a:solidFill>
                <a:latin typeface="Arial"/>
              </a:rPr>
              <a:t>REFERENCES</a:t>
            </a:r>
          </a:p>
        </p:txBody>
      </p:sp>
      <p:sp>
        <p:nvSpPr>
          <p:cNvPr id="4" name="TextBox 3"/>
          <p:cNvSpPr txBox="1"/>
          <p:nvPr/>
        </p:nvSpPr>
        <p:spPr>
          <a:xfrm>
            <a:off x="566928" y="640080"/>
            <a:ext cx="11055096" cy="384048"/>
          </a:xfrm>
          <a:prstGeom prst="rect">
            <a:avLst/>
          </a:prstGeom>
          <a:noFill/>
        </p:spPr>
        <p:txBody>
          <a:bodyPr wrap="square" lIns="0" rIns="0" tIns="0" bIns="0" anchor="t">
            <a:spAutoFit/>
          </a:bodyPr>
          <a:lstStyle/>
          <a:p>
            <a:pPr algn="l">
              <a:lnSpc>
                <a:spcPct val="100000"/>
              </a:lnSpc>
            </a:pPr>
            <a:r>
              <a:rPr sz="2700" b="1" i="0">
                <a:solidFill>
                  <a:srgbClr val="000028"/>
                </a:solidFill>
                <a:latin typeface="Arial"/>
              </a:rPr>
              <a:t>Sources</a:t>
            </a:r>
          </a:p>
        </p:txBody>
      </p:sp>
      <p:sp>
        <p:nvSpPr>
          <p:cNvPr id="5" name="TextBox 4"/>
          <p:cNvSpPr txBox="1"/>
          <p:nvPr/>
        </p:nvSpPr>
        <p:spPr>
          <a:xfrm>
            <a:off x="566928" y="1225296"/>
            <a:ext cx="11055096" cy="4480560"/>
          </a:xfrm>
          <a:prstGeom prst="rect">
            <a:avLst/>
          </a:prstGeom>
          <a:noFill/>
        </p:spPr>
        <p:txBody>
          <a:bodyPr wrap="square" lIns="0" rIns="0" tIns="0" bIns="0" anchor="t">
            <a:spAutoFit/>
          </a:bodyPr>
          <a:lstStyle/>
          <a:p>
            <a:pPr algn="l">
              <a:lnSpc>
                <a:spcPct val="108000"/>
              </a:lnSpc>
              <a:spcAft>
                <a:spcPts val="500"/>
              </a:spcAft>
            </a:pPr>
            <a:r>
              <a:rPr sz="1100" b="0" i="0">
                <a:solidFill>
                  <a:srgbClr val="000028"/>
                </a:solidFill>
                <a:latin typeface="Arial"/>
              </a:rPr>
              <a:t>Anastasi, G., Conti, M., Di Francesco, M., &amp; Passarella, A. (2009). Energy conservation in wireless sensor networks: A survey. Ad Hoc Networks, 7(3), 537–568. https://doi.org/10.1016/j.adhoc.2008.06.003</a:t>
            </a:r>
          </a:p>
          <a:p>
            <a:pPr algn="l">
              <a:lnSpc>
                <a:spcPct val="108000"/>
              </a:lnSpc>
              <a:spcAft>
                <a:spcPts val="500"/>
              </a:spcAft>
            </a:pPr>
            <a:r>
              <a:rPr sz="1100" b="0" i="0">
                <a:solidFill>
                  <a:srgbClr val="000028"/>
                </a:solidFill>
                <a:latin typeface="Arial"/>
              </a:rPr>
              <a:t>Angrist, J. D., &amp; Pischke, J.-S. (2009). Mostly harmless econometrics: An empiricist's companion. Princeton University Press.</a:t>
            </a:r>
          </a:p>
          <a:p>
            <a:pPr algn="l">
              <a:lnSpc>
                <a:spcPct val="108000"/>
              </a:lnSpc>
              <a:spcAft>
                <a:spcPts val="500"/>
              </a:spcAft>
            </a:pPr>
            <a:r>
              <a:rPr sz="1100" b="0" i="0">
                <a:solidFill>
                  <a:srgbClr val="000028"/>
                </a:solidFill>
                <a:latin typeface="Arial"/>
              </a:rPr>
              <a:t>Bossard AG. (n.d.). SmartBin Cloud. Retrieved 6 October 2026, from https://www.bossard.com/ch-en/smart-factory-logistics/systems/smartbin-cloud/</a:t>
            </a:r>
          </a:p>
          <a:p>
            <a:pPr algn="l">
              <a:lnSpc>
                <a:spcPct val="108000"/>
              </a:lnSpc>
              <a:spcAft>
                <a:spcPts val="500"/>
              </a:spcAft>
            </a:pPr>
            <a:r>
              <a:rPr sz="1100" b="0" i="0">
                <a:solidFill>
                  <a:srgbClr val="000028"/>
                </a:solidFill>
                <a:latin typeface="Arial"/>
              </a:rPr>
              <a:t>Bossard AG &amp; D ONE Solutions AG. (2026). Smart Factory Logistics – SmartBin Cloud [Lecture slides, case description and case data]. HSLU, module Data-driven Supply Chain Management and Logistics. Confidential (NDA).</a:t>
            </a:r>
          </a:p>
          <a:p>
            <a:pPr algn="l">
              <a:lnSpc>
                <a:spcPct val="108000"/>
              </a:lnSpc>
              <a:spcAft>
                <a:spcPts val="500"/>
              </a:spcAft>
            </a:pPr>
            <a:r>
              <a:rPr sz="1100" b="0" i="0">
                <a:solidFill>
                  <a:srgbClr val="000028"/>
                </a:solidFill>
                <a:latin typeface="Arial"/>
              </a:rPr>
              <a:t>Chapman, P., Clinton, J., Kerber, R., Khabaza, T., Reinartz, T., Shearer, C., &amp; Wirth, R. (2000). CRISP-DM 1.0: Step-by-step data mining guide. SPSS Inc.</a:t>
            </a:r>
          </a:p>
          <a:p>
            <a:pPr algn="l">
              <a:lnSpc>
                <a:spcPct val="108000"/>
              </a:lnSpc>
              <a:spcAft>
                <a:spcPts val="500"/>
              </a:spcAft>
            </a:pPr>
            <a:r>
              <a:rPr sz="1100" b="0" i="0">
                <a:solidFill>
                  <a:srgbClr val="000028"/>
                </a:solidFill>
                <a:latin typeface="Arial"/>
              </a:rPr>
              <a:t>Donges, J. F., Schleussner, C.-F., Siegmund, J. F., &amp; Donner, R. V. (2016). Event coincidence analysis for quantifying statistical interrelationships between event time series. The European Physical Journal Special Topics, 225(3), 471–487. https://doi.org/10.1140/epjst/e2015-50233-y</a:t>
            </a:r>
          </a:p>
          <a:p>
            <a:pPr algn="l">
              <a:lnSpc>
                <a:spcPct val="108000"/>
              </a:lnSpc>
              <a:spcAft>
                <a:spcPts val="500"/>
              </a:spcAft>
            </a:pPr>
            <a:r>
              <a:rPr sz="1100" b="0" i="0">
                <a:solidFill>
                  <a:srgbClr val="000028"/>
                </a:solidFill>
                <a:latin typeface="Arial"/>
              </a:rPr>
              <a:t>Green, D. M., &amp; Swets, J. A. (1966). Signal detection theory and psychophysics. Wiley.</a:t>
            </a:r>
          </a:p>
          <a:p>
            <a:pPr algn="l">
              <a:lnSpc>
                <a:spcPct val="108000"/>
              </a:lnSpc>
              <a:spcAft>
                <a:spcPts val="500"/>
              </a:spcAft>
            </a:pPr>
            <a:r>
              <a:rPr sz="1100" b="0" i="0">
                <a:solidFill>
                  <a:srgbClr val="000028"/>
                </a:solidFill>
                <a:latin typeface="Arial"/>
              </a:rPr>
              <a:t>Grömping, U. (2006). Relative importance for linear regression in R: The package relaimpo. Journal of Statistical Software, 17(1), 1–27. https://doi.org/10.18637/jss.v017.i01</a:t>
            </a:r>
          </a:p>
          <a:p>
            <a:pPr algn="l">
              <a:lnSpc>
                <a:spcPct val="108000"/>
              </a:lnSpc>
              <a:spcAft>
                <a:spcPts val="500"/>
              </a:spcAft>
            </a:pPr>
            <a:r>
              <a:rPr sz="1100" b="0" i="0">
                <a:solidFill>
                  <a:srgbClr val="000028"/>
                </a:solidFill>
                <a:latin typeface="Arial"/>
              </a:rPr>
              <a:t>Shrout, P. E., &amp; Fleiss, J. L. (1979). Intraclass correlations: Uses in assessing rater reliability. Psychological Bulletin, 86(2), 420–428. https://doi.org/10.1037/0033-2909.86.2.420</a:t>
            </a:r>
          </a:p>
          <a:p>
            <a:pPr algn="l">
              <a:lnSpc>
                <a:spcPct val="108000"/>
              </a:lnSpc>
              <a:spcAft>
                <a:spcPts val="500"/>
              </a:spcAft>
            </a:pPr>
            <a:r>
              <a:rPr sz="1100" b="0" i="0">
                <a:solidFill>
                  <a:srgbClr val="000028"/>
                </a:solidFill>
                <a:latin typeface="Arial"/>
              </a:rPr>
              <a:t>Strathern, M. (1997). 'Improving ratings': Audit in the British university system. European Review, 5(3), 305–321.</a:t>
            </a:r>
          </a:p>
        </p:txBody>
      </p:sp>
      <p:sp>
        <p:nvSpPr>
          <p:cNvPr id="6" name="TextBox 5"/>
          <p:cNvSpPr txBox="1"/>
          <p:nvPr/>
        </p:nvSpPr>
        <p:spPr>
          <a:xfrm>
            <a:off x="566928" y="6400800"/>
            <a:ext cx="9692640" cy="228600"/>
          </a:xfrm>
          <a:prstGeom prst="rect">
            <a:avLst/>
          </a:prstGeom>
          <a:noFill/>
        </p:spPr>
        <p:txBody>
          <a:bodyPr wrap="square" lIns="0" rIns="0" tIns="0" bIns="0" anchor="t">
            <a:spAutoFit/>
          </a:bodyPr>
          <a:lstStyle/>
          <a:p>
            <a:pPr algn="l">
              <a:lnSpc>
                <a:spcPct val="100000"/>
              </a:lnSpc>
            </a:pPr>
            <a:r>
              <a:rPr sz="900" b="0" i="0">
                <a:solidFill>
                  <a:srgbClr val="7D7F93"/>
                </a:solidFill>
                <a:latin typeface="Arial"/>
              </a:rPr>
              <a:t/>
            </a:r>
          </a:p>
        </p:txBody>
      </p:sp>
      <p:sp>
        <p:nvSpPr>
          <p:cNvPr id="7" name="TextBox 6"/>
          <p:cNvSpPr txBox="1"/>
          <p:nvPr/>
        </p:nvSpPr>
        <p:spPr>
          <a:xfrm>
            <a:off x="11155680" y="6400800"/>
            <a:ext cx="457200" cy="228600"/>
          </a:xfrm>
          <a:prstGeom prst="rect">
            <a:avLst/>
          </a:prstGeom>
          <a:noFill/>
        </p:spPr>
        <p:txBody>
          <a:bodyPr wrap="square" lIns="0" rIns="0" tIns="0" bIns="0" anchor="t">
            <a:spAutoFit/>
          </a:bodyPr>
          <a:lstStyle/>
          <a:p>
            <a:pPr algn="r">
              <a:lnSpc>
                <a:spcPct val="112000"/>
              </a:lnSpc>
            </a:pPr>
            <a:r>
              <a:rPr sz="900" b="0" i="0">
                <a:solidFill>
                  <a:srgbClr val="7D7F93"/>
                </a:solidFill>
                <a:latin typeface="Arial"/>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SmartBin Cloud – wake up for picks, not for noise</dc:title>
  <dc:subject>HSLU · Data-driven Supply Chain Management and Logistics · Smart Logistics Service Optimisation</dc:subject>
  <dc:creator>Erenalp Çakıroğlu</dc:creator>
  <cp:keywords>SmartBin; IoT; sensitivity; Bossard; case study</cp:keywords>
  <dc:description/>
  <cp:lastModifiedBy>Erenalp Çakıroğlu</cp:lastModifiedBy>
  <cp:revision>1</cp:revision>
  <dcterms:created xsi:type="dcterms:W3CDTF">2026-10-17T22:04:27Z</dcterms:created>
  <dcterms:modified xsi:type="dcterms:W3CDTF">2026-10-17T22:04:27Z</dcterms:modified>
  <cp:category/>
</cp:coreProperties>
</file>